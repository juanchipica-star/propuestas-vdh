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Garamond"/>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iCwK2RxoRYlvz15gIfTN6s4HOO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regular.fntdata"/><Relationship Id="rId14" Type="http://schemas.openxmlformats.org/officeDocument/2006/relationships/slide" Target="slides/slide9.xml"/><Relationship Id="rId17" Type="http://schemas.openxmlformats.org/officeDocument/2006/relationships/font" Target="fonts/Garamond-italic.fntdata"/><Relationship Id="rId16" Type="http://schemas.openxmlformats.org/officeDocument/2006/relationships/font" Target="fonts/Garamond-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Garamon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becfa261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35becfa261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becfa261e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5becfa261e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becfa261e_1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5becfa261e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becfa261e_1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5becfa261e_1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becfa261e_1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5becfa261e_1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5e6a50c0a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5e6a50c0a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e6a50c0a8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5e6a50c0a8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5"/>
          <p:cNvSpPr/>
          <p:nvPr>
            <p:ph idx="2" type="pic"/>
          </p:nvPr>
        </p:nvSpPr>
        <p:spPr>
          <a:xfrm>
            <a:off x="1792288" y="612775"/>
            <a:ext cx="5486400" cy="4114800"/>
          </a:xfrm>
          <a:prstGeom prst="rect">
            <a:avLst/>
          </a:prstGeom>
          <a:noFill/>
          <a:ln>
            <a:noFill/>
          </a:ln>
        </p:spPr>
      </p:sp>
      <p:sp>
        <p:nvSpPr>
          <p:cNvPr id="64" name="Google Shape;6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7.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5.jpg"/><Relationship Id="rId5" Type="http://schemas.openxmlformats.org/officeDocument/2006/relationships/image" Target="../media/image7.jpg"/><Relationship Id="rId6" Type="http://schemas.openxmlformats.org/officeDocument/2006/relationships/image" Target="../media/image16.jp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jp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jpg"/><Relationship Id="rId4" Type="http://schemas.openxmlformats.org/officeDocument/2006/relationships/image" Target="../media/image19.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jp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83" name="Shape 83"/>
        <p:cNvGrpSpPr/>
        <p:nvPr/>
      </p:nvGrpSpPr>
      <p:grpSpPr>
        <a:xfrm>
          <a:off x="0" y="0"/>
          <a:ext cx="0" cy="0"/>
          <a:chOff x="0" y="0"/>
          <a:chExt cx="0" cy="0"/>
        </a:xfrm>
      </p:grpSpPr>
      <p:sp>
        <p:nvSpPr>
          <p:cNvPr id="84" name="Google Shape;84;p2"/>
          <p:cNvSpPr/>
          <p:nvPr/>
        </p:nvSpPr>
        <p:spPr>
          <a:xfrm>
            <a:off x="3737913" y="3956892"/>
            <a:ext cx="10812173" cy="1659683"/>
          </a:xfrm>
          <a:custGeom>
            <a:rect b="b" l="l" r="r" t="t"/>
            <a:pathLst>
              <a:path extrusionOk="0" h="1659683" w="10812173">
                <a:moveTo>
                  <a:pt x="0" y="0"/>
                </a:moveTo>
                <a:lnTo>
                  <a:pt x="10812174" y="0"/>
                </a:lnTo>
                <a:lnTo>
                  <a:pt x="10812174" y="1659683"/>
                </a:lnTo>
                <a:lnTo>
                  <a:pt x="0" y="1659683"/>
                </a:lnTo>
                <a:lnTo>
                  <a:pt x="0" y="0"/>
                </a:lnTo>
                <a:close/>
              </a:path>
            </a:pathLst>
          </a:custGeom>
          <a:blipFill rotWithShape="1">
            <a:blip r:embed="rId3">
              <a:alphaModFix/>
            </a:blip>
            <a:stretch>
              <a:fillRect b="-376638" l="0" r="0" t="-3658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 name="Google Shape;85;p2" title="Presentacion Comercial Soluciones VON DER HEIDE.png"/>
          <p:cNvPicPr preferRelativeResize="0"/>
          <p:nvPr/>
        </p:nvPicPr>
        <p:blipFill rotWithShape="1">
          <a:blip r:embed="rId4">
            <a:alphaModFix/>
          </a:blip>
          <a:srcRect b="31963" l="36694" r="36611" t="56581"/>
          <a:stretch/>
        </p:blipFill>
        <p:spPr>
          <a:xfrm>
            <a:off x="6441276" y="5719901"/>
            <a:ext cx="5405448" cy="1304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4" title="Materiales.jpg"/>
          <p:cNvPicPr preferRelativeResize="0"/>
          <p:nvPr/>
        </p:nvPicPr>
        <p:blipFill rotWithShape="1">
          <a:blip r:embed="rId3">
            <a:alphaModFix/>
          </a:blip>
          <a:srcRect b="45498" l="0" r="0" t="0"/>
          <a:stretch/>
        </p:blipFill>
        <p:spPr>
          <a:xfrm>
            <a:off x="0" y="0"/>
            <a:ext cx="18288000" cy="5606550"/>
          </a:xfrm>
          <a:prstGeom prst="rect">
            <a:avLst/>
          </a:prstGeom>
          <a:noFill/>
          <a:ln>
            <a:noFill/>
          </a:ln>
        </p:spPr>
      </p:pic>
      <p:sp>
        <p:nvSpPr>
          <p:cNvPr id="91" name="Google Shape;91;p24"/>
          <p:cNvSpPr/>
          <p:nvPr/>
        </p:nvSpPr>
        <p:spPr>
          <a:xfrm>
            <a:off x="0" y="5143500"/>
            <a:ext cx="18288000" cy="5143500"/>
          </a:xfrm>
          <a:custGeom>
            <a:rect b="b" l="l" r="r" t="t"/>
            <a:pathLst>
              <a:path extrusionOk="0" h="1739900" w="6186311">
                <a:moveTo>
                  <a:pt x="0" y="0"/>
                </a:moveTo>
                <a:lnTo>
                  <a:pt x="6186311" y="0"/>
                </a:lnTo>
                <a:lnTo>
                  <a:pt x="6186311" y="1739900"/>
                </a:lnTo>
                <a:lnTo>
                  <a:pt x="0" y="1739900"/>
                </a:lnTo>
                <a:close/>
              </a:path>
            </a:pathLst>
          </a:custGeom>
          <a:solidFill>
            <a:srgbClr val="5456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4"/>
          <p:cNvSpPr/>
          <p:nvPr/>
        </p:nvSpPr>
        <p:spPr>
          <a:xfrm rot="10800000">
            <a:off x="487973" y="5143500"/>
            <a:ext cx="9673049" cy="2873913"/>
          </a:xfrm>
          <a:custGeom>
            <a:rect b="b" l="l" r="r" t="t"/>
            <a:pathLst>
              <a:path extrusionOk="0" h="2873913" w="9673049">
                <a:moveTo>
                  <a:pt x="0" y="0"/>
                </a:moveTo>
                <a:lnTo>
                  <a:pt x="9673049" y="0"/>
                </a:lnTo>
                <a:lnTo>
                  <a:pt x="9673049" y="2873913"/>
                </a:lnTo>
                <a:lnTo>
                  <a:pt x="0" y="2873913"/>
                </a:lnTo>
                <a:lnTo>
                  <a:pt x="0" y="0"/>
                </a:lnTo>
                <a:close/>
              </a:path>
            </a:pathLst>
          </a:custGeom>
          <a:blipFill rotWithShape="1">
            <a:blip r:embed="rId4">
              <a:alphaModFix amt="14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4"/>
          <p:cNvSpPr/>
          <p:nvPr/>
        </p:nvSpPr>
        <p:spPr>
          <a:xfrm>
            <a:off x="7821179" y="9258300"/>
            <a:ext cx="3133615" cy="822737"/>
          </a:xfrm>
          <a:custGeom>
            <a:rect b="b" l="l" r="r" t="t"/>
            <a:pathLst>
              <a:path extrusionOk="0" h="822737" w="3133615">
                <a:moveTo>
                  <a:pt x="0" y="0"/>
                </a:moveTo>
                <a:lnTo>
                  <a:pt x="3133615" y="0"/>
                </a:lnTo>
                <a:lnTo>
                  <a:pt x="3133615" y="822737"/>
                </a:lnTo>
                <a:lnTo>
                  <a:pt x="0" y="822737"/>
                </a:lnTo>
                <a:lnTo>
                  <a:pt x="0" y="0"/>
                </a:lnTo>
                <a:close/>
              </a:path>
            </a:pathLst>
          </a:custGeom>
          <a:blipFill rotWithShape="1">
            <a:blip r:embed="rId5">
              <a:alphaModFix/>
            </a:blip>
            <a:stretch>
              <a:fillRect b="-285189" l="-17411" r="-16828" t="-27631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4"/>
          <p:cNvSpPr txBox="1"/>
          <p:nvPr/>
        </p:nvSpPr>
        <p:spPr>
          <a:xfrm>
            <a:off x="824900" y="7424897"/>
            <a:ext cx="14789431" cy="183340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86"/>
              <a:buFont typeface="Arial"/>
              <a:buNone/>
            </a:pPr>
            <a:r>
              <a:rPr b="1" i="0" lang="en-US" sz="12086" u="none" cap="none" strike="noStrike">
                <a:solidFill>
                  <a:srgbClr val="E5E5E4"/>
                </a:solidFill>
                <a:latin typeface="Avenir"/>
                <a:ea typeface="Avenir"/>
                <a:cs typeface="Avenir"/>
                <a:sym typeface="Avenir"/>
              </a:rPr>
              <a:t>MARKET INSIGHTS</a:t>
            </a:r>
            <a:endParaRPr b="0" i="0" sz="1400" u="none" cap="none" strike="noStrike">
              <a:solidFill>
                <a:srgbClr val="000000"/>
              </a:solidFill>
              <a:latin typeface="Arial"/>
              <a:ea typeface="Arial"/>
              <a:cs typeface="Arial"/>
              <a:sym typeface="Arial"/>
            </a:endParaRPr>
          </a:p>
        </p:txBody>
      </p:sp>
      <p:grpSp>
        <p:nvGrpSpPr>
          <p:cNvPr id="95" name="Google Shape;95;p24"/>
          <p:cNvGrpSpPr/>
          <p:nvPr/>
        </p:nvGrpSpPr>
        <p:grpSpPr>
          <a:xfrm>
            <a:off x="16079532" y="8005855"/>
            <a:ext cx="1342975" cy="671488"/>
            <a:chOff x="0" y="0"/>
            <a:chExt cx="1790634" cy="895317"/>
          </a:xfrm>
        </p:grpSpPr>
        <p:sp>
          <p:nvSpPr>
            <p:cNvPr id="96" name="Google Shape;96;p24"/>
            <p:cNvSpPr/>
            <p:nvPr/>
          </p:nvSpPr>
          <p:spPr>
            <a:xfrm>
              <a:off x="0" y="0"/>
              <a:ext cx="1790634" cy="895317"/>
            </a:xfrm>
            <a:custGeom>
              <a:rect b="b" l="l" r="r" t="t"/>
              <a:pathLst>
                <a:path extrusionOk="0" h="895317" w="1790634">
                  <a:moveTo>
                    <a:pt x="0" y="0"/>
                  </a:moveTo>
                  <a:lnTo>
                    <a:pt x="1790634" y="0"/>
                  </a:lnTo>
                  <a:lnTo>
                    <a:pt x="1790634" y="895317"/>
                  </a:lnTo>
                  <a:lnTo>
                    <a:pt x="0" y="89531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4"/>
            <p:cNvSpPr/>
            <p:nvPr/>
          </p:nvSpPr>
          <p:spPr>
            <a:xfrm>
              <a:off x="210868" y="232737"/>
              <a:ext cx="566515" cy="429843"/>
            </a:xfrm>
            <a:custGeom>
              <a:rect b="b" l="l" r="r" t="t"/>
              <a:pathLst>
                <a:path extrusionOk="0" h="429843" w="566515">
                  <a:moveTo>
                    <a:pt x="0" y="0"/>
                  </a:moveTo>
                  <a:lnTo>
                    <a:pt x="566515" y="0"/>
                  </a:lnTo>
                  <a:lnTo>
                    <a:pt x="566515" y="429843"/>
                  </a:lnTo>
                  <a:lnTo>
                    <a:pt x="0" y="42984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g35becfa261e_1_0"/>
          <p:cNvSpPr/>
          <p:nvPr/>
        </p:nvSpPr>
        <p:spPr>
          <a:xfrm>
            <a:off x="485525" y="3874327"/>
            <a:ext cx="17309894" cy="5199943"/>
          </a:xfrm>
          <a:custGeom>
            <a:rect b="b" l="l" r="r" t="t"/>
            <a:pathLst>
              <a:path extrusionOk="0" h="1759710" w="5857832">
                <a:moveTo>
                  <a:pt x="0" y="0"/>
                </a:moveTo>
                <a:lnTo>
                  <a:pt x="5857832" y="0"/>
                </a:lnTo>
                <a:lnTo>
                  <a:pt x="5857832" y="1759710"/>
                </a:lnTo>
                <a:lnTo>
                  <a:pt x="0" y="1759710"/>
                </a:lnTo>
                <a:close/>
              </a:path>
            </a:pathLst>
          </a:custGeom>
          <a:solidFill>
            <a:srgbClr val="5456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5becfa261e_1_0"/>
          <p:cNvSpPr/>
          <p:nvPr/>
        </p:nvSpPr>
        <p:spPr>
          <a:xfrm>
            <a:off x="8011511" y="4281734"/>
            <a:ext cx="26700" cy="43071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5becfa261e_1_0"/>
          <p:cNvSpPr txBox="1"/>
          <p:nvPr/>
        </p:nvSpPr>
        <p:spPr>
          <a:xfrm>
            <a:off x="8698197" y="4129334"/>
            <a:ext cx="8561100" cy="4558500"/>
          </a:xfrm>
          <a:prstGeom prst="rect">
            <a:avLst/>
          </a:prstGeom>
          <a:noFill/>
          <a:ln>
            <a:noFill/>
          </a:ln>
        </p:spPr>
        <p:txBody>
          <a:bodyPr anchorCtr="0" anchor="t" bIns="0" lIns="0" spcFirstLastPara="1" rIns="0" wrap="square" tIns="0">
            <a:spAutoFit/>
          </a:bodyPr>
          <a:lstStyle/>
          <a:p>
            <a:pPr indent="0" lvl="0" marL="0" marR="0" rtl="0" algn="l">
              <a:lnSpc>
                <a:spcPct val="153007"/>
              </a:lnSpc>
              <a:spcBef>
                <a:spcPts val="0"/>
              </a:spcBef>
              <a:spcAft>
                <a:spcPts val="0"/>
              </a:spcAft>
              <a:buClr>
                <a:srgbClr val="000000"/>
              </a:buClr>
              <a:buSzPts val="2909"/>
              <a:buFont typeface="Arial"/>
              <a:buNone/>
            </a:pPr>
            <a:r>
              <a:rPr b="0" i="0" lang="en-US" sz="2909" u="none" cap="none" strike="noStrike">
                <a:solidFill>
                  <a:srgbClr val="FFFFFF"/>
                </a:solidFill>
                <a:latin typeface="Avenir"/>
                <a:ea typeface="Avenir"/>
                <a:cs typeface="Avenir"/>
                <a:sym typeface="Avenir"/>
              </a:rPr>
              <a:t>Aportamos insights relevantes con evaluaciones comparativas para identificar </a:t>
            </a:r>
            <a:r>
              <a:rPr b="0" i="0" lang="en-US" sz="2909" u="none" cap="none" strike="noStrike">
                <a:solidFill>
                  <a:srgbClr val="FFFFFF"/>
                </a:solidFill>
                <a:latin typeface="Avenir"/>
                <a:ea typeface="Avenir"/>
                <a:cs typeface="Avenir"/>
                <a:sym typeface="Avenir"/>
                <a:extLst>
                  <a:ext uri="http://customooxmlschemas.google.com/">
                    <go:slidesCustomData xmlns:go="http://customooxmlschemas.google.com/" textRoundtripDataId="0"/>
                  </a:ext>
                </a:extLst>
              </a:rPr>
              <a:t>keypoints</a:t>
            </a:r>
            <a:r>
              <a:rPr b="0" i="0" lang="en-US" sz="2909" u="none" cap="none" strike="noStrike">
                <a:solidFill>
                  <a:srgbClr val="FFFFFF"/>
                </a:solidFill>
                <a:latin typeface="Avenir"/>
                <a:ea typeface="Avenir"/>
                <a:cs typeface="Avenir"/>
                <a:sym typeface="Avenir"/>
              </a:rPr>
              <a:t>, áreas de mejora e ideas alternativas que brinden contexto para la toma de decisiones. Cada proyecto es diseñado a la medida de las necesidades de cada cliente.</a:t>
            </a:r>
            <a:endParaRPr b="0" i="0" sz="1400" u="none" cap="none" strike="noStrike">
              <a:solidFill>
                <a:srgbClr val="000000"/>
              </a:solidFill>
              <a:latin typeface="Arial"/>
              <a:ea typeface="Arial"/>
              <a:cs typeface="Arial"/>
              <a:sym typeface="Arial"/>
            </a:endParaRPr>
          </a:p>
          <a:p>
            <a:pPr indent="0" lvl="0" marL="0" marR="0" rtl="0" algn="l">
              <a:lnSpc>
                <a:spcPct val="153007"/>
              </a:lnSpc>
              <a:spcBef>
                <a:spcPts val="0"/>
              </a:spcBef>
              <a:spcAft>
                <a:spcPts val="0"/>
              </a:spcAft>
              <a:buClr>
                <a:srgbClr val="000000"/>
              </a:buClr>
              <a:buSzPts val="2909"/>
              <a:buFont typeface="Arial"/>
              <a:buNone/>
            </a:pPr>
            <a:r>
              <a:t/>
            </a:r>
            <a:endParaRPr b="0" i="0" sz="2909" u="none" cap="none" strike="noStrike">
              <a:solidFill>
                <a:srgbClr val="FFFFFF"/>
              </a:solidFill>
              <a:latin typeface="Avenir"/>
              <a:ea typeface="Avenir"/>
              <a:cs typeface="Avenir"/>
              <a:sym typeface="Avenir"/>
            </a:endParaRPr>
          </a:p>
        </p:txBody>
      </p:sp>
      <p:sp>
        <p:nvSpPr>
          <p:cNvPr id="105" name="Google Shape;105;g35becfa261e_1_0"/>
          <p:cNvSpPr/>
          <p:nvPr/>
        </p:nvSpPr>
        <p:spPr>
          <a:xfrm>
            <a:off x="7620587" y="9258300"/>
            <a:ext cx="3046827" cy="747466"/>
          </a:xfrm>
          <a:custGeom>
            <a:rect b="b" l="l" r="r" t="t"/>
            <a:pathLst>
              <a:path extrusionOk="0" h="747466" w="3046827">
                <a:moveTo>
                  <a:pt x="0" y="0"/>
                </a:moveTo>
                <a:lnTo>
                  <a:pt x="3046826" y="0"/>
                </a:lnTo>
                <a:lnTo>
                  <a:pt x="3046826" y="747466"/>
                </a:lnTo>
                <a:lnTo>
                  <a:pt x="0" y="747466"/>
                </a:lnTo>
                <a:lnTo>
                  <a:pt x="0" y="0"/>
                </a:lnTo>
                <a:close/>
              </a:path>
            </a:pathLst>
          </a:custGeom>
          <a:blipFill rotWithShape="1">
            <a:blip r:embed="rId4">
              <a:alphaModFix/>
            </a:blip>
            <a:stretch>
              <a:fillRect b="-293927" l="-17754" r="-15532" t="-308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 name="Google Shape;106;g35becfa261e_1_0"/>
          <p:cNvGrpSpPr/>
          <p:nvPr/>
        </p:nvGrpSpPr>
        <p:grpSpPr>
          <a:xfrm rot="5400000">
            <a:off x="636330" y="3636704"/>
            <a:ext cx="1533728" cy="766864"/>
            <a:chOff x="0" y="0"/>
            <a:chExt cx="2044970" cy="1022485"/>
          </a:xfrm>
        </p:grpSpPr>
        <p:sp>
          <p:nvSpPr>
            <p:cNvPr id="107" name="Google Shape;107;g35becfa261e_1_0"/>
            <p:cNvSpPr/>
            <p:nvPr/>
          </p:nvSpPr>
          <p:spPr>
            <a:xfrm>
              <a:off x="0" y="0"/>
              <a:ext cx="2044970" cy="1022485"/>
            </a:xfrm>
            <a:custGeom>
              <a:rect b="b" l="l" r="r" t="t"/>
              <a:pathLst>
                <a:path extrusionOk="0" h="1022485" w="2044970">
                  <a:moveTo>
                    <a:pt x="0" y="0"/>
                  </a:moveTo>
                  <a:lnTo>
                    <a:pt x="2044970" y="0"/>
                  </a:lnTo>
                  <a:lnTo>
                    <a:pt x="2044970" y="1022485"/>
                  </a:lnTo>
                  <a:lnTo>
                    <a:pt x="0" y="10224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5becfa261e_1_0"/>
            <p:cNvSpPr/>
            <p:nvPr/>
          </p:nvSpPr>
          <p:spPr>
            <a:xfrm>
              <a:off x="240819" y="265794"/>
              <a:ext cx="646981" cy="490897"/>
            </a:xfrm>
            <a:custGeom>
              <a:rect b="b" l="l" r="r" t="t"/>
              <a:pathLst>
                <a:path extrusionOk="0" h="490897" w="646981">
                  <a:moveTo>
                    <a:pt x="0" y="0"/>
                  </a:moveTo>
                  <a:lnTo>
                    <a:pt x="646981" y="0"/>
                  </a:lnTo>
                  <a:lnTo>
                    <a:pt x="646981" y="490897"/>
                  </a:lnTo>
                  <a:lnTo>
                    <a:pt x="0" y="49089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9" name="Google Shape;109;g35becfa261e_1_0" title="Data Driven.png"/>
          <p:cNvPicPr preferRelativeResize="0"/>
          <p:nvPr/>
        </p:nvPicPr>
        <p:blipFill rotWithShape="1">
          <a:blip r:embed="rId5">
            <a:alphaModFix/>
          </a:blip>
          <a:srcRect b="49858" l="60672" r="5311" t="20879"/>
          <a:stretch/>
        </p:blipFill>
        <p:spPr>
          <a:xfrm>
            <a:off x="1461838" y="5119700"/>
            <a:ext cx="6220325" cy="3010125"/>
          </a:xfrm>
          <a:prstGeom prst="rect">
            <a:avLst/>
          </a:prstGeom>
          <a:noFill/>
          <a:ln>
            <a:noFill/>
          </a:ln>
        </p:spPr>
      </p:pic>
      <p:sp>
        <p:nvSpPr>
          <p:cNvPr id="110" name="Google Shape;110;g35becfa261e_1_0"/>
          <p:cNvSpPr txBox="1"/>
          <p:nvPr/>
        </p:nvSpPr>
        <p:spPr>
          <a:xfrm>
            <a:off x="2449345" y="628002"/>
            <a:ext cx="12573000" cy="28986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6701"/>
              <a:buFont typeface="Arial"/>
              <a:buNone/>
            </a:pPr>
            <a:r>
              <a:rPr b="1" i="0" lang="en-US" sz="6701" u="none" cap="none" strike="noStrike">
                <a:solidFill>
                  <a:srgbClr val="54565B"/>
                </a:solidFill>
                <a:latin typeface="Avenir"/>
                <a:ea typeface="Avenir"/>
                <a:cs typeface="Avenir"/>
                <a:sym typeface="Avenir"/>
              </a:rPr>
              <a:t>Mapeo de mercado para tomar</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6701"/>
              <a:buFont typeface="Arial"/>
              <a:buNone/>
            </a:pPr>
            <a:r>
              <a:rPr b="1" i="0" lang="en-US" sz="6701" u="none" cap="none" strike="noStrike">
                <a:solidFill>
                  <a:srgbClr val="F8BF00"/>
                </a:solidFill>
                <a:latin typeface="Avenir"/>
                <a:ea typeface="Avenir"/>
                <a:cs typeface="Avenir"/>
                <a:sym typeface="Avenir"/>
              </a:rPr>
              <a:t>decisiones basadas en datos</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6701"/>
              <a:buFont typeface="Arial"/>
              <a:buNone/>
            </a:pPr>
            <a:r>
              <a:rPr b="1" i="0" lang="en-US" sz="6701" u="none" cap="none" strike="noStrike">
                <a:solidFill>
                  <a:srgbClr val="54565B"/>
                </a:solidFill>
                <a:latin typeface="Avenir"/>
                <a:ea typeface="Avenir"/>
                <a:cs typeface="Avenir"/>
                <a:sym typeface="Avenir"/>
              </a:rPr>
              <a:t>con análisis personalizados.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g35becfa261e_1_12"/>
          <p:cNvPicPr preferRelativeResize="0"/>
          <p:nvPr/>
        </p:nvPicPr>
        <p:blipFill rotWithShape="1">
          <a:blip r:embed="rId3">
            <a:alphaModFix/>
          </a:blip>
          <a:srcRect b="0" l="2785" r="2784" t="0"/>
          <a:stretch/>
        </p:blipFill>
        <p:spPr>
          <a:xfrm>
            <a:off x="9271419" y="5168471"/>
            <a:ext cx="4176433" cy="2951261"/>
          </a:xfrm>
          <a:prstGeom prst="rect">
            <a:avLst/>
          </a:prstGeom>
          <a:noFill/>
          <a:ln>
            <a:noFill/>
          </a:ln>
        </p:spPr>
      </p:pic>
      <p:pic>
        <p:nvPicPr>
          <p:cNvPr id="116" name="Google Shape;116;g35becfa261e_1_12"/>
          <p:cNvPicPr preferRelativeResize="0"/>
          <p:nvPr/>
        </p:nvPicPr>
        <p:blipFill rotWithShape="1">
          <a:blip r:embed="rId4">
            <a:alphaModFix/>
          </a:blip>
          <a:srcRect b="3805" l="0" r="0" t="3804"/>
          <a:stretch/>
        </p:blipFill>
        <p:spPr>
          <a:xfrm>
            <a:off x="0" y="5168471"/>
            <a:ext cx="4794561" cy="2951261"/>
          </a:xfrm>
          <a:prstGeom prst="rect">
            <a:avLst/>
          </a:prstGeom>
          <a:noFill/>
          <a:ln>
            <a:noFill/>
          </a:ln>
        </p:spPr>
      </p:pic>
      <p:pic>
        <p:nvPicPr>
          <p:cNvPr id="117" name="Google Shape;117;g35becfa261e_1_12"/>
          <p:cNvPicPr preferRelativeResize="0"/>
          <p:nvPr/>
        </p:nvPicPr>
        <p:blipFill rotWithShape="1">
          <a:blip r:embed="rId5">
            <a:alphaModFix/>
          </a:blip>
          <a:srcRect b="8240" l="0" r="0" t="8250"/>
          <a:stretch/>
        </p:blipFill>
        <p:spPr>
          <a:xfrm>
            <a:off x="12810176" y="2129168"/>
            <a:ext cx="5325518" cy="2951262"/>
          </a:xfrm>
          <a:prstGeom prst="rect">
            <a:avLst/>
          </a:prstGeom>
          <a:noFill/>
          <a:ln>
            <a:noFill/>
          </a:ln>
        </p:spPr>
      </p:pic>
      <p:pic>
        <p:nvPicPr>
          <p:cNvPr id="118" name="Google Shape;118;g35becfa261e_1_12"/>
          <p:cNvPicPr preferRelativeResize="0"/>
          <p:nvPr/>
        </p:nvPicPr>
        <p:blipFill rotWithShape="1">
          <a:blip r:embed="rId6">
            <a:alphaModFix/>
          </a:blip>
          <a:srcRect b="3574" l="0" r="0" t="3583"/>
          <a:stretch/>
        </p:blipFill>
        <p:spPr>
          <a:xfrm>
            <a:off x="4358006" y="2129168"/>
            <a:ext cx="4295881" cy="2951261"/>
          </a:xfrm>
          <a:prstGeom prst="rect">
            <a:avLst/>
          </a:prstGeom>
          <a:noFill/>
          <a:ln>
            <a:noFill/>
          </a:ln>
        </p:spPr>
      </p:pic>
      <p:sp>
        <p:nvSpPr>
          <p:cNvPr id="119" name="Google Shape;119;g35becfa261e_1_12"/>
          <p:cNvSpPr/>
          <p:nvPr/>
        </p:nvSpPr>
        <p:spPr>
          <a:xfrm>
            <a:off x="13705027" y="5168471"/>
            <a:ext cx="4430700" cy="2951400"/>
          </a:xfrm>
          <a:prstGeom prst="rect">
            <a:avLst/>
          </a:prstGeom>
          <a:solidFill>
            <a:srgbClr val="54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5becfa261e_1_12"/>
          <p:cNvSpPr/>
          <p:nvPr/>
        </p:nvSpPr>
        <p:spPr>
          <a:xfrm>
            <a:off x="4973289" y="5168471"/>
            <a:ext cx="4117200" cy="2951400"/>
          </a:xfrm>
          <a:prstGeom prst="rect">
            <a:avLst/>
          </a:prstGeom>
          <a:solidFill>
            <a:srgbClr val="54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5becfa261e_1_12"/>
          <p:cNvSpPr/>
          <p:nvPr/>
        </p:nvSpPr>
        <p:spPr>
          <a:xfrm>
            <a:off x="8815812" y="2129168"/>
            <a:ext cx="3844200" cy="2951400"/>
          </a:xfrm>
          <a:prstGeom prst="rect">
            <a:avLst/>
          </a:prstGeom>
          <a:solidFill>
            <a:srgbClr val="54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5becfa261e_1_12"/>
          <p:cNvSpPr/>
          <p:nvPr/>
        </p:nvSpPr>
        <p:spPr>
          <a:xfrm>
            <a:off x="0" y="2129168"/>
            <a:ext cx="4192500" cy="2951400"/>
          </a:xfrm>
          <a:prstGeom prst="rect">
            <a:avLst/>
          </a:prstGeom>
          <a:solidFill>
            <a:srgbClr val="54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 name="Google Shape;123;g35becfa261e_1_12"/>
          <p:cNvGrpSpPr/>
          <p:nvPr/>
        </p:nvGrpSpPr>
        <p:grpSpPr>
          <a:xfrm rot="-5400000">
            <a:off x="-1061335" y="635890"/>
            <a:ext cx="3242634" cy="1173388"/>
            <a:chOff x="0" y="-123825"/>
            <a:chExt cx="1085219" cy="392700"/>
          </a:xfrm>
        </p:grpSpPr>
        <p:sp>
          <p:nvSpPr>
            <p:cNvPr id="124" name="Google Shape;124;g35becfa261e_1_12"/>
            <p:cNvSpPr/>
            <p:nvPr/>
          </p:nvSpPr>
          <p:spPr>
            <a:xfrm>
              <a:off x="0" y="0"/>
              <a:ext cx="1085219" cy="268804"/>
            </a:xfrm>
            <a:custGeom>
              <a:rect b="b" l="l" r="r" t="t"/>
              <a:pathLst>
                <a:path extrusionOk="0" h="268804" w="1085219">
                  <a:moveTo>
                    <a:pt x="121765" y="0"/>
                  </a:moveTo>
                  <a:lnTo>
                    <a:pt x="963454" y="0"/>
                  </a:lnTo>
                  <a:cubicBezTo>
                    <a:pt x="995748" y="0"/>
                    <a:pt x="1026719" y="12829"/>
                    <a:pt x="1049555" y="35664"/>
                  </a:cubicBezTo>
                  <a:cubicBezTo>
                    <a:pt x="1072390" y="58499"/>
                    <a:pt x="1085219" y="89471"/>
                    <a:pt x="1085219" y="121765"/>
                  </a:cubicBezTo>
                  <a:lnTo>
                    <a:pt x="1085219" y="147040"/>
                  </a:lnTo>
                  <a:cubicBezTo>
                    <a:pt x="1085219" y="214289"/>
                    <a:pt x="1030703" y="268804"/>
                    <a:pt x="963454" y="268804"/>
                  </a:cubicBezTo>
                  <a:lnTo>
                    <a:pt x="121765" y="268804"/>
                  </a:lnTo>
                  <a:cubicBezTo>
                    <a:pt x="89471" y="268804"/>
                    <a:pt x="58499" y="255976"/>
                    <a:pt x="35664" y="233140"/>
                  </a:cubicBezTo>
                  <a:cubicBezTo>
                    <a:pt x="12829" y="210305"/>
                    <a:pt x="0" y="179334"/>
                    <a:pt x="0" y="147040"/>
                  </a:cubicBezTo>
                  <a:lnTo>
                    <a:pt x="0" y="121765"/>
                  </a:lnTo>
                  <a:cubicBezTo>
                    <a:pt x="0" y="54516"/>
                    <a:pt x="54516" y="0"/>
                    <a:pt x="121765" y="0"/>
                  </a:cubicBezTo>
                  <a:close/>
                </a:path>
              </a:pathLst>
            </a:custGeom>
            <a:solidFill>
              <a:srgbClr val="8CA8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5becfa261e_1_12"/>
            <p:cNvSpPr txBox="1"/>
            <p:nvPr/>
          </p:nvSpPr>
          <p:spPr>
            <a:xfrm>
              <a:off x="0" y="-123825"/>
              <a:ext cx="1085100" cy="392700"/>
            </a:xfrm>
            <a:prstGeom prst="rect">
              <a:avLst/>
            </a:prstGeom>
            <a:noFill/>
            <a:ln>
              <a:noFill/>
            </a:ln>
          </p:spPr>
          <p:txBody>
            <a:bodyPr anchorCtr="0" anchor="ctr" bIns="50800" lIns="50800" spcFirstLastPara="1" rIns="50800" wrap="square" tIns="50800">
              <a:noAutofit/>
            </a:bodyPr>
            <a:lstStyle/>
            <a:p>
              <a:pPr indent="0" lvl="0" marL="0" marR="0" rtl="0" algn="ctr">
                <a:lnSpc>
                  <a:spcPct val="202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6" name="Google Shape;126;g35becfa261e_1_12"/>
          <p:cNvSpPr txBox="1"/>
          <p:nvPr/>
        </p:nvSpPr>
        <p:spPr>
          <a:xfrm rot="-5400000">
            <a:off x="-544028" y="1128199"/>
            <a:ext cx="2395200" cy="3156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2051"/>
              <a:buFont typeface="Arial"/>
              <a:buNone/>
            </a:pPr>
            <a:r>
              <a:rPr b="1" i="0" lang="en-US" sz="2051" u="none" cap="none" strike="noStrike">
                <a:solidFill>
                  <a:srgbClr val="FFFFFF"/>
                </a:solidFill>
                <a:latin typeface="Arial"/>
                <a:ea typeface="Arial"/>
                <a:cs typeface="Arial"/>
                <a:sym typeface="Arial"/>
              </a:rPr>
              <a:t> PROYECTOS</a:t>
            </a:r>
            <a:endParaRPr b="0" i="0" sz="1400" u="none" cap="none" strike="noStrike">
              <a:solidFill>
                <a:srgbClr val="000000"/>
              </a:solidFill>
              <a:latin typeface="Arial"/>
              <a:ea typeface="Arial"/>
              <a:cs typeface="Arial"/>
              <a:sym typeface="Arial"/>
            </a:endParaRPr>
          </a:p>
        </p:txBody>
      </p:sp>
      <p:sp>
        <p:nvSpPr>
          <p:cNvPr id="127" name="Google Shape;127;g35becfa261e_1_12"/>
          <p:cNvSpPr txBox="1"/>
          <p:nvPr/>
        </p:nvSpPr>
        <p:spPr>
          <a:xfrm>
            <a:off x="177989" y="3081274"/>
            <a:ext cx="3827700" cy="1361100"/>
          </a:xfrm>
          <a:prstGeom prst="rect">
            <a:avLst/>
          </a:prstGeom>
          <a:noFill/>
          <a:ln>
            <a:noFill/>
          </a:ln>
        </p:spPr>
        <p:txBody>
          <a:bodyPr anchorCtr="0" anchor="t" bIns="0" lIns="0" spcFirstLastPara="1" rIns="0" wrap="square" tIns="0">
            <a:spAutoFit/>
          </a:bodyPr>
          <a:lstStyle/>
          <a:p>
            <a:pPr indent="0" lvl="0" marL="0" marR="0" rtl="0" algn="ctr">
              <a:lnSpc>
                <a:spcPct val="140059"/>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Provee información acerca de políticas, prácticas y características culturales que permitan promover una organización inclusiva y diversa.</a:t>
            </a:r>
            <a:endParaRPr b="0" i="0" sz="1700" u="none" cap="none" strike="noStrike">
              <a:solidFill>
                <a:srgbClr val="000000"/>
              </a:solidFill>
              <a:latin typeface="Avenir"/>
              <a:ea typeface="Avenir"/>
              <a:cs typeface="Avenir"/>
              <a:sym typeface="Avenir"/>
            </a:endParaRPr>
          </a:p>
        </p:txBody>
      </p:sp>
      <p:sp>
        <p:nvSpPr>
          <p:cNvPr id="128" name="Google Shape;128;g35becfa261e_1_12"/>
          <p:cNvSpPr txBox="1"/>
          <p:nvPr/>
        </p:nvSpPr>
        <p:spPr>
          <a:xfrm>
            <a:off x="9006312" y="3081274"/>
            <a:ext cx="3547200" cy="17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Permite entender cómo están estructuradas las áreas que promueven la Transformación Digital, tanto </a:t>
            </a:r>
            <a:r>
              <a:rPr b="0" i="0" lang="en-US" sz="1700" u="none" cap="none" strike="noStrike">
                <a:solidFill>
                  <a:srgbClr val="FFFFFF"/>
                </a:solidFill>
                <a:latin typeface="Avenir"/>
                <a:ea typeface="Avenir"/>
                <a:cs typeface="Avenir"/>
                <a:sym typeface="Avenir"/>
                <a:extLst>
                  <a:ext uri="http://customooxmlschemas.google.com/">
                    <go:slidesCustomData xmlns:go="http://customooxmlschemas.google.com/" textRoundtripDataId="1"/>
                  </a:ext>
                </a:extLst>
              </a:rPr>
              <a:t>como</a:t>
            </a:r>
            <a:r>
              <a:rPr b="0" i="0" lang="en-US" sz="1700" u="none" cap="none" strike="noStrike">
                <a:solidFill>
                  <a:srgbClr val="FFFFFF"/>
                </a:solidFill>
                <a:latin typeface="Avenir"/>
                <a:ea typeface="Avenir"/>
                <a:cs typeface="Avenir"/>
                <a:sym typeface="Avenir"/>
              </a:rPr>
              <a:t> el talento que las integran.</a:t>
            </a:r>
            <a:endParaRPr b="0" i="0" sz="1700" u="none" cap="none" strike="noStrike">
              <a:solidFill>
                <a:srgbClr val="000000"/>
              </a:solidFill>
              <a:latin typeface="Avenir"/>
              <a:ea typeface="Avenir"/>
              <a:cs typeface="Avenir"/>
              <a:sym typeface="Avenir"/>
            </a:endParaRPr>
          </a:p>
        </p:txBody>
      </p:sp>
      <p:sp>
        <p:nvSpPr>
          <p:cNvPr id="129" name="Google Shape;129;g35becfa261e_1_12"/>
          <p:cNvSpPr txBox="1"/>
          <p:nvPr/>
        </p:nvSpPr>
        <p:spPr>
          <a:xfrm>
            <a:off x="5113430" y="6189357"/>
            <a:ext cx="3839100" cy="17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Aporta información sobre estrategias de compensaciones, rangos salariales y beneficios de posiciones críticas ya sea en un mercado nuevo o existente.</a:t>
            </a:r>
            <a:endParaRPr b="0" i="0" sz="1700" u="none" cap="none" strike="noStrike">
              <a:solidFill>
                <a:srgbClr val="000000"/>
              </a:solidFill>
              <a:latin typeface="Avenir"/>
              <a:ea typeface="Avenir"/>
              <a:cs typeface="Avenir"/>
              <a:sym typeface="Avenir"/>
            </a:endParaRPr>
          </a:p>
          <a:p>
            <a:pPr indent="0" lvl="0" marL="0" marR="0" rtl="0" algn="ctr">
              <a:lnSpc>
                <a:spcPct val="140000"/>
              </a:lnSpc>
              <a:spcBef>
                <a:spcPts val="0"/>
              </a:spcBef>
              <a:spcAft>
                <a:spcPts val="0"/>
              </a:spcAft>
              <a:buClr>
                <a:srgbClr val="000000"/>
              </a:buClr>
              <a:buSzPts val="1700"/>
              <a:buFont typeface="Arial"/>
              <a:buNone/>
            </a:pPr>
            <a:r>
              <a:t/>
            </a:r>
            <a:endParaRPr b="0" i="0" sz="1700" u="none" cap="none" strike="noStrike">
              <a:solidFill>
                <a:srgbClr val="FFFFFF"/>
              </a:solidFill>
              <a:latin typeface="Avenir"/>
              <a:ea typeface="Avenir"/>
              <a:cs typeface="Avenir"/>
              <a:sym typeface="Avenir"/>
            </a:endParaRPr>
          </a:p>
        </p:txBody>
      </p:sp>
      <p:sp>
        <p:nvSpPr>
          <p:cNvPr id="130" name="Google Shape;130;g35becfa261e_1_12"/>
          <p:cNvSpPr txBox="1"/>
          <p:nvPr/>
        </p:nvSpPr>
        <p:spPr>
          <a:xfrm>
            <a:off x="13940265" y="6017882"/>
            <a:ext cx="3960300" cy="17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rgbClr val="FFFFFF"/>
                </a:solidFill>
                <a:latin typeface="Avenir"/>
                <a:ea typeface="Avenir"/>
                <a:cs typeface="Avenir"/>
                <a:sym typeface="Avenir"/>
              </a:rPr>
              <a:t>En función de una necesidad específica diseñamos un servicio Ad-Hoc para resolver los desafíos particulares de la organización.</a:t>
            </a:r>
            <a:endParaRPr b="0" i="0" sz="1700" u="none" cap="none" strike="noStrike">
              <a:solidFill>
                <a:srgbClr val="000000"/>
              </a:solidFill>
              <a:latin typeface="Avenir"/>
              <a:ea typeface="Avenir"/>
              <a:cs typeface="Avenir"/>
              <a:sym typeface="Avenir"/>
            </a:endParaRPr>
          </a:p>
          <a:p>
            <a:pPr indent="0" lvl="0" marL="0" marR="0" rtl="0" algn="ctr">
              <a:lnSpc>
                <a:spcPct val="140000"/>
              </a:lnSpc>
              <a:spcBef>
                <a:spcPts val="0"/>
              </a:spcBef>
              <a:spcAft>
                <a:spcPts val="0"/>
              </a:spcAft>
              <a:buClr>
                <a:srgbClr val="000000"/>
              </a:buClr>
              <a:buSzPts val="1700"/>
              <a:buFont typeface="Arial"/>
              <a:buNone/>
            </a:pPr>
            <a:r>
              <a:t/>
            </a:r>
            <a:endParaRPr b="0" i="0" sz="1700" u="none" cap="none" strike="noStrike">
              <a:solidFill>
                <a:srgbClr val="FFFFFF"/>
              </a:solidFill>
              <a:latin typeface="Avenir"/>
              <a:ea typeface="Avenir"/>
              <a:cs typeface="Avenir"/>
              <a:sym typeface="Avenir"/>
            </a:endParaRPr>
          </a:p>
        </p:txBody>
      </p:sp>
      <p:sp>
        <p:nvSpPr>
          <p:cNvPr id="131" name="Google Shape;131;g35becfa261e_1_12"/>
          <p:cNvSpPr txBox="1"/>
          <p:nvPr/>
        </p:nvSpPr>
        <p:spPr>
          <a:xfrm>
            <a:off x="1423296" y="2272401"/>
            <a:ext cx="1345800" cy="369300"/>
          </a:xfrm>
          <a:prstGeom prst="rect">
            <a:avLst/>
          </a:prstGeom>
          <a:noFill/>
          <a:ln>
            <a:noFill/>
          </a:ln>
        </p:spPr>
        <p:txBody>
          <a:bodyPr anchorCtr="0" anchor="t" bIns="0" lIns="0" spcFirstLastPara="1" rIns="0" wrap="square" tIns="0">
            <a:spAutoFit/>
          </a:bodyPr>
          <a:lstStyle/>
          <a:p>
            <a:pPr indent="0" lvl="0" marL="0" marR="0" rtl="0" algn="ctr">
              <a:lnSpc>
                <a:spcPct val="128000"/>
              </a:lnSpc>
              <a:spcBef>
                <a:spcPts val="0"/>
              </a:spcBef>
              <a:spcAft>
                <a:spcPts val="0"/>
              </a:spcAft>
              <a:buClr>
                <a:srgbClr val="000000"/>
              </a:buClr>
              <a:buSzPts val="2400"/>
              <a:buFont typeface="Arial"/>
              <a:buNone/>
            </a:pPr>
            <a:r>
              <a:rPr b="1" i="0" lang="en-US" sz="2400" u="none" cap="none" strike="noStrike">
                <a:solidFill>
                  <a:srgbClr val="E5E5E4"/>
                </a:solidFill>
                <a:latin typeface="Garamond"/>
                <a:ea typeface="Garamond"/>
                <a:cs typeface="Garamond"/>
                <a:sym typeface="Garamond"/>
              </a:rPr>
              <a:t>DEIB</a:t>
            </a:r>
            <a:endParaRPr b="0" i="0" sz="1400" u="none" cap="none" strike="noStrike">
              <a:solidFill>
                <a:srgbClr val="000000"/>
              </a:solidFill>
              <a:latin typeface="Arial"/>
              <a:ea typeface="Arial"/>
              <a:cs typeface="Arial"/>
              <a:sym typeface="Arial"/>
            </a:endParaRPr>
          </a:p>
        </p:txBody>
      </p:sp>
      <p:sp>
        <p:nvSpPr>
          <p:cNvPr id="132" name="Google Shape;132;g35becfa261e_1_12"/>
          <p:cNvSpPr txBox="1"/>
          <p:nvPr/>
        </p:nvSpPr>
        <p:spPr>
          <a:xfrm>
            <a:off x="8951366" y="2281926"/>
            <a:ext cx="3602100" cy="737100"/>
          </a:xfrm>
          <a:prstGeom prst="rect">
            <a:avLst/>
          </a:prstGeom>
          <a:noFill/>
          <a:ln>
            <a:noFill/>
          </a:ln>
        </p:spPr>
        <p:txBody>
          <a:bodyPr anchorCtr="0" anchor="t" bIns="0" lIns="0" spcFirstLastPara="1" rIns="0" wrap="square" tIns="0">
            <a:spAutoFit/>
          </a:bodyPr>
          <a:lstStyle/>
          <a:p>
            <a:pPr indent="0" lvl="0" marL="0" marR="0" rtl="0" algn="ctr">
              <a:lnSpc>
                <a:spcPct val="128000"/>
              </a:lnSpc>
              <a:spcBef>
                <a:spcPts val="0"/>
              </a:spcBef>
              <a:spcAft>
                <a:spcPts val="0"/>
              </a:spcAft>
              <a:buClr>
                <a:srgbClr val="000000"/>
              </a:buClr>
              <a:buSzPts val="2100"/>
              <a:buFont typeface="Arial"/>
              <a:buNone/>
            </a:pPr>
            <a:r>
              <a:rPr b="1" i="0" lang="en-US" sz="2100" u="none" cap="none" strike="noStrike">
                <a:solidFill>
                  <a:srgbClr val="E5E5E4"/>
                </a:solidFill>
                <a:latin typeface="Garamond"/>
                <a:ea typeface="Garamond"/>
                <a:cs typeface="Garamond"/>
                <a:sym typeface="Garamond"/>
              </a:rPr>
              <a:t>DIGITAL</a:t>
            </a:r>
            <a:endParaRPr b="0" i="0" sz="1400" u="none" cap="none" strike="noStrike">
              <a:solidFill>
                <a:srgbClr val="000000"/>
              </a:solidFill>
              <a:latin typeface="Arial"/>
              <a:ea typeface="Arial"/>
              <a:cs typeface="Arial"/>
              <a:sym typeface="Arial"/>
            </a:endParaRPr>
          </a:p>
          <a:p>
            <a:pPr indent="0" lvl="0" marL="0" marR="0" rtl="0" algn="ctr">
              <a:lnSpc>
                <a:spcPct val="128000"/>
              </a:lnSpc>
              <a:spcBef>
                <a:spcPts val="0"/>
              </a:spcBef>
              <a:spcAft>
                <a:spcPts val="0"/>
              </a:spcAft>
              <a:buClr>
                <a:srgbClr val="000000"/>
              </a:buClr>
              <a:buSzPts val="2100"/>
              <a:buFont typeface="Arial"/>
              <a:buNone/>
            </a:pPr>
            <a:r>
              <a:rPr b="1" i="0" lang="en-US" sz="2100" u="none" cap="none" strike="noStrike">
                <a:solidFill>
                  <a:srgbClr val="E5E5E4"/>
                </a:solidFill>
                <a:latin typeface="Garamond"/>
                <a:ea typeface="Garamond"/>
                <a:cs typeface="Garamond"/>
                <a:sym typeface="Garamond"/>
              </a:rPr>
              <a:t>TRANSFORMATION</a:t>
            </a:r>
            <a:endParaRPr b="0" i="0" sz="1400" u="none" cap="none" strike="noStrike">
              <a:solidFill>
                <a:srgbClr val="000000"/>
              </a:solidFill>
              <a:latin typeface="Arial"/>
              <a:ea typeface="Arial"/>
              <a:cs typeface="Arial"/>
              <a:sym typeface="Arial"/>
            </a:endParaRPr>
          </a:p>
        </p:txBody>
      </p:sp>
      <p:sp>
        <p:nvSpPr>
          <p:cNvPr id="133" name="Google Shape;133;g35becfa261e_1_12"/>
          <p:cNvSpPr txBox="1"/>
          <p:nvPr/>
        </p:nvSpPr>
        <p:spPr>
          <a:xfrm>
            <a:off x="5231913" y="5226449"/>
            <a:ext cx="3602100" cy="737100"/>
          </a:xfrm>
          <a:prstGeom prst="rect">
            <a:avLst/>
          </a:prstGeom>
          <a:noFill/>
          <a:ln>
            <a:noFill/>
          </a:ln>
        </p:spPr>
        <p:txBody>
          <a:bodyPr anchorCtr="0" anchor="t" bIns="0" lIns="0" spcFirstLastPara="1" rIns="0" wrap="square" tIns="0">
            <a:spAutoFit/>
          </a:bodyPr>
          <a:lstStyle/>
          <a:p>
            <a:pPr indent="0" lvl="0" marL="0" marR="0" rtl="0" algn="ctr">
              <a:lnSpc>
                <a:spcPct val="128000"/>
              </a:lnSpc>
              <a:spcBef>
                <a:spcPts val="0"/>
              </a:spcBef>
              <a:spcAft>
                <a:spcPts val="0"/>
              </a:spcAft>
              <a:buClr>
                <a:srgbClr val="000000"/>
              </a:buClr>
              <a:buSzPts val="2100"/>
              <a:buFont typeface="Arial"/>
              <a:buNone/>
            </a:pPr>
            <a:r>
              <a:rPr b="1" i="0" lang="en-US" sz="2100" u="none" cap="none" strike="noStrike">
                <a:solidFill>
                  <a:srgbClr val="E5E5E4"/>
                </a:solidFill>
                <a:latin typeface="Garamond"/>
                <a:ea typeface="Garamond"/>
                <a:cs typeface="Garamond"/>
                <a:sym typeface="Garamond"/>
              </a:rPr>
              <a:t>TALENT &amp;</a:t>
            </a:r>
            <a:endParaRPr b="0" i="0" sz="1400" u="none" cap="none" strike="noStrike">
              <a:solidFill>
                <a:srgbClr val="000000"/>
              </a:solidFill>
              <a:latin typeface="Arial"/>
              <a:ea typeface="Arial"/>
              <a:cs typeface="Arial"/>
              <a:sym typeface="Arial"/>
            </a:endParaRPr>
          </a:p>
          <a:p>
            <a:pPr indent="0" lvl="0" marL="0" marR="0" rtl="0" algn="ctr">
              <a:lnSpc>
                <a:spcPct val="128000"/>
              </a:lnSpc>
              <a:spcBef>
                <a:spcPts val="0"/>
              </a:spcBef>
              <a:spcAft>
                <a:spcPts val="0"/>
              </a:spcAft>
              <a:buClr>
                <a:srgbClr val="000000"/>
              </a:buClr>
              <a:buSzPts val="2100"/>
              <a:buFont typeface="Arial"/>
              <a:buNone/>
            </a:pPr>
            <a:r>
              <a:rPr b="1" i="0" lang="en-US" sz="2100" u="none" cap="none" strike="noStrike">
                <a:solidFill>
                  <a:srgbClr val="E5E5E4"/>
                </a:solidFill>
                <a:latin typeface="Garamond"/>
                <a:ea typeface="Garamond"/>
                <a:cs typeface="Garamond"/>
                <a:sym typeface="Garamond"/>
              </a:rPr>
              <a:t>COMPENSATION</a:t>
            </a:r>
            <a:endParaRPr b="0" i="0" sz="1400" u="none" cap="none" strike="noStrike">
              <a:solidFill>
                <a:srgbClr val="000000"/>
              </a:solidFill>
              <a:latin typeface="Arial"/>
              <a:ea typeface="Arial"/>
              <a:cs typeface="Arial"/>
              <a:sym typeface="Arial"/>
            </a:endParaRPr>
          </a:p>
        </p:txBody>
      </p:sp>
      <p:sp>
        <p:nvSpPr>
          <p:cNvPr id="134" name="Google Shape;134;g35becfa261e_1_12"/>
          <p:cNvSpPr txBox="1"/>
          <p:nvPr/>
        </p:nvSpPr>
        <p:spPr>
          <a:xfrm>
            <a:off x="14298301" y="5393136"/>
            <a:ext cx="3602100" cy="323100"/>
          </a:xfrm>
          <a:prstGeom prst="rect">
            <a:avLst/>
          </a:prstGeom>
          <a:noFill/>
          <a:ln>
            <a:noFill/>
          </a:ln>
        </p:spPr>
        <p:txBody>
          <a:bodyPr anchorCtr="0" anchor="t" bIns="0" lIns="0" spcFirstLastPara="1" rIns="0" wrap="square" tIns="0">
            <a:spAutoFit/>
          </a:bodyPr>
          <a:lstStyle/>
          <a:p>
            <a:pPr indent="0" lvl="0" marL="0" marR="0" rtl="0" algn="ctr">
              <a:lnSpc>
                <a:spcPct val="128000"/>
              </a:lnSpc>
              <a:spcBef>
                <a:spcPts val="0"/>
              </a:spcBef>
              <a:spcAft>
                <a:spcPts val="0"/>
              </a:spcAft>
              <a:buClr>
                <a:srgbClr val="000000"/>
              </a:buClr>
              <a:buSzPts val="2100"/>
              <a:buFont typeface="Arial"/>
              <a:buNone/>
            </a:pPr>
            <a:r>
              <a:rPr b="1" i="0" lang="en-US" sz="2100" u="none" cap="none" strike="noStrike">
                <a:solidFill>
                  <a:srgbClr val="F8BF00"/>
                </a:solidFill>
                <a:latin typeface="Garamond"/>
                <a:ea typeface="Garamond"/>
                <a:cs typeface="Garamond"/>
                <a:sym typeface="Garamond"/>
              </a:rPr>
              <a:t>CUSTOMIZADO</a:t>
            </a:r>
            <a:endParaRPr b="0" i="0" sz="1400" u="none" cap="none" strike="noStrike">
              <a:solidFill>
                <a:srgbClr val="000000"/>
              </a:solidFill>
              <a:latin typeface="Arial"/>
              <a:ea typeface="Arial"/>
              <a:cs typeface="Arial"/>
              <a:sym typeface="Arial"/>
            </a:endParaRPr>
          </a:p>
        </p:txBody>
      </p:sp>
      <p:sp>
        <p:nvSpPr>
          <p:cNvPr id="135" name="Google Shape;135;g35becfa261e_1_12"/>
          <p:cNvSpPr/>
          <p:nvPr/>
        </p:nvSpPr>
        <p:spPr>
          <a:xfrm>
            <a:off x="7742609" y="9278701"/>
            <a:ext cx="3035341" cy="744648"/>
          </a:xfrm>
          <a:custGeom>
            <a:rect b="b" l="l" r="r" t="t"/>
            <a:pathLst>
              <a:path extrusionOk="0" h="744648" w="3035341">
                <a:moveTo>
                  <a:pt x="0" y="0"/>
                </a:moveTo>
                <a:lnTo>
                  <a:pt x="3035341" y="0"/>
                </a:lnTo>
                <a:lnTo>
                  <a:pt x="3035341" y="744648"/>
                </a:lnTo>
                <a:lnTo>
                  <a:pt x="0" y="744648"/>
                </a:lnTo>
                <a:lnTo>
                  <a:pt x="0" y="0"/>
                </a:lnTo>
                <a:close/>
              </a:path>
            </a:pathLst>
          </a:custGeom>
          <a:blipFill rotWithShape="1">
            <a:blip r:embed="rId7">
              <a:alphaModFix/>
            </a:blip>
            <a:stretch>
              <a:fillRect b="-293927" l="-17754" r="-15532" t="-308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g35becfa261e_1_36"/>
          <p:cNvSpPr/>
          <p:nvPr/>
        </p:nvSpPr>
        <p:spPr>
          <a:xfrm>
            <a:off x="0" y="3009625"/>
            <a:ext cx="18280549" cy="4941316"/>
          </a:xfrm>
          <a:custGeom>
            <a:rect b="b" l="l" r="r" t="t"/>
            <a:pathLst>
              <a:path extrusionOk="0" h="1739900" w="6186311">
                <a:moveTo>
                  <a:pt x="0" y="0"/>
                </a:moveTo>
                <a:lnTo>
                  <a:pt x="6186311" y="0"/>
                </a:lnTo>
                <a:lnTo>
                  <a:pt x="6186311" y="1739900"/>
                </a:lnTo>
                <a:lnTo>
                  <a:pt x="0" y="1739900"/>
                </a:lnTo>
                <a:close/>
              </a:path>
            </a:pathLst>
          </a:custGeom>
          <a:solidFill>
            <a:srgbClr val="5456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 name="Google Shape;141;g35becfa261e_1_36"/>
          <p:cNvGrpSpPr/>
          <p:nvPr/>
        </p:nvGrpSpPr>
        <p:grpSpPr>
          <a:xfrm>
            <a:off x="182768" y="1110891"/>
            <a:ext cx="767733" cy="2923993"/>
            <a:chOff x="0" y="-123825"/>
            <a:chExt cx="202200" cy="770100"/>
          </a:xfrm>
        </p:grpSpPr>
        <p:sp>
          <p:nvSpPr>
            <p:cNvPr id="142" name="Google Shape;142;g35becfa261e_1_36"/>
            <p:cNvSpPr/>
            <p:nvPr/>
          </p:nvSpPr>
          <p:spPr>
            <a:xfrm>
              <a:off x="0" y="0"/>
              <a:ext cx="202089" cy="646242"/>
            </a:xfrm>
            <a:custGeom>
              <a:rect b="b" l="l" r="r" t="t"/>
              <a:pathLst>
                <a:path extrusionOk="0" h="646242" w="202089">
                  <a:moveTo>
                    <a:pt x="101045" y="0"/>
                  </a:moveTo>
                  <a:lnTo>
                    <a:pt x="101045" y="0"/>
                  </a:lnTo>
                  <a:cubicBezTo>
                    <a:pt x="127843" y="0"/>
                    <a:pt x="153544" y="10646"/>
                    <a:pt x="172494" y="29595"/>
                  </a:cubicBezTo>
                  <a:cubicBezTo>
                    <a:pt x="191443" y="48545"/>
                    <a:pt x="202089" y="74246"/>
                    <a:pt x="202089" y="101045"/>
                  </a:cubicBezTo>
                  <a:lnTo>
                    <a:pt x="202089" y="545198"/>
                  </a:lnTo>
                  <a:cubicBezTo>
                    <a:pt x="202089" y="571997"/>
                    <a:pt x="191443" y="597698"/>
                    <a:pt x="172494" y="616647"/>
                  </a:cubicBezTo>
                  <a:cubicBezTo>
                    <a:pt x="153544" y="635597"/>
                    <a:pt x="127843" y="646242"/>
                    <a:pt x="101045" y="646242"/>
                  </a:cubicBezTo>
                  <a:lnTo>
                    <a:pt x="101045" y="646242"/>
                  </a:lnTo>
                  <a:cubicBezTo>
                    <a:pt x="74246" y="646242"/>
                    <a:pt x="48545" y="635597"/>
                    <a:pt x="29595" y="616647"/>
                  </a:cubicBezTo>
                  <a:cubicBezTo>
                    <a:pt x="10646" y="597698"/>
                    <a:pt x="0" y="571997"/>
                    <a:pt x="0" y="545198"/>
                  </a:cubicBezTo>
                  <a:lnTo>
                    <a:pt x="0" y="101045"/>
                  </a:lnTo>
                  <a:cubicBezTo>
                    <a:pt x="0" y="74246"/>
                    <a:pt x="10646" y="48545"/>
                    <a:pt x="29595" y="29595"/>
                  </a:cubicBezTo>
                  <a:cubicBezTo>
                    <a:pt x="48545" y="10646"/>
                    <a:pt x="74246" y="0"/>
                    <a:pt x="101045" y="0"/>
                  </a:cubicBezTo>
                  <a:close/>
                </a:path>
              </a:pathLst>
            </a:custGeom>
            <a:solidFill>
              <a:srgbClr val="8CA8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5becfa261e_1_36"/>
            <p:cNvSpPr txBox="1"/>
            <p:nvPr/>
          </p:nvSpPr>
          <p:spPr>
            <a:xfrm>
              <a:off x="0" y="-123825"/>
              <a:ext cx="202200" cy="7701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4" name="Google Shape;144;g35becfa261e_1_36"/>
          <p:cNvSpPr txBox="1"/>
          <p:nvPr/>
        </p:nvSpPr>
        <p:spPr>
          <a:xfrm>
            <a:off x="1200150" y="1366561"/>
            <a:ext cx="7707600" cy="1482900"/>
          </a:xfrm>
          <a:prstGeom prst="rect">
            <a:avLst/>
          </a:prstGeom>
          <a:noFill/>
          <a:ln>
            <a:noFill/>
          </a:ln>
        </p:spPr>
        <p:txBody>
          <a:bodyPr anchorCtr="0" anchor="t" bIns="0" lIns="0" spcFirstLastPara="1" rIns="0" wrap="square" tIns="0">
            <a:spAutoFit/>
          </a:bodyPr>
          <a:lstStyle/>
          <a:p>
            <a:pPr indent="0" lvl="0" marL="0" marR="0" rtl="0" algn="r">
              <a:lnSpc>
                <a:spcPct val="96999"/>
              </a:lnSpc>
              <a:spcBef>
                <a:spcPts val="0"/>
              </a:spcBef>
              <a:spcAft>
                <a:spcPts val="0"/>
              </a:spcAft>
              <a:buClr>
                <a:srgbClr val="000000"/>
              </a:buClr>
              <a:buSzPts val="9933"/>
              <a:buFont typeface="Arial"/>
              <a:buNone/>
            </a:pPr>
            <a:r>
              <a:rPr b="1" i="0" lang="en-US" sz="9933" u="none" cap="none" strike="noStrike">
                <a:solidFill>
                  <a:srgbClr val="54565B"/>
                </a:solidFill>
                <a:latin typeface="Avenir"/>
                <a:ea typeface="Avenir"/>
                <a:cs typeface="Avenir"/>
                <a:sym typeface="Avenir"/>
              </a:rPr>
              <a:t>Metodología</a:t>
            </a:r>
            <a:endParaRPr b="0" i="0" sz="1400" u="none" cap="none" strike="noStrike">
              <a:solidFill>
                <a:srgbClr val="000000"/>
              </a:solidFill>
              <a:latin typeface="Arial"/>
              <a:ea typeface="Arial"/>
              <a:cs typeface="Arial"/>
              <a:sym typeface="Arial"/>
            </a:endParaRPr>
          </a:p>
        </p:txBody>
      </p:sp>
      <p:sp>
        <p:nvSpPr>
          <p:cNvPr id="145" name="Google Shape;145;g35becfa261e_1_36"/>
          <p:cNvSpPr txBox="1"/>
          <p:nvPr/>
        </p:nvSpPr>
        <p:spPr>
          <a:xfrm rot="-5400000">
            <a:off x="-966521" y="2561641"/>
            <a:ext cx="29214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0" i="0" lang="en-US" sz="3200" u="none" cap="none" strike="noStrike">
                <a:solidFill>
                  <a:srgbClr val="FFFFFF"/>
                </a:solidFill>
                <a:latin typeface="Arial"/>
                <a:ea typeface="Arial"/>
                <a:cs typeface="Arial"/>
                <a:sym typeface="Arial"/>
              </a:rPr>
              <a:t>FASES</a:t>
            </a:r>
            <a:endParaRPr b="0" i="0" sz="1400" u="none" cap="none" strike="noStrike">
              <a:solidFill>
                <a:srgbClr val="000000"/>
              </a:solidFill>
              <a:latin typeface="Arial"/>
              <a:ea typeface="Arial"/>
              <a:cs typeface="Arial"/>
              <a:sym typeface="Arial"/>
            </a:endParaRPr>
          </a:p>
        </p:txBody>
      </p:sp>
      <p:sp>
        <p:nvSpPr>
          <p:cNvPr id="146" name="Google Shape;146;g35becfa261e_1_36"/>
          <p:cNvSpPr txBox="1"/>
          <p:nvPr/>
        </p:nvSpPr>
        <p:spPr>
          <a:xfrm>
            <a:off x="429488" y="4591400"/>
            <a:ext cx="3611100" cy="3216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Reunión con cliente para entender el alcance del proyecto, confirmar compañías y perfiles target a mapear. Se definirán las preguntas de inteligencia comercial, así como cualquier otro aspecto que el cliente busque comprender.</a:t>
            </a:r>
            <a:endParaRPr b="0" i="0" sz="1900" u="none" cap="none" strike="noStrike">
              <a:solidFill>
                <a:srgbClr val="E5E5E4"/>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900"/>
              <a:buFont typeface="Arial"/>
              <a:buNone/>
            </a:pPr>
            <a:r>
              <a:t/>
            </a:r>
            <a:endParaRPr b="0" i="0" sz="1900" u="none" cap="none" strike="noStrike">
              <a:solidFill>
                <a:srgbClr val="E5E5E4"/>
              </a:solidFill>
              <a:latin typeface="Avenir"/>
              <a:ea typeface="Avenir"/>
              <a:cs typeface="Avenir"/>
              <a:sym typeface="Avenir"/>
            </a:endParaRPr>
          </a:p>
        </p:txBody>
      </p:sp>
      <p:sp>
        <p:nvSpPr>
          <p:cNvPr id="147" name="Google Shape;147;g35becfa261e_1_36"/>
          <p:cNvSpPr txBox="1"/>
          <p:nvPr/>
        </p:nvSpPr>
        <p:spPr>
          <a:xfrm>
            <a:off x="4474818" y="3159681"/>
            <a:ext cx="2232900" cy="849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ESTRATEGIA</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DE ABORDAJE</a:t>
            </a:r>
            <a:endParaRPr b="0" i="0" sz="1400" u="none" cap="none" strike="noStrike">
              <a:solidFill>
                <a:srgbClr val="000000"/>
              </a:solidFill>
              <a:latin typeface="Arial"/>
              <a:ea typeface="Arial"/>
              <a:cs typeface="Arial"/>
              <a:sym typeface="Arial"/>
            </a:endParaRPr>
          </a:p>
        </p:txBody>
      </p:sp>
      <p:sp>
        <p:nvSpPr>
          <p:cNvPr id="148" name="Google Shape;148;g35becfa261e_1_36"/>
          <p:cNvSpPr txBox="1"/>
          <p:nvPr/>
        </p:nvSpPr>
        <p:spPr>
          <a:xfrm>
            <a:off x="4346125" y="4598750"/>
            <a:ext cx="2461200" cy="315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900"/>
              <a:buFont typeface="Arial"/>
              <a:buNone/>
            </a:pPr>
            <a:r>
              <a:rPr b="0" i="0" lang="en-US" sz="1900" u="none" cap="none" strike="noStrike">
                <a:solidFill>
                  <a:srgbClr val="E5E5E4"/>
                </a:solidFill>
                <a:latin typeface="Avenir"/>
                <a:ea typeface="Avenir"/>
                <a:cs typeface="Avenir"/>
                <a:sym typeface="Avenir"/>
              </a:rPr>
              <a:t>Definición de abordaje del proyecto, considerando las diferentes fuentes y canales para acceder a la información.</a:t>
            </a:r>
            <a:endParaRPr b="0" i="0" sz="1900" u="none" cap="none" strike="noStrike">
              <a:solidFill>
                <a:srgbClr val="E5E5E4"/>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900"/>
              <a:buFont typeface="Arial"/>
              <a:buNone/>
            </a:pPr>
            <a:r>
              <a:t/>
            </a:r>
            <a:endParaRPr b="0" i="0" sz="1900" u="none" cap="none" strike="noStrike">
              <a:solidFill>
                <a:srgbClr val="E5E5E4"/>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900"/>
              <a:buFont typeface="Arial"/>
              <a:buNone/>
            </a:pPr>
            <a:r>
              <a:t/>
            </a:r>
            <a:endParaRPr b="0" i="0" sz="1900" u="none" cap="none" strike="noStrike">
              <a:solidFill>
                <a:srgbClr val="E5E5E4"/>
              </a:solidFill>
              <a:latin typeface="Avenir"/>
              <a:ea typeface="Avenir"/>
              <a:cs typeface="Avenir"/>
              <a:sym typeface="Avenir"/>
            </a:endParaRPr>
          </a:p>
        </p:txBody>
      </p:sp>
      <p:sp>
        <p:nvSpPr>
          <p:cNvPr id="149" name="Google Shape;149;g35becfa261e_1_36"/>
          <p:cNvSpPr txBox="1"/>
          <p:nvPr/>
        </p:nvSpPr>
        <p:spPr>
          <a:xfrm>
            <a:off x="8108490" y="3159681"/>
            <a:ext cx="2461200" cy="849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EJECUCIÓN DE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LA ESTRATEGIA</a:t>
            </a:r>
            <a:endParaRPr b="0" i="0" sz="1400" u="none" cap="none" strike="noStrike">
              <a:solidFill>
                <a:srgbClr val="000000"/>
              </a:solidFill>
              <a:latin typeface="Arial"/>
              <a:ea typeface="Arial"/>
              <a:cs typeface="Arial"/>
              <a:sym typeface="Arial"/>
            </a:endParaRPr>
          </a:p>
        </p:txBody>
      </p:sp>
      <p:sp>
        <p:nvSpPr>
          <p:cNvPr id="150" name="Google Shape;150;g35becfa261e_1_36"/>
          <p:cNvSpPr txBox="1"/>
          <p:nvPr/>
        </p:nvSpPr>
        <p:spPr>
          <a:xfrm>
            <a:off x="7823200" y="4598750"/>
            <a:ext cx="2955000" cy="3216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Contactos con los profesionales para recabar la información de mercado.</a:t>
            </a:r>
            <a:endParaRPr b="0" i="0" sz="1900" u="none" cap="none" strike="noStrike">
              <a:solidFill>
                <a:srgbClr val="E5E5E4"/>
              </a:solidFill>
              <a:latin typeface="Avenir"/>
              <a:ea typeface="Avenir"/>
              <a:cs typeface="Avenir"/>
              <a:sym typeface="Avenir"/>
            </a:endParaRPr>
          </a:p>
          <a:p>
            <a:pPr indent="0" lvl="0" marL="0" marR="0" rtl="0" algn="l">
              <a:lnSpc>
                <a:spcPct val="125000"/>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Diseño de estructuras y organigramas orientativos.</a:t>
            </a:r>
            <a:endParaRPr b="0" i="0" sz="1900" u="none" cap="none" strike="noStrike">
              <a:solidFill>
                <a:srgbClr val="E5E5E4"/>
              </a:solidFill>
              <a:latin typeface="Avenir"/>
              <a:ea typeface="Avenir"/>
              <a:cs typeface="Avenir"/>
              <a:sym typeface="Avenir"/>
            </a:endParaRPr>
          </a:p>
          <a:p>
            <a:pPr indent="0" lvl="0" marL="0" marR="0" rtl="0" algn="l">
              <a:lnSpc>
                <a:spcPct val="125000"/>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Generación de infografías.</a:t>
            </a:r>
            <a:endParaRPr b="0" i="0" sz="1900" u="none" cap="none" strike="noStrike">
              <a:solidFill>
                <a:srgbClr val="E5E5E4"/>
              </a:solidFill>
              <a:latin typeface="Avenir"/>
              <a:ea typeface="Avenir"/>
              <a:cs typeface="Avenir"/>
              <a:sym typeface="Avenir"/>
            </a:endParaRPr>
          </a:p>
          <a:p>
            <a:pPr indent="0" lvl="0" marL="0" marR="0" rtl="0" algn="l">
              <a:lnSpc>
                <a:spcPct val="125000"/>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Desarrollo de insights de mercado.</a:t>
            </a:r>
            <a:endParaRPr b="0" i="0" sz="1900" u="none" cap="none" strike="noStrike">
              <a:solidFill>
                <a:srgbClr val="E5E5E4"/>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900"/>
              <a:buFont typeface="Arial"/>
              <a:buNone/>
            </a:pPr>
            <a:r>
              <a:t/>
            </a:r>
            <a:endParaRPr b="0" i="0" sz="1900" u="none" cap="none" strike="noStrike">
              <a:solidFill>
                <a:srgbClr val="E5E5E4"/>
              </a:solidFill>
              <a:latin typeface="Avenir"/>
              <a:ea typeface="Avenir"/>
              <a:cs typeface="Avenir"/>
              <a:sym typeface="Avenir"/>
            </a:endParaRPr>
          </a:p>
        </p:txBody>
      </p:sp>
      <p:sp>
        <p:nvSpPr>
          <p:cNvPr id="151" name="Google Shape;151;g35becfa261e_1_36"/>
          <p:cNvSpPr txBox="1"/>
          <p:nvPr/>
        </p:nvSpPr>
        <p:spPr>
          <a:xfrm>
            <a:off x="11673499" y="4598750"/>
            <a:ext cx="2461200" cy="274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900"/>
              <a:buFont typeface="Arial"/>
              <a:buNone/>
            </a:pPr>
            <a:r>
              <a:rPr b="0" i="0" lang="en-US" sz="1900" u="none" cap="none" strike="noStrike">
                <a:solidFill>
                  <a:srgbClr val="E5E5E4"/>
                </a:solidFill>
                <a:latin typeface="Avenir"/>
                <a:ea typeface="Avenir"/>
                <a:cs typeface="Avenir"/>
                <a:sym typeface="Avenir"/>
              </a:rPr>
              <a:t>Instancia de reunión con cliente para presentar avances, calibrar la información obtenida hasta el momento y realizar ajustes necesarios.</a:t>
            </a:r>
            <a:endParaRPr b="0" i="0" sz="1900" u="none" cap="none" strike="noStrike">
              <a:solidFill>
                <a:srgbClr val="E5E5E4"/>
              </a:solidFill>
              <a:latin typeface="Avenir"/>
              <a:ea typeface="Avenir"/>
              <a:cs typeface="Avenir"/>
              <a:sym typeface="Avenir"/>
            </a:endParaRPr>
          </a:p>
        </p:txBody>
      </p:sp>
      <p:sp>
        <p:nvSpPr>
          <p:cNvPr id="152" name="Google Shape;152;g35becfa261e_1_36"/>
          <p:cNvSpPr txBox="1"/>
          <p:nvPr/>
        </p:nvSpPr>
        <p:spPr>
          <a:xfrm>
            <a:off x="15188332" y="4598741"/>
            <a:ext cx="2553600" cy="2380500"/>
          </a:xfrm>
          <a:prstGeom prst="rect">
            <a:avLst/>
          </a:prstGeom>
          <a:noFill/>
          <a:ln>
            <a:noFill/>
          </a:ln>
        </p:spPr>
        <p:txBody>
          <a:bodyPr anchorCtr="0" anchor="t" bIns="0" lIns="0" spcFirstLastPara="1" rIns="0" wrap="square" tIns="0">
            <a:spAutoFit/>
          </a:bodyPr>
          <a:lstStyle/>
          <a:p>
            <a:pPr indent="0" lvl="0" marL="0" marR="0" rtl="0" algn="l">
              <a:lnSpc>
                <a:spcPct val="142785"/>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Elaboración y entrega de reporte final.</a:t>
            </a:r>
            <a:endParaRPr b="0" i="0" sz="1900" u="none" cap="none" strike="noStrike">
              <a:solidFill>
                <a:srgbClr val="E5E5E4"/>
              </a:solidFill>
              <a:latin typeface="Avenir"/>
              <a:ea typeface="Avenir"/>
              <a:cs typeface="Avenir"/>
              <a:sym typeface="Avenir"/>
            </a:endParaRPr>
          </a:p>
          <a:p>
            <a:pPr indent="0" lvl="0" marL="0" marR="0" rtl="0" algn="l">
              <a:lnSpc>
                <a:spcPct val="142785"/>
              </a:lnSpc>
              <a:spcBef>
                <a:spcPts val="0"/>
              </a:spcBef>
              <a:spcAft>
                <a:spcPts val="0"/>
              </a:spcAft>
              <a:buClr>
                <a:schemeClr val="dk1"/>
              </a:buClr>
              <a:buSzPts val="1100"/>
              <a:buFont typeface="Arial"/>
              <a:buNone/>
            </a:pPr>
            <a:r>
              <a:rPr b="0" i="0" lang="en-US" sz="1900" u="none" cap="none" strike="noStrike">
                <a:solidFill>
                  <a:srgbClr val="E5E5E4"/>
                </a:solidFill>
                <a:latin typeface="Avenir"/>
                <a:ea typeface="Avenir"/>
                <a:cs typeface="Avenir"/>
                <a:sym typeface="Avenir"/>
              </a:rPr>
              <a:t>Reunión de presentación con cliente.</a:t>
            </a:r>
            <a:endParaRPr b="0" i="0" sz="1900" u="none" cap="none" strike="noStrike">
              <a:solidFill>
                <a:srgbClr val="E5E5E4"/>
              </a:solidFill>
              <a:latin typeface="Avenir"/>
              <a:ea typeface="Avenir"/>
              <a:cs typeface="Avenir"/>
              <a:sym typeface="Avenir"/>
            </a:endParaRPr>
          </a:p>
          <a:p>
            <a:pPr indent="0" lvl="0" marL="0" marR="0" rtl="0" algn="l">
              <a:lnSpc>
                <a:spcPct val="140000"/>
              </a:lnSpc>
              <a:spcBef>
                <a:spcPts val="0"/>
              </a:spcBef>
              <a:spcAft>
                <a:spcPts val="0"/>
              </a:spcAft>
              <a:buClr>
                <a:srgbClr val="000000"/>
              </a:buClr>
              <a:buSzPts val="1900"/>
              <a:buFont typeface="Arial"/>
              <a:buNone/>
            </a:pPr>
            <a:r>
              <a:t/>
            </a:r>
            <a:endParaRPr b="0" i="0" sz="1900" u="none" cap="none" strike="noStrike">
              <a:solidFill>
                <a:srgbClr val="E5E5E4"/>
              </a:solidFill>
              <a:latin typeface="Avenir"/>
              <a:ea typeface="Avenir"/>
              <a:cs typeface="Avenir"/>
              <a:sym typeface="Avenir"/>
            </a:endParaRPr>
          </a:p>
        </p:txBody>
      </p:sp>
      <p:sp>
        <p:nvSpPr>
          <p:cNvPr id="153" name="Google Shape;153;g35becfa261e_1_36"/>
          <p:cNvSpPr txBox="1"/>
          <p:nvPr/>
        </p:nvSpPr>
        <p:spPr>
          <a:xfrm>
            <a:off x="11673608" y="3159681"/>
            <a:ext cx="2410800" cy="849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PRESENTACIÓN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INTERMEDIA</a:t>
            </a:r>
            <a:endParaRPr b="0" i="0" sz="1400" u="none" cap="none" strike="noStrike">
              <a:solidFill>
                <a:srgbClr val="000000"/>
              </a:solidFill>
              <a:latin typeface="Arial"/>
              <a:ea typeface="Arial"/>
              <a:cs typeface="Arial"/>
              <a:sym typeface="Arial"/>
            </a:endParaRPr>
          </a:p>
        </p:txBody>
      </p:sp>
      <p:sp>
        <p:nvSpPr>
          <p:cNvPr id="154" name="Google Shape;154;g35becfa261e_1_36"/>
          <p:cNvSpPr txBox="1"/>
          <p:nvPr/>
        </p:nvSpPr>
        <p:spPr>
          <a:xfrm>
            <a:off x="15188332" y="3146981"/>
            <a:ext cx="2232900" cy="849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ENTREGABLE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300"/>
              <a:buFont typeface="Arial"/>
              <a:buNone/>
            </a:pPr>
            <a:r>
              <a:rPr b="1" i="0" lang="en-US" sz="2300" u="none" cap="none" strike="noStrike">
                <a:solidFill>
                  <a:srgbClr val="E5E5E4"/>
                </a:solidFill>
                <a:latin typeface="Garamond"/>
                <a:ea typeface="Garamond"/>
                <a:cs typeface="Garamond"/>
                <a:sym typeface="Garamond"/>
              </a:rPr>
              <a:t>FINAL</a:t>
            </a:r>
            <a:endParaRPr b="0" i="0" sz="1400" u="none" cap="none" strike="noStrike">
              <a:solidFill>
                <a:srgbClr val="000000"/>
              </a:solidFill>
              <a:latin typeface="Arial"/>
              <a:ea typeface="Arial"/>
              <a:cs typeface="Arial"/>
              <a:sym typeface="Arial"/>
            </a:endParaRPr>
          </a:p>
        </p:txBody>
      </p:sp>
      <p:sp>
        <p:nvSpPr>
          <p:cNvPr id="155" name="Google Shape;155;g35becfa261e_1_36"/>
          <p:cNvSpPr/>
          <p:nvPr/>
        </p:nvSpPr>
        <p:spPr>
          <a:xfrm>
            <a:off x="7742609" y="9278701"/>
            <a:ext cx="3035341" cy="744648"/>
          </a:xfrm>
          <a:custGeom>
            <a:rect b="b" l="l" r="r" t="t"/>
            <a:pathLst>
              <a:path extrusionOk="0" h="744648" w="3035341">
                <a:moveTo>
                  <a:pt x="0" y="0"/>
                </a:moveTo>
                <a:lnTo>
                  <a:pt x="3035341" y="0"/>
                </a:lnTo>
                <a:lnTo>
                  <a:pt x="3035341" y="744648"/>
                </a:lnTo>
                <a:lnTo>
                  <a:pt x="0" y="744648"/>
                </a:lnTo>
                <a:lnTo>
                  <a:pt x="0" y="0"/>
                </a:lnTo>
                <a:close/>
              </a:path>
            </a:pathLst>
          </a:custGeom>
          <a:blipFill rotWithShape="1">
            <a:blip r:embed="rId4">
              <a:alphaModFix/>
            </a:blip>
            <a:stretch>
              <a:fillRect b="-293927" l="-17754" r="-15532" t="-308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6" name="Google Shape;156;g35becfa261e_1_36"/>
          <p:cNvGrpSpPr/>
          <p:nvPr/>
        </p:nvGrpSpPr>
        <p:grpSpPr>
          <a:xfrm>
            <a:off x="1295400" y="4168629"/>
            <a:ext cx="16348450" cy="28575"/>
            <a:chOff x="0" y="19050"/>
            <a:chExt cx="21797933" cy="38100"/>
          </a:xfrm>
        </p:grpSpPr>
        <p:cxnSp>
          <p:nvCxnSpPr>
            <p:cNvPr id="157" name="Google Shape;157;g35becfa261e_1_36"/>
            <p:cNvCxnSpPr/>
            <p:nvPr/>
          </p:nvCxnSpPr>
          <p:spPr>
            <a:xfrm>
              <a:off x="0" y="57150"/>
              <a:ext cx="2556600" cy="0"/>
            </a:xfrm>
            <a:prstGeom prst="straightConnector1">
              <a:avLst/>
            </a:prstGeom>
            <a:noFill/>
            <a:ln cap="rnd" cmpd="sng" w="38100">
              <a:solidFill>
                <a:srgbClr val="F8BF00"/>
              </a:solidFill>
              <a:prstDash val="dot"/>
              <a:round/>
              <a:headEnd len="sm" w="sm" type="none"/>
              <a:tailEnd len="sm" w="sm" type="none"/>
            </a:ln>
          </p:spPr>
        </p:cxnSp>
        <p:cxnSp>
          <p:nvCxnSpPr>
            <p:cNvPr id="158" name="Google Shape;158;g35becfa261e_1_36"/>
            <p:cNvCxnSpPr/>
            <p:nvPr/>
          </p:nvCxnSpPr>
          <p:spPr>
            <a:xfrm>
              <a:off x="4169415" y="38100"/>
              <a:ext cx="2977200" cy="0"/>
            </a:xfrm>
            <a:prstGeom prst="straightConnector1">
              <a:avLst/>
            </a:prstGeom>
            <a:noFill/>
            <a:ln cap="rnd" cmpd="sng" w="38100">
              <a:solidFill>
                <a:srgbClr val="F8BF00"/>
              </a:solidFill>
              <a:prstDash val="dot"/>
              <a:round/>
              <a:headEnd len="sm" w="sm" type="none"/>
              <a:tailEnd len="sm" w="sm" type="none"/>
            </a:ln>
          </p:spPr>
        </p:cxnSp>
        <p:cxnSp>
          <p:nvCxnSpPr>
            <p:cNvPr id="159" name="Google Shape;159;g35becfa261e_1_36"/>
            <p:cNvCxnSpPr/>
            <p:nvPr/>
          </p:nvCxnSpPr>
          <p:spPr>
            <a:xfrm>
              <a:off x="8997744" y="38100"/>
              <a:ext cx="3645600" cy="0"/>
            </a:xfrm>
            <a:prstGeom prst="straightConnector1">
              <a:avLst/>
            </a:prstGeom>
            <a:noFill/>
            <a:ln cap="rnd" cmpd="sng" w="38100">
              <a:solidFill>
                <a:srgbClr val="F8BF00"/>
              </a:solidFill>
              <a:prstDash val="dot"/>
              <a:round/>
              <a:headEnd len="sm" w="sm" type="none"/>
              <a:tailEnd len="sm" w="sm" type="none"/>
            </a:ln>
          </p:spPr>
        </p:cxnSp>
        <p:cxnSp>
          <p:nvCxnSpPr>
            <p:cNvPr id="160" name="Google Shape;160;g35becfa261e_1_36"/>
            <p:cNvCxnSpPr/>
            <p:nvPr/>
          </p:nvCxnSpPr>
          <p:spPr>
            <a:xfrm>
              <a:off x="13955922" y="38100"/>
              <a:ext cx="2995200" cy="0"/>
            </a:xfrm>
            <a:prstGeom prst="straightConnector1">
              <a:avLst/>
            </a:prstGeom>
            <a:noFill/>
            <a:ln cap="rnd" cmpd="sng" w="38100">
              <a:solidFill>
                <a:srgbClr val="F8BF00"/>
              </a:solidFill>
              <a:prstDash val="dot"/>
              <a:round/>
              <a:headEnd len="sm" w="sm" type="none"/>
              <a:tailEnd len="sm" w="sm" type="none"/>
            </a:ln>
          </p:spPr>
        </p:cxnSp>
        <p:cxnSp>
          <p:nvCxnSpPr>
            <p:cNvPr id="161" name="Google Shape;161;g35becfa261e_1_36"/>
            <p:cNvCxnSpPr/>
            <p:nvPr/>
          </p:nvCxnSpPr>
          <p:spPr>
            <a:xfrm>
              <a:off x="18519533" y="19050"/>
              <a:ext cx="3278400" cy="0"/>
            </a:xfrm>
            <a:prstGeom prst="straightConnector1">
              <a:avLst/>
            </a:prstGeom>
            <a:noFill/>
            <a:ln cap="rnd" cmpd="sng" w="38100">
              <a:solidFill>
                <a:srgbClr val="F8BF00"/>
              </a:solidFill>
              <a:prstDash val="dot"/>
              <a:round/>
              <a:headEnd len="sm" w="sm" type="none"/>
              <a:tailEnd len="sm" w="sm" type="none"/>
            </a:ln>
          </p:spPr>
        </p:cxnSp>
      </p:grpSp>
      <p:sp>
        <p:nvSpPr>
          <p:cNvPr id="162" name="Google Shape;162;g35becfa261e_1_36"/>
          <p:cNvSpPr txBox="1"/>
          <p:nvPr/>
        </p:nvSpPr>
        <p:spPr>
          <a:xfrm>
            <a:off x="1352550" y="3159681"/>
            <a:ext cx="17649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400"/>
              <a:buFont typeface="Arial"/>
              <a:buNone/>
            </a:pPr>
            <a:r>
              <a:rPr b="1" i="0" lang="en-US" sz="2400" u="none" cap="none" strike="noStrike">
                <a:solidFill>
                  <a:srgbClr val="E5E5E4"/>
                </a:solidFill>
                <a:latin typeface="Garamond"/>
                <a:ea typeface="Garamond"/>
                <a:cs typeface="Garamond"/>
                <a:sym typeface="Garamond"/>
              </a:rPr>
              <a:t>KICK OFF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166" name="Shape 166"/>
        <p:cNvGrpSpPr/>
        <p:nvPr/>
      </p:nvGrpSpPr>
      <p:grpSpPr>
        <a:xfrm>
          <a:off x="0" y="0"/>
          <a:ext cx="0" cy="0"/>
          <a:chOff x="0" y="0"/>
          <a:chExt cx="0" cy="0"/>
        </a:xfrm>
      </p:grpSpPr>
      <p:grpSp>
        <p:nvGrpSpPr>
          <p:cNvPr id="167" name="Google Shape;167;g35becfa261e_1_62"/>
          <p:cNvGrpSpPr/>
          <p:nvPr/>
        </p:nvGrpSpPr>
        <p:grpSpPr>
          <a:xfrm>
            <a:off x="0" y="16970"/>
            <a:ext cx="6113674" cy="10270030"/>
            <a:chOff x="0" y="16970"/>
            <a:chExt cx="6113674" cy="10270030"/>
          </a:xfrm>
        </p:grpSpPr>
        <p:sp>
          <p:nvSpPr>
            <p:cNvPr id="168" name="Google Shape;168;g35becfa261e_1_62"/>
            <p:cNvSpPr/>
            <p:nvPr/>
          </p:nvSpPr>
          <p:spPr>
            <a:xfrm rot="5400000">
              <a:off x="-2078178" y="2095148"/>
              <a:ext cx="10270030" cy="6113674"/>
            </a:xfrm>
            <a:custGeom>
              <a:rect b="b" l="l" r="r" t="t"/>
              <a:pathLst>
                <a:path extrusionOk="0" h="6113674" w="10270030">
                  <a:moveTo>
                    <a:pt x="0" y="0"/>
                  </a:moveTo>
                  <a:lnTo>
                    <a:pt x="10270030" y="0"/>
                  </a:lnTo>
                  <a:lnTo>
                    <a:pt x="10270030" y="6113674"/>
                  </a:lnTo>
                  <a:lnTo>
                    <a:pt x="0" y="6113674"/>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5becfa261e_1_62"/>
            <p:cNvSpPr/>
            <p:nvPr/>
          </p:nvSpPr>
          <p:spPr>
            <a:xfrm rot="5400000">
              <a:off x="-2078178" y="2095148"/>
              <a:ext cx="10270030" cy="6113674"/>
            </a:xfrm>
            <a:custGeom>
              <a:rect b="b" l="l" r="r" t="t"/>
              <a:pathLst>
                <a:path extrusionOk="0" h="6113674" w="10270030">
                  <a:moveTo>
                    <a:pt x="0" y="0"/>
                  </a:moveTo>
                  <a:lnTo>
                    <a:pt x="10270030" y="0"/>
                  </a:lnTo>
                  <a:lnTo>
                    <a:pt x="10270030" y="6113674"/>
                  </a:lnTo>
                  <a:lnTo>
                    <a:pt x="0" y="6113674"/>
                  </a:lnTo>
                  <a:lnTo>
                    <a:pt x="0" y="0"/>
                  </a:lnTo>
                  <a:close/>
                </a:path>
              </a:pathLst>
            </a:custGeom>
            <a:blipFill rotWithShape="1">
              <a:blip r:embed="rId3">
                <a:alphaModFix amt="9000"/>
              </a:blip>
              <a:stretch>
                <a:fillRect b="-14634" l="-89218" r="-4043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 name="Google Shape;170;g35becfa261e_1_62"/>
          <p:cNvGrpSpPr/>
          <p:nvPr/>
        </p:nvGrpSpPr>
        <p:grpSpPr>
          <a:xfrm>
            <a:off x="15944040" y="8363335"/>
            <a:ext cx="1064311" cy="1028499"/>
            <a:chOff x="0" y="431"/>
            <a:chExt cx="1419082" cy="1371332"/>
          </a:xfrm>
        </p:grpSpPr>
        <p:cxnSp>
          <p:nvCxnSpPr>
            <p:cNvPr id="171" name="Google Shape;171;g35becfa261e_1_62"/>
            <p:cNvCxnSpPr/>
            <p:nvPr/>
          </p:nvCxnSpPr>
          <p:spPr>
            <a:xfrm>
              <a:off x="0" y="1371763"/>
              <a:ext cx="1371300" cy="0"/>
            </a:xfrm>
            <a:prstGeom prst="straightConnector1">
              <a:avLst/>
            </a:prstGeom>
            <a:noFill/>
            <a:ln cap="flat" cmpd="sng" w="38100">
              <a:solidFill>
                <a:srgbClr val="F8BF00"/>
              </a:solidFill>
              <a:prstDash val="solid"/>
              <a:round/>
              <a:headEnd len="sm" w="sm" type="none"/>
              <a:tailEnd len="sm" w="sm" type="none"/>
            </a:ln>
          </p:spPr>
        </p:cxnSp>
        <p:cxnSp>
          <p:nvCxnSpPr>
            <p:cNvPr id="172" name="Google Shape;172;g35becfa261e_1_62"/>
            <p:cNvCxnSpPr/>
            <p:nvPr/>
          </p:nvCxnSpPr>
          <p:spPr>
            <a:xfrm flipH="1">
              <a:off x="1388182" y="431"/>
              <a:ext cx="30900" cy="1371000"/>
            </a:xfrm>
            <a:prstGeom prst="straightConnector1">
              <a:avLst/>
            </a:prstGeom>
            <a:noFill/>
            <a:ln cap="flat" cmpd="sng" w="38100">
              <a:solidFill>
                <a:srgbClr val="F8BF00"/>
              </a:solidFill>
              <a:prstDash val="solid"/>
              <a:round/>
              <a:headEnd len="sm" w="sm" type="none"/>
              <a:tailEnd len="sm" w="sm" type="none"/>
            </a:ln>
          </p:spPr>
        </p:cxnSp>
      </p:grpSp>
      <p:sp>
        <p:nvSpPr>
          <p:cNvPr id="173" name="Google Shape;173;g35becfa261e_1_62"/>
          <p:cNvSpPr/>
          <p:nvPr/>
        </p:nvSpPr>
        <p:spPr>
          <a:xfrm>
            <a:off x="5823663" y="1704176"/>
            <a:ext cx="920318" cy="374548"/>
          </a:xfrm>
          <a:custGeom>
            <a:rect b="b" l="l" r="r" t="t"/>
            <a:pathLst>
              <a:path extrusionOk="0" h="374548" w="920318">
                <a:moveTo>
                  <a:pt x="0" y="0"/>
                </a:moveTo>
                <a:lnTo>
                  <a:pt x="920318" y="0"/>
                </a:lnTo>
                <a:lnTo>
                  <a:pt x="920318" y="374548"/>
                </a:lnTo>
                <a:lnTo>
                  <a:pt x="0" y="37454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35becfa261e_1_62"/>
          <p:cNvSpPr/>
          <p:nvPr/>
        </p:nvSpPr>
        <p:spPr>
          <a:xfrm>
            <a:off x="1586511" y="8884567"/>
            <a:ext cx="3046827" cy="747466"/>
          </a:xfrm>
          <a:custGeom>
            <a:rect b="b" l="l" r="r" t="t"/>
            <a:pathLst>
              <a:path extrusionOk="0" h="747466" w="3046827">
                <a:moveTo>
                  <a:pt x="0" y="0"/>
                </a:moveTo>
                <a:lnTo>
                  <a:pt x="3046827" y="0"/>
                </a:lnTo>
                <a:lnTo>
                  <a:pt x="3046827" y="747466"/>
                </a:lnTo>
                <a:lnTo>
                  <a:pt x="0" y="747466"/>
                </a:lnTo>
                <a:lnTo>
                  <a:pt x="0" y="0"/>
                </a:lnTo>
                <a:close/>
              </a:path>
            </a:pathLst>
          </a:custGeom>
          <a:blipFill rotWithShape="1">
            <a:blip r:embed="rId5">
              <a:alphaModFix/>
            </a:blip>
            <a:stretch>
              <a:fillRect b="-293900" l="-17752" r="-15542" t="-30894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5becfa261e_1_62"/>
          <p:cNvSpPr txBox="1"/>
          <p:nvPr/>
        </p:nvSpPr>
        <p:spPr>
          <a:xfrm>
            <a:off x="7225134" y="1713701"/>
            <a:ext cx="4414200" cy="3078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000"/>
              <a:buFont typeface="Arial"/>
              <a:buNone/>
            </a:pPr>
            <a:r>
              <a:rPr b="1" i="0" lang="en-US" sz="2000" u="none" cap="none" strike="noStrike">
                <a:solidFill>
                  <a:srgbClr val="E5E5E4"/>
                </a:solidFill>
                <a:latin typeface="Garamond"/>
                <a:ea typeface="Garamond"/>
                <a:cs typeface="Garamond"/>
                <a:sym typeface="Garamond"/>
              </a:rPr>
              <a:t>BASE </a:t>
            </a:r>
            <a:r>
              <a:rPr b="1" i="0" lang="en-US" sz="2000" u="none" cap="none" strike="noStrike">
                <a:solidFill>
                  <a:srgbClr val="F8BF00"/>
                </a:solidFill>
                <a:latin typeface="Garamond"/>
                <a:ea typeface="Garamond"/>
                <a:cs typeface="Garamond"/>
                <a:sym typeface="Garamond"/>
              </a:rPr>
              <a:t>PARA EL CÁLCULO:</a:t>
            </a:r>
            <a:endParaRPr b="0" i="0" sz="1400" u="none" cap="none" strike="noStrike">
              <a:solidFill>
                <a:srgbClr val="000000"/>
              </a:solidFill>
              <a:latin typeface="Arial"/>
              <a:ea typeface="Arial"/>
              <a:cs typeface="Arial"/>
              <a:sym typeface="Arial"/>
            </a:endParaRPr>
          </a:p>
        </p:txBody>
      </p:sp>
      <p:sp>
        <p:nvSpPr>
          <p:cNvPr id="176" name="Google Shape;176;g35becfa261e_1_62"/>
          <p:cNvSpPr txBox="1"/>
          <p:nvPr/>
        </p:nvSpPr>
        <p:spPr>
          <a:xfrm>
            <a:off x="8547355" y="4431135"/>
            <a:ext cx="1545000" cy="3342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Argentina</a:t>
            </a:r>
            <a:endParaRPr b="0" i="0" sz="1400" u="none" cap="none" strike="noStrike">
              <a:solidFill>
                <a:srgbClr val="000000"/>
              </a:solidFill>
              <a:latin typeface="Arial"/>
              <a:ea typeface="Arial"/>
              <a:cs typeface="Arial"/>
              <a:sym typeface="Arial"/>
            </a:endParaRPr>
          </a:p>
        </p:txBody>
      </p:sp>
      <p:sp>
        <p:nvSpPr>
          <p:cNvPr id="177" name="Google Shape;177;g35becfa261e_1_62"/>
          <p:cNvSpPr txBox="1"/>
          <p:nvPr/>
        </p:nvSpPr>
        <p:spPr>
          <a:xfrm>
            <a:off x="10852248" y="4431135"/>
            <a:ext cx="20004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AR$ 2.200.000</a:t>
            </a:r>
            <a:endParaRPr b="0" i="0" sz="1400" u="none" cap="none" strike="noStrike">
              <a:solidFill>
                <a:srgbClr val="000000"/>
              </a:solidFill>
              <a:latin typeface="Arial"/>
              <a:ea typeface="Arial"/>
              <a:cs typeface="Arial"/>
              <a:sym typeface="Arial"/>
            </a:endParaRPr>
          </a:p>
        </p:txBody>
      </p:sp>
      <p:sp>
        <p:nvSpPr>
          <p:cNvPr id="178" name="Google Shape;178;g35becfa261e_1_62"/>
          <p:cNvSpPr txBox="1"/>
          <p:nvPr/>
        </p:nvSpPr>
        <p:spPr>
          <a:xfrm>
            <a:off x="10271900" y="2548898"/>
            <a:ext cx="1868400" cy="6495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000"/>
              <a:buFont typeface="Arial"/>
              <a:buNone/>
            </a:pPr>
            <a:r>
              <a:rPr b="1" i="0" lang="en-US" sz="2000" u="none" cap="none" strike="noStrike">
                <a:solidFill>
                  <a:srgbClr val="FFFFFF"/>
                </a:solidFill>
                <a:latin typeface="Garamond"/>
                <a:ea typeface="Garamond"/>
                <a:cs typeface="Garamond"/>
                <a:sym typeface="Garamond"/>
              </a:rPr>
              <a:t>POR </a:t>
            </a:r>
            <a:r>
              <a:rPr b="1" i="0" lang="en-US" sz="2000" u="none" cap="none" strike="noStrike">
                <a:solidFill>
                  <a:srgbClr val="F8BF00"/>
                </a:solidFill>
                <a:latin typeface="Garamond"/>
                <a:ea typeface="Garamond"/>
                <a:cs typeface="Garamond"/>
                <a:sym typeface="Garamond"/>
              </a:rPr>
              <a:t>EMPRESA</a:t>
            </a:r>
            <a:endParaRPr b="0" i="0" sz="1400" u="none" cap="none" strike="noStrike">
              <a:solidFill>
                <a:srgbClr val="000000"/>
              </a:solidFill>
              <a:latin typeface="Arial"/>
              <a:ea typeface="Arial"/>
              <a:cs typeface="Arial"/>
              <a:sym typeface="Arial"/>
            </a:endParaRPr>
          </a:p>
          <a:p>
            <a:pPr indent="0" lvl="0" marL="0" marR="0" rtl="0" algn="just">
              <a:lnSpc>
                <a:spcPct val="111000"/>
              </a:lnSpc>
              <a:spcBef>
                <a:spcPts val="0"/>
              </a:spcBef>
              <a:spcAft>
                <a:spcPts val="0"/>
              </a:spcAft>
              <a:buClr>
                <a:srgbClr val="000000"/>
              </a:buClr>
              <a:buSzPts val="2000"/>
              <a:buFont typeface="Arial"/>
              <a:buNone/>
            </a:pPr>
            <a:r>
              <a:rPr b="1" i="0" lang="en-US" sz="2000" u="none" cap="none" strike="noStrike">
                <a:solidFill>
                  <a:srgbClr val="FFFFFF"/>
                </a:solidFill>
                <a:latin typeface="Garamond"/>
                <a:ea typeface="Garamond"/>
                <a:cs typeface="Garamond"/>
                <a:sym typeface="Garamond"/>
              </a:rPr>
              <a:t>Ó</a:t>
            </a:r>
            <a:r>
              <a:rPr b="1" i="0" lang="en-US" sz="2000" u="none" cap="none" strike="noStrike">
                <a:solidFill>
                  <a:srgbClr val="F8BF00"/>
                </a:solidFill>
                <a:latin typeface="Garamond"/>
                <a:ea typeface="Garamond"/>
                <a:cs typeface="Garamond"/>
                <a:sym typeface="Garamond"/>
              </a:rPr>
              <a:t> ÁREA:</a:t>
            </a:r>
            <a:endParaRPr b="0" i="0" sz="1400" u="none" cap="none" strike="noStrike">
              <a:solidFill>
                <a:srgbClr val="000000"/>
              </a:solidFill>
              <a:latin typeface="Arial"/>
              <a:ea typeface="Arial"/>
              <a:cs typeface="Arial"/>
              <a:sym typeface="Arial"/>
            </a:endParaRPr>
          </a:p>
        </p:txBody>
      </p:sp>
      <p:sp>
        <p:nvSpPr>
          <p:cNvPr id="179" name="Google Shape;179;g35becfa261e_1_62"/>
          <p:cNvSpPr txBox="1"/>
          <p:nvPr/>
        </p:nvSpPr>
        <p:spPr>
          <a:xfrm>
            <a:off x="13736171" y="4431135"/>
            <a:ext cx="21015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AR$ 240.000</a:t>
            </a:r>
            <a:endParaRPr b="0" i="0" sz="1400" u="none" cap="none" strike="noStrike">
              <a:solidFill>
                <a:srgbClr val="000000"/>
              </a:solidFill>
              <a:latin typeface="Arial"/>
              <a:ea typeface="Arial"/>
              <a:cs typeface="Arial"/>
              <a:sym typeface="Arial"/>
            </a:endParaRPr>
          </a:p>
        </p:txBody>
      </p:sp>
      <p:sp>
        <p:nvSpPr>
          <p:cNvPr id="180" name="Google Shape;180;g35becfa261e_1_62"/>
          <p:cNvSpPr txBox="1"/>
          <p:nvPr/>
        </p:nvSpPr>
        <p:spPr>
          <a:xfrm>
            <a:off x="13155839" y="2548898"/>
            <a:ext cx="1868400" cy="649500"/>
          </a:xfrm>
          <a:prstGeom prst="rect">
            <a:avLst/>
          </a:prstGeom>
          <a:noFill/>
          <a:ln>
            <a:noFill/>
          </a:ln>
        </p:spPr>
        <p:txBody>
          <a:bodyPr anchorCtr="0" anchor="t" bIns="0" lIns="0" spcFirstLastPara="1" rIns="0" wrap="square" tIns="0">
            <a:spAutoFit/>
          </a:bodyPr>
          <a:lstStyle/>
          <a:p>
            <a:pPr indent="0" lvl="0" marL="0" marR="0" rtl="0" algn="just">
              <a:lnSpc>
                <a:spcPct val="111000"/>
              </a:lnSpc>
              <a:spcBef>
                <a:spcPts val="0"/>
              </a:spcBef>
              <a:spcAft>
                <a:spcPts val="0"/>
              </a:spcAft>
              <a:buClr>
                <a:srgbClr val="000000"/>
              </a:buClr>
              <a:buSzPts val="2000"/>
              <a:buFont typeface="Arial"/>
              <a:buNone/>
            </a:pPr>
            <a:r>
              <a:rPr b="1" i="0" lang="en-US" sz="2000" u="none" cap="none" strike="noStrike">
                <a:solidFill>
                  <a:srgbClr val="FFFFFF"/>
                </a:solidFill>
                <a:latin typeface="Garamond"/>
                <a:ea typeface="Garamond"/>
                <a:cs typeface="Garamond"/>
                <a:sym typeface="Garamond"/>
              </a:rPr>
              <a:t>POR PERFIL</a:t>
            </a:r>
            <a:endParaRPr b="0" i="0" sz="1400" u="none" cap="none" strike="noStrike">
              <a:solidFill>
                <a:srgbClr val="000000"/>
              </a:solidFill>
              <a:latin typeface="Arial"/>
              <a:ea typeface="Arial"/>
              <a:cs typeface="Arial"/>
              <a:sym typeface="Arial"/>
            </a:endParaRPr>
          </a:p>
          <a:p>
            <a:pPr indent="0" lvl="0" marL="0" marR="0" rtl="0" algn="just">
              <a:lnSpc>
                <a:spcPct val="111000"/>
              </a:lnSpc>
              <a:spcBef>
                <a:spcPts val="0"/>
              </a:spcBef>
              <a:spcAft>
                <a:spcPts val="0"/>
              </a:spcAft>
              <a:buClr>
                <a:srgbClr val="000000"/>
              </a:buClr>
              <a:buSzPts val="2000"/>
              <a:buFont typeface="Arial"/>
              <a:buNone/>
            </a:pPr>
            <a:r>
              <a:rPr b="1" i="0" lang="en-US" sz="2000" u="none" cap="none" strike="noStrike">
                <a:solidFill>
                  <a:srgbClr val="F8BF00"/>
                </a:solidFill>
                <a:latin typeface="Garamond"/>
                <a:ea typeface="Garamond"/>
                <a:cs typeface="Garamond"/>
                <a:sym typeface="Garamond"/>
              </a:rPr>
              <a:t>EXTRA:</a:t>
            </a:r>
            <a:endParaRPr b="0" i="0" sz="1400" u="none" cap="none" strike="noStrike">
              <a:solidFill>
                <a:srgbClr val="000000"/>
              </a:solidFill>
              <a:latin typeface="Arial"/>
              <a:ea typeface="Arial"/>
              <a:cs typeface="Arial"/>
              <a:sym typeface="Arial"/>
            </a:endParaRPr>
          </a:p>
        </p:txBody>
      </p:sp>
      <p:sp>
        <p:nvSpPr>
          <p:cNvPr id="181" name="Google Shape;181;g35becfa261e_1_62"/>
          <p:cNvSpPr txBox="1"/>
          <p:nvPr/>
        </p:nvSpPr>
        <p:spPr>
          <a:xfrm>
            <a:off x="9564435" y="7813686"/>
            <a:ext cx="6123600" cy="3342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171"/>
              <a:buFont typeface="Arial"/>
              <a:buNone/>
            </a:pPr>
            <a:r>
              <a:rPr b="0" i="0" lang="en-US" sz="2171" u="none" cap="none" strike="noStrike">
                <a:solidFill>
                  <a:srgbClr val="8CA8BA"/>
                </a:solidFill>
                <a:latin typeface="Avenir"/>
                <a:ea typeface="Avenir"/>
                <a:cs typeface="Avenir"/>
                <a:sym typeface="Avenir"/>
              </a:rPr>
              <a:t>Junto al cliente se definen las compañías target</a:t>
            </a:r>
            <a:endParaRPr b="0" i="0" sz="1400" u="none" cap="none" strike="noStrike">
              <a:solidFill>
                <a:srgbClr val="000000"/>
              </a:solidFill>
              <a:latin typeface="Arial"/>
              <a:ea typeface="Arial"/>
              <a:cs typeface="Arial"/>
              <a:sym typeface="Arial"/>
            </a:endParaRPr>
          </a:p>
        </p:txBody>
      </p:sp>
      <p:grpSp>
        <p:nvGrpSpPr>
          <p:cNvPr id="182" name="Google Shape;182;g35becfa261e_1_62"/>
          <p:cNvGrpSpPr/>
          <p:nvPr/>
        </p:nvGrpSpPr>
        <p:grpSpPr>
          <a:xfrm>
            <a:off x="9712722" y="6307508"/>
            <a:ext cx="2361754" cy="1013190"/>
            <a:chOff x="9712722" y="6307508"/>
            <a:chExt cx="2361754" cy="1013190"/>
          </a:xfrm>
        </p:grpSpPr>
        <p:grpSp>
          <p:nvGrpSpPr>
            <p:cNvPr id="183" name="Google Shape;183;g35becfa261e_1_62"/>
            <p:cNvGrpSpPr/>
            <p:nvPr/>
          </p:nvGrpSpPr>
          <p:grpSpPr>
            <a:xfrm>
              <a:off x="9712722" y="6307508"/>
              <a:ext cx="2361754" cy="1013190"/>
              <a:chOff x="0" y="-85725"/>
              <a:chExt cx="701400" cy="300900"/>
            </a:xfrm>
          </p:grpSpPr>
          <p:sp>
            <p:nvSpPr>
              <p:cNvPr id="184" name="Google Shape;184;g35becfa261e_1_62"/>
              <p:cNvSpPr/>
              <p:nvPr/>
            </p:nvSpPr>
            <p:spPr>
              <a:xfrm>
                <a:off x="0" y="0"/>
                <a:ext cx="701260" cy="215104"/>
              </a:xfrm>
              <a:custGeom>
                <a:rect b="b" l="l" r="r" t="t"/>
                <a:pathLst>
                  <a:path extrusionOk="0" h="215104" w="701260">
                    <a:moveTo>
                      <a:pt x="85246" y="0"/>
                    </a:moveTo>
                    <a:lnTo>
                      <a:pt x="616014" y="0"/>
                    </a:lnTo>
                    <a:cubicBezTo>
                      <a:pt x="663094" y="0"/>
                      <a:pt x="701260" y="38166"/>
                      <a:pt x="701260" y="85246"/>
                    </a:cubicBezTo>
                    <a:lnTo>
                      <a:pt x="701260" y="129858"/>
                    </a:lnTo>
                    <a:cubicBezTo>
                      <a:pt x="701260" y="152466"/>
                      <a:pt x="692279" y="174149"/>
                      <a:pt x="676292" y="190136"/>
                    </a:cubicBezTo>
                    <a:cubicBezTo>
                      <a:pt x="660305" y="206122"/>
                      <a:pt x="638623" y="215104"/>
                      <a:pt x="616014" y="215104"/>
                    </a:cubicBezTo>
                    <a:lnTo>
                      <a:pt x="85246" y="215104"/>
                    </a:lnTo>
                    <a:cubicBezTo>
                      <a:pt x="62637" y="215104"/>
                      <a:pt x="40955" y="206122"/>
                      <a:pt x="24968" y="190136"/>
                    </a:cubicBezTo>
                    <a:cubicBezTo>
                      <a:pt x="8981" y="174149"/>
                      <a:pt x="0" y="152466"/>
                      <a:pt x="0" y="129858"/>
                    </a:cubicBezTo>
                    <a:lnTo>
                      <a:pt x="0" y="85246"/>
                    </a:lnTo>
                    <a:cubicBezTo>
                      <a:pt x="0" y="62637"/>
                      <a:pt x="8981" y="40955"/>
                      <a:pt x="24968" y="24968"/>
                    </a:cubicBezTo>
                    <a:cubicBezTo>
                      <a:pt x="40955" y="8981"/>
                      <a:pt x="62637" y="0"/>
                      <a:pt x="85246" y="0"/>
                    </a:cubicBezTo>
                    <a:close/>
                  </a:path>
                </a:pathLst>
              </a:custGeom>
              <a:solidFill>
                <a:srgbClr val="EBDF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5becfa261e_1_62"/>
              <p:cNvSpPr txBox="1"/>
              <p:nvPr/>
            </p:nvSpPr>
            <p:spPr>
              <a:xfrm>
                <a:off x="0" y="-85725"/>
                <a:ext cx="701400" cy="300900"/>
              </a:xfrm>
              <a:prstGeom prst="rect">
                <a:avLst/>
              </a:prstGeom>
              <a:noFill/>
              <a:ln>
                <a:noFill/>
              </a:ln>
            </p:spPr>
            <p:txBody>
              <a:bodyPr anchorCtr="0" anchor="ctr" bIns="50800" lIns="50800" spcFirstLastPara="1" rIns="50800" wrap="square" tIns="50800">
                <a:noAutofit/>
              </a:bodyPr>
              <a:lstStyle/>
              <a:p>
                <a:pPr indent="0" lvl="0" marL="0" marR="0" rtl="0" algn="ctr">
                  <a:lnSpc>
                    <a:spcPct val="168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86" name="Google Shape;186;g35becfa261e_1_62"/>
            <p:cNvSpPr txBox="1"/>
            <p:nvPr/>
          </p:nvSpPr>
          <p:spPr>
            <a:xfrm>
              <a:off x="9820350" y="6679425"/>
              <a:ext cx="2146500" cy="569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1542"/>
                <a:buFont typeface="Arial"/>
                <a:buNone/>
              </a:pPr>
              <a:r>
                <a:rPr b="0" i="0" lang="en-US" sz="1542" u="none" cap="none" strike="noStrike">
                  <a:solidFill>
                    <a:srgbClr val="54565B"/>
                  </a:solidFill>
                  <a:latin typeface="Avenir"/>
                  <a:ea typeface="Avenir"/>
                  <a:cs typeface="Avenir"/>
                  <a:sym typeface="Avenir"/>
                </a:rPr>
                <a:t>Incluye análisis sobre 2 perfiles target</a:t>
              </a:r>
              <a:endParaRPr b="0" i="0" sz="1400" u="none" cap="none" strike="noStrike">
                <a:solidFill>
                  <a:srgbClr val="000000"/>
                </a:solidFill>
                <a:latin typeface="Arial"/>
                <a:ea typeface="Arial"/>
                <a:cs typeface="Arial"/>
                <a:sym typeface="Arial"/>
              </a:endParaRPr>
            </a:p>
          </p:txBody>
        </p:sp>
      </p:grpSp>
      <p:grpSp>
        <p:nvGrpSpPr>
          <p:cNvPr id="187" name="Google Shape;187;g35becfa261e_1_62"/>
          <p:cNvGrpSpPr/>
          <p:nvPr/>
        </p:nvGrpSpPr>
        <p:grpSpPr>
          <a:xfrm>
            <a:off x="12467200" y="6299729"/>
            <a:ext cx="2992177" cy="1013160"/>
            <a:chOff x="12467200" y="6299729"/>
            <a:chExt cx="2992177" cy="1013160"/>
          </a:xfrm>
        </p:grpSpPr>
        <p:grpSp>
          <p:nvGrpSpPr>
            <p:cNvPr id="188" name="Google Shape;188;g35becfa261e_1_62"/>
            <p:cNvGrpSpPr/>
            <p:nvPr/>
          </p:nvGrpSpPr>
          <p:grpSpPr>
            <a:xfrm>
              <a:off x="12467200" y="6299729"/>
              <a:ext cx="2992177" cy="1013160"/>
              <a:chOff x="0" y="-85725"/>
              <a:chExt cx="783600" cy="300900"/>
            </a:xfrm>
          </p:grpSpPr>
          <p:sp>
            <p:nvSpPr>
              <p:cNvPr id="189" name="Google Shape;189;g35becfa261e_1_62"/>
              <p:cNvSpPr/>
              <p:nvPr/>
            </p:nvSpPr>
            <p:spPr>
              <a:xfrm>
                <a:off x="0" y="0"/>
                <a:ext cx="783496" cy="215104"/>
              </a:xfrm>
              <a:custGeom>
                <a:rect b="b" l="l" r="r" t="t"/>
                <a:pathLst>
                  <a:path extrusionOk="0" h="215104" w="783496">
                    <a:moveTo>
                      <a:pt x="76298" y="0"/>
                    </a:moveTo>
                    <a:lnTo>
                      <a:pt x="707197" y="0"/>
                    </a:lnTo>
                    <a:cubicBezTo>
                      <a:pt x="727433" y="0"/>
                      <a:pt x="746840" y="8039"/>
                      <a:pt x="761148" y="22347"/>
                    </a:cubicBezTo>
                    <a:cubicBezTo>
                      <a:pt x="775457" y="36656"/>
                      <a:pt x="783496" y="56063"/>
                      <a:pt x="783496" y="76298"/>
                    </a:cubicBezTo>
                    <a:lnTo>
                      <a:pt x="783496" y="138805"/>
                    </a:lnTo>
                    <a:cubicBezTo>
                      <a:pt x="783496" y="159041"/>
                      <a:pt x="775457" y="178448"/>
                      <a:pt x="761148" y="192756"/>
                    </a:cubicBezTo>
                    <a:cubicBezTo>
                      <a:pt x="746840" y="207065"/>
                      <a:pt x="727433" y="215104"/>
                      <a:pt x="707197" y="215104"/>
                    </a:cubicBezTo>
                    <a:lnTo>
                      <a:pt x="76298" y="215104"/>
                    </a:lnTo>
                    <a:cubicBezTo>
                      <a:pt x="56063" y="215104"/>
                      <a:pt x="36656" y="207065"/>
                      <a:pt x="22347" y="192756"/>
                    </a:cubicBezTo>
                    <a:cubicBezTo>
                      <a:pt x="8039" y="178448"/>
                      <a:pt x="0" y="159041"/>
                      <a:pt x="0" y="138805"/>
                    </a:cubicBezTo>
                    <a:lnTo>
                      <a:pt x="0" y="76298"/>
                    </a:lnTo>
                    <a:cubicBezTo>
                      <a:pt x="0" y="56063"/>
                      <a:pt x="8039" y="36656"/>
                      <a:pt x="22347" y="22347"/>
                    </a:cubicBezTo>
                    <a:cubicBezTo>
                      <a:pt x="36656" y="8039"/>
                      <a:pt x="56063" y="0"/>
                      <a:pt x="76298" y="0"/>
                    </a:cubicBezTo>
                    <a:close/>
                  </a:path>
                </a:pathLst>
              </a:custGeom>
              <a:solidFill>
                <a:srgbClr val="EBDF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5becfa261e_1_62"/>
              <p:cNvSpPr txBox="1"/>
              <p:nvPr/>
            </p:nvSpPr>
            <p:spPr>
              <a:xfrm>
                <a:off x="0" y="-85725"/>
                <a:ext cx="783600" cy="300900"/>
              </a:xfrm>
              <a:prstGeom prst="rect">
                <a:avLst/>
              </a:prstGeom>
              <a:noFill/>
              <a:ln>
                <a:noFill/>
              </a:ln>
            </p:spPr>
            <p:txBody>
              <a:bodyPr anchorCtr="0" anchor="ctr" bIns="50800" lIns="50800" spcFirstLastPara="1" rIns="50800" wrap="square" tIns="50800">
                <a:noAutofit/>
              </a:bodyPr>
              <a:lstStyle/>
              <a:p>
                <a:pPr indent="0" lvl="0" marL="0" marR="0" rtl="0" algn="ctr">
                  <a:lnSpc>
                    <a:spcPct val="168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91" name="Google Shape;191;g35becfa261e_1_62"/>
            <p:cNvSpPr txBox="1"/>
            <p:nvPr/>
          </p:nvSpPr>
          <p:spPr>
            <a:xfrm>
              <a:off x="12646918" y="6679436"/>
              <a:ext cx="2638200" cy="569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1542"/>
                <a:buFont typeface="Arial"/>
                <a:buNone/>
              </a:pPr>
              <a:r>
                <a:rPr b="0" i="0" lang="en-US" sz="1542" u="none" cap="none" strike="noStrike">
                  <a:solidFill>
                    <a:srgbClr val="54565B"/>
                  </a:solidFill>
                  <a:latin typeface="Avenir"/>
                  <a:ea typeface="Avenir"/>
                  <a:cs typeface="Avenir"/>
                  <a:sym typeface="Avenir"/>
                </a:rPr>
                <a:t>Costo extra por cada perfil que el cliente quiera relevar</a:t>
              </a:r>
              <a:endParaRPr b="0" i="0" sz="1400" u="none" cap="none" strike="noStrike">
                <a:solidFill>
                  <a:srgbClr val="000000"/>
                </a:solidFill>
                <a:latin typeface="Arial"/>
                <a:ea typeface="Arial"/>
                <a:cs typeface="Arial"/>
                <a:sym typeface="Arial"/>
              </a:endParaRPr>
            </a:p>
          </p:txBody>
        </p:sp>
      </p:grpSp>
      <p:sp>
        <p:nvSpPr>
          <p:cNvPr id="192" name="Google Shape;192;g35becfa261e_1_62"/>
          <p:cNvSpPr txBox="1"/>
          <p:nvPr/>
        </p:nvSpPr>
        <p:spPr>
          <a:xfrm>
            <a:off x="982326" y="4581700"/>
            <a:ext cx="4135800" cy="8166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5306" u="none" cap="none" strike="noStrike">
                <a:solidFill>
                  <a:srgbClr val="F8BF00"/>
                </a:solidFill>
                <a:latin typeface="Garamond"/>
                <a:ea typeface="Garamond"/>
                <a:cs typeface="Garamond"/>
                <a:sym typeface="Garamond"/>
              </a:rPr>
              <a:t>SOLUCIÓN:</a:t>
            </a:r>
            <a:endParaRPr b="0" i="0" sz="1400" u="none" cap="none" strike="noStrike">
              <a:solidFill>
                <a:srgbClr val="000000"/>
              </a:solidFill>
              <a:latin typeface="Arial"/>
              <a:ea typeface="Arial"/>
              <a:cs typeface="Arial"/>
              <a:sym typeface="Arial"/>
            </a:endParaRPr>
          </a:p>
        </p:txBody>
      </p:sp>
      <p:sp>
        <p:nvSpPr>
          <p:cNvPr id="193" name="Google Shape;193;g35becfa261e_1_62"/>
          <p:cNvSpPr txBox="1"/>
          <p:nvPr/>
        </p:nvSpPr>
        <p:spPr>
          <a:xfrm>
            <a:off x="945197" y="3600375"/>
            <a:ext cx="4135800" cy="10872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7064" u="none" cap="none" strike="noStrike">
                <a:solidFill>
                  <a:srgbClr val="54565B"/>
                </a:solidFill>
                <a:latin typeface="Garamond"/>
                <a:ea typeface="Garamond"/>
                <a:cs typeface="Garamond"/>
                <a:sym typeface="Garamond"/>
              </a:rPr>
              <a:t>Valor de la</a:t>
            </a:r>
            <a:endParaRPr b="0" i="0" sz="1400" u="none" cap="none" strike="noStrike">
              <a:solidFill>
                <a:srgbClr val="54565B"/>
              </a:solidFill>
              <a:latin typeface="Arial"/>
              <a:ea typeface="Arial"/>
              <a:cs typeface="Arial"/>
              <a:sym typeface="Arial"/>
            </a:endParaRPr>
          </a:p>
        </p:txBody>
      </p:sp>
      <p:sp>
        <p:nvSpPr>
          <p:cNvPr id="194" name="Google Shape;194;g35becfa261e_1_62"/>
          <p:cNvSpPr txBox="1"/>
          <p:nvPr/>
        </p:nvSpPr>
        <p:spPr>
          <a:xfrm>
            <a:off x="8557538" y="5010185"/>
            <a:ext cx="1545000" cy="3342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Chile</a:t>
            </a:r>
            <a:endParaRPr b="0" i="0" sz="1400" u="none" cap="none" strike="noStrike">
              <a:solidFill>
                <a:srgbClr val="000000"/>
              </a:solidFill>
              <a:latin typeface="Arial"/>
              <a:ea typeface="Arial"/>
              <a:cs typeface="Arial"/>
              <a:sym typeface="Arial"/>
            </a:endParaRPr>
          </a:p>
        </p:txBody>
      </p:sp>
      <p:sp>
        <p:nvSpPr>
          <p:cNvPr id="195" name="Google Shape;195;g35becfa261e_1_62"/>
          <p:cNvSpPr txBox="1"/>
          <p:nvPr/>
        </p:nvSpPr>
        <p:spPr>
          <a:xfrm>
            <a:off x="8563504" y="5601887"/>
            <a:ext cx="1545000" cy="334200"/>
          </a:xfrm>
          <a:prstGeom prst="rect">
            <a:avLst/>
          </a:prstGeom>
          <a:noFill/>
          <a:ln>
            <a:noFill/>
          </a:ln>
        </p:spPr>
        <p:txBody>
          <a:bodyPr anchorCtr="0" anchor="t" bIns="0" lIns="0" spcFirstLastPara="1" rIns="0" wrap="square" tIns="0">
            <a:spAutoFit/>
          </a:bodyPr>
          <a:lstStyle/>
          <a:p>
            <a:pPr indent="0" lvl="0" marL="0" marR="0" rtl="0" algn="r">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México</a:t>
            </a:r>
            <a:endParaRPr b="0" i="0" sz="1400" u="none" cap="none" strike="noStrike">
              <a:solidFill>
                <a:srgbClr val="000000"/>
              </a:solidFill>
              <a:latin typeface="Arial"/>
              <a:ea typeface="Arial"/>
              <a:cs typeface="Arial"/>
              <a:sym typeface="Arial"/>
            </a:endParaRPr>
          </a:p>
        </p:txBody>
      </p:sp>
      <p:sp>
        <p:nvSpPr>
          <p:cNvPr id="196" name="Google Shape;196;g35becfa261e_1_62"/>
          <p:cNvSpPr txBox="1"/>
          <p:nvPr/>
        </p:nvSpPr>
        <p:spPr>
          <a:xfrm>
            <a:off x="8606079" y="6156981"/>
            <a:ext cx="15450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Otros países</a:t>
            </a:r>
            <a:endParaRPr b="0" i="0" sz="1400" u="none" cap="none" strike="noStrike">
              <a:solidFill>
                <a:srgbClr val="000000"/>
              </a:solidFill>
              <a:latin typeface="Arial"/>
              <a:ea typeface="Arial"/>
              <a:cs typeface="Arial"/>
              <a:sym typeface="Arial"/>
            </a:endParaRPr>
          </a:p>
        </p:txBody>
      </p:sp>
      <p:sp>
        <p:nvSpPr>
          <p:cNvPr id="197" name="Google Shape;197;g35becfa261e_1_62"/>
          <p:cNvSpPr txBox="1"/>
          <p:nvPr/>
        </p:nvSpPr>
        <p:spPr>
          <a:xfrm>
            <a:off x="10858214" y="5022837"/>
            <a:ext cx="20004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CLP$ 2.000.000</a:t>
            </a:r>
            <a:endParaRPr b="0" i="0" sz="1400" u="none" cap="none" strike="noStrike">
              <a:solidFill>
                <a:srgbClr val="000000"/>
              </a:solidFill>
              <a:latin typeface="Arial"/>
              <a:ea typeface="Arial"/>
              <a:cs typeface="Arial"/>
              <a:sym typeface="Arial"/>
            </a:endParaRPr>
          </a:p>
        </p:txBody>
      </p:sp>
      <p:sp>
        <p:nvSpPr>
          <p:cNvPr id="198" name="Google Shape;198;g35becfa261e_1_62"/>
          <p:cNvSpPr txBox="1"/>
          <p:nvPr/>
        </p:nvSpPr>
        <p:spPr>
          <a:xfrm>
            <a:off x="13742137" y="5022837"/>
            <a:ext cx="21015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CLP$ 200.000</a:t>
            </a:r>
            <a:endParaRPr b="0" i="0" sz="1400" u="none" cap="none" strike="noStrike">
              <a:solidFill>
                <a:srgbClr val="000000"/>
              </a:solidFill>
              <a:latin typeface="Arial"/>
              <a:ea typeface="Arial"/>
              <a:cs typeface="Arial"/>
              <a:sym typeface="Arial"/>
            </a:endParaRPr>
          </a:p>
        </p:txBody>
      </p:sp>
      <p:sp>
        <p:nvSpPr>
          <p:cNvPr id="199" name="Google Shape;199;g35becfa261e_1_62"/>
          <p:cNvSpPr txBox="1"/>
          <p:nvPr/>
        </p:nvSpPr>
        <p:spPr>
          <a:xfrm>
            <a:off x="10827575" y="5614550"/>
            <a:ext cx="23616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MXN$ 50.000 </a:t>
            </a:r>
            <a:endParaRPr b="0" i="0" sz="1400" u="none" cap="none" strike="noStrike">
              <a:solidFill>
                <a:srgbClr val="000000"/>
              </a:solidFill>
              <a:latin typeface="Arial"/>
              <a:ea typeface="Arial"/>
              <a:cs typeface="Arial"/>
              <a:sym typeface="Arial"/>
            </a:endParaRPr>
          </a:p>
        </p:txBody>
      </p:sp>
      <p:sp>
        <p:nvSpPr>
          <p:cNvPr id="200" name="Google Shape;200;g35becfa261e_1_62"/>
          <p:cNvSpPr txBox="1"/>
          <p:nvPr/>
        </p:nvSpPr>
        <p:spPr>
          <a:xfrm>
            <a:off x="13711494" y="5614540"/>
            <a:ext cx="21015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MXN$ 5.000</a:t>
            </a:r>
            <a:endParaRPr b="0" i="0" sz="1400" u="none" cap="none" strike="noStrike">
              <a:solidFill>
                <a:srgbClr val="000000"/>
              </a:solidFill>
              <a:latin typeface="Arial"/>
              <a:ea typeface="Arial"/>
              <a:cs typeface="Arial"/>
              <a:sym typeface="Arial"/>
            </a:endParaRPr>
          </a:p>
        </p:txBody>
      </p:sp>
      <p:sp>
        <p:nvSpPr>
          <p:cNvPr id="201" name="Google Shape;201;g35becfa261e_1_62"/>
          <p:cNvSpPr txBox="1"/>
          <p:nvPr/>
        </p:nvSpPr>
        <p:spPr>
          <a:xfrm>
            <a:off x="10833537" y="6133025"/>
            <a:ext cx="20004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US$ 2.500</a:t>
            </a:r>
            <a:endParaRPr b="0" i="0" sz="1400" u="none" cap="none" strike="noStrike">
              <a:solidFill>
                <a:srgbClr val="000000"/>
              </a:solidFill>
              <a:latin typeface="Arial"/>
              <a:ea typeface="Arial"/>
              <a:cs typeface="Arial"/>
              <a:sym typeface="Arial"/>
            </a:endParaRPr>
          </a:p>
        </p:txBody>
      </p:sp>
      <p:sp>
        <p:nvSpPr>
          <p:cNvPr id="202" name="Google Shape;202;g35becfa261e_1_62"/>
          <p:cNvSpPr txBox="1"/>
          <p:nvPr/>
        </p:nvSpPr>
        <p:spPr>
          <a:xfrm>
            <a:off x="13717460" y="6133025"/>
            <a:ext cx="2101500" cy="334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171"/>
              <a:buFont typeface="Arial"/>
              <a:buNone/>
            </a:pPr>
            <a:r>
              <a:rPr b="0" i="0" lang="en-US" sz="2171" u="none" cap="none" strike="noStrike">
                <a:solidFill>
                  <a:srgbClr val="FFFFFF"/>
                </a:solidFill>
                <a:latin typeface="Avenir"/>
                <a:ea typeface="Avenir"/>
                <a:cs typeface="Avenir"/>
                <a:sym typeface="Avenir"/>
              </a:rPr>
              <a:t>US$ 250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sp>
        <p:nvSpPr>
          <p:cNvPr id="207" name="Google Shape;207;g35becfa261e_1_101"/>
          <p:cNvSpPr/>
          <p:nvPr/>
        </p:nvSpPr>
        <p:spPr>
          <a:xfrm>
            <a:off x="1242210" y="3251496"/>
            <a:ext cx="246091" cy="246091"/>
          </a:xfrm>
          <a:custGeom>
            <a:rect b="b" l="l" r="r" t="t"/>
            <a:pathLst>
              <a:path extrusionOk="0" h="246091" w="246091">
                <a:moveTo>
                  <a:pt x="0" y="0"/>
                </a:moveTo>
                <a:lnTo>
                  <a:pt x="246091" y="0"/>
                </a:lnTo>
                <a:lnTo>
                  <a:pt x="246091" y="246092"/>
                </a:lnTo>
                <a:lnTo>
                  <a:pt x="0" y="2460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35becfa261e_1_101"/>
          <p:cNvSpPr/>
          <p:nvPr/>
        </p:nvSpPr>
        <p:spPr>
          <a:xfrm>
            <a:off x="9860485" y="3251496"/>
            <a:ext cx="246091" cy="246091"/>
          </a:xfrm>
          <a:custGeom>
            <a:rect b="b" l="l" r="r" t="t"/>
            <a:pathLst>
              <a:path extrusionOk="0" h="246091" w="246091">
                <a:moveTo>
                  <a:pt x="0" y="0"/>
                </a:moveTo>
                <a:lnTo>
                  <a:pt x="246091" y="0"/>
                </a:lnTo>
                <a:lnTo>
                  <a:pt x="246091" y="246092"/>
                </a:lnTo>
                <a:lnTo>
                  <a:pt x="0" y="2460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35becfa261e_1_101"/>
          <p:cNvSpPr/>
          <p:nvPr/>
        </p:nvSpPr>
        <p:spPr>
          <a:xfrm>
            <a:off x="16936448" y="8981649"/>
            <a:ext cx="896680" cy="980114"/>
          </a:xfrm>
          <a:custGeom>
            <a:rect b="b" l="l" r="r" t="t"/>
            <a:pathLst>
              <a:path extrusionOk="0" h="980114" w="896680">
                <a:moveTo>
                  <a:pt x="0" y="0"/>
                </a:moveTo>
                <a:lnTo>
                  <a:pt x="896680" y="0"/>
                </a:lnTo>
                <a:lnTo>
                  <a:pt x="896680" y="980114"/>
                </a:lnTo>
                <a:lnTo>
                  <a:pt x="0" y="980114"/>
                </a:lnTo>
                <a:lnTo>
                  <a:pt x="0" y="0"/>
                </a:lnTo>
                <a:close/>
              </a:path>
            </a:pathLst>
          </a:custGeom>
          <a:blipFill rotWithShape="1">
            <a:blip r:embed="rId5">
              <a:alphaModFix/>
            </a:blip>
            <a:stretch>
              <a:fillRect b="-32431" l="-36040" r="-42254" t="-307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5becfa261e_1_101"/>
          <p:cNvSpPr txBox="1"/>
          <p:nvPr/>
        </p:nvSpPr>
        <p:spPr>
          <a:xfrm>
            <a:off x="1420612" y="380083"/>
            <a:ext cx="6290700" cy="12693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Clr>
                <a:srgbClr val="000000"/>
              </a:buClr>
              <a:buSzPts val="8501"/>
              <a:buFont typeface="Arial"/>
              <a:buNone/>
            </a:pPr>
            <a:r>
              <a:rPr b="1" i="0" lang="en-US" sz="8501" u="none" cap="none" strike="noStrike">
                <a:solidFill>
                  <a:srgbClr val="54565B"/>
                </a:solidFill>
                <a:latin typeface="Avenir"/>
                <a:ea typeface="Avenir"/>
                <a:cs typeface="Avenir"/>
                <a:sym typeface="Avenir"/>
              </a:rPr>
              <a:t>Condiciones</a:t>
            </a:r>
            <a:endParaRPr b="0" i="0" sz="1400" u="none" cap="none" strike="noStrike">
              <a:solidFill>
                <a:srgbClr val="000000"/>
              </a:solidFill>
              <a:latin typeface="Arial"/>
              <a:ea typeface="Arial"/>
              <a:cs typeface="Arial"/>
              <a:sym typeface="Arial"/>
            </a:endParaRPr>
          </a:p>
        </p:txBody>
      </p:sp>
      <p:sp>
        <p:nvSpPr>
          <p:cNvPr id="211" name="Google Shape;211;g35becfa261e_1_101"/>
          <p:cNvSpPr txBox="1"/>
          <p:nvPr/>
        </p:nvSpPr>
        <p:spPr>
          <a:xfrm>
            <a:off x="1225177" y="1396526"/>
            <a:ext cx="6220200" cy="1162200"/>
          </a:xfrm>
          <a:prstGeom prst="rect">
            <a:avLst/>
          </a:prstGeom>
          <a:noFill/>
          <a:ln>
            <a:noFill/>
          </a:ln>
        </p:spPr>
        <p:txBody>
          <a:bodyPr anchorCtr="0" anchor="t" bIns="0" lIns="0" spcFirstLastPara="1" rIns="0" wrap="square" tIns="0">
            <a:spAutoFit/>
          </a:bodyPr>
          <a:lstStyle/>
          <a:p>
            <a:pPr indent="0" lvl="0" marL="0" marR="0" rtl="0" algn="ctr">
              <a:lnSpc>
                <a:spcPct val="97019"/>
              </a:lnSpc>
              <a:spcBef>
                <a:spcPts val="0"/>
              </a:spcBef>
              <a:spcAft>
                <a:spcPts val="0"/>
              </a:spcAft>
              <a:buClr>
                <a:srgbClr val="000000"/>
              </a:buClr>
              <a:buSzPts val="7783"/>
              <a:buFont typeface="Arial"/>
              <a:buNone/>
            </a:pPr>
            <a:r>
              <a:rPr b="1" i="0" lang="en-US" sz="7783" u="none" cap="none" strike="noStrike">
                <a:solidFill>
                  <a:srgbClr val="F8BF00"/>
                </a:solidFill>
                <a:latin typeface="Avenir"/>
                <a:ea typeface="Avenir"/>
                <a:cs typeface="Avenir"/>
                <a:sym typeface="Avenir"/>
              </a:rPr>
              <a:t>Comerciales</a:t>
            </a:r>
            <a:endParaRPr b="0" i="0" sz="1400" u="none" cap="none" strike="noStrike">
              <a:solidFill>
                <a:srgbClr val="000000"/>
              </a:solidFill>
              <a:latin typeface="Arial"/>
              <a:ea typeface="Arial"/>
              <a:cs typeface="Arial"/>
              <a:sym typeface="Arial"/>
            </a:endParaRPr>
          </a:p>
        </p:txBody>
      </p:sp>
      <p:sp>
        <p:nvSpPr>
          <p:cNvPr id="212" name="Google Shape;212;g35becfa261e_1_101"/>
          <p:cNvSpPr txBox="1"/>
          <p:nvPr/>
        </p:nvSpPr>
        <p:spPr>
          <a:xfrm>
            <a:off x="1705825" y="3184825"/>
            <a:ext cx="3426300" cy="95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FACTURACIÓN: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50% Al  momento de la contratación)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50% con el informe</a:t>
            </a:r>
            <a:endParaRPr b="0" i="0" sz="1400" u="none" cap="none" strike="noStrike">
              <a:solidFill>
                <a:srgbClr val="000000"/>
              </a:solidFill>
              <a:latin typeface="Arial"/>
              <a:ea typeface="Arial"/>
              <a:cs typeface="Arial"/>
              <a:sym typeface="Arial"/>
            </a:endParaRPr>
          </a:p>
        </p:txBody>
      </p:sp>
      <p:sp>
        <p:nvSpPr>
          <p:cNvPr id="213" name="Google Shape;213;g35becfa261e_1_101"/>
          <p:cNvSpPr txBox="1"/>
          <p:nvPr/>
        </p:nvSpPr>
        <p:spPr>
          <a:xfrm>
            <a:off x="10341123" y="3184821"/>
            <a:ext cx="6726900" cy="3026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EXECUTIVE SEARCH:</a:t>
            </a:r>
            <a:endParaRPr b="0" i="0" sz="1400" u="none" cap="none" strike="noStrike">
              <a:solidFill>
                <a:srgbClr val="000000"/>
              </a:solidFill>
              <a:latin typeface="Arial"/>
              <a:ea typeface="Arial"/>
              <a:cs typeface="Arial"/>
              <a:sym typeface="Arial"/>
            </a:endParaRPr>
          </a:p>
          <a:p>
            <a:pPr indent="-172720" lvl="1" marL="345443" marR="0" rtl="0" algn="just">
              <a:lnSpc>
                <a:spcPct val="140000"/>
              </a:lnSpc>
              <a:spcBef>
                <a:spcPts val="0"/>
              </a:spcBef>
              <a:spcAft>
                <a:spcPts val="0"/>
              </a:spcAft>
              <a:buClr>
                <a:srgbClr val="000000"/>
              </a:buClr>
              <a:buSzPts val="1600"/>
              <a:buFont typeface="Arial"/>
              <a:buChar char="•"/>
            </a:pPr>
            <a:r>
              <a:rPr b="0" i="0" lang="en-US" sz="1600" u="none" cap="none" strike="noStrike">
                <a:solidFill>
                  <a:srgbClr val="000000"/>
                </a:solidFill>
                <a:latin typeface="Avenir"/>
                <a:ea typeface="Avenir"/>
                <a:cs typeface="Avenir"/>
                <a:sym typeface="Avenir"/>
              </a:rPr>
              <a:t>Si como resultado del Market Insights, el cliente decide incorporar alguna de las personas identificadas, su contratación NO tendrá costo adicional. </a:t>
            </a:r>
            <a:endParaRPr b="0" i="0" sz="1400" u="none" cap="none" strike="noStrike">
              <a:solidFill>
                <a:srgbClr val="000000"/>
              </a:solidFill>
              <a:latin typeface="Arial"/>
              <a:ea typeface="Arial"/>
              <a:cs typeface="Arial"/>
              <a:sym typeface="Arial"/>
            </a:endParaRPr>
          </a:p>
          <a:p>
            <a:pPr indent="-172720" lvl="1" marL="345443" marR="0" rtl="0" algn="just">
              <a:lnSpc>
                <a:spcPct val="140000"/>
              </a:lnSpc>
              <a:spcBef>
                <a:spcPts val="0"/>
              </a:spcBef>
              <a:spcAft>
                <a:spcPts val="0"/>
              </a:spcAft>
              <a:buClr>
                <a:srgbClr val="000000"/>
              </a:buClr>
              <a:buSzPts val="1600"/>
              <a:buFont typeface="Arial"/>
              <a:buChar char="•"/>
            </a:pPr>
            <a:r>
              <a:rPr b="0" i="0" lang="en-US" sz="1600" u="none" cap="none" strike="noStrike">
                <a:solidFill>
                  <a:srgbClr val="000000"/>
                </a:solidFill>
                <a:latin typeface="Avenir"/>
                <a:ea typeface="Avenir"/>
                <a:cs typeface="Avenir"/>
                <a:sym typeface="Avenir"/>
              </a:rPr>
              <a:t>Como el servicio no puede ser comparado con una búsqueda tradicional, los perfiles contratados del mapeo no gozan de garantía por renuncia o desvinculación. </a:t>
            </a:r>
            <a:endParaRPr b="0" i="0" sz="1400" u="none" cap="none" strike="noStrike">
              <a:solidFill>
                <a:srgbClr val="000000"/>
              </a:solidFill>
              <a:latin typeface="Arial"/>
              <a:ea typeface="Arial"/>
              <a:cs typeface="Arial"/>
              <a:sym typeface="Arial"/>
            </a:endParaRPr>
          </a:p>
          <a:p>
            <a:pPr indent="-172720" lvl="1" marL="345443" marR="0" rtl="0" algn="just">
              <a:lnSpc>
                <a:spcPct val="140000"/>
              </a:lnSpc>
              <a:spcBef>
                <a:spcPts val="0"/>
              </a:spcBef>
              <a:spcAft>
                <a:spcPts val="0"/>
              </a:spcAft>
              <a:buClr>
                <a:srgbClr val="000000"/>
              </a:buClr>
              <a:buSzPts val="1600"/>
              <a:buFont typeface="Arial"/>
              <a:buChar char="•"/>
            </a:pPr>
            <a:r>
              <a:rPr b="0" i="0" lang="en-US" sz="1600" u="none" cap="none" strike="noStrike">
                <a:solidFill>
                  <a:srgbClr val="000000"/>
                </a:solidFill>
                <a:latin typeface="Avenir"/>
                <a:ea typeface="Avenir"/>
                <a:cs typeface="Avenir"/>
                <a:sym typeface="Avenir"/>
              </a:rPr>
              <a:t>Si luego del </a:t>
            </a:r>
            <a:r>
              <a:rPr b="0" i="0" lang="en-US" sz="1600" u="none" cap="none" strike="noStrike">
                <a:solidFill>
                  <a:srgbClr val="000000"/>
                </a:solidFill>
                <a:latin typeface="Avenir"/>
                <a:ea typeface="Avenir"/>
                <a:cs typeface="Avenir"/>
                <a:sym typeface="Avenir"/>
                <a:extLst>
                  <a:ext uri="http://customooxmlschemas.google.com/">
                    <go:slidesCustomData xmlns:go="http://customooxmlschemas.google.com/" textRoundtripDataId="2"/>
                  </a:ext>
                </a:extLst>
              </a:rPr>
              <a:t>Market </a:t>
            </a:r>
            <a:r>
              <a:rPr b="0" i="0" lang="en-US" sz="1600" u="none" cap="none" strike="noStrike">
                <a:solidFill>
                  <a:srgbClr val="000000"/>
                </a:solidFill>
                <a:latin typeface="Avenir"/>
                <a:ea typeface="Avenir"/>
                <a:cs typeface="Avenir"/>
                <a:sym typeface="Avenir"/>
              </a:rPr>
              <a:t>Insights el cliente solicitara iniciar un proceso de Executive Search, se aplicará el fee correspondiente al servicio.</a:t>
            </a:r>
            <a:endParaRPr b="0" i="0" sz="1400" u="none" cap="none" strike="noStrike">
              <a:solidFill>
                <a:srgbClr val="000000"/>
              </a:solidFill>
              <a:latin typeface="Arial"/>
              <a:ea typeface="Arial"/>
              <a:cs typeface="Arial"/>
              <a:sym typeface="Arial"/>
            </a:endParaRPr>
          </a:p>
        </p:txBody>
      </p:sp>
      <p:sp>
        <p:nvSpPr>
          <p:cNvPr id="214" name="Google Shape;214;g35becfa261e_1_101"/>
          <p:cNvSpPr txBox="1"/>
          <p:nvPr/>
        </p:nvSpPr>
        <p:spPr>
          <a:xfrm>
            <a:off x="1225177" y="7609414"/>
            <a:ext cx="15462000" cy="2721300"/>
          </a:xfrm>
          <a:prstGeom prst="rect">
            <a:avLst/>
          </a:prstGeom>
          <a:noFill/>
          <a:ln>
            <a:noFill/>
          </a:ln>
        </p:spPr>
        <p:txBody>
          <a:bodyPr anchorCtr="0" anchor="t" bIns="0" lIns="0" spcFirstLastPara="1" rIns="0" wrap="square" tIns="0">
            <a:spAutoFit/>
          </a:bodyPr>
          <a:lstStyle/>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La información mencionada será compartida con el cliente siempre que esté disponible y el profesional desee participar.</a:t>
            </a:r>
            <a:endParaRPr b="0" i="0" sz="1200" u="none" cap="none" strike="noStrike">
              <a:solidFill>
                <a:srgbClr val="000000"/>
              </a:solidFill>
              <a:latin typeface="Arial"/>
              <a:ea typeface="Arial"/>
              <a:cs typeface="Arial"/>
              <a:sym typeface="Arial"/>
            </a:endParaRPr>
          </a:p>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Solo se cobrará por empresas que el cliente decidió mapear y sobre las que se ha entregado información. </a:t>
            </a:r>
            <a:endParaRPr b="0" i="0" sz="1200" u="none" cap="none" strike="noStrike">
              <a:solidFill>
                <a:srgbClr val="000000"/>
              </a:solidFill>
              <a:latin typeface="Arial"/>
              <a:ea typeface="Arial"/>
              <a:cs typeface="Arial"/>
              <a:sym typeface="Arial"/>
            </a:endParaRPr>
          </a:p>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En caso que una empresa no tenga las áreas focos de estudio en su estructura, esta situación será reportada y el cliente podrá decidir su reemplazo por otra empresa de dimensiones similares o dejar esa empresa fuera del estudio.</a:t>
            </a:r>
            <a:endParaRPr b="0" i="0" sz="1200" u="none" cap="none" strike="noStrike">
              <a:solidFill>
                <a:srgbClr val="000000"/>
              </a:solidFill>
              <a:latin typeface="Arial"/>
              <a:ea typeface="Arial"/>
              <a:cs typeface="Arial"/>
              <a:sym typeface="Arial"/>
            </a:endParaRPr>
          </a:p>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Si la posición a mapear dentro de una compañía elegida por el cliente se inserta en diferentes estructuras organizacionales (Por ej : empresas subsidiarias), regiones o países diversos y el cliente desea obtener la información de cada estructura, tienda o región, cada una de ellas será considerada como una compañía distinta con su costo asociado.</a:t>
            </a:r>
            <a:endParaRPr b="0" i="0" sz="1200" u="none" cap="none" strike="noStrike">
              <a:solidFill>
                <a:srgbClr val="000000"/>
              </a:solidFill>
              <a:latin typeface="Arial"/>
              <a:ea typeface="Arial"/>
              <a:cs typeface="Arial"/>
              <a:sym typeface="Arial"/>
            </a:endParaRPr>
          </a:p>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Si al momento de presentar los avances del proyecto o al cierre del mismo el cliente requiere que VDH indague, sobre profesionales previamente mapeados, aspectos adicionales que no hayan sido solicitados al inicio, se realizará un cargo igual al del relevamiento de una posición adicional. </a:t>
            </a:r>
            <a:endParaRPr b="0" i="0" sz="1200" u="none" cap="none" strike="noStrike">
              <a:solidFill>
                <a:srgbClr val="000000"/>
              </a:solidFill>
              <a:latin typeface="Arial"/>
              <a:ea typeface="Arial"/>
              <a:cs typeface="Arial"/>
              <a:sym typeface="Arial"/>
            </a:endParaRPr>
          </a:p>
          <a:p>
            <a:pPr indent="-149226" lvl="1" marL="323855" marR="0" rtl="0" algn="l">
              <a:lnSpc>
                <a:spcPct val="140000"/>
              </a:lnSpc>
              <a:spcBef>
                <a:spcPts val="0"/>
              </a:spcBef>
              <a:spcAft>
                <a:spcPts val="0"/>
              </a:spcAft>
              <a:buClr>
                <a:srgbClr val="000000"/>
              </a:buClr>
              <a:buSzPts val="1300"/>
              <a:buFont typeface="Arial"/>
              <a:buChar char="•"/>
            </a:pPr>
            <a:r>
              <a:rPr b="0" i="0" lang="en-US" sz="1300" u="none" cap="none" strike="noStrike">
                <a:solidFill>
                  <a:srgbClr val="000000"/>
                </a:solidFill>
                <a:latin typeface="Avenir"/>
                <a:ea typeface="Avenir"/>
                <a:cs typeface="Avenir"/>
                <a:sym typeface="Avenir"/>
              </a:rPr>
              <a:t>No incluye la entrega de CV’s de los profesionales target contactados.</a:t>
            </a:r>
            <a:endParaRPr b="0" i="0" sz="1200" u="none" cap="none" strike="noStrike">
              <a:solidFill>
                <a:srgbClr val="000000"/>
              </a:solidFill>
              <a:latin typeface="Arial"/>
              <a:ea typeface="Arial"/>
              <a:cs typeface="Arial"/>
              <a:sym typeface="Arial"/>
            </a:endParaRPr>
          </a:p>
          <a:p>
            <a:pPr indent="0" lvl="0" marL="0" marR="0" rtl="0" algn="l">
              <a:lnSpc>
                <a:spcPct val="130666"/>
              </a:lnSpc>
              <a:spcBef>
                <a:spcPts val="0"/>
              </a:spcBef>
              <a:spcAft>
                <a:spcPts val="0"/>
              </a:spcAft>
              <a:buClr>
                <a:srgbClr val="000000"/>
              </a:buClr>
              <a:buSzPts val="1300"/>
              <a:buFont typeface="Arial"/>
              <a:buNone/>
            </a:pPr>
            <a:r>
              <a:t/>
            </a:r>
            <a:endParaRPr b="0" i="0" sz="1300" u="none" cap="none" strike="noStrike">
              <a:solidFill>
                <a:srgbClr val="000000"/>
              </a:solidFill>
              <a:latin typeface="Avenir"/>
              <a:ea typeface="Avenir"/>
              <a:cs typeface="Avenir"/>
              <a:sym typeface="Avenir"/>
            </a:endParaRPr>
          </a:p>
        </p:txBody>
      </p:sp>
      <p:sp>
        <p:nvSpPr>
          <p:cNvPr id="215" name="Google Shape;215;g35becfa261e_1_101"/>
          <p:cNvSpPr/>
          <p:nvPr/>
        </p:nvSpPr>
        <p:spPr>
          <a:xfrm>
            <a:off x="5741641" y="3251496"/>
            <a:ext cx="246091" cy="246091"/>
          </a:xfrm>
          <a:custGeom>
            <a:rect b="b" l="l" r="r" t="t"/>
            <a:pathLst>
              <a:path extrusionOk="0" h="246091" w="246091">
                <a:moveTo>
                  <a:pt x="0" y="0"/>
                </a:moveTo>
                <a:lnTo>
                  <a:pt x="246091" y="0"/>
                </a:lnTo>
                <a:lnTo>
                  <a:pt x="246091" y="246092"/>
                </a:lnTo>
                <a:lnTo>
                  <a:pt x="0" y="2460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35becfa261e_1_101"/>
          <p:cNvSpPr txBox="1"/>
          <p:nvPr/>
        </p:nvSpPr>
        <p:spPr>
          <a:xfrm>
            <a:off x="6222279" y="3184821"/>
            <a:ext cx="3022500" cy="61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PLAZO DE PAGO:</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30 días de fecha de factura.</a:t>
            </a:r>
            <a:endParaRPr b="0" i="0" sz="1400" u="none" cap="none" strike="noStrike">
              <a:solidFill>
                <a:srgbClr val="000000"/>
              </a:solidFill>
              <a:latin typeface="Arial"/>
              <a:ea typeface="Arial"/>
              <a:cs typeface="Arial"/>
              <a:sym typeface="Arial"/>
            </a:endParaRPr>
          </a:p>
        </p:txBody>
      </p:sp>
      <p:sp>
        <p:nvSpPr>
          <p:cNvPr id="217" name="Google Shape;217;g35becfa261e_1_101"/>
          <p:cNvSpPr/>
          <p:nvPr/>
        </p:nvSpPr>
        <p:spPr>
          <a:xfrm>
            <a:off x="1242210" y="4613910"/>
            <a:ext cx="246091" cy="246091"/>
          </a:xfrm>
          <a:custGeom>
            <a:rect b="b" l="l" r="r" t="t"/>
            <a:pathLst>
              <a:path extrusionOk="0" h="246091" w="246091">
                <a:moveTo>
                  <a:pt x="0" y="0"/>
                </a:moveTo>
                <a:lnTo>
                  <a:pt x="246091" y="0"/>
                </a:lnTo>
                <a:lnTo>
                  <a:pt x="246091" y="246092"/>
                </a:lnTo>
                <a:lnTo>
                  <a:pt x="0" y="2460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35becfa261e_1_101"/>
          <p:cNvSpPr txBox="1"/>
          <p:nvPr/>
        </p:nvSpPr>
        <p:spPr>
          <a:xfrm>
            <a:off x="1705815" y="4547235"/>
            <a:ext cx="2145000" cy="95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IMPUESTOS: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Los valores cotizados no incluyen IVA.</a:t>
            </a:r>
            <a:endParaRPr b="0" i="0" sz="1400" u="none" cap="none" strike="noStrike">
              <a:solidFill>
                <a:srgbClr val="000000"/>
              </a:solidFill>
              <a:latin typeface="Arial"/>
              <a:ea typeface="Arial"/>
              <a:cs typeface="Arial"/>
              <a:sym typeface="Arial"/>
            </a:endParaRPr>
          </a:p>
        </p:txBody>
      </p:sp>
      <p:sp>
        <p:nvSpPr>
          <p:cNvPr id="219" name="Google Shape;219;g35becfa261e_1_101"/>
          <p:cNvSpPr/>
          <p:nvPr/>
        </p:nvSpPr>
        <p:spPr>
          <a:xfrm>
            <a:off x="5741641" y="4579846"/>
            <a:ext cx="246091" cy="246091"/>
          </a:xfrm>
          <a:custGeom>
            <a:rect b="b" l="l" r="r" t="t"/>
            <a:pathLst>
              <a:path extrusionOk="0" h="246091" w="246091">
                <a:moveTo>
                  <a:pt x="0" y="0"/>
                </a:moveTo>
                <a:lnTo>
                  <a:pt x="246091" y="0"/>
                </a:lnTo>
                <a:lnTo>
                  <a:pt x="246091" y="246092"/>
                </a:lnTo>
                <a:lnTo>
                  <a:pt x="0" y="2460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35becfa261e_1_101"/>
          <p:cNvSpPr txBox="1"/>
          <p:nvPr/>
        </p:nvSpPr>
        <p:spPr>
          <a:xfrm>
            <a:off x="6222279" y="4513171"/>
            <a:ext cx="3159000" cy="61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VALIDEZ DE PROPUESTA:</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30 días desde su fecha de envío.</a:t>
            </a:r>
            <a:endParaRPr b="0" i="0" sz="1400" u="none" cap="none" strike="noStrike">
              <a:solidFill>
                <a:srgbClr val="000000"/>
              </a:solidFill>
              <a:latin typeface="Arial"/>
              <a:ea typeface="Arial"/>
              <a:cs typeface="Arial"/>
              <a:sym typeface="Arial"/>
            </a:endParaRPr>
          </a:p>
        </p:txBody>
      </p:sp>
      <p:sp>
        <p:nvSpPr>
          <p:cNvPr id="221" name="Google Shape;221;g35becfa261e_1_101"/>
          <p:cNvSpPr/>
          <p:nvPr/>
        </p:nvSpPr>
        <p:spPr>
          <a:xfrm>
            <a:off x="1242210" y="5829300"/>
            <a:ext cx="246091" cy="246091"/>
          </a:xfrm>
          <a:custGeom>
            <a:rect b="b" l="l" r="r" t="t"/>
            <a:pathLst>
              <a:path extrusionOk="0" h="246091" w="246091">
                <a:moveTo>
                  <a:pt x="0" y="0"/>
                </a:moveTo>
                <a:lnTo>
                  <a:pt x="246091" y="0"/>
                </a:lnTo>
                <a:lnTo>
                  <a:pt x="246091" y="246091"/>
                </a:lnTo>
                <a:lnTo>
                  <a:pt x="0" y="24609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35becfa261e_1_101"/>
          <p:cNvSpPr txBox="1"/>
          <p:nvPr/>
        </p:nvSpPr>
        <p:spPr>
          <a:xfrm>
            <a:off x="1722848" y="5762625"/>
            <a:ext cx="6852600" cy="130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1" i="0" lang="en-US" sz="1700" u="none" cap="none" strike="noStrike">
                <a:solidFill>
                  <a:srgbClr val="000000"/>
                </a:solidFill>
                <a:latin typeface="Avenir"/>
                <a:ea typeface="Avenir"/>
                <a:cs typeface="Avenir"/>
                <a:sym typeface="Avenir"/>
              </a:rPr>
              <a:t>TIEMPO DE EJECUCIÓN: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Cada proyecto tendrá un tiempo específico dependiendo del grado de alcance, cantidad de empresas y perfiles. El plazo de ejecución se definirá junto al cliente al conocer esta información. </a:t>
            </a:r>
            <a:endParaRPr b="0" i="0" sz="1400" u="none" cap="none" strike="noStrike">
              <a:solidFill>
                <a:srgbClr val="000000"/>
              </a:solidFill>
              <a:latin typeface="Arial"/>
              <a:ea typeface="Arial"/>
              <a:cs typeface="Arial"/>
              <a:sym typeface="Arial"/>
            </a:endParaRPr>
          </a:p>
        </p:txBody>
      </p:sp>
      <p:cxnSp>
        <p:nvCxnSpPr>
          <p:cNvPr id="223" name="Google Shape;223;g35becfa261e_1_101"/>
          <p:cNvCxnSpPr/>
          <p:nvPr/>
        </p:nvCxnSpPr>
        <p:spPr>
          <a:xfrm>
            <a:off x="672408" y="7293714"/>
            <a:ext cx="16943100" cy="0"/>
          </a:xfrm>
          <a:prstGeom prst="straightConnector1">
            <a:avLst/>
          </a:prstGeom>
          <a:noFill/>
          <a:ln cap="rnd" cmpd="sng" w="28575">
            <a:solidFill>
              <a:srgbClr val="54565B"/>
            </a:solidFill>
            <a:prstDash val="dot"/>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g35e6a50c0a8_0_0"/>
          <p:cNvSpPr txBox="1"/>
          <p:nvPr/>
        </p:nvSpPr>
        <p:spPr>
          <a:xfrm>
            <a:off x="1295773" y="4133450"/>
            <a:ext cx="9116100" cy="13854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9000" u="none" cap="none" strike="noStrike">
                <a:solidFill>
                  <a:srgbClr val="F8BF00"/>
                </a:solidFill>
                <a:latin typeface="Garamond"/>
                <a:ea typeface="Garamond"/>
                <a:cs typeface="Garamond"/>
                <a:sym typeface="Garamond"/>
              </a:rPr>
              <a:t>Soluciones</a:t>
            </a:r>
            <a:endParaRPr b="0" i="0" sz="9000" u="none" cap="none" strike="noStrike">
              <a:solidFill>
                <a:srgbClr val="000000"/>
              </a:solidFill>
              <a:latin typeface="Garamond"/>
              <a:ea typeface="Garamond"/>
              <a:cs typeface="Garamond"/>
              <a:sym typeface="Garamond"/>
            </a:endParaRPr>
          </a:p>
        </p:txBody>
      </p:sp>
      <p:sp>
        <p:nvSpPr>
          <p:cNvPr id="229" name="Google Shape;229;g35e6a50c0a8_0_0"/>
          <p:cNvSpPr txBox="1"/>
          <p:nvPr/>
        </p:nvSpPr>
        <p:spPr>
          <a:xfrm>
            <a:off x="1258625" y="3152125"/>
            <a:ext cx="4356300" cy="12315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Clr>
                <a:srgbClr val="000000"/>
              </a:buClr>
              <a:buSzPts val="7064"/>
              <a:buFont typeface="Arial"/>
              <a:buNone/>
            </a:pPr>
            <a:r>
              <a:rPr b="1" i="0" lang="en-US" sz="8000" u="none" cap="none" strike="noStrike">
                <a:solidFill>
                  <a:srgbClr val="FFFFFF"/>
                </a:solidFill>
                <a:latin typeface="Garamond"/>
                <a:ea typeface="Garamond"/>
                <a:cs typeface="Garamond"/>
                <a:sym typeface="Garamond"/>
              </a:rPr>
              <a:t>Nuestras</a:t>
            </a:r>
            <a:endParaRPr b="0" i="0" sz="8000" u="none" cap="none" strike="noStrike">
              <a:solidFill>
                <a:srgbClr val="000000"/>
              </a:solidFill>
              <a:latin typeface="Arial"/>
              <a:ea typeface="Arial"/>
              <a:cs typeface="Arial"/>
              <a:sym typeface="Arial"/>
            </a:endParaRPr>
          </a:p>
        </p:txBody>
      </p:sp>
      <p:sp>
        <p:nvSpPr>
          <p:cNvPr id="230" name="Google Shape;230;g35e6a50c0a8_0_0"/>
          <p:cNvSpPr txBox="1"/>
          <p:nvPr/>
        </p:nvSpPr>
        <p:spPr>
          <a:xfrm>
            <a:off x="1310100" y="5381150"/>
            <a:ext cx="52074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64"/>
              <a:buFont typeface="Arial"/>
              <a:buNone/>
            </a:pPr>
            <a:r>
              <a:rPr b="0" i="0" lang="en-US" sz="2800" u="none" cap="none" strike="noStrike">
                <a:solidFill>
                  <a:schemeClr val="lt1"/>
                </a:solidFill>
                <a:latin typeface="Garamond"/>
                <a:ea typeface="Garamond"/>
                <a:cs typeface="Garamond"/>
                <a:sym typeface="Garamond"/>
              </a:rPr>
              <a:t>Conoce nuestras soluciones para incorporar y potenciar tu talento.</a:t>
            </a:r>
            <a:endParaRPr b="0" i="0" sz="2800" u="none" cap="none" strike="noStrike">
              <a:solidFill>
                <a:schemeClr val="lt1"/>
              </a:solidFill>
              <a:latin typeface="Garamond"/>
              <a:ea typeface="Garamond"/>
              <a:cs typeface="Garamond"/>
              <a:sym typeface="Garamond"/>
            </a:endParaRPr>
          </a:p>
        </p:txBody>
      </p:sp>
      <p:sp>
        <p:nvSpPr>
          <p:cNvPr id="231" name="Google Shape;231;g35e6a50c0a8_0_0"/>
          <p:cNvSpPr txBox="1"/>
          <p:nvPr/>
        </p:nvSpPr>
        <p:spPr>
          <a:xfrm>
            <a:off x="10411882" y="19465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Executive Search </a:t>
            </a:r>
            <a:endParaRPr b="0" i="0" sz="3600" u="none" cap="none" strike="noStrike">
              <a:solidFill>
                <a:schemeClr val="lt1"/>
              </a:solidFill>
              <a:latin typeface="Arial"/>
              <a:ea typeface="Arial"/>
              <a:cs typeface="Arial"/>
              <a:sym typeface="Arial"/>
            </a:endParaRPr>
          </a:p>
        </p:txBody>
      </p:sp>
      <p:sp>
        <p:nvSpPr>
          <p:cNvPr id="232" name="Google Shape;232;g35e6a50c0a8_0_0"/>
          <p:cNvSpPr txBox="1"/>
          <p:nvPr/>
        </p:nvSpPr>
        <p:spPr>
          <a:xfrm>
            <a:off x="10411882" y="60460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Self Placement</a:t>
            </a:r>
            <a:endParaRPr b="0" i="0" sz="3600" u="none" cap="none" strike="noStrike">
              <a:solidFill>
                <a:schemeClr val="lt1"/>
              </a:solidFill>
              <a:latin typeface="Arial"/>
              <a:ea typeface="Arial"/>
              <a:cs typeface="Arial"/>
              <a:sym typeface="Arial"/>
            </a:endParaRPr>
          </a:p>
        </p:txBody>
      </p:sp>
      <p:cxnSp>
        <p:nvCxnSpPr>
          <p:cNvPr id="233" name="Google Shape;233;g35e6a50c0a8_0_0"/>
          <p:cNvCxnSpPr/>
          <p:nvPr/>
        </p:nvCxnSpPr>
        <p:spPr>
          <a:xfrm>
            <a:off x="10411875" y="2824650"/>
            <a:ext cx="4466700" cy="0"/>
          </a:xfrm>
          <a:prstGeom prst="straightConnector1">
            <a:avLst/>
          </a:prstGeom>
          <a:noFill/>
          <a:ln cap="flat" cmpd="sng" w="9525">
            <a:solidFill>
              <a:schemeClr val="lt1"/>
            </a:solidFill>
            <a:prstDash val="solid"/>
            <a:round/>
            <a:headEnd len="sm" w="sm" type="none"/>
            <a:tailEnd len="sm" w="sm" type="none"/>
          </a:ln>
        </p:spPr>
      </p:cxnSp>
      <p:sp>
        <p:nvSpPr>
          <p:cNvPr id="234" name="Google Shape;234;g35e6a50c0a8_0_0"/>
          <p:cNvSpPr txBox="1"/>
          <p:nvPr/>
        </p:nvSpPr>
        <p:spPr>
          <a:xfrm>
            <a:off x="10419757" y="30336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Assessment </a:t>
            </a:r>
            <a:endParaRPr b="0" i="0" sz="3600" u="none" cap="none" strike="noStrike">
              <a:solidFill>
                <a:schemeClr val="lt1"/>
              </a:solidFill>
              <a:latin typeface="Arial"/>
              <a:ea typeface="Arial"/>
              <a:cs typeface="Arial"/>
              <a:sym typeface="Arial"/>
            </a:endParaRPr>
          </a:p>
        </p:txBody>
      </p:sp>
      <p:cxnSp>
        <p:nvCxnSpPr>
          <p:cNvPr id="235" name="Google Shape;235;g35e6a50c0a8_0_0"/>
          <p:cNvCxnSpPr/>
          <p:nvPr/>
        </p:nvCxnSpPr>
        <p:spPr>
          <a:xfrm>
            <a:off x="10411875" y="3767875"/>
            <a:ext cx="4466700" cy="0"/>
          </a:xfrm>
          <a:prstGeom prst="straightConnector1">
            <a:avLst/>
          </a:prstGeom>
          <a:noFill/>
          <a:ln cap="flat" cmpd="sng" w="9525">
            <a:solidFill>
              <a:schemeClr val="lt1"/>
            </a:solidFill>
            <a:prstDash val="solid"/>
            <a:round/>
            <a:headEnd len="sm" w="sm" type="none"/>
            <a:tailEnd len="sm" w="sm" type="none"/>
          </a:ln>
        </p:spPr>
      </p:cxnSp>
      <p:sp>
        <p:nvSpPr>
          <p:cNvPr id="236" name="Google Shape;236;g35e6a50c0a8_0_0"/>
          <p:cNvSpPr txBox="1"/>
          <p:nvPr/>
        </p:nvSpPr>
        <p:spPr>
          <a:xfrm>
            <a:off x="10419757" y="40242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Market Insights </a:t>
            </a:r>
            <a:endParaRPr b="0" i="0" sz="3600" u="none" cap="none" strike="noStrike">
              <a:solidFill>
                <a:schemeClr val="lt1"/>
              </a:solidFill>
              <a:latin typeface="Arial"/>
              <a:ea typeface="Arial"/>
              <a:cs typeface="Arial"/>
              <a:sym typeface="Arial"/>
            </a:endParaRPr>
          </a:p>
        </p:txBody>
      </p:sp>
      <p:cxnSp>
        <p:nvCxnSpPr>
          <p:cNvPr id="237" name="Google Shape;237;g35e6a50c0a8_0_0"/>
          <p:cNvCxnSpPr/>
          <p:nvPr/>
        </p:nvCxnSpPr>
        <p:spPr>
          <a:xfrm>
            <a:off x="10411875" y="4758475"/>
            <a:ext cx="4466700" cy="0"/>
          </a:xfrm>
          <a:prstGeom prst="straightConnector1">
            <a:avLst/>
          </a:prstGeom>
          <a:noFill/>
          <a:ln cap="flat" cmpd="sng" w="9525">
            <a:solidFill>
              <a:schemeClr val="lt1"/>
            </a:solidFill>
            <a:prstDash val="solid"/>
            <a:round/>
            <a:headEnd len="sm" w="sm" type="none"/>
            <a:tailEnd len="sm" w="sm" type="none"/>
          </a:ln>
        </p:spPr>
      </p:cxnSp>
      <p:sp>
        <p:nvSpPr>
          <p:cNvPr id="238" name="Google Shape;238;g35e6a50c0a8_0_0"/>
          <p:cNvSpPr txBox="1"/>
          <p:nvPr/>
        </p:nvSpPr>
        <p:spPr>
          <a:xfrm>
            <a:off x="10419757" y="5035125"/>
            <a:ext cx="3842700" cy="554100"/>
          </a:xfrm>
          <a:prstGeom prst="rect">
            <a:avLst/>
          </a:prstGeom>
          <a:noFill/>
          <a:ln>
            <a:noFill/>
          </a:ln>
        </p:spPr>
        <p:txBody>
          <a:bodyPr anchorCtr="0" anchor="t" bIns="0" lIns="0" spcFirstLastPara="1" rIns="0" wrap="square" tIns="0">
            <a:spAutoFit/>
          </a:bodyPr>
          <a:lstStyle/>
          <a:p>
            <a:pPr indent="0" lvl="0" marL="0" marR="0" rtl="0" algn="l">
              <a:lnSpc>
                <a:spcPct val="128006"/>
              </a:lnSpc>
              <a:spcBef>
                <a:spcPts val="0"/>
              </a:spcBef>
              <a:spcAft>
                <a:spcPts val="0"/>
              </a:spcAft>
              <a:buClr>
                <a:srgbClr val="000000"/>
              </a:buClr>
              <a:buSzPts val="5306"/>
              <a:buFont typeface="Arial"/>
              <a:buNone/>
            </a:pPr>
            <a:r>
              <a:rPr b="1" i="0" lang="en-US" sz="3600" u="none" cap="none" strike="noStrike">
                <a:solidFill>
                  <a:schemeClr val="lt1"/>
                </a:solidFill>
                <a:latin typeface="Garamond"/>
                <a:ea typeface="Garamond"/>
                <a:cs typeface="Garamond"/>
                <a:sym typeface="Garamond"/>
              </a:rPr>
              <a:t>Coaching</a:t>
            </a:r>
            <a:endParaRPr b="0" i="0" sz="3600" u="none" cap="none" strike="noStrike">
              <a:solidFill>
                <a:schemeClr val="lt1"/>
              </a:solidFill>
              <a:latin typeface="Arial"/>
              <a:ea typeface="Arial"/>
              <a:cs typeface="Arial"/>
              <a:sym typeface="Arial"/>
            </a:endParaRPr>
          </a:p>
        </p:txBody>
      </p:sp>
      <p:cxnSp>
        <p:nvCxnSpPr>
          <p:cNvPr id="239" name="Google Shape;239;g35e6a50c0a8_0_0"/>
          <p:cNvCxnSpPr/>
          <p:nvPr/>
        </p:nvCxnSpPr>
        <p:spPr>
          <a:xfrm>
            <a:off x="10411875" y="5769375"/>
            <a:ext cx="4466700" cy="0"/>
          </a:xfrm>
          <a:prstGeom prst="straightConnector1">
            <a:avLst/>
          </a:prstGeom>
          <a:noFill/>
          <a:ln cap="flat" cmpd="sng" w="9525">
            <a:solidFill>
              <a:schemeClr val="lt1"/>
            </a:solidFill>
            <a:prstDash val="solid"/>
            <a:round/>
            <a:headEnd len="sm" w="sm" type="none"/>
            <a:tailEnd len="sm" w="sm" type="none"/>
          </a:ln>
        </p:spPr>
      </p:cxnSp>
      <p:pic>
        <p:nvPicPr>
          <p:cNvPr id="240" name="Google Shape;240;g35e6a50c0a8_0_0" title="VDH Logo_2025-02.png"/>
          <p:cNvPicPr preferRelativeResize="0"/>
          <p:nvPr/>
        </p:nvPicPr>
        <p:blipFill rotWithShape="1">
          <a:blip r:embed="rId4">
            <a:alphaModFix/>
          </a:blip>
          <a:srcRect b="0" l="0" r="0" t="0"/>
          <a:stretch/>
        </p:blipFill>
        <p:spPr>
          <a:xfrm>
            <a:off x="14012925" y="9058425"/>
            <a:ext cx="3559228" cy="55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65B"/>
        </a:solidFill>
      </p:bgPr>
    </p:bg>
    <p:spTree>
      <p:nvGrpSpPr>
        <p:cNvPr id="244" name="Shape 244"/>
        <p:cNvGrpSpPr/>
        <p:nvPr/>
      </p:nvGrpSpPr>
      <p:grpSpPr>
        <a:xfrm>
          <a:off x="0" y="0"/>
          <a:ext cx="0" cy="0"/>
          <a:chOff x="0" y="0"/>
          <a:chExt cx="0" cy="0"/>
        </a:xfrm>
      </p:grpSpPr>
      <p:sp>
        <p:nvSpPr>
          <p:cNvPr id="245" name="Google Shape;245;g35e6a50c0a8_0_16"/>
          <p:cNvSpPr/>
          <p:nvPr/>
        </p:nvSpPr>
        <p:spPr>
          <a:xfrm>
            <a:off x="0" y="5660700"/>
            <a:ext cx="18320353" cy="4592300"/>
          </a:xfrm>
          <a:custGeom>
            <a:rect b="b" l="l" r="r" t="t"/>
            <a:pathLst>
              <a:path extrusionOk="0" h="1554078" w="6428194">
                <a:moveTo>
                  <a:pt x="0" y="0"/>
                </a:moveTo>
                <a:lnTo>
                  <a:pt x="6428194" y="0"/>
                </a:lnTo>
                <a:lnTo>
                  <a:pt x="6428194" y="1554078"/>
                </a:lnTo>
                <a:lnTo>
                  <a:pt x="0" y="15540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5e6a50c0a8_0_16"/>
          <p:cNvSpPr txBox="1"/>
          <p:nvPr/>
        </p:nvSpPr>
        <p:spPr>
          <a:xfrm>
            <a:off x="7469472" y="6178207"/>
            <a:ext cx="5188800" cy="2240400"/>
          </a:xfrm>
          <a:prstGeom prst="rect">
            <a:avLst/>
          </a:prstGeom>
          <a:noFill/>
          <a:ln>
            <a:noFill/>
          </a:ln>
        </p:spPr>
        <p:txBody>
          <a:bodyPr anchorCtr="0" anchor="t" bIns="0" lIns="0" spcFirstLastPara="1" rIns="0" wrap="square" tIns="0">
            <a:spAutoFit/>
          </a:bodyPr>
          <a:lstStyle/>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Website:</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LinkedIn:</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rPr b="0" i="0" lang="en-US" sz="2799" u="none" cap="none" strike="noStrike">
                <a:solidFill>
                  <a:srgbClr val="54565B"/>
                </a:solidFill>
                <a:latin typeface="Avenir"/>
                <a:ea typeface="Avenir"/>
                <a:cs typeface="Avenir"/>
                <a:sym typeface="Avenir"/>
              </a:rPr>
              <a:t>Correo:</a:t>
            </a:r>
            <a:endParaRPr b="0" i="0" sz="1400" u="none" cap="none" strike="noStrike">
              <a:solidFill>
                <a:srgbClr val="000000"/>
              </a:solidFill>
              <a:latin typeface="Arial"/>
              <a:ea typeface="Arial"/>
              <a:cs typeface="Arial"/>
              <a:sym typeface="Arial"/>
            </a:endParaRPr>
          </a:p>
          <a:p>
            <a:pPr indent="0" lvl="0" marL="0" marR="0" rtl="0" algn="r">
              <a:lnSpc>
                <a:spcPct val="140014"/>
              </a:lnSpc>
              <a:spcBef>
                <a:spcPts val="0"/>
              </a:spcBef>
              <a:spcAft>
                <a:spcPts val="0"/>
              </a:spcAft>
              <a:buClr>
                <a:srgbClr val="000000"/>
              </a:buClr>
              <a:buSzPts val="2799"/>
              <a:buFont typeface="Arial"/>
              <a:buNone/>
            </a:pPr>
            <a:r>
              <a:t/>
            </a:r>
            <a:endParaRPr b="0" i="0" sz="2799" u="none" cap="none" strike="noStrike">
              <a:solidFill>
                <a:srgbClr val="54565B"/>
              </a:solidFill>
              <a:latin typeface="Avenir"/>
              <a:ea typeface="Avenir"/>
              <a:cs typeface="Avenir"/>
              <a:sym typeface="Avenir"/>
            </a:endParaRPr>
          </a:p>
        </p:txBody>
      </p:sp>
      <p:sp>
        <p:nvSpPr>
          <p:cNvPr id="247" name="Google Shape;247;g35e6a50c0a8_0_16"/>
          <p:cNvSpPr txBox="1"/>
          <p:nvPr/>
        </p:nvSpPr>
        <p:spPr>
          <a:xfrm>
            <a:off x="12951650" y="6283097"/>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WWW.VONDERHEIDE.COM</a:t>
            </a:r>
            <a:endParaRPr b="0" i="0" sz="1400" u="none" cap="none" strike="noStrike">
              <a:solidFill>
                <a:srgbClr val="000000"/>
              </a:solidFill>
              <a:latin typeface="Arial"/>
              <a:ea typeface="Arial"/>
              <a:cs typeface="Arial"/>
              <a:sym typeface="Arial"/>
            </a:endParaRPr>
          </a:p>
        </p:txBody>
      </p:sp>
      <p:sp>
        <p:nvSpPr>
          <p:cNvPr id="248" name="Google Shape;248;g35e6a50c0a8_0_16"/>
          <p:cNvSpPr txBox="1"/>
          <p:nvPr/>
        </p:nvSpPr>
        <p:spPr>
          <a:xfrm>
            <a:off x="12951650" y="6848913"/>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VON DER HEIDE</a:t>
            </a:r>
            <a:endParaRPr b="0" i="0" sz="1400" u="none" cap="none" strike="noStrike">
              <a:solidFill>
                <a:srgbClr val="000000"/>
              </a:solidFill>
              <a:latin typeface="Arial"/>
              <a:ea typeface="Arial"/>
              <a:cs typeface="Arial"/>
              <a:sym typeface="Arial"/>
            </a:endParaRPr>
          </a:p>
        </p:txBody>
      </p:sp>
      <p:sp>
        <p:nvSpPr>
          <p:cNvPr id="249" name="Google Shape;249;g35e6a50c0a8_0_16"/>
          <p:cNvSpPr txBox="1"/>
          <p:nvPr/>
        </p:nvSpPr>
        <p:spPr>
          <a:xfrm>
            <a:off x="12951650" y="7414738"/>
            <a:ext cx="46317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54565B"/>
                </a:solidFill>
                <a:latin typeface="Avenir"/>
                <a:ea typeface="Avenir"/>
                <a:cs typeface="Avenir"/>
                <a:sym typeface="Avenir"/>
              </a:rPr>
              <a:t>CONTACTO@VDH.JOBS</a:t>
            </a:r>
            <a:endParaRPr b="0" i="0" sz="1400" u="none" cap="none" strike="noStrike">
              <a:solidFill>
                <a:srgbClr val="000000"/>
              </a:solidFill>
              <a:latin typeface="Arial"/>
              <a:ea typeface="Arial"/>
              <a:cs typeface="Arial"/>
              <a:sym typeface="Arial"/>
            </a:endParaRPr>
          </a:p>
        </p:txBody>
      </p:sp>
      <p:grpSp>
        <p:nvGrpSpPr>
          <p:cNvPr id="250" name="Google Shape;250;g35e6a50c0a8_0_16"/>
          <p:cNvGrpSpPr/>
          <p:nvPr/>
        </p:nvGrpSpPr>
        <p:grpSpPr>
          <a:xfrm>
            <a:off x="-523800" y="2286026"/>
            <a:ext cx="8703799" cy="2272849"/>
            <a:chOff x="-523800" y="2286026"/>
            <a:chExt cx="8703799" cy="2272849"/>
          </a:xfrm>
        </p:grpSpPr>
        <p:pic>
          <p:nvPicPr>
            <p:cNvPr id="251" name="Google Shape;251;g35e6a50c0a8_0_16" title="people to business.png"/>
            <p:cNvPicPr preferRelativeResize="0"/>
            <p:nvPr/>
          </p:nvPicPr>
          <p:blipFill rotWithShape="1">
            <a:blip r:embed="rId3">
              <a:alphaModFix/>
            </a:blip>
            <a:srcRect b="33238" l="35239" r="35608" t="51645"/>
            <a:stretch/>
          </p:blipFill>
          <p:spPr>
            <a:xfrm>
              <a:off x="1303875" y="3119500"/>
              <a:ext cx="4935000" cy="1439375"/>
            </a:xfrm>
            <a:prstGeom prst="rect">
              <a:avLst/>
            </a:prstGeom>
            <a:noFill/>
            <a:ln>
              <a:noFill/>
            </a:ln>
          </p:spPr>
        </p:pic>
        <p:sp>
          <p:nvSpPr>
            <p:cNvPr id="252" name="Google Shape;252;g35e6a50c0a8_0_16"/>
            <p:cNvSpPr/>
            <p:nvPr/>
          </p:nvSpPr>
          <p:spPr>
            <a:xfrm>
              <a:off x="-523800" y="2286026"/>
              <a:ext cx="8703799" cy="1336045"/>
            </a:xfrm>
            <a:custGeom>
              <a:rect b="b" l="l" r="r" t="t"/>
              <a:pathLst>
                <a:path extrusionOk="0" h="1659683" w="10812173">
                  <a:moveTo>
                    <a:pt x="0" y="0"/>
                  </a:moveTo>
                  <a:lnTo>
                    <a:pt x="10812174" y="0"/>
                  </a:lnTo>
                  <a:lnTo>
                    <a:pt x="10812174" y="1659683"/>
                  </a:lnTo>
                  <a:lnTo>
                    <a:pt x="0" y="1659683"/>
                  </a:lnTo>
                  <a:lnTo>
                    <a:pt x="0" y="0"/>
                  </a:lnTo>
                  <a:close/>
                </a:path>
              </a:pathLst>
            </a:custGeom>
            <a:blipFill rotWithShape="1">
              <a:blip r:embed="rId4">
                <a:alphaModFix/>
              </a:blip>
              <a:stretch>
                <a:fillRect b="-376638" l="0" r="0" t="-3658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DELL-HYNDVP2</dc:creator>
</cp:coreProperties>
</file>