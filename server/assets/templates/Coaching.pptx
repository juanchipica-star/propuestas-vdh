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Garamon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RZcru8HjFbJw1VP/dQy4xvjf9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aramond-bold.fntdata"/><Relationship Id="rId16" Type="http://schemas.openxmlformats.org/officeDocument/2006/relationships/font" Target="fonts/Garamond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Garamon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aramon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672662b7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5672662b79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bedcd83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5bedcd83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bedcd83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5bedcd839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bedcd839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5bedcd8394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bedcd839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5bedcd8394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bedcd839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5bedcd8394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fb931ccf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5fb931cc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fb931cc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5fb931ccf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717ddab92_0_1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5717ddab92_0_1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5717ddab92_0_1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717ddab92_0_19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5717ddab92_0_19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5717ddab92_0_1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5717ddab92_0_1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5717ddab92_0_1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717ddab92_0_1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5717ddab92_0_19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5717ddab92_0_1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5717ddab92_0_1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5717ddab92_0_1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717ddab92_0_20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5717ddab92_0_20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5717ddab92_0_20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5717ddab92_0_20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5717ddab92_0_20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717ddab92_0_2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5717ddab92_0_20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5717ddab92_0_20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5717ddab92_0_2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5717ddab92_0_2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5717ddab92_0_2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717ddab92_0_2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5717ddab92_0_21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5717ddab92_0_21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5717ddab92_0_21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5717ddab92_0_21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5717ddab92_0_2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5717ddab92_0_2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5717ddab92_0_2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17ddab92_0_2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5717ddab92_0_2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5717ddab92_0_2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5717ddab92_0_2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717ddab92_0_23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5717ddab92_0_23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5717ddab92_0_23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5717ddab92_0_2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5717ddab92_0_2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5717ddab92_0_2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717ddab92_0_23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5717ddab92_0_2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5717ddab92_0_23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5717ddab92_0_2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5717ddab92_0_2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5717ddab92_0_2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717ddab92_0_2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5717ddab92_0_24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5717ddab92_0_2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5717ddab92_0_2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5717ddab92_0_2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717ddab92_0_25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5717ddab92_0_25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5717ddab92_0_2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5717ddab92_0_2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5717ddab92_0_2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717ddab92_0_1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5717ddab92_0_18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5717ddab92_0_18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5717ddab92_0_18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5717ddab92_0_18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jp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8.jp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jp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/>
          <p:nvPr/>
        </p:nvSpPr>
        <p:spPr>
          <a:xfrm>
            <a:off x="3737913" y="3956892"/>
            <a:ext cx="10812173" cy="1659683"/>
          </a:xfrm>
          <a:custGeom>
            <a:rect b="b" l="l" r="r" t="t"/>
            <a:pathLst>
              <a:path extrusionOk="0" h="1659683" w="10812173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814" l="0" r="0" t="-3660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b="31963" l="36694" r="36611" t="56581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672662b79_0_95"/>
          <p:cNvSpPr/>
          <p:nvPr/>
        </p:nvSpPr>
        <p:spPr>
          <a:xfrm>
            <a:off x="0" y="1"/>
            <a:ext cx="19979640" cy="9241384"/>
          </a:xfrm>
          <a:custGeom>
            <a:rect b="b" l="l" r="r" t="t"/>
            <a:pathLst>
              <a:path extrusionOk="0" h="11269980" w="18288000">
                <a:moveTo>
                  <a:pt x="0" y="0"/>
                </a:moveTo>
                <a:lnTo>
                  <a:pt x="18288000" y="0"/>
                </a:lnTo>
                <a:lnTo>
                  <a:pt x="18288000" y="11269980"/>
                </a:lnTo>
                <a:lnTo>
                  <a:pt x="0" y="11269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672662b79_0_95"/>
          <p:cNvSpPr/>
          <p:nvPr/>
        </p:nvSpPr>
        <p:spPr>
          <a:xfrm>
            <a:off x="0" y="5143500"/>
            <a:ext cx="18280549" cy="5141405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672662b79_0_95"/>
          <p:cNvSpPr/>
          <p:nvPr/>
        </p:nvSpPr>
        <p:spPr>
          <a:xfrm rot="10800000">
            <a:off x="487973" y="5143500"/>
            <a:ext cx="9673049" cy="2873913"/>
          </a:xfrm>
          <a:custGeom>
            <a:rect b="b" l="l" r="r" t="t"/>
            <a:pathLst>
              <a:path extrusionOk="0" h="2873913" w="9673049">
                <a:moveTo>
                  <a:pt x="0" y="0"/>
                </a:moveTo>
                <a:lnTo>
                  <a:pt x="9673049" y="0"/>
                </a:lnTo>
                <a:lnTo>
                  <a:pt x="9673049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672662b79_0_95"/>
          <p:cNvSpPr/>
          <p:nvPr/>
        </p:nvSpPr>
        <p:spPr>
          <a:xfrm>
            <a:off x="7821179" y="9258300"/>
            <a:ext cx="3133615" cy="822737"/>
          </a:xfrm>
          <a:custGeom>
            <a:rect b="b" l="l" r="r" t="t"/>
            <a:pathLst>
              <a:path extrusionOk="0" h="822737" w="3133615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5245" l="-17417" r="-16837" t="-2763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5672662b79_0_95"/>
          <p:cNvSpPr txBox="1"/>
          <p:nvPr/>
        </p:nvSpPr>
        <p:spPr>
          <a:xfrm>
            <a:off x="824900" y="7421350"/>
            <a:ext cx="89052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86"/>
              <a:buFont typeface="Arial"/>
              <a:buNone/>
            </a:pPr>
            <a:r>
              <a:rPr b="1" i="0" lang="en-US" sz="12086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COACHING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g35672662b79_0_95"/>
          <p:cNvGrpSpPr/>
          <p:nvPr/>
        </p:nvGrpSpPr>
        <p:grpSpPr>
          <a:xfrm>
            <a:off x="16437562" y="6099761"/>
            <a:ext cx="821738" cy="410869"/>
            <a:chOff x="0" y="0"/>
            <a:chExt cx="1095650" cy="547825"/>
          </a:xfrm>
        </p:grpSpPr>
        <p:sp>
          <p:nvSpPr>
            <p:cNvPr id="171" name="Google Shape;171;g35672662b79_0_95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5672662b79_0_95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g35672662b79_0_95"/>
          <p:cNvGrpSpPr/>
          <p:nvPr/>
        </p:nvGrpSpPr>
        <p:grpSpPr>
          <a:xfrm>
            <a:off x="16437562" y="6773706"/>
            <a:ext cx="821738" cy="410869"/>
            <a:chOff x="0" y="0"/>
            <a:chExt cx="1095650" cy="547825"/>
          </a:xfrm>
        </p:grpSpPr>
        <p:sp>
          <p:nvSpPr>
            <p:cNvPr id="174" name="Google Shape;174;g35672662b79_0_95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5672662b79_0_95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g35672662b79_0_95"/>
          <p:cNvSpPr txBox="1"/>
          <p:nvPr/>
        </p:nvSpPr>
        <p:spPr>
          <a:xfrm>
            <a:off x="12836986" y="5975936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5672662b79_0_95"/>
          <p:cNvSpPr txBox="1"/>
          <p:nvPr/>
        </p:nvSpPr>
        <p:spPr>
          <a:xfrm>
            <a:off x="12836971" y="6769550"/>
            <a:ext cx="353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TOP 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672662b79_0_95"/>
          <p:cNvSpPr txBox="1"/>
          <p:nvPr/>
        </p:nvSpPr>
        <p:spPr>
          <a:xfrm>
            <a:off x="12836986" y="7514763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ADVISORY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g35672662b79_0_95"/>
          <p:cNvGrpSpPr/>
          <p:nvPr/>
        </p:nvGrpSpPr>
        <p:grpSpPr>
          <a:xfrm>
            <a:off x="16437562" y="7597301"/>
            <a:ext cx="821738" cy="410869"/>
            <a:chOff x="0" y="0"/>
            <a:chExt cx="1095650" cy="547825"/>
          </a:xfrm>
        </p:grpSpPr>
        <p:sp>
          <p:nvSpPr>
            <p:cNvPr id="180" name="Google Shape;180;g35672662b79_0_95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5672662b79_0_95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5bedcd8394_0_0"/>
          <p:cNvPicPr preferRelativeResize="0"/>
          <p:nvPr/>
        </p:nvPicPr>
        <p:blipFill rotWithShape="1">
          <a:blip r:embed="rId3">
            <a:alphaModFix amt="75000"/>
          </a:blip>
          <a:srcRect b="16538" l="0" r="0" t="16531"/>
          <a:stretch/>
        </p:blipFill>
        <p:spPr>
          <a:xfrm>
            <a:off x="1624645" y="1437446"/>
            <a:ext cx="10246342" cy="4569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5bedcd8394_0_0"/>
          <p:cNvPicPr preferRelativeResize="0"/>
          <p:nvPr/>
        </p:nvPicPr>
        <p:blipFill rotWithShape="1">
          <a:blip r:embed="rId4">
            <a:alphaModFix amt="75000"/>
          </a:blip>
          <a:srcRect b="0" l="18866" r="18866" t="0"/>
          <a:stretch/>
        </p:blipFill>
        <p:spPr>
          <a:xfrm>
            <a:off x="12098253" y="1437446"/>
            <a:ext cx="4270268" cy="4569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g35bedcd8394_0_0"/>
          <p:cNvGrpSpPr/>
          <p:nvPr/>
        </p:nvGrpSpPr>
        <p:grpSpPr>
          <a:xfrm>
            <a:off x="1299481" y="1042988"/>
            <a:ext cx="1210363" cy="1169635"/>
            <a:chOff x="19045" y="19050"/>
            <a:chExt cx="1613817" cy="1559514"/>
          </a:xfrm>
        </p:grpSpPr>
        <p:cxnSp>
          <p:nvCxnSpPr>
            <p:cNvPr id="189" name="Google Shape;189;g35bedcd8394_0_0"/>
            <p:cNvCxnSpPr/>
            <p:nvPr/>
          </p:nvCxnSpPr>
          <p:spPr>
            <a:xfrm rot="10800000">
              <a:off x="73462" y="19050"/>
              <a:ext cx="1559400" cy="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g35bedcd8394_0_0"/>
            <p:cNvCxnSpPr/>
            <p:nvPr/>
          </p:nvCxnSpPr>
          <p:spPr>
            <a:xfrm flipH="1" rot="10800000">
              <a:off x="19045" y="19464"/>
              <a:ext cx="35400" cy="1559100"/>
            </a:xfrm>
            <a:prstGeom prst="straightConnector1">
              <a:avLst/>
            </a:prstGeom>
            <a:noFill/>
            <a:ln cap="flat" cmpd="sng" w="38100">
              <a:solidFill>
                <a:srgbClr val="F8BF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1" name="Google Shape;191;g35bedcd8394_0_0"/>
          <p:cNvSpPr txBox="1"/>
          <p:nvPr/>
        </p:nvSpPr>
        <p:spPr>
          <a:xfrm>
            <a:off x="1624645" y="6519266"/>
            <a:ext cx="4500300" cy="22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Es una solución ideal para: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</a:t>
            </a: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ransformaciones de mindset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Promociones internas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Brechas de competencias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Transiciones de carrera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bedcd8394_0_0"/>
          <p:cNvSpPr txBox="1"/>
          <p:nvPr/>
        </p:nvSpPr>
        <p:spPr>
          <a:xfrm>
            <a:off x="7201074" y="6519266"/>
            <a:ext cx="3821100" cy="17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Proponemos distintos enfoques, de acuerdo a los requerimientos de cada solicitante.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bedcd8394_0_0"/>
          <p:cNvSpPr txBox="1"/>
          <p:nvPr/>
        </p:nvSpPr>
        <p:spPr>
          <a:xfrm>
            <a:off x="11686043" y="6519266"/>
            <a:ext cx="4719300" cy="3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Establecemos encuentros para impulsar el autoconocimiento como pilar </a:t>
            </a: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esencial</a:t>
            </a:r>
            <a:r>
              <a:rPr b="0" i="0" lang="en-US" sz="2199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para el desarrollo ejecutivo y mejorar la capacidad de abordar  dilemas emergentes en el rol y las relaciones con los equipos.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94" name="Google Shape;194;g35bedcd8394_0_0"/>
          <p:cNvCxnSpPr/>
          <p:nvPr/>
        </p:nvCxnSpPr>
        <p:spPr>
          <a:xfrm rot="10800000">
            <a:off x="6515274" y="6531698"/>
            <a:ext cx="0" cy="2206500"/>
          </a:xfrm>
          <a:prstGeom prst="straightConnector1">
            <a:avLst/>
          </a:prstGeom>
          <a:noFill/>
          <a:ln cap="flat" cmpd="sng" w="38100">
            <a:solidFill>
              <a:srgbClr val="8CA8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g35bedcd8394_0_0"/>
          <p:cNvCxnSpPr/>
          <p:nvPr/>
        </p:nvCxnSpPr>
        <p:spPr>
          <a:xfrm flipH="1" rot="10800000">
            <a:off x="11022162" y="6531698"/>
            <a:ext cx="19200" cy="2206500"/>
          </a:xfrm>
          <a:prstGeom prst="straightConnector1">
            <a:avLst/>
          </a:prstGeom>
          <a:noFill/>
          <a:ln cap="flat" cmpd="sng" w="38100">
            <a:solidFill>
              <a:srgbClr val="8CA8B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6" name="Google Shape;196;g35bedcd8394_0_0" title="Mindset.png"/>
          <p:cNvPicPr preferRelativeResize="0"/>
          <p:nvPr/>
        </p:nvPicPr>
        <p:blipFill rotWithShape="1">
          <a:blip r:embed="rId5">
            <a:alphaModFix/>
          </a:blip>
          <a:srcRect b="37663" l="8557" r="61788" t="37961"/>
          <a:stretch/>
        </p:blipFill>
        <p:spPr>
          <a:xfrm>
            <a:off x="1809750" y="3866313"/>
            <a:ext cx="5524502" cy="2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bedcd8394_0_14"/>
          <p:cNvSpPr/>
          <p:nvPr/>
        </p:nvSpPr>
        <p:spPr>
          <a:xfrm>
            <a:off x="0" y="2984950"/>
            <a:ext cx="18280549" cy="4967414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g35bedcd8394_0_14"/>
          <p:cNvGrpSpPr/>
          <p:nvPr/>
        </p:nvGrpSpPr>
        <p:grpSpPr>
          <a:xfrm>
            <a:off x="182768" y="1110891"/>
            <a:ext cx="767733" cy="2923993"/>
            <a:chOff x="0" y="-123825"/>
            <a:chExt cx="202200" cy="770100"/>
          </a:xfrm>
        </p:grpSpPr>
        <p:sp>
          <p:nvSpPr>
            <p:cNvPr id="203" name="Google Shape;203;g35bedcd8394_0_14"/>
            <p:cNvSpPr/>
            <p:nvPr/>
          </p:nvSpPr>
          <p:spPr>
            <a:xfrm>
              <a:off x="0" y="0"/>
              <a:ext cx="202089" cy="646242"/>
            </a:xfrm>
            <a:custGeom>
              <a:rect b="b" l="l" r="r" t="t"/>
              <a:pathLst>
                <a:path extrusionOk="0" h="646242" w="202089">
                  <a:moveTo>
                    <a:pt x="101045" y="0"/>
                  </a:moveTo>
                  <a:lnTo>
                    <a:pt x="101045" y="0"/>
                  </a:lnTo>
                  <a:cubicBezTo>
                    <a:pt x="127843" y="0"/>
                    <a:pt x="153544" y="10646"/>
                    <a:pt x="172494" y="29595"/>
                  </a:cubicBezTo>
                  <a:cubicBezTo>
                    <a:pt x="191443" y="48545"/>
                    <a:pt x="202089" y="74246"/>
                    <a:pt x="202089" y="101045"/>
                  </a:cubicBezTo>
                  <a:lnTo>
                    <a:pt x="202089" y="545198"/>
                  </a:lnTo>
                  <a:cubicBezTo>
                    <a:pt x="202089" y="571997"/>
                    <a:pt x="191443" y="597698"/>
                    <a:pt x="172494" y="616647"/>
                  </a:cubicBezTo>
                  <a:cubicBezTo>
                    <a:pt x="153544" y="635597"/>
                    <a:pt x="127843" y="646242"/>
                    <a:pt x="101045" y="646242"/>
                  </a:cubicBezTo>
                  <a:lnTo>
                    <a:pt x="101045" y="646242"/>
                  </a:lnTo>
                  <a:cubicBezTo>
                    <a:pt x="74246" y="646242"/>
                    <a:pt x="48545" y="635597"/>
                    <a:pt x="29595" y="616647"/>
                  </a:cubicBezTo>
                  <a:cubicBezTo>
                    <a:pt x="10646" y="597698"/>
                    <a:pt x="0" y="571997"/>
                    <a:pt x="0" y="545198"/>
                  </a:cubicBezTo>
                  <a:lnTo>
                    <a:pt x="0" y="101045"/>
                  </a:lnTo>
                  <a:cubicBezTo>
                    <a:pt x="0" y="74246"/>
                    <a:pt x="10646" y="48545"/>
                    <a:pt x="29595" y="29595"/>
                  </a:cubicBezTo>
                  <a:cubicBezTo>
                    <a:pt x="48545" y="10646"/>
                    <a:pt x="74246" y="0"/>
                    <a:pt x="101045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5bedcd8394_0_14"/>
            <p:cNvSpPr txBox="1"/>
            <p:nvPr/>
          </p:nvSpPr>
          <p:spPr>
            <a:xfrm>
              <a:off x="0" y="-123825"/>
              <a:ext cx="202200" cy="7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5bedcd8394_0_14"/>
          <p:cNvSpPr txBox="1"/>
          <p:nvPr/>
        </p:nvSpPr>
        <p:spPr>
          <a:xfrm rot="-5400000">
            <a:off x="-966521" y="2561641"/>
            <a:ext cx="29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bedcd8394_0_14"/>
          <p:cNvSpPr txBox="1"/>
          <p:nvPr/>
        </p:nvSpPr>
        <p:spPr>
          <a:xfrm>
            <a:off x="1200150" y="1366550"/>
            <a:ext cx="133605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3"/>
              <a:buFont typeface="Arial"/>
              <a:buNone/>
            </a:pPr>
            <a:r>
              <a:rPr b="1" i="0" lang="en-US" sz="9933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Metodología Coaching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bedcd8394_0_14"/>
          <p:cNvSpPr txBox="1"/>
          <p:nvPr/>
        </p:nvSpPr>
        <p:spPr>
          <a:xfrm>
            <a:off x="1352550" y="4632758"/>
            <a:ext cx="301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Aterrizaje de la necesidad, y asignación del COACH.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5bedcd8394_0_14"/>
          <p:cNvSpPr txBox="1"/>
          <p:nvPr/>
        </p:nvSpPr>
        <p:spPr>
          <a:xfrm>
            <a:off x="1352550" y="3312081"/>
            <a:ext cx="17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bedcd8394_0_14"/>
          <p:cNvSpPr txBox="1"/>
          <p:nvPr/>
        </p:nvSpPr>
        <p:spPr>
          <a:xfrm>
            <a:off x="6390646" y="3312081"/>
            <a:ext cx="5685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ENCUENTROS DIALÓGICOS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0" name="Google Shape;210;g35bedcd8394_0_14"/>
          <p:cNvSpPr txBox="1"/>
          <p:nvPr/>
        </p:nvSpPr>
        <p:spPr>
          <a:xfrm>
            <a:off x="5337643" y="4632758"/>
            <a:ext cx="8437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Instancias individuales con el Coach para acceder a espacios de: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5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Reflexiones que permitan potenciar el talento individual.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5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Conversaciones para que 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 surjan</a:t>
            </a: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dilemas, cuestionando las creencias limitantes y desafíos individuales dentro del contexto organizacional.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1" marL="43180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5E4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Diálogo para reconocer las posibilidades de transformación necesarias en entornos de cambios exponenciales.</a:t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1" name="Google Shape;211;g35bedcd8394_0_14"/>
          <p:cNvSpPr txBox="1"/>
          <p:nvPr/>
        </p:nvSpPr>
        <p:spPr>
          <a:xfrm>
            <a:off x="14442100" y="4632758"/>
            <a:ext cx="31701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Reporte de cierre del proyecto con cliente.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a los 3 meses del plan de acción del participante.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3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2" name="Google Shape;212;g35bedcd8394_0_14"/>
          <p:cNvSpPr txBox="1"/>
          <p:nvPr/>
        </p:nvSpPr>
        <p:spPr>
          <a:xfrm>
            <a:off x="14442100" y="3159681"/>
            <a:ext cx="2458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CIERRE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5bedcd8394_0_14"/>
          <p:cNvSpPr/>
          <p:nvPr/>
        </p:nvSpPr>
        <p:spPr>
          <a:xfrm>
            <a:off x="7742609" y="9278701"/>
            <a:ext cx="3035341" cy="744648"/>
          </a:xfrm>
          <a:custGeom>
            <a:rect b="b" l="l" r="r" t="t"/>
            <a:pathLst>
              <a:path extrusionOk="0" h="744648" w="3035341">
                <a:moveTo>
                  <a:pt x="0" y="0"/>
                </a:moveTo>
                <a:lnTo>
                  <a:pt x="3035341" y="0"/>
                </a:lnTo>
                <a:lnTo>
                  <a:pt x="3035341" y="744648"/>
                </a:lnTo>
                <a:lnTo>
                  <a:pt x="0" y="74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3983" l="-17757" r="-15537" t="-3090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g35bedcd8394_0_14"/>
          <p:cNvCxnSpPr/>
          <p:nvPr/>
        </p:nvCxnSpPr>
        <p:spPr>
          <a:xfrm>
            <a:off x="1295400" y="4197203"/>
            <a:ext cx="1917300" cy="0"/>
          </a:xfrm>
          <a:prstGeom prst="straightConnector1">
            <a:avLst/>
          </a:prstGeom>
          <a:noFill/>
          <a:ln cap="rnd" cmpd="sng" w="28575">
            <a:solidFill>
              <a:srgbClr val="F8BF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15" name="Google Shape;215;g35bedcd8394_0_14"/>
          <p:cNvCxnSpPr/>
          <p:nvPr/>
        </p:nvCxnSpPr>
        <p:spPr>
          <a:xfrm>
            <a:off x="6780983" y="4182916"/>
            <a:ext cx="5294700" cy="0"/>
          </a:xfrm>
          <a:prstGeom prst="straightConnector1">
            <a:avLst/>
          </a:prstGeom>
          <a:noFill/>
          <a:ln cap="rnd" cmpd="sng" w="28575">
            <a:solidFill>
              <a:srgbClr val="F8BF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16" name="Google Shape;216;g35bedcd8394_0_14"/>
          <p:cNvCxnSpPr/>
          <p:nvPr/>
        </p:nvCxnSpPr>
        <p:spPr>
          <a:xfrm>
            <a:off x="14442100" y="4168628"/>
            <a:ext cx="2458800" cy="0"/>
          </a:xfrm>
          <a:prstGeom prst="straightConnector1">
            <a:avLst/>
          </a:prstGeom>
          <a:noFill/>
          <a:ln cap="rnd" cmpd="sng" w="28575">
            <a:solidFill>
              <a:srgbClr val="F8BF00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g35bedcd8394_0_33"/>
          <p:cNvCxnSpPr/>
          <p:nvPr/>
        </p:nvCxnSpPr>
        <p:spPr>
          <a:xfrm>
            <a:off x="9144000" y="7266591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22" name="Google Shape;222;g35bedcd8394_0_33"/>
          <p:cNvCxnSpPr/>
          <p:nvPr/>
        </p:nvCxnSpPr>
        <p:spPr>
          <a:xfrm>
            <a:off x="9144000" y="5084679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23" name="Google Shape;223;g35bedcd8394_0_33"/>
          <p:cNvSpPr/>
          <p:nvPr/>
        </p:nvSpPr>
        <p:spPr>
          <a:xfrm>
            <a:off x="9787191" y="3359552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5bedcd8394_0_33"/>
          <p:cNvSpPr/>
          <p:nvPr/>
        </p:nvSpPr>
        <p:spPr>
          <a:xfrm>
            <a:off x="864602" y="2855637"/>
            <a:ext cx="3416754" cy="6791812"/>
          </a:xfrm>
          <a:custGeom>
            <a:rect b="b" l="l" r="r" t="t"/>
            <a:pathLst>
              <a:path extrusionOk="0" h="6791812" w="3416754">
                <a:moveTo>
                  <a:pt x="0" y="0"/>
                </a:moveTo>
                <a:lnTo>
                  <a:pt x="3416754" y="0"/>
                </a:lnTo>
                <a:lnTo>
                  <a:pt x="3416754" y="6791812"/>
                </a:lnTo>
                <a:lnTo>
                  <a:pt x="0" y="6791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7686" l="-98340" r="-20566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5bedcd8394_0_33"/>
          <p:cNvSpPr/>
          <p:nvPr/>
        </p:nvSpPr>
        <p:spPr>
          <a:xfrm>
            <a:off x="9787191" y="5762731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5bedcd8394_0_33"/>
          <p:cNvSpPr/>
          <p:nvPr/>
        </p:nvSpPr>
        <p:spPr>
          <a:xfrm>
            <a:off x="9787191" y="7614253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5bedcd8394_0_33"/>
          <p:cNvSpPr txBox="1"/>
          <p:nvPr/>
        </p:nvSpPr>
        <p:spPr>
          <a:xfrm>
            <a:off x="1065843" y="1867154"/>
            <a:ext cx="71196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5bedcd8394_0_33"/>
          <p:cNvSpPr txBox="1"/>
          <p:nvPr/>
        </p:nvSpPr>
        <p:spPr>
          <a:xfrm>
            <a:off x="1028700" y="885825"/>
            <a:ext cx="43563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5bedcd8394_0_33"/>
          <p:cNvSpPr txBox="1"/>
          <p:nvPr/>
        </p:nvSpPr>
        <p:spPr>
          <a:xfrm>
            <a:off x="10974724" y="3321452"/>
            <a:ext cx="2925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IDENTIFICAR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bedcd8394_0_33"/>
          <p:cNvSpPr txBox="1"/>
          <p:nvPr/>
        </p:nvSpPr>
        <p:spPr>
          <a:xfrm>
            <a:off x="10974724" y="5724631"/>
            <a:ext cx="273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PROMOVER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bedcd8394_0_33"/>
          <p:cNvSpPr txBox="1"/>
          <p:nvPr/>
        </p:nvSpPr>
        <p:spPr>
          <a:xfrm>
            <a:off x="10974724" y="7576153"/>
            <a:ext cx="1957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DESAFIAR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5bedcd8394_0_33"/>
          <p:cNvSpPr txBox="1"/>
          <p:nvPr/>
        </p:nvSpPr>
        <p:spPr>
          <a:xfrm>
            <a:off x="10974725" y="3383200"/>
            <a:ext cx="58950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aceleradores de la transformación cultural para la Compañía, desde el MINDSET necesario para lograrlo.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5bedcd8394_0_33"/>
          <p:cNvSpPr txBox="1"/>
          <p:nvPr/>
        </p:nvSpPr>
        <p:spPr>
          <a:xfrm>
            <a:off x="10974724" y="5787168"/>
            <a:ext cx="5469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un liderazgo sensible a la diversidad y a la sustentabilidad en la gestión.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5bedcd8394_0_33"/>
          <p:cNvSpPr txBox="1"/>
          <p:nvPr/>
        </p:nvSpPr>
        <p:spPr>
          <a:xfrm>
            <a:off x="11006141" y="7671403"/>
            <a:ext cx="54384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el statu-quo para promover la evolución de los líderes en la empresa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5bedcd8394_0_33" title="para cliente.png"/>
          <p:cNvPicPr preferRelativeResize="0"/>
          <p:nvPr/>
        </p:nvPicPr>
        <p:blipFill rotWithShape="1">
          <a:blip r:embed="rId5">
            <a:alphaModFix/>
          </a:blip>
          <a:srcRect b="59817" l="36287" r="41452" t="11649"/>
          <a:stretch/>
        </p:blipFill>
        <p:spPr>
          <a:xfrm>
            <a:off x="3330651" y="4057738"/>
            <a:ext cx="5206747" cy="37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bedcd8394_0_51"/>
          <p:cNvSpPr txBox="1"/>
          <p:nvPr/>
        </p:nvSpPr>
        <p:spPr>
          <a:xfrm>
            <a:off x="10974724" y="3735621"/>
            <a:ext cx="5469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   las exigencias de su rol en un contexto específico de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g35bedcd8394_0_51"/>
          <p:cNvCxnSpPr/>
          <p:nvPr/>
        </p:nvCxnSpPr>
        <p:spPr>
          <a:xfrm>
            <a:off x="9144000" y="7266591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2" name="Google Shape;242;g35bedcd8394_0_51"/>
          <p:cNvCxnSpPr/>
          <p:nvPr/>
        </p:nvCxnSpPr>
        <p:spPr>
          <a:xfrm>
            <a:off x="9144000" y="5084679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43" name="Google Shape;243;g35bedcd8394_0_51"/>
          <p:cNvSpPr/>
          <p:nvPr/>
        </p:nvSpPr>
        <p:spPr>
          <a:xfrm>
            <a:off x="9787191" y="3711977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bedcd8394_0_51"/>
          <p:cNvSpPr/>
          <p:nvPr/>
        </p:nvSpPr>
        <p:spPr>
          <a:xfrm>
            <a:off x="592845" y="3576797"/>
            <a:ext cx="3721973" cy="3723636"/>
          </a:xfrm>
          <a:custGeom>
            <a:rect b="b" l="l" r="r" t="t"/>
            <a:pathLst>
              <a:path extrusionOk="0" h="3723636" w="3721973">
                <a:moveTo>
                  <a:pt x="0" y="0"/>
                </a:moveTo>
                <a:lnTo>
                  <a:pt x="3721973" y="0"/>
                </a:lnTo>
                <a:lnTo>
                  <a:pt x="3721973" y="3723636"/>
                </a:lnTo>
                <a:lnTo>
                  <a:pt x="0" y="3723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6360" l="0" r="-306372" t="-86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5bedcd8394_0_51"/>
          <p:cNvSpPr/>
          <p:nvPr/>
        </p:nvSpPr>
        <p:spPr>
          <a:xfrm>
            <a:off x="9787191" y="5762731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5bedcd8394_0_51"/>
          <p:cNvSpPr/>
          <p:nvPr/>
        </p:nvSpPr>
        <p:spPr>
          <a:xfrm>
            <a:off x="9787191" y="7614253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5bedcd8394_0_51"/>
          <p:cNvSpPr txBox="1"/>
          <p:nvPr/>
        </p:nvSpPr>
        <p:spPr>
          <a:xfrm>
            <a:off x="1065843" y="1867154"/>
            <a:ext cx="71196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5bedcd8394_0_51"/>
          <p:cNvSpPr txBox="1"/>
          <p:nvPr/>
        </p:nvSpPr>
        <p:spPr>
          <a:xfrm>
            <a:off x="1028700" y="885825"/>
            <a:ext cx="43563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5bedcd8394_0_51"/>
          <p:cNvSpPr txBox="1"/>
          <p:nvPr/>
        </p:nvSpPr>
        <p:spPr>
          <a:xfrm>
            <a:off x="10974724" y="3673877"/>
            <a:ext cx="2925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INTERPRETAR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5bedcd8394_0_51"/>
          <p:cNvSpPr txBox="1"/>
          <p:nvPr/>
        </p:nvSpPr>
        <p:spPr>
          <a:xfrm>
            <a:off x="10974724" y="5724631"/>
            <a:ext cx="273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ADQUIRIR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5bedcd8394_0_51"/>
          <p:cNvSpPr txBox="1"/>
          <p:nvPr/>
        </p:nvSpPr>
        <p:spPr>
          <a:xfrm>
            <a:off x="10974724" y="7576153"/>
            <a:ext cx="273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IDENTIFICAR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5bedcd8394_0_51"/>
          <p:cNvSpPr txBox="1"/>
          <p:nvPr/>
        </p:nvSpPr>
        <p:spPr>
          <a:xfrm>
            <a:off x="10974724" y="5787168"/>
            <a:ext cx="5469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micro aprendizajes para generar insights y ‘breakthroughs’ relevantes.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5bedcd8394_0_51"/>
          <p:cNvSpPr txBox="1"/>
          <p:nvPr/>
        </p:nvSpPr>
        <p:spPr>
          <a:xfrm>
            <a:off x="10974725" y="7576150"/>
            <a:ext cx="5469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 los caminos que  vale la pena recorrer para elegir conscientemente.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5bedcd8394_0_51" title="para participante.png"/>
          <p:cNvPicPr preferRelativeResize="0"/>
          <p:nvPr/>
        </p:nvPicPr>
        <p:blipFill rotWithShape="1">
          <a:blip r:embed="rId5">
            <a:alphaModFix/>
          </a:blip>
          <a:srcRect b="42141" l="15847" r="54336" t="28700"/>
          <a:stretch/>
        </p:blipFill>
        <p:spPr>
          <a:xfrm>
            <a:off x="2265326" y="4616701"/>
            <a:ext cx="6768826" cy="372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g35bedcd8394_0_69"/>
          <p:cNvGrpSpPr/>
          <p:nvPr/>
        </p:nvGrpSpPr>
        <p:grpSpPr>
          <a:xfrm>
            <a:off x="8869615" y="2944106"/>
            <a:ext cx="2719203" cy="6314237"/>
            <a:chOff x="0" y="0"/>
            <a:chExt cx="716164" cy="1662998"/>
          </a:xfrm>
        </p:grpSpPr>
        <p:sp>
          <p:nvSpPr>
            <p:cNvPr id="260" name="Google Shape;260;g35bedcd8394_0_69"/>
            <p:cNvSpPr/>
            <p:nvPr/>
          </p:nvSpPr>
          <p:spPr>
            <a:xfrm>
              <a:off x="0" y="0"/>
              <a:ext cx="716164" cy="1662998"/>
            </a:xfrm>
            <a:custGeom>
              <a:rect b="b" l="l" r="r" t="t"/>
              <a:pathLst>
                <a:path extrusionOk="0" h="1662998" w="716164">
                  <a:moveTo>
                    <a:pt x="99650" y="0"/>
                  </a:moveTo>
                  <a:lnTo>
                    <a:pt x="616513" y="0"/>
                  </a:lnTo>
                  <a:cubicBezTo>
                    <a:pt x="671549" y="0"/>
                    <a:pt x="716164" y="44615"/>
                    <a:pt x="716164" y="99650"/>
                  </a:cubicBezTo>
                  <a:lnTo>
                    <a:pt x="716164" y="1563347"/>
                  </a:lnTo>
                  <a:cubicBezTo>
                    <a:pt x="716164" y="1589776"/>
                    <a:pt x="705665" y="1615123"/>
                    <a:pt x="686977" y="1633811"/>
                  </a:cubicBezTo>
                  <a:cubicBezTo>
                    <a:pt x="668289" y="1652499"/>
                    <a:pt x="642942" y="1662998"/>
                    <a:pt x="616513" y="1662998"/>
                  </a:cubicBezTo>
                  <a:lnTo>
                    <a:pt x="99650" y="1662998"/>
                  </a:lnTo>
                  <a:cubicBezTo>
                    <a:pt x="73221" y="1662998"/>
                    <a:pt x="47875" y="1652499"/>
                    <a:pt x="29187" y="1633811"/>
                  </a:cubicBezTo>
                  <a:cubicBezTo>
                    <a:pt x="10499" y="1615123"/>
                    <a:pt x="0" y="1589776"/>
                    <a:pt x="0" y="1563347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5bedcd8394_0_69"/>
            <p:cNvSpPr txBox="1"/>
            <p:nvPr/>
          </p:nvSpPr>
          <p:spPr>
            <a:xfrm>
              <a:off x="0" y="0"/>
              <a:ext cx="716100" cy="16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5bedcd8394_0_69"/>
          <p:cNvSpPr txBox="1"/>
          <p:nvPr/>
        </p:nvSpPr>
        <p:spPr>
          <a:xfrm>
            <a:off x="9081203" y="4960781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CLP$ 4.500.000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5bedcd8394_0_69"/>
          <p:cNvSpPr txBox="1"/>
          <p:nvPr/>
        </p:nvSpPr>
        <p:spPr>
          <a:xfrm>
            <a:off x="9081203" y="4340900"/>
            <a:ext cx="20895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AR$ 5.400.000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5bedcd8394_0_69"/>
          <p:cNvSpPr txBox="1"/>
          <p:nvPr/>
        </p:nvSpPr>
        <p:spPr>
          <a:xfrm>
            <a:off x="9165350" y="5582696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MXN$ 90.000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bedcd8394_0_69"/>
          <p:cNvSpPr txBox="1"/>
          <p:nvPr/>
        </p:nvSpPr>
        <p:spPr>
          <a:xfrm>
            <a:off x="9222270" y="3718711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ADVISORY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g35bedcd8394_0_69"/>
          <p:cNvGrpSpPr/>
          <p:nvPr/>
        </p:nvGrpSpPr>
        <p:grpSpPr>
          <a:xfrm>
            <a:off x="2797553" y="2944106"/>
            <a:ext cx="2725795" cy="6314237"/>
            <a:chOff x="0" y="0"/>
            <a:chExt cx="717900" cy="1662998"/>
          </a:xfrm>
        </p:grpSpPr>
        <p:sp>
          <p:nvSpPr>
            <p:cNvPr id="267" name="Google Shape;267;g35bedcd8394_0_69"/>
            <p:cNvSpPr/>
            <p:nvPr/>
          </p:nvSpPr>
          <p:spPr>
            <a:xfrm>
              <a:off x="0" y="0"/>
              <a:ext cx="717771" cy="1662998"/>
            </a:xfrm>
            <a:custGeom>
              <a:rect b="b" l="l" r="r" t="t"/>
              <a:pathLst>
                <a:path extrusionOk="0" h="1662998" w="717771">
                  <a:moveTo>
                    <a:pt x="99427" y="0"/>
                  </a:moveTo>
                  <a:lnTo>
                    <a:pt x="618344" y="0"/>
                  </a:lnTo>
                  <a:cubicBezTo>
                    <a:pt x="644714" y="0"/>
                    <a:pt x="670003" y="10475"/>
                    <a:pt x="688649" y="29122"/>
                  </a:cubicBezTo>
                  <a:cubicBezTo>
                    <a:pt x="707296" y="47768"/>
                    <a:pt x="717771" y="73057"/>
                    <a:pt x="717771" y="99427"/>
                  </a:cubicBezTo>
                  <a:lnTo>
                    <a:pt x="717771" y="1563570"/>
                  </a:lnTo>
                  <a:cubicBezTo>
                    <a:pt x="717771" y="1589940"/>
                    <a:pt x="707296" y="1615230"/>
                    <a:pt x="688649" y="1633876"/>
                  </a:cubicBezTo>
                  <a:cubicBezTo>
                    <a:pt x="670003" y="1652522"/>
                    <a:pt x="644714" y="1662998"/>
                    <a:pt x="618344" y="1662998"/>
                  </a:cubicBezTo>
                  <a:lnTo>
                    <a:pt x="99427" y="1662998"/>
                  </a:lnTo>
                  <a:cubicBezTo>
                    <a:pt x="73057" y="1662998"/>
                    <a:pt x="47768" y="1652522"/>
                    <a:pt x="29122" y="1633876"/>
                  </a:cubicBezTo>
                  <a:cubicBezTo>
                    <a:pt x="10475" y="1615230"/>
                    <a:pt x="0" y="1589940"/>
                    <a:pt x="0" y="1563570"/>
                  </a:cubicBezTo>
                  <a:lnTo>
                    <a:pt x="0" y="99427"/>
                  </a:lnTo>
                  <a:cubicBezTo>
                    <a:pt x="0" y="73057"/>
                    <a:pt x="10475" y="47768"/>
                    <a:pt x="29122" y="29122"/>
                  </a:cubicBezTo>
                  <a:cubicBezTo>
                    <a:pt x="47768" y="10475"/>
                    <a:pt x="73057" y="0"/>
                    <a:pt x="99427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35bedcd8394_0_69"/>
            <p:cNvSpPr txBox="1"/>
            <p:nvPr/>
          </p:nvSpPr>
          <p:spPr>
            <a:xfrm>
              <a:off x="0" y="0"/>
              <a:ext cx="717900" cy="16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bedcd8394_0_69"/>
          <p:cNvSpPr txBox="1"/>
          <p:nvPr/>
        </p:nvSpPr>
        <p:spPr>
          <a:xfrm>
            <a:off x="3093949" y="4875455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CLP$ 2.300.000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5bedcd8394_0_69"/>
          <p:cNvSpPr txBox="1"/>
          <p:nvPr/>
        </p:nvSpPr>
        <p:spPr>
          <a:xfrm>
            <a:off x="9165350" y="6203811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4.500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5bedcd8394_0_69"/>
          <p:cNvSpPr txBox="1"/>
          <p:nvPr/>
        </p:nvSpPr>
        <p:spPr>
          <a:xfrm>
            <a:off x="3155305" y="3718711"/>
            <a:ext cx="20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5bedcd8394_0_69"/>
          <p:cNvSpPr txBox="1"/>
          <p:nvPr/>
        </p:nvSpPr>
        <p:spPr>
          <a:xfrm>
            <a:off x="3093949" y="5497372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MXN$ 48.000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5bedcd8394_0_69"/>
          <p:cNvSpPr txBox="1"/>
          <p:nvPr/>
        </p:nvSpPr>
        <p:spPr>
          <a:xfrm>
            <a:off x="3093949" y="6118486"/>
            <a:ext cx="2242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2.400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g35bedcd8394_0_69"/>
          <p:cNvGrpSpPr/>
          <p:nvPr/>
        </p:nvGrpSpPr>
        <p:grpSpPr>
          <a:xfrm>
            <a:off x="5830934" y="2944106"/>
            <a:ext cx="2733901" cy="6314237"/>
            <a:chOff x="0" y="0"/>
            <a:chExt cx="720035" cy="1662998"/>
          </a:xfrm>
        </p:grpSpPr>
        <p:sp>
          <p:nvSpPr>
            <p:cNvPr id="275" name="Google Shape;275;g35bedcd8394_0_69"/>
            <p:cNvSpPr/>
            <p:nvPr/>
          </p:nvSpPr>
          <p:spPr>
            <a:xfrm>
              <a:off x="0" y="0"/>
              <a:ext cx="720035" cy="1662998"/>
            </a:xfrm>
            <a:custGeom>
              <a:rect b="b" l="l" r="r" t="t"/>
              <a:pathLst>
                <a:path extrusionOk="0" h="1662998" w="720035">
                  <a:moveTo>
                    <a:pt x="99114" y="0"/>
                  </a:moveTo>
                  <a:lnTo>
                    <a:pt x="620920" y="0"/>
                  </a:lnTo>
                  <a:cubicBezTo>
                    <a:pt x="675659" y="0"/>
                    <a:pt x="720035" y="44375"/>
                    <a:pt x="720035" y="99114"/>
                  </a:cubicBezTo>
                  <a:lnTo>
                    <a:pt x="720035" y="1563883"/>
                  </a:lnTo>
                  <a:cubicBezTo>
                    <a:pt x="720035" y="1618622"/>
                    <a:pt x="675659" y="1662998"/>
                    <a:pt x="620920" y="1662998"/>
                  </a:cubicBezTo>
                  <a:lnTo>
                    <a:pt x="99114" y="1662998"/>
                  </a:lnTo>
                  <a:cubicBezTo>
                    <a:pt x="44375" y="1662998"/>
                    <a:pt x="0" y="1618622"/>
                    <a:pt x="0" y="1563883"/>
                  </a:cubicBezTo>
                  <a:lnTo>
                    <a:pt x="0" y="99114"/>
                  </a:lnTo>
                  <a:cubicBezTo>
                    <a:pt x="0" y="44375"/>
                    <a:pt x="44375" y="0"/>
                    <a:pt x="99114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5bedcd8394_0_69"/>
            <p:cNvSpPr txBox="1"/>
            <p:nvPr/>
          </p:nvSpPr>
          <p:spPr>
            <a:xfrm>
              <a:off x="0" y="0"/>
              <a:ext cx="720000" cy="16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g35bedcd8394_0_69"/>
          <p:cNvSpPr txBox="1"/>
          <p:nvPr/>
        </p:nvSpPr>
        <p:spPr>
          <a:xfrm>
            <a:off x="6069250" y="4953055"/>
            <a:ext cx="2285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CLP$ 3.300.000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5bedcd8394_0_69"/>
          <p:cNvSpPr txBox="1"/>
          <p:nvPr/>
        </p:nvSpPr>
        <p:spPr>
          <a:xfrm>
            <a:off x="6069250" y="4333175"/>
            <a:ext cx="2130000" cy="467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AR$ 4.200.000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5bedcd8394_0_69"/>
          <p:cNvSpPr txBox="1"/>
          <p:nvPr/>
        </p:nvSpPr>
        <p:spPr>
          <a:xfrm>
            <a:off x="6202369" y="3371620"/>
            <a:ext cx="2009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5bedcd8394_0_69"/>
          <p:cNvSpPr txBox="1"/>
          <p:nvPr/>
        </p:nvSpPr>
        <p:spPr>
          <a:xfrm>
            <a:off x="6069250" y="5574971"/>
            <a:ext cx="2285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MXN$ 68.000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5bedcd8394_0_69"/>
          <p:cNvSpPr txBox="1"/>
          <p:nvPr/>
        </p:nvSpPr>
        <p:spPr>
          <a:xfrm>
            <a:off x="6069250" y="6196086"/>
            <a:ext cx="2285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3.400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5bedcd8394_0_69"/>
          <p:cNvSpPr/>
          <p:nvPr/>
        </p:nvSpPr>
        <p:spPr>
          <a:xfrm>
            <a:off x="12172251" y="1918228"/>
            <a:ext cx="215121" cy="246091"/>
          </a:xfrm>
          <a:custGeom>
            <a:rect b="b" l="l" r="r" t="t"/>
            <a:pathLst>
              <a:path extrusionOk="0" h="246091" w="215121">
                <a:moveTo>
                  <a:pt x="0" y="0"/>
                </a:moveTo>
                <a:lnTo>
                  <a:pt x="215121" y="0"/>
                </a:lnTo>
                <a:lnTo>
                  <a:pt x="21512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198" r="-718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5bedcd8394_0_69"/>
          <p:cNvSpPr txBox="1"/>
          <p:nvPr/>
        </p:nvSpPr>
        <p:spPr>
          <a:xfrm>
            <a:off x="3093949" y="4255575"/>
            <a:ext cx="2089500" cy="467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AR$ 3.000.000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5bedcd8394_0_69"/>
          <p:cNvSpPr txBox="1"/>
          <p:nvPr/>
        </p:nvSpPr>
        <p:spPr>
          <a:xfrm>
            <a:off x="12592401" y="1851554"/>
            <a:ext cx="5249700" cy="5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FACTURACIÓN: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100% al iniciar el programa mediante transferencia bancaria.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PLAZO DE PAGO: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fecha de factura.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IMPUESTOS: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valores cotizados no incluyen IVA, ni impuestos asociados de otros países.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VALIDEZ DE PROPUESTA: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desde su fecha de envío.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*(Para Argentina se ajustará valores por IPC)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7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317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5" name="Google Shape;285;g35bedcd8394_0_69"/>
          <p:cNvSpPr/>
          <p:nvPr/>
        </p:nvSpPr>
        <p:spPr>
          <a:xfrm>
            <a:off x="12172251" y="7653326"/>
            <a:ext cx="215121" cy="246091"/>
          </a:xfrm>
          <a:custGeom>
            <a:rect b="b" l="l" r="r" t="t"/>
            <a:pathLst>
              <a:path extrusionOk="0" h="246091" w="215121">
                <a:moveTo>
                  <a:pt x="0" y="0"/>
                </a:moveTo>
                <a:lnTo>
                  <a:pt x="215121" y="0"/>
                </a:lnTo>
                <a:lnTo>
                  <a:pt x="215121" y="246092"/>
                </a:lnTo>
                <a:lnTo>
                  <a:pt x="0" y="246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198" r="-718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5bedcd8394_0_69"/>
          <p:cNvSpPr txBox="1"/>
          <p:nvPr/>
        </p:nvSpPr>
        <p:spPr>
          <a:xfrm>
            <a:off x="12592401" y="7586651"/>
            <a:ext cx="488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FRECUENCIA DE LAS SESIONES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 recomendable mantener una frecuencia máxima de 2 semanas entre cada encuentro para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favorecer el logro de los objetivos planteados.</a:t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87" name="Google Shape;287;g35bedcd8394_0_69"/>
          <p:cNvCxnSpPr/>
          <p:nvPr/>
        </p:nvCxnSpPr>
        <p:spPr>
          <a:xfrm>
            <a:off x="3154623" y="7029708"/>
            <a:ext cx="1917300" cy="0"/>
          </a:xfrm>
          <a:prstGeom prst="straightConnector1">
            <a:avLst/>
          </a:prstGeom>
          <a:noFill/>
          <a:ln cap="rnd" cmpd="sng" w="38100">
            <a:solidFill>
              <a:srgbClr val="F8B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g35bedcd8394_0_69"/>
          <p:cNvCxnSpPr/>
          <p:nvPr/>
        </p:nvCxnSpPr>
        <p:spPr>
          <a:xfrm>
            <a:off x="6294764" y="7043996"/>
            <a:ext cx="1917300" cy="0"/>
          </a:xfrm>
          <a:prstGeom prst="straightConnector1">
            <a:avLst/>
          </a:prstGeom>
          <a:noFill/>
          <a:ln cap="rnd" cmpd="sng" w="38100">
            <a:solidFill>
              <a:srgbClr val="F8B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g35bedcd8394_0_69"/>
          <p:cNvCxnSpPr/>
          <p:nvPr/>
        </p:nvCxnSpPr>
        <p:spPr>
          <a:xfrm>
            <a:off x="9326815" y="7001133"/>
            <a:ext cx="1917300" cy="0"/>
          </a:xfrm>
          <a:prstGeom prst="straightConnector1">
            <a:avLst/>
          </a:prstGeom>
          <a:noFill/>
          <a:ln cap="rnd" cmpd="sng" w="38100">
            <a:solidFill>
              <a:srgbClr val="F8B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g35bedcd8394_0_69"/>
          <p:cNvSpPr txBox="1"/>
          <p:nvPr/>
        </p:nvSpPr>
        <p:spPr>
          <a:xfrm>
            <a:off x="9184221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bedcd8394_0_69"/>
          <p:cNvSpPr txBox="1"/>
          <p:nvPr/>
        </p:nvSpPr>
        <p:spPr>
          <a:xfrm>
            <a:off x="3132113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5bedcd8394_0_69"/>
          <p:cNvSpPr txBox="1"/>
          <p:nvPr/>
        </p:nvSpPr>
        <p:spPr>
          <a:xfrm>
            <a:off x="6164320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5bedcd8394_0_69"/>
          <p:cNvSpPr txBox="1"/>
          <p:nvPr/>
        </p:nvSpPr>
        <p:spPr>
          <a:xfrm>
            <a:off x="737292" y="7320913"/>
            <a:ext cx="17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SESIONES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5bedcd8394_0_69"/>
          <p:cNvSpPr txBox="1"/>
          <p:nvPr/>
        </p:nvSpPr>
        <p:spPr>
          <a:xfrm>
            <a:off x="156429" y="8434578"/>
            <a:ext cx="23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COACH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5bedcd8394_0_69"/>
          <p:cNvSpPr txBox="1"/>
          <p:nvPr/>
        </p:nvSpPr>
        <p:spPr>
          <a:xfrm>
            <a:off x="9252980" y="8326673"/>
            <a:ext cx="1952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Master Coach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5bedcd8394_0_69"/>
          <p:cNvSpPr txBox="1"/>
          <p:nvPr/>
        </p:nvSpPr>
        <p:spPr>
          <a:xfrm>
            <a:off x="6192984" y="8326673"/>
            <a:ext cx="1952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Sr. Coach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5bedcd8394_0_69"/>
          <p:cNvSpPr txBox="1"/>
          <p:nvPr/>
        </p:nvSpPr>
        <p:spPr>
          <a:xfrm>
            <a:off x="3160777" y="8338493"/>
            <a:ext cx="19524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5bedcd8394_0_69"/>
          <p:cNvSpPr/>
          <p:nvPr/>
        </p:nvSpPr>
        <p:spPr>
          <a:xfrm>
            <a:off x="867367" y="1319031"/>
            <a:ext cx="920318" cy="374548"/>
          </a:xfrm>
          <a:custGeom>
            <a:rect b="b" l="l" r="r" t="t"/>
            <a:pathLst>
              <a:path extrusionOk="0" h="374548" w="920318">
                <a:moveTo>
                  <a:pt x="0" y="0"/>
                </a:moveTo>
                <a:lnTo>
                  <a:pt x="920318" y="0"/>
                </a:lnTo>
                <a:lnTo>
                  <a:pt x="920318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5bedcd8394_0_69"/>
          <p:cNvSpPr txBox="1"/>
          <p:nvPr/>
        </p:nvSpPr>
        <p:spPr>
          <a:xfrm>
            <a:off x="2087676" y="1910275"/>
            <a:ext cx="41358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5bedcd8394_0_69"/>
          <p:cNvSpPr txBox="1"/>
          <p:nvPr/>
        </p:nvSpPr>
        <p:spPr>
          <a:xfrm>
            <a:off x="2050547" y="928950"/>
            <a:ext cx="41358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Valor de la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g35bedcd8394_0_69"/>
          <p:cNvGrpSpPr/>
          <p:nvPr/>
        </p:nvGrpSpPr>
        <p:grpSpPr>
          <a:xfrm>
            <a:off x="156429" y="4206559"/>
            <a:ext cx="2285601" cy="2195826"/>
            <a:chOff x="0" y="-85725"/>
            <a:chExt cx="3047468" cy="2927768"/>
          </a:xfrm>
        </p:grpSpPr>
        <p:sp>
          <p:nvSpPr>
            <p:cNvPr id="302" name="Google Shape;302;g35bedcd8394_0_69"/>
            <p:cNvSpPr txBox="1"/>
            <p:nvPr/>
          </p:nvSpPr>
          <p:spPr>
            <a:xfrm>
              <a:off x="1797024" y="740245"/>
              <a:ext cx="1250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Chile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35bedcd8394_0_69"/>
            <p:cNvSpPr txBox="1"/>
            <p:nvPr/>
          </p:nvSpPr>
          <p:spPr>
            <a:xfrm>
              <a:off x="0" y="2396543"/>
              <a:ext cx="3047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Otros países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5bedcd8394_0_69"/>
            <p:cNvSpPr txBox="1"/>
            <p:nvPr/>
          </p:nvSpPr>
          <p:spPr>
            <a:xfrm>
              <a:off x="1196853" y="1568394"/>
              <a:ext cx="17856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México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5bedcd8394_0_69"/>
            <p:cNvSpPr txBox="1"/>
            <p:nvPr/>
          </p:nvSpPr>
          <p:spPr>
            <a:xfrm>
              <a:off x="636068" y="-85725"/>
              <a:ext cx="2411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Argentina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fb931ccf8_0_0"/>
          <p:cNvSpPr txBox="1"/>
          <p:nvPr/>
        </p:nvSpPr>
        <p:spPr>
          <a:xfrm>
            <a:off x="1295773" y="4133450"/>
            <a:ext cx="911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9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b="0" i="0" sz="9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1" name="Google Shape;311;g35fb931ccf8_0_0"/>
          <p:cNvSpPr txBox="1"/>
          <p:nvPr/>
        </p:nvSpPr>
        <p:spPr>
          <a:xfrm>
            <a:off x="1258625" y="3152125"/>
            <a:ext cx="435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Nuestras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5fb931ccf8_0_0"/>
          <p:cNvSpPr txBox="1"/>
          <p:nvPr/>
        </p:nvSpPr>
        <p:spPr>
          <a:xfrm>
            <a:off x="1310100" y="5381150"/>
            <a:ext cx="520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Conoce nuestras soluciones para incorporar y potenciar tu talento.</a:t>
            </a:r>
            <a:endParaRPr b="0" i="0" sz="2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3" name="Google Shape;313;g35fb931ccf8_0_0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5fb931ccf8_0_0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g35fb931ccf8_0_0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g35fb931ccf8_0_0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g35fb931ccf8_0_0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g35fb931ccf8_0_0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g35fb931ccf8_0_0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5fb931ccf8_0_0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g35fb931ccf8_0_0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2" name="Google Shape;322;g35fb931ccf8_0_0" title="VDH Logo_2025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fb931ccf8_0_16"/>
          <p:cNvSpPr/>
          <p:nvPr/>
        </p:nvSpPr>
        <p:spPr>
          <a:xfrm>
            <a:off x="0" y="5660700"/>
            <a:ext cx="18320353" cy="4592300"/>
          </a:xfrm>
          <a:custGeom>
            <a:rect b="b" l="l" r="r" t="t"/>
            <a:pathLst>
              <a:path extrusionOk="0" h="1554078" w="6428194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5fb931ccf8_0_16"/>
          <p:cNvSpPr txBox="1"/>
          <p:nvPr/>
        </p:nvSpPr>
        <p:spPr>
          <a:xfrm>
            <a:off x="7469472" y="6178207"/>
            <a:ext cx="51888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9" name="Google Shape;329;g35fb931ccf8_0_16"/>
          <p:cNvSpPr txBox="1"/>
          <p:nvPr/>
        </p:nvSpPr>
        <p:spPr>
          <a:xfrm>
            <a:off x="12951650" y="6283097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5fb931ccf8_0_16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5fb931ccf8_0_16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g35fb931ccf8_0_16"/>
          <p:cNvGrpSpPr/>
          <p:nvPr/>
        </p:nvGrpSpPr>
        <p:grpSpPr>
          <a:xfrm>
            <a:off x="-267450" y="2292576"/>
            <a:ext cx="8703799" cy="2272849"/>
            <a:chOff x="-523800" y="2286026"/>
            <a:chExt cx="8703799" cy="2272849"/>
          </a:xfrm>
        </p:grpSpPr>
        <p:pic>
          <p:nvPicPr>
            <p:cNvPr id="333" name="Google Shape;333;g35fb931ccf8_0_16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b="33238" l="35239" r="35609" t="51645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g35fb931ccf8_0_16"/>
            <p:cNvSpPr/>
            <p:nvPr/>
          </p:nvSpPr>
          <p:spPr>
            <a:xfrm>
              <a:off x="-523800" y="2286026"/>
              <a:ext cx="8703799" cy="1336045"/>
            </a:xfrm>
            <a:custGeom>
              <a:rect b="b" l="l" r="r" t="t"/>
              <a:pathLst>
                <a:path extrusionOk="0" h="1659683" w="10812173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76782" l="0" r="0" t="-36596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