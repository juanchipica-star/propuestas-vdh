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5" r:id="rId7"/>
    <p:sldId id="260" r:id="rId8"/>
    <p:sldId id="261" r:id="rId9"/>
    <p:sldId id="262" r:id="rId10"/>
    <p:sldId id="263" r:id="rId11"/>
  </p:sldIdLst>
  <p:sldSz cx="18288000" cy="10287000"/>
  <p:notesSz cx="6858000" cy="9144000"/>
  <p:embeddedFontLst>
    <p:embeddedFont>
      <p:font typeface="Avenir" panose="02000503020000020003" pitchFamily="2" charset="0"/>
      <p:regular r:id="rId13"/>
      <p:italic r:id="rId14"/>
    </p:embeddedFont>
    <p:embeddedFont>
      <p:font typeface="Garamond" panose="02020404030301010803" pitchFamily="18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ahXvwRyLKT7liu4Ah9R2834OQ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5"/>
    <p:restoredTop sz="94654"/>
  </p:normalViewPr>
  <p:slideViewPr>
    <p:cSldViewPr snapToGrid="0">
      <p:cViewPr varScale="1">
        <p:scale>
          <a:sx n="34" d="100"/>
          <a:sy n="34" d="100"/>
        </p:scale>
        <p:origin x="208" y="13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672e28a83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g35672e28a83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bee1ce9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g35bee1ce9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bee1ce9eb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6" name="Google Shape;206;g35bee1ce9eb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bee1ce9eb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6" name="Google Shape;206;g35bee1ce9eb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7801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bee1ce9e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g35bee1ce9e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bee1ce9eb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2" name="Google Shape;252;g35bee1ce9eb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5faeb0310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35faeb0310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9" name="Google Shape;31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5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7173630f2_0_18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57173630f2_0_18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g357173630f2_0_18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7173630f2_0_19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357173630f2_0_19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57173630f2_0_1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357173630f2_0_1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57173630f2_0_1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7173630f2_0_20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57173630f2_0_20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g357173630f2_0_2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357173630f2_0_2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357173630f2_0_2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7173630f2_0_20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57173630f2_0_20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g357173630f2_0_20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g357173630f2_0_20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357173630f2_0_20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57173630f2_0_20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7173630f2_0_2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357173630f2_0_2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g357173630f2_0_2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g357173630f2_0_2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g357173630f2_0_2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g357173630f2_0_2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357173630f2_0_2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57173630f2_0_2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173630f2_0_2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57173630f2_0_2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57173630f2_0_2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357173630f2_0_2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7173630f2_0_23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357173630f2_0_23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g357173630f2_0_23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g357173630f2_0_2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357173630f2_0_2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57173630f2_0_2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7173630f2_0_23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357173630f2_0_23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57173630f2_0_23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g357173630f2_0_2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357173630f2_0_2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57173630f2_0_2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7173630f2_0_2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57173630f2_0_244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g357173630f2_0_2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g357173630f2_0_2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357173630f2_0_2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7173630f2_0_250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357173630f2_0_250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g357173630f2_0_2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357173630f2_0_2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g357173630f2_0_2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7173630f2_0_18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g357173630f2_0_18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g357173630f2_0_18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g357173630f2_0_18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g357173630f2_0_18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65B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"/>
          <p:cNvSpPr/>
          <p:nvPr/>
        </p:nvSpPr>
        <p:spPr>
          <a:xfrm>
            <a:off x="3737913" y="3956892"/>
            <a:ext cx="10812173" cy="1659683"/>
          </a:xfrm>
          <a:custGeom>
            <a:avLst/>
            <a:gdLst/>
            <a:ahLst/>
            <a:cxnLst/>
            <a:rect l="l" t="t" r="r" b="b"/>
            <a:pathLst>
              <a:path w="10812173" h="1659683" extrusionOk="0">
                <a:moveTo>
                  <a:pt x="0" y="0"/>
                </a:moveTo>
                <a:lnTo>
                  <a:pt x="10812174" y="0"/>
                </a:lnTo>
                <a:lnTo>
                  <a:pt x="10812174" y="1659683"/>
                </a:lnTo>
                <a:lnTo>
                  <a:pt x="0" y="16596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66000" b="-376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" title="Presentacion Comercial Soluciones VON DER HEIDE.png"/>
          <p:cNvPicPr preferRelativeResize="0"/>
          <p:nvPr/>
        </p:nvPicPr>
        <p:blipFill rotWithShape="1">
          <a:blip r:embed="rId4">
            <a:alphaModFix/>
          </a:blip>
          <a:srcRect l="36694" t="56581" r="36611" b="31963"/>
          <a:stretch/>
        </p:blipFill>
        <p:spPr>
          <a:xfrm>
            <a:off x="6441276" y="5719901"/>
            <a:ext cx="5405448" cy="130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672e28a83_0_98"/>
          <p:cNvSpPr/>
          <p:nvPr/>
        </p:nvSpPr>
        <p:spPr>
          <a:xfrm>
            <a:off x="0" y="-166304"/>
            <a:ext cx="18288000" cy="9424604"/>
          </a:xfrm>
          <a:custGeom>
            <a:avLst/>
            <a:gdLst/>
            <a:ahLst/>
            <a:cxnLst/>
            <a:rect l="l" t="t" r="r" b="b"/>
            <a:pathLst>
              <a:path w="18288000" h="9424604" extrusionOk="0">
                <a:moveTo>
                  <a:pt x="0" y="0"/>
                </a:moveTo>
                <a:lnTo>
                  <a:pt x="18288000" y="0"/>
                </a:lnTo>
                <a:lnTo>
                  <a:pt x="18288000" y="9424604"/>
                </a:lnTo>
                <a:lnTo>
                  <a:pt x="0" y="9424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4755" b="-147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5672e28a83_0_98"/>
          <p:cNvSpPr/>
          <p:nvPr/>
        </p:nvSpPr>
        <p:spPr>
          <a:xfrm>
            <a:off x="0" y="5143500"/>
            <a:ext cx="18280549" cy="5141405"/>
          </a:xfrm>
          <a:custGeom>
            <a:avLst/>
            <a:gdLst/>
            <a:ahLst/>
            <a:cxnLst/>
            <a:rect l="l" t="t" r="r" b="b"/>
            <a:pathLst>
              <a:path w="6186311" h="1739900" extrusionOk="0">
                <a:moveTo>
                  <a:pt x="0" y="0"/>
                </a:moveTo>
                <a:lnTo>
                  <a:pt x="6186311" y="0"/>
                </a:lnTo>
                <a:lnTo>
                  <a:pt x="6186311" y="1739900"/>
                </a:lnTo>
                <a:lnTo>
                  <a:pt x="0" y="173990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5672e28a83_0_98"/>
          <p:cNvSpPr/>
          <p:nvPr/>
        </p:nvSpPr>
        <p:spPr>
          <a:xfrm rot="10800000">
            <a:off x="487973" y="5143500"/>
            <a:ext cx="9673049" cy="2873913"/>
          </a:xfrm>
          <a:custGeom>
            <a:avLst/>
            <a:gdLst/>
            <a:ahLst/>
            <a:cxnLst/>
            <a:rect l="l" t="t" r="r" b="b"/>
            <a:pathLst>
              <a:path w="9673049" h="2873913" extrusionOk="0">
                <a:moveTo>
                  <a:pt x="0" y="0"/>
                </a:moveTo>
                <a:lnTo>
                  <a:pt x="9673049" y="0"/>
                </a:lnTo>
                <a:lnTo>
                  <a:pt x="9673049" y="2873913"/>
                </a:lnTo>
                <a:lnTo>
                  <a:pt x="0" y="2873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4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5672e28a83_0_98"/>
          <p:cNvSpPr/>
          <p:nvPr/>
        </p:nvSpPr>
        <p:spPr>
          <a:xfrm>
            <a:off x="7821179" y="9258300"/>
            <a:ext cx="3133615" cy="822737"/>
          </a:xfrm>
          <a:custGeom>
            <a:avLst/>
            <a:gdLst/>
            <a:ahLst/>
            <a:cxnLst/>
            <a:rect l="l" t="t" r="r" b="b"/>
            <a:pathLst>
              <a:path w="3133615" h="822737" extrusionOk="0">
                <a:moveTo>
                  <a:pt x="0" y="0"/>
                </a:moveTo>
                <a:lnTo>
                  <a:pt x="3133615" y="0"/>
                </a:lnTo>
                <a:lnTo>
                  <a:pt x="3133615" y="822737"/>
                </a:lnTo>
                <a:lnTo>
                  <a:pt x="0" y="8227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7416" t="-276392" r="-16836" b="-28524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g35672e28a83_0_98"/>
          <p:cNvGrpSpPr/>
          <p:nvPr/>
        </p:nvGrpSpPr>
        <p:grpSpPr>
          <a:xfrm>
            <a:off x="16813251" y="5557776"/>
            <a:ext cx="821738" cy="410869"/>
            <a:chOff x="0" y="0"/>
            <a:chExt cx="1095650" cy="547825"/>
          </a:xfrm>
        </p:grpSpPr>
        <p:sp>
          <p:nvSpPr>
            <p:cNvPr id="170" name="Google Shape;170;g35672e28a83_0_98"/>
            <p:cNvSpPr/>
            <p:nvPr/>
          </p:nvSpPr>
          <p:spPr>
            <a:xfrm>
              <a:off x="0" y="0"/>
              <a:ext cx="1095650" cy="547825"/>
            </a:xfrm>
            <a:custGeom>
              <a:avLst/>
              <a:gdLst/>
              <a:ahLst/>
              <a:cxnLst/>
              <a:rect l="l" t="t" r="r" b="b"/>
              <a:pathLst>
                <a:path w="1095650" h="547825" extrusionOk="0">
                  <a:moveTo>
                    <a:pt x="0" y="0"/>
                  </a:moveTo>
                  <a:lnTo>
                    <a:pt x="1095650" y="0"/>
                  </a:lnTo>
                  <a:lnTo>
                    <a:pt x="1095650" y="547825"/>
                  </a:lnTo>
                  <a:lnTo>
                    <a:pt x="0" y="5478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5672e28a83_0_98"/>
            <p:cNvSpPr/>
            <p:nvPr/>
          </p:nvSpPr>
          <p:spPr>
            <a:xfrm>
              <a:off x="129026" y="142407"/>
              <a:ext cx="346638" cy="263012"/>
            </a:xfrm>
            <a:custGeom>
              <a:avLst/>
              <a:gdLst/>
              <a:ahLst/>
              <a:cxnLst/>
              <a:rect l="l" t="t" r="r" b="b"/>
              <a:pathLst>
                <a:path w="346638" h="263012" extrusionOk="0">
                  <a:moveTo>
                    <a:pt x="0" y="0"/>
                  </a:moveTo>
                  <a:lnTo>
                    <a:pt x="346638" y="0"/>
                  </a:lnTo>
                  <a:lnTo>
                    <a:pt x="346638" y="263011"/>
                  </a:lnTo>
                  <a:lnTo>
                    <a:pt x="0" y="2630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g35672e28a83_0_98"/>
          <p:cNvGrpSpPr/>
          <p:nvPr/>
        </p:nvGrpSpPr>
        <p:grpSpPr>
          <a:xfrm>
            <a:off x="16813251" y="6231720"/>
            <a:ext cx="821738" cy="410869"/>
            <a:chOff x="0" y="0"/>
            <a:chExt cx="1095650" cy="547825"/>
          </a:xfrm>
        </p:grpSpPr>
        <p:sp>
          <p:nvSpPr>
            <p:cNvPr id="173" name="Google Shape;173;g35672e28a83_0_98"/>
            <p:cNvSpPr/>
            <p:nvPr/>
          </p:nvSpPr>
          <p:spPr>
            <a:xfrm>
              <a:off x="0" y="0"/>
              <a:ext cx="1095650" cy="547825"/>
            </a:xfrm>
            <a:custGeom>
              <a:avLst/>
              <a:gdLst/>
              <a:ahLst/>
              <a:cxnLst/>
              <a:rect l="l" t="t" r="r" b="b"/>
              <a:pathLst>
                <a:path w="1095650" h="547825" extrusionOk="0">
                  <a:moveTo>
                    <a:pt x="0" y="0"/>
                  </a:moveTo>
                  <a:lnTo>
                    <a:pt x="1095650" y="0"/>
                  </a:lnTo>
                  <a:lnTo>
                    <a:pt x="1095650" y="547825"/>
                  </a:lnTo>
                  <a:lnTo>
                    <a:pt x="0" y="5478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35672e28a83_0_98"/>
            <p:cNvSpPr/>
            <p:nvPr/>
          </p:nvSpPr>
          <p:spPr>
            <a:xfrm>
              <a:off x="129026" y="142407"/>
              <a:ext cx="346638" cy="263012"/>
            </a:xfrm>
            <a:custGeom>
              <a:avLst/>
              <a:gdLst/>
              <a:ahLst/>
              <a:cxnLst/>
              <a:rect l="l" t="t" r="r" b="b"/>
              <a:pathLst>
                <a:path w="346638" h="263012" extrusionOk="0">
                  <a:moveTo>
                    <a:pt x="0" y="0"/>
                  </a:moveTo>
                  <a:lnTo>
                    <a:pt x="346638" y="0"/>
                  </a:lnTo>
                  <a:lnTo>
                    <a:pt x="346638" y="263011"/>
                  </a:lnTo>
                  <a:lnTo>
                    <a:pt x="0" y="2630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g35672e28a83_0_98"/>
          <p:cNvGrpSpPr/>
          <p:nvPr/>
        </p:nvGrpSpPr>
        <p:grpSpPr>
          <a:xfrm>
            <a:off x="16813251" y="6979115"/>
            <a:ext cx="821738" cy="410869"/>
            <a:chOff x="0" y="0"/>
            <a:chExt cx="1095650" cy="547825"/>
          </a:xfrm>
        </p:grpSpPr>
        <p:sp>
          <p:nvSpPr>
            <p:cNvPr id="176" name="Google Shape;176;g35672e28a83_0_98"/>
            <p:cNvSpPr/>
            <p:nvPr/>
          </p:nvSpPr>
          <p:spPr>
            <a:xfrm>
              <a:off x="0" y="0"/>
              <a:ext cx="1095650" cy="547825"/>
            </a:xfrm>
            <a:custGeom>
              <a:avLst/>
              <a:gdLst/>
              <a:ahLst/>
              <a:cxnLst/>
              <a:rect l="l" t="t" r="r" b="b"/>
              <a:pathLst>
                <a:path w="1095650" h="547825" extrusionOk="0">
                  <a:moveTo>
                    <a:pt x="0" y="0"/>
                  </a:moveTo>
                  <a:lnTo>
                    <a:pt x="1095650" y="0"/>
                  </a:lnTo>
                  <a:lnTo>
                    <a:pt x="1095650" y="547825"/>
                  </a:lnTo>
                  <a:lnTo>
                    <a:pt x="0" y="5478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35672e28a83_0_98"/>
            <p:cNvSpPr/>
            <p:nvPr/>
          </p:nvSpPr>
          <p:spPr>
            <a:xfrm>
              <a:off x="129026" y="142407"/>
              <a:ext cx="346638" cy="263012"/>
            </a:xfrm>
            <a:custGeom>
              <a:avLst/>
              <a:gdLst/>
              <a:ahLst/>
              <a:cxnLst/>
              <a:rect l="l" t="t" r="r" b="b"/>
              <a:pathLst>
                <a:path w="346638" h="263012" extrusionOk="0">
                  <a:moveTo>
                    <a:pt x="0" y="0"/>
                  </a:moveTo>
                  <a:lnTo>
                    <a:pt x="346638" y="0"/>
                  </a:lnTo>
                  <a:lnTo>
                    <a:pt x="346638" y="263011"/>
                  </a:lnTo>
                  <a:lnTo>
                    <a:pt x="0" y="2630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g35672e28a83_0_98"/>
          <p:cNvSpPr txBox="1"/>
          <p:nvPr/>
        </p:nvSpPr>
        <p:spPr>
          <a:xfrm>
            <a:off x="14073799" y="6938251"/>
            <a:ext cx="2283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PREMIUM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5672e28a83_0_98"/>
          <p:cNvSpPr txBox="1"/>
          <p:nvPr/>
        </p:nvSpPr>
        <p:spPr>
          <a:xfrm>
            <a:off x="13769299" y="6181769"/>
            <a:ext cx="2587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EXECUTIVE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5672e28a83_0_98"/>
          <p:cNvSpPr txBox="1"/>
          <p:nvPr/>
        </p:nvSpPr>
        <p:spPr>
          <a:xfrm>
            <a:off x="10541000" y="5516913"/>
            <a:ext cx="589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PERSONAL BOOTCAMP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5672e28a83_0_98"/>
          <p:cNvSpPr txBox="1"/>
          <p:nvPr/>
        </p:nvSpPr>
        <p:spPr>
          <a:xfrm>
            <a:off x="824900" y="7421350"/>
            <a:ext cx="13718700" cy="18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86"/>
              <a:buFont typeface="Arial"/>
              <a:buNone/>
            </a:pPr>
            <a:r>
              <a:rPr lang="en-US" sz="12086" b="1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SELF PLACEMENT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bee1ce9eb_0_0"/>
          <p:cNvSpPr/>
          <p:nvPr/>
        </p:nvSpPr>
        <p:spPr>
          <a:xfrm>
            <a:off x="369692" y="2303566"/>
            <a:ext cx="9063222" cy="3423528"/>
          </a:xfrm>
          <a:custGeom>
            <a:avLst/>
            <a:gdLst/>
            <a:ahLst/>
            <a:cxnLst/>
            <a:rect l="l" t="t" r="r" b="b"/>
            <a:pathLst>
              <a:path w="1302655" h="492063" extrusionOk="0">
                <a:moveTo>
                  <a:pt x="17938" y="0"/>
                </a:moveTo>
                <a:lnTo>
                  <a:pt x="1284717" y="0"/>
                </a:lnTo>
                <a:cubicBezTo>
                  <a:pt x="1294623" y="0"/>
                  <a:pt x="1302655" y="8031"/>
                  <a:pt x="1302655" y="17938"/>
                </a:cubicBezTo>
                <a:lnTo>
                  <a:pt x="1302655" y="474124"/>
                </a:lnTo>
                <a:cubicBezTo>
                  <a:pt x="1302655" y="484031"/>
                  <a:pt x="1294623" y="492063"/>
                  <a:pt x="1284717" y="492063"/>
                </a:cubicBezTo>
                <a:lnTo>
                  <a:pt x="17938" y="492063"/>
                </a:lnTo>
                <a:cubicBezTo>
                  <a:pt x="8031" y="492063"/>
                  <a:pt x="0" y="484031"/>
                  <a:pt x="0" y="474124"/>
                </a:cubicBezTo>
                <a:lnTo>
                  <a:pt x="0" y="17938"/>
                </a:lnTo>
                <a:cubicBezTo>
                  <a:pt x="0" y="8031"/>
                  <a:pt x="8031" y="0"/>
                  <a:pt x="17938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347" b="-15357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g35bee1ce9eb_0_0"/>
          <p:cNvGrpSpPr/>
          <p:nvPr/>
        </p:nvGrpSpPr>
        <p:grpSpPr>
          <a:xfrm>
            <a:off x="9655745" y="26352"/>
            <a:ext cx="8221807" cy="5701045"/>
            <a:chOff x="0" y="-38100"/>
            <a:chExt cx="2165400" cy="1501500"/>
          </a:xfrm>
        </p:grpSpPr>
        <p:sp>
          <p:nvSpPr>
            <p:cNvPr id="188" name="Google Shape;188;g35bee1ce9eb_0_0"/>
            <p:cNvSpPr/>
            <p:nvPr/>
          </p:nvSpPr>
          <p:spPr>
            <a:xfrm>
              <a:off x="0" y="0"/>
              <a:ext cx="2165345" cy="1463348"/>
            </a:xfrm>
            <a:custGeom>
              <a:avLst/>
              <a:gdLst/>
              <a:ahLst/>
              <a:cxnLst/>
              <a:rect l="l" t="t" r="r" b="b"/>
              <a:pathLst>
                <a:path w="2165345" h="1463348" extrusionOk="0">
                  <a:moveTo>
                    <a:pt x="40491" y="0"/>
                  </a:moveTo>
                  <a:lnTo>
                    <a:pt x="2124854" y="0"/>
                  </a:lnTo>
                  <a:cubicBezTo>
                    <a:pt x="2135593" y="0"/>
                    <a:pt x="2145892" y="4266"/>
                    <a:pt x="2153485" y="11860"/>
                  </a:cubicBezTo>
                  <a:cubicBezTo>
                    <a:pt x="2161079" y="19453"/>
                    <a:pt x="2165345" y="29752"/>
                    <a:pt x="2165345" y="40491"/>
                  </a:cubicBezTo>
                  <a:lnTo>
                    <a:pt x="2165345" y="1422857"/>
                  </a:lnTo>
                  <a:cubicBezTo>
                    <a:pt x="2165345" y="1445219"/>
                    <a:pt x="2147216" y="1463348"/>
                    <a:pt x="2124854" y="1463348"/>
                  </a:cubicBezTo>
                  <a:lnTo>
                    <a:pt x="40491" y="1463348"/>
                  </a:lnTo>
                  <a:cubicBezTo>
                    <a:pt x="29752" y="1463348"/>
                    <a:pt x="19453" y="1459082"/>
                    <a:pt x="11860" y="1451488"/>
                  </a:cubicBezTo>
                  <a:cubicBezTo>
                    <a:pt x="4266" y="1443895"/>
                    <a:pt x="0" y="1433596"/>
                    <a:pt x="0" y="1422857"/>
                  </a:cubicBezTo>
                  <a:lnTo>
                    <a:pt x="0" y="40491"/>
                  </a:lnTo>
                  <a:cubicBezTo>
                    <a:pt x="0" y="29752"/>
                    <a:pt x="4266" y="19453"/>
                    <a:pt x="11860" y="11860"/>
                  </a:cubicBezTo>
                  <a:cubicBezTo>
                    <a:pt x="19453" y="4266"/>
                    <a:pt x="29752" y="0"/>
                    <a:pt x="40491" y="0"/>
                  </a:cubicBezTo>
                  <a:close/>
                </a:path>
              </a:pathLst>
            </a:custGeom>
            <a:solidFill>
              <a:srgbClr val="5456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35bee1ce9eb_0_0"/>
            <p:cNvSpPr txBox="1"/>
            <p:nvPr/>
          </p:nvSpPr>
          <p:spPr>
            <a:xfrm>
              <a:off x="0" y="-38100"/>
              <a:ext cx="2165400" cy="150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g35bee1ce9eb_0_0"/>
          <p:cNvSpPr/>
          <p:nvPr/>
        </p:nvSpPr>
        <p:spPr>
          <a:xfrm>
            <a:off x="5145779" y="5961564"/>
            <a:ext cx="9019738" cy="3079918"/>
          </a:xfrm>
          <a:custGeom>
            <a:avLst/>
            <a:gdLst/>
            <a:ahLst/>
            <a:cxnLst/>
            <a:rect l="l" t="t" r="r" b="b"/>
            <a:pathLst>
              <a:path w="1296405" h="442676" extrusionOk="0">
                <a:moveTo>
                  <a:pt x="18883" y="0"/>
                </a:moveTo>
                <a:lnTo>
                  <a:pt x="1277523" y="0"/>
                </a:lnTo>
                <a:cubicBezTo>
                  <a:pt x="1282531" y="0"/>
                  <a:pt x="1287333" y="1989"/>
                  <a:pt x="1290875" y="5531"/>
                </a:cubicBezTo>
                <a:cubicBezTo>
                  <a:pt x="1294416" y="9072"/>
                  <a:pt x="1296405" y="13875"/>
                  <a:pt x="1296405" y="18883"/>
                </a:cubicBezTo>
                <a:lnTo>
                  <a:pt x="1296405" y="423794"/>
                </a:lnTo>
                <a:cubicBezTo>
                  <a:pt x="1296405" y="428802"/>
                  <a:pt x="1294416" y="433604"/>
                  <a:pt x="1290875" y="437146"/>
                </a:cubicBezTo>
                <a:cubicBezTo>
                  <a:pt x="1287333" y="440687"/>
                  <a:pt x="1282531" y="442676"/>
                  <a:pt x="1277523" y="442676"/>
                </a:cubicBezTo>
                <a:lnTo>
                  <a:pt x="18883" y="442676"/>
                </a:lnTo>
                <a:cubicBezTo>
                  <a:pt x="8454" y="442676"/>
                  <a:pt x="0" y="434222"/>
                  <a:pt x="0" y="423794"/>
                </a:cubicBezTo>
                <a:lnTo>
                  <a:pt x="0" y="18883"/>
                </a:lnTo>
                <a:cubicBezTo>
                  <a:pt x="0" y="8454"/>
                  <a:pt x="8454" y="0"/>
                  <a:pt x="18883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7601" b="-47599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5bee1ce9eb_0_0"/>
          <p:cNvSpPr txBox="1"/>
          <p:nvPr/>
        </p:nvSpPr>
        <p:spPr>
          <a:xfrm>
            <a:off x="10892900" y="619575"/>
            <a:ext cx="6903600" cy="429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  <a:buSzPts val="2400"/>
            </a:pPr>
            <a:r>
              <a:rPr lang="en-US" sz="2400" b="0" i="1" u="none" strike="noStrike" cap="none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                                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It’s a solution designed to enhance employability during career transitions.</a:t>
            </a:r>
            <a:endParaRPr lang="en-US" sz="2300" b="0" i="0" u="none" strike="noStrike" cap="none" dirty="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lang="en-US" sz="2300" b="0" i="0" u="none" strike="noStrike" cap="none" dirty="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It was created as an alternative to traditional outplacement, offering support to individuals as they navigate the demands of today’s job market. With a multidimensional approach, it brings together both a professional and a humanistic perspective.</a:t>
            </a:r>
            <a:endParaRPr lang="en-US"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5bee1ce9eb_0_0"/>
          <p:cNvSpPr/>
          <p:nvPr/>
        </p:nvSpPr>
        <p:spPr>
          <a:xfrm>
            <a:off x="9962945" y="663439"/>
            <a:ext cx="500884" cy="500884"/>
          </a:xfrm>
          <a:custGeom>
            <a:avLst/>
            <a:gdLst/>
            <a:ahLst/>
            <a:cxnLst/>
            <a:rect l="l" t="t" r="r" b="b"/>
            <a:pathLst>
              <a:path w="500884" h="500884" extrusionOk="0">
                <a:moveTo>
                  <a:pt x="0" y="0"/>
                </a:moveTo>
                <a:lnTo>
                  <a:pt x="500884" y="0"/>
                </a:lnTo>
                <a:lnTo>
                  <a:pt x="500884" y="500883"/>
                </a:lnTo>
                <a:lnTo>
                  <a:pt x="0" y="500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5bee1ce9eb_0_0"/>
          <p:cNvSpPr/>
          <p:nvPr/>
        </p:nvSpPr>
        <p:spPr>
          <a:xfrm>
            <a:off x="9964131" y="2782320"/>
            <a:ext cx="498510" cy="498510"/>
          </a:xfrm>
          <a:custGeom>
            <a:avLst/>
            <a:gdLst/>
            <a:ahLst/>
            <a:cxnLst/>
            <a:rect l="l" t="t" r="r" b="b"/>
            <a:pathLst>
              <a:path w="498510" h="498510" extrusionOk="0">
                <a:moveTo>
                  <a:pt x="0" y="0"/>
                </a:moveTo>
                <a:lnTo>
                  <a:pt x="498510" y="0"/>
                </a:lnTo>
                <a:lnTo>
                  <a:pt x="498510" y="498510"/>
                </a:lnTo>
                <a:lnTo>
                  <a:pt x="0" y="4985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5bee1ce9eb_0_0"/>
          <p:cNvSpPr/>
          <p:nvPr/>
        </p:nvSpPr>
        <p:spPr>
          <a:xfrm rot="-5400000">
            <a:off x="14413361" y="5961564"/>
            <a:ext cx="3268161" cy="3268161"/>
          </a:xfrm>
          <a:custGeom>
            <a:avLst/>
            <a:gdLst/>
            <a:ahLst/>
            <a:cxnLst/>
            <a:rect l="l" t="t" r="r" b="b"/>
            <a:pathLst>
              <a:path w="3268161" h="3268161" extrusionOk="0">
                <a:moveTo>
                  <a:pt x="0" y="0"/>
                </a:moveTo>
                <a:lnTo>
                  <a:pt x="3268161" y="0"/>
                </a:lnTo>
                <a:lnTo>
                  <a:pt x="3268161" y="3268161"/>
                </a:lnTo>
                <a:lnTo>
                  <a:pt x="0" y="32681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5bee1ce9eb_0_0"/>
          <p:cNvSpPr txBox="1"/>
          <p:nvPr/>
        </p:nvSpPr>
        <p:spPr>
          <a:xfrm>
            <a:off x="1596153" y="223601"/>
            <a:ext cx="4941000" cy="155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19"/>
              <a:buFont typeface="Arial"/>
              <a:buNone/>
            </a:pPr>
            <a:r>
              <a:rPr lang="en-US" sz="7219" b="1" i="0" u="none" strike="noStrike" cap="none" dirty="0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Alternative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5bee1ce9eb_0_0"/>
          <p:cNvSpPr txBox="1"/>
          <p:nvPr/>
        </p:nvSpPr>
        <p:spPr>
          <a:xfrm>
            <a:off x="3202997" y="1210230"/>
            <a:ext cx="5003700" cy="1018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26"/>
              <a:buFont typeface="Arial"/>
              <a:buNone/>
            </a:pPr>
            <a:r>
              <a:rPr lang="en-US" sz="4726" b="1" i="0" u="none" strike="noStrike" cap="none" dirty="0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to Outplacement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g35bee1ce9eb_0_0"/>
          <p:cNvGrpSpPr/>
          <p:nvPr/>
        </p:nvGrpSpPr>
        <p:grpSpPr>
          <a:xfrm>
            <a:off x="1333196" y="5491413"/>
            <a:ext cx="4371751" cy="1333141"/>
            <a:chOff x="0" y="-123825"/>
            <a:chExt cx="1151400" cy="351113"/>
          </a:xfrm>
        </p:grpSpPr>
        <p:sp>
          <p:nvSpPr>
            <p:cNvPr id="198" name="Google Shape;198;g35bee1ce9eb_0_0"/>
            <p:cNvSpPr/>
            <p:nvPr/>
          </p:nvSpPr>
          <p:spPr>
            <a:xfrm>
              <a:off x="0" y="0"/>
              <a:ext cx="1151374" cy="227288"/>
            </a:xfrm>
            <a:custGeom>
              <a:avLst/>
              <a:gdLst/>
              <a:ahLst/>
              <a:cxnLst/>
              <a:rect l="l" t="t" r="r" b="b"/>
              <a:pathLst>
                <a:path w="1151374" h="227288" extrusionOk="0">
                  <a:moveTo>
                    <a:pt x="90318" y="0"/>
                  </a:moveTo>
                  <a:lnTo>
                    <a:pt x="1061056" y="0"/>
                  </a:lnTo>
                  <a:cubicBezTo>
                    <a:pt x="1085010" y="0"/>
                    <a:pt x="1107983" y="9516"/>
                    <a:pt x="1124921" y="26454"/>
                  </a:cubicBezTo>
                  <a:cubicBezTo>
                    <a:pt x="1141859" y="43392"/>
                    <a:pt x="1151374" y="66364"/>
                    <a:pt x="1151374" y="90318"/>
                  </a:cubicBezTo>
                  <a:lnTo>
                    <a:pt x="1151374" y="136970"/>
                  </a:lnTo>
                  <a:cubicBezTo>
                    <a:pt x="1151374" y="160924"/>
                    <a:pt x="1141859" y="183896"/>
                    <a:pt x="1124921" y="200834"/>
                  </a:cubicBezTo>
                  <a:cubicBezTo>
                    <a:pt x="1107983" y="217772"/>
                    <a:pt x="1085010" y="227288"/>
                    <a:pt x="1061056" y="227288"/>
                  </a:cubicBezTo>
                  <a:lnTo>
                    <a:pt x="90318" y="227288"/>
                  </a:lnTo>
                  <a:cubicBezTo>
                    <a:pt x="66364" y="227288"/>
                    <a:pt x="43392" y="217772"/>
                    <a:pt x="26454" y="200834"/>
                  </a:cubicBezTo>
                  <a:cubicBezTo>
                    <a:pt x="9516" y="183896"/>
                    <a:pt x="0" y="160924"/>
                    <a:pt x="0" y="136970"/>
                  </a:cubicBezTo>
                  <a:lnTo>
                    <a:pt x="0" y="90318"/>
                  </a:lnTo>
                  <a:cubicBezTo>
                    <a:pt x="0" y="66364"/>
                    <a:pt x="9516" y="43392"/>
                    <a:pt x="26454" y="26454"/>
                  </a:cubicBezTo>
                  <a:cubicBezTo>
                    <a:pt x="43392" y="9516"/>
                    <a:pt x="66364" y="0"/>
                    <a:pt x="90318" y="0"/>
                  </a:cubicBezTo>
                  <a:close/>
                </a:path>
              </a:pathLst>
            </a:custGeom>
            <a:solidFill>
              <a:srgbClr val="8CA8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35bee1ce9eb_0_0"/>
            <p:cNvSpPr txBox="1"/>
            <p:nvPr/>
          </p:nvSpPr>
          <p:spPr>
            <a:xfrm>
              <a:off x="0" y="-123825"/>
              <a:ext cx="1151400" cy="35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g35bee1ce9eb_0_0"/>
          <p:cNvSpPr txBox="1"/>
          <p:nvPr/>
        </p:nvSpPr>
        <p:spPr>
          <a:xfrm>
            <a:off x="1596153" y="6967424"/>
            <a:ext cx="3305100" cy="200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lang="en-US" sz="2325" b="1" i="0" u="none" strike="noStrike" cap="none" dirty="0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What happened?</a:t>
            </a:r>
            <a:br>
              <a:rPr lang="en-US" sz="2325" b="1" i="0" u="none" strike="noStrike" cap="none" dirty="0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lang="en-US" sz="2325" b="1" i="0" u="none" strike="noStrike" cap="none" dirty="0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What do I want to do?</a:t>
            </a:r>
            <a:br>
              <a:rPr lang="en-US" sz="2325" b="1" i="0" u="none" strike="noStrike" cap="none" dirty="0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lang="en-US" sz="2325" b="1" i="0" u="none" strike="noStrike" cap="none" dirty="0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Who do I want to become?</a:t>
            </a:r>
            <a:endParaRPr sz="2325" b="1" i="0" u="none" strike="noStrike" cap="none" dirty="0">
              <a:solidFill>
                <a:srgbClr val="5456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1" name="Google Shape;201;g35bee1ce9eb_0_0"/>
          <p:cNvSpPr txBox="1"/>
          <p:nvPr/>
        </p:nvSpPr>
        <p:spPr>
          <a:xfrm>
            <a:off x="2033874" y="6068250"/>
            <a:ext cx="3035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9"/>
              <a:buFont typeface="Arial"/>
              <a:buNone/>
            </a:pPr>
            <a:r>
              <a:rPr lang="en-US" sz="3299" b="1" i="0" u="none" strike="noStrike" cap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Self-awareness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5bee1ce9eb_0_0"/>
          <p:cNvSpPr/>
          <p:nvPr/>
        </p:nvSpPr>
        <p:spPr>
          <a:xfrm>
            <a:off x="7742609" y="9278701"/>
            <a:ext cx="3035341" cy="744648"/>
          </a:xfrm>
          <a:custGeom>
            <a:avLst/>
            <a:gdLst/>
            <a:ahLst/>
            <a:cxnLst/>
            <a:rect l="l" t="t" r="r" b="b"/>
            <a:pathLst>
              <a:path w="3035341" h="744648" extrusionOk="0">
                <a:moveTo>
                  <a:pt x="0" y="0"/>
                </a:moveTo>
                <a:lnTo>
                  <a:pt x="3035341" y="0"/>
                </a:lnTo>
                <a:lnTo>
                  <a:pt x="3035341" y="744648"/>
                </a:lnTo>
                <a:lnTo>
                  <a:pt x="0" y="744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17757" t="-309005" r="-15536" b="-29398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g35bee1ce9eb_0_0" title="Materiales (2).png"/>
          <p:cNvPicPr preferRelativeResize="0"/>
          <p:nvPr/>
        </p:nvPicPr>
        <p:blipFill rotWithShape="1">
          <a:blip r:embed="rId8">
            <a:alphaModFix/>
          </a:blip>
          <a:srcRect l="6703" t="45497" r="53878" b="36741"/>
          <a:stretch/>
        </p:blipFill>
        <p:spPr>
          <a:xfrm>
            <a:off x="10659114" y="630013"/>
            <a:ext cx="2507525" cy="635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65B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Google Shape;208;g35bee1ce9eb_0_47"/>
          <p:cNvCxnSpPr/>
          <p:nvPr/>
        </p:nvCxnSpPr>
        <p:spPr>
          <a:xfrm>
            <a:off x="9144000" y="7266591"/>
            <a:ext cx="7351800" cy="0"/>
          </a:xfrm>
          <a:prstGeom prst="straightConnector1">
            <a:avLst/>
          </a:prstGeom>
          <a:noFill/>
          <a:ln w="28575" cap="rnd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9" name="Google Shape;209;g35bee1ce9eb_0_47"/>
          <p:cNvCxnSpPr/>
          <p:nvPr/>
        </p:nvCxnSpPr>
        <p:spPr>
          <a:xfrm>
            <a:off x="9144000" y="5084679"/>
            <a:ext cx="7351800" cy="0"/>
          </a:xfrm>
          <a:prstGeom prst="straightConnector1">
            <a:avLst/>
          </a:prstGeom>
          <a:noFill/>
          <a:ln w="28575" cap="rnd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10" name="Google Shape;210;g35bee1ce9eb_0_47"/>
          <p:cNvSpPr txBox="1"/>
          <p:nvPr/>
        </p:nvSpPr>
        <p:spPr>
          <a:xfrm>
            <a:off x="1046388" y="993185"/>
            <a:ext cx="7119600" cy="8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5306" b="1" i="0" u="none" strike="noStrike" cap="none" dirty="0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SELFPLACEMENT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5bee1ce9eb_0_47"/>
          <p:cNvSpPr txBox="1"/>
          <p:nvPr/>
        </p:nvSpPr>
        <p:spPr>
          <a:xfrm>
            <a:off x="1046388" y="1617262"/>
            <a:ext cx="4356300" cy="152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lang="en-US" sz="7064" b="1" i="0" u="none" strike="noStrike" cap="none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Benefits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5bee1ce9eb_0_47"/>
          <p:cNvSpPr/>
          <p:nvPr/>
        </p:nvSpPr>
        <p:spPr>
          <a:xfrm>
            <a:off x="9787191" y="3359552"/>
            <a:ext cx="434489" cy="434489"/>
          </a:xfrm>
          <a:custGeom>
            <a:avLst/>
            <a:gdLst/>
            <a:ahLst/>
            <a:cxnLst/>
            <a:rect l="l" t="t" r="r" b="b"/>
            <a:pathLst>
              <a:path w="434489" h="434489" extrusionOk="0">
                <a:moveTo>
                  <a:pt x="0" y="0"/>
                </a:moveTo>
                <a:lnTo>
                  <a:pt x="434488" y="0"/>
                </a:lnTo>
                <a:lnTo>
                  <a:pt x="434488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5bee1ce9eb_0_47"/>
          <p:cNvSpPr txBox="1"/>
          <p:nvPr/>
        </p:nvSpPr>
        <p:spPr>
          <a:xfrm>
            <a:off x="10974724" y="3139217"/>
            <a:ext cx="2109600" cy="49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lang="en-US" sz="2524" b="1" i="0" u="none" strike="noStrike" cap="none" dirty="0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TO CREATE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5bee1ce9eb_0_47"/>
          <p:cNvSpPr/>
          <p:nvPr/>
        </p:nvSpPr>
        <p:spPr>
          <a:xfrm>
            <a:off x="231016" y="3359552"/>
            <a:ext cx="6662817" cy="3225345"/>
          </a:xfrm>
          <a:custGeom>
            <a:avLst/>
            <a:gdLst/>
            <a:ahLst/>
            <a:cxnLst/>
            <a:rect l="l" t="t" r="r" b="b"/>
            <a:pathLst>
              <a:path w="6662817" h="3225345" extrusionOk="0">
                <a:moveTo>
                  <a:pt x="0" y="0"/>
                </a:moveTo>
                <a:lnTo>
                  <a:pt x="6662818" y="0"/>
                </a:lnTo>
                <a:lnTo>
                  <a:pt x="6662818" y="3225345"/>
                </a:lnTo>
                <a:lnTo>
                  <a:pt x="0" y="3225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97949" r="-136" b="-1973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5bee1ce9eb_0_47"/>
          <p:cNvSpPr/>
          <p:nvPr/>
        </p:nvSpPr>
        <p:spPr>
          <a:xfrm>
            <a:off x="9787191" y="5550197"/>
            <a:ext cx="434489" cy="434489"/>
          </a:xfrm>
          <a:custGeom>
            <a:avLst/>
            <a:gdLst/>
            <a:ahLst/>
            <a:cxnLst/>
            <a:rect l="l" t="t" r="r" b="b"/>
            <a:pathLst>
              <a:path w="434489" h="434489" extrusionOk="0">
                <a:moveTo>
                  <a:pt x="0" y="0"/>
                </a:moveTo>
                <a:lnTo>
                  <a:pt x="434488" y="0"/>
                </a:lnTo>
                <a:lnTo>
                  <a:pt x="434488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5bee1ce9eb_0_47"/>
          <p:cNvSpPr txBox="1"/>
          <p:nvPr/>
        </p:nvSpPr>
        <p:spPr>
          <a:xfrm>
            <a:off x="10974724" y="5282280"/>
            <a:ext cx="3506746" cy="49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lang="en-US" sz="2524" b="1" i="0" u="none" strike="noStrike" cap="none" dirty="0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TO DEMONSTRATE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5bee1ce9eb_0_47"/>
          <p:cNvSpPr/>
          <p:nvPr/>
        </p:nvSpPr>
        <p:spPr>
          <a:xfrm>
            <a:off x="9787191" y="7614253"/>
            <a:ext cx="434489" cy="434489"/>
          </a:xfrm>
          <a:custGeom>
            <a:avLst/>
            <a:gdLst/>
            <a:ahLst/>
            <a:cxnLst/>
            <a:rect l="l" t="t" r="r" b="b"/>
            <a:pathLst>
              <a:path w="434489" h="434489" extrusionOk="0">
                <a:moveTo>
                  <a:pt x="0" y="0"/>
                </a:moveTo>
                <a:lnTo>
                  <a:pt x="434488" y="0"/>
                </a:lnTo>
                <a:lnTo>
                  <a:pt x="434488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5bee1ce9eb_0_47"/>
          <p:cNvSpPr txBox="1"/>
          <p:nvPr/>
        </p:nvSpPr>
        <p:spPr>
          <a:xfrm>
            <a:off x="10974724" y="7576153"/>
            <a:ext cx="2420000" cy="49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lang="en-US" sz="2524" b="1" i="0" u="none" strike="noStrike" cap="none" dirty="0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TO PROVIDE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5bee1ce9eb_0_47"/>
          <p:cNvSpPr txBox="1"/>
          <p:nvPr/>
        </p:nvSpPr>
        <p:spPr>
          <a:xfrm>
            <a:off x="11006141" y="3174283"/>
            <a:ext cx="5469900" cy="1562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lang="en-US" sz="1999" b="0" i="0" u="none" strike="noStrike" cap="none" dirty="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         </a:t>
            </a:r>
            <a:r>
              <a:rPr lang="en-US" sz="1999" dirty="0">
                <a:solidFill>
                  <a:srgbClr val="E5E5E4"/>
                </a:solidFill>
                <a:latin typeface="Avenir"/>
              </a:rPr>
              <a:t>a positive impact on Employer Branding by addressing employees’ emerging needs and emotional states throughout the offboarding process.</a:t>
            </a:r>
            <a:r>
              <a:rPr lang="en-US" sz="1999" dirty="0">
                <a:solidFill>
                  <a:srgbClr val="E5E5E4"/>
                </a:solidFill>
                <a:latin typeface="Avenir"/>
                <a:sym typeface="Avenir"/>
              </a:rPr>
              <a:t> </a:t>
            </a:r>
            <a:endParaRPr sz="1999" dirty="0">
              <a:solidFill>
                <a:srgbClr val="E5E5E4"/>
              </a:solidFill>
              <a:latin typeface="Avenir"/>
            </a:endParaRPr>
          </a:p>
        </p:txBody>
      </p:sp>
      <p:sp>
        <p:nvSpPr>
          <p:cNvPr id="220" name="Google Shape;220;g35bee1ce9eb_0_47"/>
          <p:cNvSpPr txBox="1"/>
          <p:nvPr/>
        </p:nvSpPr>
        <p:spPr>
          <a:xfrm>
            <a:off x="11025900" y="5331223"/>
            <a:ext cx="5469900" cy="1562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lang="en-US" sz="1999" b="0" i="0" u="none" strike="noStrike" cap="none" dirty="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                          </a:t>
            </a:r>
            <a:r>
              <a:rPr lang="en-US" sz="1999" dirty="0">
                <a:solidFill>
                  <a:srgbClr val="E5E5E4"/>
                </a:solidFill>
                <a:latin typeface="Avenir"/>
              </a:rPr>
              <a:t>a genuine commitment to employees, even during their exit, positively influencing the organizational culture.</a:t>
            </a:r>
            <a:endParaRPr sz="1999" dirty="0">
              <a:solidFill>
                <a:srgbClr val="E5E5E4"/>
              </a:solidFill>
              <a:latin typeface="Avenir"/>
            </a:endParaRPr>
          </a:p>
        </p:txBody>
      </p:sp>
      <p:sp>
        <p:nvSpPr>
          <p:cNvPr id="221" name="Google Shape;221;g35bee1ce9eb_0_47"/>
          <p:cNvSpPr txBox="1"/>
          <p:nvPr/>
        </p:nvSpPr>
        <p:spPr>
          <a:xfrm>
            <a:off x="11006141" y="7628071"/>
            <a:ext cx="5438400" cy="195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lang="en-US" sz="1999" b="0" i="0" u="none" strike="noStrike" cap="non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             </a:t>
            </a:r>
            <a:r>
              <a:rPr lang="en-US" sz="1999">
                <a:solidFill>
                  <a:srgbClr val="E5E5E4"/>
                </a:solidFill>
                <a:latin typeface="Avenir"/>
              </a:rPr>
              <a:t>support</a:t>
            </a:r>
            <a:r>
              <a:rPr lang="en-US" sz="1999" dirty="0">
                <a:solidFill>
                  <a:srgbClr val="E5E5E4"/>
                </a:solidFill>
                <a:latin typeface="Avenir"/>
              </a:rPr>
              <a:t>—both professional and personal—during the career transition, demonstrating social responsibility and care, which reinforces each person’s sense of security and commitment.</a:t>
            </a:r>
            <a:endParaRPr sz="1999" dirty="0">
              <a:solidFill>
                <a:srgbClr val="E5E5E4"/>
              </a:solidFill>
              <a:latin typeface="Avenir"/>
              <a:sym typeface="Avenir"/>
            </a:endParaRPr>
          </a:p>
        </p:txBody>
      </p:sp>
      <p:sp>
        <p:nvSpPr>
          <p:cNvPr id="222" name="Google Shape;222;g35bee1ce9eb_0_47"/>
          <p:cNvSpPr txBox="1"/>
          <p:nvPr/>
        </p:nvSpPr>
        <p:spPr>
          <a:xfrm>
            <a:off x="815693" y="6978375"/>
            <a:ext cx="5919000" cy="2816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7017"/>
              </a:lnSpc>
              <a:buSzPts val="2602"/>
            </a:pPr>
            <a:r>
              <a:rPr lang="en-US" sz="2602" dirty="0">
                <a:solidFill>
                  <a:srgbClr val="E5E5E4"/>
                </a:solidFill>
                <a:latin typeface="Avenir"/>
              </a:rPr>
              <a:t>“Our programs are tailored to the needs of both the client and the participant: they are one-on-one sessions that highlight the uniqueness of each professional.”</a:t>
            </a:r>
          </a:p>
          <a:p>
            <a:pPr marL="0" marR="0" lvl="0" indent="0" algn="ctr" rtl="0">
              <a:lnSpc>
                <a:spcPct val="127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2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65B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g35bee1ce9eb_0_47"/>
          <p:cNvCxnSpPr>
            <a:cxnSpLocks/>
          </p:cNvCxnSpPr>
          <p:nvPr/>
        </p:nvCxnSpPr>
        <p:spPr>
          <a:xfrm flipV="1">
            <a:off x="8469400" y="3462523"/>
            <a:ext cx="0" cy="4804388"/>
          </a:xfrm>
          <a:prstGeom prst="straightConnector1">
            <a:avLst/>
          </a:prstGeom>
          <a:noFill/>
          <a:ln w="28575" cap="rnd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10" name="Google Shape;210;g35bee1ce9eb_0_47"/>
          <p:cNvSpPr txBox="1"/>
          <p:nvPr/>
        </p:nvSpPr>
        <p:spPr>
          <a:xfrm>
            <a:off x="1130298" y="2407780"/>
            <a:ext cx="16463434" cy="104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  <a:tabLst/>
              <a:defRPr/>
            </a:pPr>
            <a:r>
              <a:rPr kumimoji="0" lang="en-US" sz="5306" b="1" i="0" u="none" strike="noStrike" kern="0" cap="none" spc="0" normalizeH="0" baseline="0" noProof="0" dirty="0">
                <a:ln>
                  <a:noFill/>
                </a:ln>
                <a:solidFill>
                  <a:srgbClr val="F8BF00"/>
                </a:solidFill>
                <a:effectLst/>
                <a:uLnTx/>
                <a:uFillTx/>
                <a:latin typeface="Garamond"/>
                <a:ea typeface="Garamond"/>
                <a:cs typeface="Garamond"/>
                <a:sym typeface="Garamond"/>
              </a:rPr>
              <a:t>OUTPLACEMENT      VS        SELFPLACEMENT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5bee1ce9eb_0_47"/>
          <p:cNvSpPr txBox="1"/>
          <p:nvPr/>
        </p:nvSpPr>
        <p:spPr>
          <a:xfrm>
            <a:off x="1028699" y="885825"/>
            <a:ext cx="5897033" cy="152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  <a:tabLst/>
              <a:defRPr/>
            </a:pPr>
            <a:r>
              <a:rPr kumimoji="0" lang="en-US" sz="7064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/>
                <a:ea typeface="Garamond"/>
                <a:cs typeface="Garamond"/>
                <a:sym typeface="Garamond"/>
              </a:rPr>
              <a:t>Differentiators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24;p3">
            <a:extLst>
              <a:ext uri="{FF2B5EF4-FFF2-40B4-BE49-F238E27FC236}">
                <a16:creationId xmlns:a16="http://schemas.microsoft.com/office/drawing/2014/main" id="{EB8EDE21-232A-A545-A2C8-76422F85A230}"/>
              </a:ext>
            </a:extLst>
          </p:cNvPr>
          <p:cNvSpPr txBox="1">
            <a:spLocks/>
          </p:cNvSpPr>
          <p:nvPr/>
        </p:nvSpPr>
        <p:spPr>
          <a:xfrm>
            <a:off x="1371600" y="3886200"/>
            <a:ext cx="6400800" cy="312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9850">
              <a:lnSpc>
                <a:spcPct val="113000"/>
              </a:lnSpc>
              <a:buClr>
                <a:schemeClr val="dk1"/>
              </a:buClr>
              <a:buSzPts val="2500"/>
            </a:pPr>
            <a:r>
              <a:rPr lang="en-US" sz="1999" dirty="0">
                <a:solidFill>
                  <a:srgbClr val="E5E5E4"/>
                </a:solidFill>
                <a:latin typeface="Avenir"/>
              </a:rPr>
              <a:t>Generic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Focused on the “OUT”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Fulfills social responsibility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Structured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Led by any professional or consultant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Not very deep, with a very clear objective: solely        re-entering the job market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CV design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Fee based on the disconnected professional’s salary</a:t>
            </a:r>
            <a:endParaRPr lang="en-US" sz="1999" dirty="0">
              <a:solidFill>
                <a:srgbClr val="E5E5E4"/>
              </a:solidFill>
              <a:latin typeface="Avenir"/>
              <a:sym typeface="Montserra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2C3BA7-FD59-C449-9589-E7828D178D75}"/>
              </a:ext>
            </a:extLst>
          </p:cNvPr>
          <p:cNvSpPr/>
          <p:nvPr/>
        </p:nvSpPr>
        <p:spPr>
          <a:xfrm>
            <a:off x="9936590" y="3738302"/>
            <a:ext cx="9144000" cy="42528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69850" lvl="0">
              <a:lnSpc>
                <a:spcPct val="113000"/>
              </a:lnSpc>
              <a:buSzPts val="2500"/>
            </a:pPr>
            <a:r>
              <a:rPr lang="en-US" sz="1999" dirty="0">
                <a:solidFill>
                  <a:srgbClr val="E5E5E4"/>
                </a:solidFill>
                <a:latin typeface="Avenir"/>
              </a:rPr>
              <a:t>Flexible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Life-plan design with networking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Self-awareness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Personalized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Focused on the “Self”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Strengthens the Client’s employer brand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Centered on the participant’s active role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Led by coaches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Aligns with the participant’s purpose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Brings the transformational moment into the conversations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Reframes the exit moment</a:t>
            </a:r>
            <a:br>
              <a:rPr lang="en-US" sz="1999" dirty="0">
                <a:solidFill>
                  <a:srgbClr val="E5E5E4"/>
                </a:solidFill>
                <a:latin typeface="Avenir"/>
              </a:rPr>
            </a:br>
            <a:r>
              <a:rPr lang="en-US" sz="1999" dirty="0">
                <a:solidFill>
                  <a:srgbClr val="E5E5E4"/>
                </a:solidFill>
                <a:latin typeface="Avenir"/>
              </a:rPr>
              <a:t>Fixed fee</a:t>
            </a:r>
            <a:endParaRPr lang="en-US" sz="1999" dirty="0">
              <a:solidFill>
                <a:srgbClr val="E5E5E4"/>
              </a:solidFill>
              <a:latin typeface="Avenir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49702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bee1ce9eb_0_21"/>
          <p:cNvSpPr/>
          <p:nvPr/>
        </p:nvSpPr>
        <p:spPr>
          <a:xfrm>
            <a:off x="0" y="2807901"/>
            <a:ext cx="18280549" cy="5989606"/>
          </a:xfrm>
          <a:custGeom>
            <a:avLst/>
            <a:gdLst/>
            <a:ahLst/>
            <a:cxnLst/>
            <a:rect l="l" t="t" r="r" b="b"/>
            <a:pathLst>
              <a:path w="6186311" h="1739900" extrusionOk="0">
                <a:moveTo>
                  <a:pt x="0" y="0"/>
                </a:moveTo>
                <a:lnTo>
                  <a:pt x="6186311" y="0"/>
                </a:lnTo>
                <a:lnTo>
                  <a:pt x="6186311" y="1739900"/>
                </a:lnTo>
                <a:lnTo>
                  <a:pt x="0" y="173990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" name="Google Shape;228;g35bee1ce9eb_0_21"/>
          <p:cNvGrpSpPr/>
          <p:nvPr/>
        </p:nvGrpSpPr>
        <p:grpSpPr>
          <a:xfrm>
            <a:off x="182768" y="1110891"/>
            <a:ext cx="767733" cy="2923993"/>
            <a:chOff x="0" y="-123825"/>
            <a:chExt cx="202200" cy="770100"/>
          </a:xfrm>
        </p:grpSpPr>
        <p:sp>
          <p:nvSpPr>
            <p:cNvPr id="229" name="Google Shape;229;g35bee1ce9eb_0_21"/>
            <p:cNvSpPr/>
            <p:nvPr/>
          </p:nvSpPr>
          <p:spPr>
            <a:xfrm>
              <a:off x="0" y="0"/>
              <a:ext cx="202089" cy="646242"/>
            </a:xfrm>
            <a:custGeom>
              <a:avLst/>
              <a:gdLst/>
              <a:ahLst/>
              <a:cxnLst/>
              <a:rect l="l" t="t" r="r" b="b"/>
              <a:pathLst>
                <a:path w="202089" h="646242" extrusionOk="0">
                  <a:moveTo>
                    <a:pt x="101045" y="0"/>
                  </a:moveTo>
                  <a:lnTo>
                    <a:pt x="101045" y="0"/>
                  </a:lnTo>
                  <a:cubicBezTo>
                    <a:pt x="127843" y="0"/>
                    <a:pt x="153544" y="10646"/>
                    <a:pt x="172494" y="29595"/>
                  </a:cubicBezTo>
                  <a:cubicBezTo>
                    <a:pt x="191443" y="48545"/>
                    <a:pt x="202089" y="74246"/>
                    <a:pt x="202089" y="101045"/>
                  </a:cubicBezTo>
                  <a:lnTo>
                    <a:pt x="202089" y="545198"/>
                  </a:lnTo>
                  <a:cubicBezTo>
                    <a:pt x="202089" y="571997"/>
                    <a:pt x="191443" y="597698"/>
                    <a:pt x="172494" y="616647"/>
                  </a:cubicBezTo>
                  <a:cubicBezTo>
                    <a:pt x="153544" y="635597"/>
                    <a:pt x="127843" y="646242"/>
                    <a:pt x="101045" y="646242"/>
                  </a:cubicBezTo>
                  <a:lnTo>
                    <a:pt x="101045" y="646242"/>
                  </a:lnTo>
                  <a:cubicBezTo>
                    <a:pt x="74246" y="646242"/>
                    <a:pt x="48545" y="635597"/>
                    <a:pt x="29595" y="616647"/>
                  </a:cubicBezTo>
                  <a:cubicBezTo>
                    <a:pt x="10646" y="597698"/>
                    <a:pt x="0" y="571997"/>
                    <a:pt x="0" y="545198"/>
                  </a:cubicBezTo>
                  <a:lnTo>
                    <a:pt x="0" y="101045"/>
                  </a:lnTo>
                  <a:cubicBezTo>
                    <a:pt x="0" y="74246"/>
                    <a:pt x="10646" y="48545"/>
                    <a:pt x="29595" y="29595"/>
                  </a:cubicBezTo>
                  <a:cubicBezTo>
                    <a:pt x="48545" y="10646"/>
                    <a:pt x="74246" y="0"/>
                    <a:pt x="101045" y="0"/>
                  </a:cubicBezTo>
                  <a:close/>
                </a:path>
              </a:pathLst>
            </a:custGeom>
            <a:solidFill>
              <a:srgbClr val="8CA8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5bee1ce9eb_0_21"/>
            <p:cNvSpPr txBox="1"/>
            <p:nvPr/>
          </p:nvSpPr>
          <p:spPr>
            <a:xfrm>
              <a:off x="0" y="-123825"/>
              <a:ext cx="202200" cy="77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g35bee1ce9eb_0_21"/>
          <p:cNvSpPr txBox="1"/>
          <p:nvPr/>
        </p:nvSpPr>
        <p:spPr>
          <a:xfrm rot="-5400000">
            <a:off x="-966521" y="2561641"/>
            <a:ext cx="292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5bee1ce9eb_0_21"/>
          <p:cNvSpPr txBox="1"/>
          <p:nvPr/>
        </p:nvSpPr>
        <p:spPr>
          <a:xfrm>
            <a:off x="-180846" y="476682"/>
            <a:ext cx="9206614" cy="1482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33"/>
              <a:buFont typeface="Arial"/>
              <a:buNone/>
            </a:pPr>
            <a:r>
              <a:rPr lang="en-US" sz="9933" b="1" i="0" u="none" strike="noStrike" cap="none" dirty="0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Methodology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5bee1ce9eb_0_21"/>
          <p:cNvSpPr txBox="1"/>
          <p:nvPr/>
        </p:nvSpPr>
        <p:spPr>
          <a:xfrm>
            <a:off x="1352550" y="4632758"/>
            <a:ext cx="25755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rgbClr val="E5E5E4"/>
                </a:solidFill>
                <a:latin typeface="Avenir"/>
              </a:rPr>
              <a:t>Identifying the need and assigning the coach.</a:t>
            </a:r>
            <a:endParaRPr sz="2000" dirty="0">
              <a:solidFill>
                <a:srgbClr val="E5E5E4"/>
              </a:solidFill>
              <a:latin typeface="Avenir"/>
              <a:sym typeface="Avenir"/>
            </a:endParaRPr>
          </a:p>
        </p:txBody>
      </p:sp>
      <p:sp>
        <p:nvSpPr>
          <p:cNvPr id="234" name="Google Shape;234;g35bee1ce9eb_0_21"/>
          <p:cNvSpPr txBox="1"/>
          <p:nvPr/>
        </p:nvSpPr>
        <p:spPr>
          <a:xfrm>
            <a:off x="1352550" y="3159681"/>
            <a:ext cx="17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KICK OFF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5bee1ce9eb_0_21"/>
          <p:cNvSpPr txBox="1"/>
          <p:nvPr/>
        </p:nvSpPr>
        <p:spPr>
          <a:xfrm>
            <a:off x="4422461" y="3159681"/>
            <a:ext cx="22329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PREWORK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0000"/>
              </a:lnSpc>
              <a:buSzPts val="2400"/>
            </a:pPr>
            <a:r>
              <a:rPr lang="en-US" sz="2400" b="1" dirty="0">
                <a:solidFill>
                  <a:srgbClr val="E5E5E4"/>
                </a:solidFill>
                <a:latin typeface="Garamond"/>
              </a:rPr>
              <a:t>DIAGNOSIS</a:t>
            </a:r>
            <a:endParaRPr sz="2400" b="1" dirty="0">
              <a:solidFill>
                <a:srgbClr val="E5E5E4"/>
              </a:solidFill>
              <a:latin typeface="Garamond"/>
            </a:endParaRPr>
          </a:p>
        </p:txBody>
      </p:sp>
      <p:sp>
        <p:nvSpPr>
          <p:cNvPr id="236" name="Google Shape;236;g35bee1ce9eb_0_21"/>
          <p:cNvSpPr txBox="1"/>
          <p:nvPr/>
        </p:nvSpPr>
        <p:spPr>
          <a:xfrm>
            <a:off x="4422461" y="4632758"/>
            <a:ext cx="25755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SzPts val="2000"/>
            </a:pPr>
            <a:r>
              <a:rPr lang="en-US" sz="2000" dirty="0">
                <a:solidFill>
                  <a:srgbClr val="E5E5E4"/>
                </a:solidFill>
                <a:latin typeface="Avenir"/>
              </a:rPr>
              <a:t>Through a behavioral profile test, the participant gains deeper self-awareness</a:t>
            </a:r>
            <a:r>
              <a:rPr lang="en-US" sz="2000" dirty="0">
                <a:solidFill>
                  <a:srgbClr val="E5E5E4"/>
                </a:solidFill>
                <a:latin typeface="Avenir"/>
                <a:sym typeface="Avenir"/>
              </a:rPr>
              <a:t>.</a:t>
            </a:r>
            <a:endParaRPr sz="2000" dirty="0">
              <a:solidFill>
                <a:srgbClr val="E5E5E4"/>
              </a:solidFill>
              <a:latin typeface="Avenir"/>
            </a:endParaRPr>
          </a:p>
        </p:txBody>
      </p:sp>
      <p:sp>
        <p:nvSpPr>
          <p:cNvPr id="237" name="Google Shape;237;g35bee1ce9eb_0_21"/>
          <p:cNvSpPr txBox="1"/>
          <p:nvPr/>
        </p:nvSpPr>
        <p:spPr>
          <a:xfrm>
            <a:off x="7962198" y="3159681"/>
            <a:ext cx="22329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E5E5E4"/>
                </a:solidFill>
                <a:latin typeface="Garamond"/>
              </a:rPr>
              <a:t>DIALOGUE</a:t>
            </a:r>
            <a:br>
              <a:rPr lang="en-US" sz="2400" b="1" dirty="0">
                <a:solidFill>
                  <a:srgbClr val="E5E5E4"/>
                </a:solidFill>
                <a:latin typeface="Garamond"/>
              </a:rPr>
            </a:br>
            <a:r>
              <a:rPr lang="en-US" sz="2400" b="1" dirty="0">
                <a:solidFill>
                  <a:srgbClr val="E5E5E4"/>
                </a:solidFill>
                <a:latin typeface="Garamond"/>
              </a:rPr>
              <a:t>SESSIONS</a:t>
            </a:r>
            <a:endParaRPr sz="2400" b="1" dirty="0">
              <a:solidFill>
                <a:srgbClr val="E5E5E4"/>
              </a:solidFill>
              <a:latin typeface="Garamond"/>
              <a:sym typeface="Garamond"/>
            </a:endParaRPr>
          </a:p>
        </p:txBody>
      </p:sp>
      <p:sp>
        <p:nvSpPr>
          <p:cNvPr id="238" name="Google Shape;238;g35bee1ce9eb_0_21"/>
          <p:cNvSpPr txBox="1"/>
          <p:nvPr/>
        </p:nvSpPr>
        <p:spPr>
          <a:xfrm>
            <a:off x="7906639" y="4632758"/>
            <a:ext cx="3207900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rgbClr val="E5E5E4"/>
                </a:solidFill>
                <a:latin typeface="Avenir"/>
              </a:rPr>
              <a:t>Individual sessions with a Coach and/or Consultant to create spaces for reflection, learning practical tools, and challenging limiting beliefs in order to design the participant’s value proposition.</a:t>
            </a:r>
            <a:endParaRPr sz="2000" dirty="0">
              <a:solidFill>
                <a:srgbClr val="E5E5E4"/>
              </a:solidFill>
              <a:latin typeface="Aveni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9" name="Google Shape;239;g35bee1ce9eb_0_21"/>
          <p:cNvSpPr txBox="1"/>
          <p:nvPr/>
        </p:nvSpPr>
        <p:spPr>
          <a:xfrm>
            <a:off x="11762342" y="4632758"/>
            <a:ext cx="275100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rgbClr val="E5E5E4"/>
                </a:solidFill>
                <a:latin typeface="Avenir"/>
              </a:rPr>
              <a:t>Interview training and feedback with a Talent Consultant specialized in the industry.</a:t>
            </a:r>
            <a:endParaRPr sz="2000" dirty="0">
              <a:solidFill>
                <a:srgbClr val="E5E5E4"/>
              </a:solidFill>
              <a:latin typeface="Avenir"/>
              <a:sym typeface="Avenir"/>
            </a:endParaRPr>
          </a:p>
        </p:txBody>
      </p:sp>
      <p:sp>
        <p:nvSpPr>
          <p:cNvPr id="240" name="Google Shape;240;g35bee1ce9eb_0_21"/>
          <p:cNvSpPr txBox="1"/>
          <p:nvPr/>
        </p:nvSpPr>
        <p:spPr>
          <a:xfrm>
            <a:off x="15185050" y="4632758"/>
            <a:ext cx="2912400" cy="266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dirty="0">
                <a:solidFill>
                  <a:srgbClr val="E5E5E4"/>
                </a:solidFill>
                <a:latin typeface="Avenir"/>
              </a:rPr>
              <a:t>Project closure report for the client.</a:t>
            </a:r>
          </a:p>
          <a:p>
            <a:endParaRPr lang="en-US" sz="2000" dirty="0">
              <a:solidFill>
                <a:srgbClr val="E5E5E4"/>
              </a:solidFill>
              <a:latin typeface="Avenir"/>
            </a:endParaRPr>
          </a:p>
          <a:p>
            <a:r>
              <a:rPr lang="en-US" sz="2000" dirty="0">
                <a:solidFill>
                  <a:srgbClr val="E5E5E4"/>
                </a:solidFill>
                <a:latin typeface="Avenir"/>
              </a:rPr>
              <a:t>Follow-up on the participant’s action plan within 3 months.</a:t>
            </a:r>
          </a:p>
          <a:p>
            <a:pPr marL="0" marR="0" lvl="0" indent="0" algn="l" rtl="0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73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1" name="Google Shape;241;g35bee1ce9eb_0_21"/>
          <p:cNvSpPr txBox="1"/>
          <p:nvPr/>
        </p:nvSpPr>
        <p:spPr>
          <a:xfrm>
            <a:off x="11762342" y="3159681"/>
            <a:ext cx="25755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ROLE PLAYING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E5E5E4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2" name="Google Shape;242;g35bee1ce9eb_0_21"/>
          <p:cNvSpPr txBox="1"/>
          <p:nvPr/>
        </p:nvSpPr>
        <p:spPr>
          <a:xfrm>
            <a:off x="15185050" y="3159681"/>
            <a:ext cx="24588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SzPts val="2400"/>
            </a:pPr>
            <a:r>
              <a:rPr lang="en-US" sz="2400" b="1" dirty="0">
                <a:solidFill>
                  <a:srgbClr val="E5E5E4"/>
                </a:solidFill>
                <a:latin typeface="Garamond"/>
              </a:rPr>
              <a:t>CLOSING AND FOLLOW-UP</a:t>
            </a:r>
            <a:endParaRPr sz="2400" b="1" dirty="0">
              <a:solidFill>
                <a:srgbClr val="E5E5E4"/>
              </a:solidFill>
              <a:latin typeface="Garamond"/>
            </a:endParaRPr>
          </a:p>
        </p:txBody>
      </p:sp>
      <p:sp>
        <p:nvSpPr>
          <p:cNvPr id="243" name="Google Shape;243;g35bee1ce9eb_0_21"/>
          <p:cNvSpPr/>
          <p:nvPr/>
        </p:nvSpPr>
        <p:spPr>
          <a:xfrm>
            <a:off x="7742609" y="9278701"/>
            <a:ext cx="3035341" cy="744648"/>
          </a:xfrm>
          <a:custGeom>
            <a:avLst/>
            <a:gdLst/>
            <a:ahLst/>
            <a:cxnLst/>
            <a:rect l="l" t="t" r="r" b="b"/>
            <a:pathLst>
              <a:path w="3035341" h="744648" extrusionOk="0">
                <a:moveTo>
                  <a:pt x="0" y="0"/>
                </a:moveTo>
                <a:lnTo>
                  <a:pt x="3035341" y="0"/>
                </a:lnTo>
                <a:lnTo>
                  <a:pt x="3035341" y="744648"/>
                </a:lnTo>
                <a:lnTo>
                  <a:pt x="0" y="744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7757" t="-309005" r="-15536" b="-29398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g35bee1ce9eb_0_21"/>
          <p:cNvGrpSpPr/>
          <p:nvPr/>
        </p:nvGrpSpPr>
        <p:grpSpPr>
          <a:xfrm>
            <a:off x="1295400" y="4168629"/>
            <a:ext cx="16348450" cy="28575"/>
            <a:chOff x="0" y="19050"/>
            <a:chExt cx="21797933" cy="38100"/>
          </a:xfrm>
        </p:grpSpPr>
        <p:cxnSp>
          <p:nvCxnSpPr>
            <p:cNvPr id="245" name="Google Shape;245;g35bee1ce9eb_0_21"/>
            <p:cNvCxnSpPr/>
            <p:nvPr/>
          </p:nvCxnSpPr>
          <p:spPr>
            <a:xfrm>
              <a:off x="0" y="57150"/>
              <a:ext cx="2556600" cy="0"/>
            </a:xfrm>
            <a:prstGeom prst="straightConnector1">
              <a:avLst/>
            </a:prstGeom>
            <a:noFill/>
            <a:ln w="38100" cap="rnd" cmpd="sng">
              <a:solidFill>
                <a:srgbClr val="F8BF00"/>
              </a:solidFill>
              <a:prstDash val="dot"/>
              <a:round/>
              <a:headEnd type="none" w="sm" len="sm"/>
              <a:tailEnd type="none" w="sm" len="sm"/>
            </a:ln>
          </p:spPr>
        </p:cxnSp>
        <p:cxnSp>
          <p:nvCxnSpPr>
            <p:cNvPr id="246" name="Google Shape;246;g35bee1ce9eb_0_21"/>
            <p:cNvCxnSpPr/>
            <p:nvPr/>
          </p:nvCxnSpPr>
          <p:spPr>
            <a:xfrm>
              <a:off x="4169415" y="38100"/>
              <a:ext cx="2977200" cy="0"/>
            </a:xfrm>
            <a:prstGeom prst="straightConnector1">
              <a:avLst/>
            </a:prstGeom>
            <a:noFill/>
            <a:ln w="38100" cap="rnd" cmpd="sng">
              <a:solidFill>
                <a:srgbClr val="F8BF00"/>
              </a:solidFill>
              <a:prstDash val="dot"/>
              <a:round/>
              <a:headEnd type="none" w="sm" len="sm"/>
              <a:tailEnd type="none" w="sm" len="sm"/>
            </a:ln>
          </p:spPr>
        </p:cxnSp>
        <p:cxnSp>
          <p:nvCxnSpPr>
            <p:cNvPr id="247" name="Google Shape;247;g35bee1ce9eb_0_21"/>
            <p:cNvCxnSpPr/>
            <p:nvPr/>
          </p:nvCxnSpPr>
          <p:spPr>
            <a:xfrm>
              <a:off x="8997744" y="38100"/>
              <a:ext cx="3645600" cy="0"/>
            </a:xfrm>
            <a:prstGeom prst="straightConnector1">
              <a:avLst/>
            </a:prstGeom>
            <a:noFill/>
            <a:ln w="38100" cap="rnd" cmpd="sng">
              <a:solidFill>
                <a:srgbClr val="F8BF00"/>
              </a:solidFill>
              <a:prstDash val="dot"/>
              <a:round/>
              <a:headEnd type="none" w="sm" len="sm"/>
              <a:tailEnd type="none" w="sm" len="sm"/>
            </a:ln>
          </p:spPr>
        </p:cxnSp>
        <p:cxnSp>
          <p:nvCxnSpPr>
            <p:cNvPr id="248" name="Google Shape;248;g35bee1ce9eb_0_21"/>
            <p:cNvCxnSpPr/>
            <p:nvPr/>
          </p:nvCxnSpPr>
          <p:spPr>
            <a:xfrm>
              <a:off x="13955922" y="38100"/>
              <a:ext cx="2995200" cy="0"/>
            </a:xfrm>
            <a:prstGeom prst="straightConnector1">
              <a:avLst/>
            </a:prstGeom>
            <a:noFill/>
            <a:ln w="38100" cap="rnd" cmpd="sng">
              <a:solidFill>
                <a:srgbClr val="F8BF00"/>
              </a:solidFill>
              <a:prstDash val="dot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g35bee1ce9eb_0_21"/>
            <p:cNvCxnSpPr/>
            <p:nvPr/>
          </p:nvCxnSpPr>
          <p:spPr>
            <a:xfrm>
              <a:off x="18519533" y="19050"/>
              <a:ext cx="3278400" cy="0"/>
            </a:xfrm>
            <a:prstGeom prst="straightConnector1">
              <a:avLst/>
            </a:prstGeom>
            <a:noFill/>
            <a:ln w="38100" cap="rnd" cmpd="sng">
              <a:solidFill>
                <a:srgbClr val="F8BF00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0;g35bee1ce9eb_0_65">
            <a:extLst>
              <a:ext uri="{FF2B5EF4-FFF2-40B4-BE49-F238E27FC236}">
                <a16:creationId xmlns:a16="http://schemas.microsoft.com/office/drawing/2014/main" id="{55B82744-0F1B-3842-8273-7627E3E5AF89}"/>
              </a:ext>
            </a:extLst>
          </p:cNvPr>
          <p:cNvGrpSpPr/>
          <p:nvPr/>
        </p:nvGrpSpPr>
        <p:grpSpPr>
          <a:xfrm>
            <a:off x="5808956" y="6500350"/>
            <a:ext cx="4992829" cy="2205032"/>
            <a:chOff x="0" y="0"/>
            <a:chExt cx="720035" cy="1662998"/>
          </a:xfrm>
        </p:grpSpPr>
        <p:sp>
          <p:nvSpPr>
            <p:cNvPr id="28" name="Google Shape;271;g35bee1ce9eb_0_65">
              <a:extLst>
                <a:ext uri="{FF2B5EF4-FFF2-40B4-BE49-F238E27FC236}">
                  <a16:creationId xmlns:a16="http://schemas.microsoft.com/office/drawing/2014/main" id="{85C1170F-E352-3144-85B7-3E1564BD7092}"/>
                </a:ext>
              </a:extLst>
            </p:cNvPr>
            <p:cNvSpPr/>
            <p:nvPr/>
          </p:nvSpPr>
          <p:spPr>
            <a:xfrm>
              <a:off x="0" y="0"/>
              <a:ext cx="720035" cy="1662998"/>
            </a:xfrm>
            <a:custGeom>
              <a:avLst/>
              <a:gdLst/>
              <a:ahLst/>
              <a:cxnLst/>
              <a:rect l="l" t="t" r="r" b="b"/>
              <a:pathLst>
                <a:path w="720035" h="1662998" extrusionOk="0">
                  <a:moveTo>
                    <a:pt x="99114" y="0"/>
                  </a:moveTo>
                  <a:lnTo>
                    <a:pt x="620920" y="0"/>
                  </a:lnTo>
                  <a:cubicBezTo>
                    <a:pt x="675659" y="0"/>
                    <a:pt x="720035" y="44375"/>
                    <a:pt x="720035" y="99114"/>
                  </a:cubicBezTo>
                  <a:lnTo>
                    <a:pt x="720035" y="1563883"/>
                  </a:lnTo>
                  <a:cubicBezTo>
                    <a:pt x="720035" y="1618622"/>
                    <a:pt x="675659" y="1662998"/>
                    <a:pt x="620920" y="1662998"/>
                  </a:cubicBezTo>
                  <a:lnTo>
                    <a:pt x="99114" y="1662998"/>
                  </a:lnTo>
                  <a:cubicBezTo>
                    <a:pt x="44375" y="1662998"/>
                    <a:pt x="0" y="1618622"/>
                    <a:pt x="0" y="1563883"/>
                  </a:cubicBezTo>
                  <a:lnTo>
                    <a:pt x="0" y="99114"/>
                  </a:lnTo>
                  <a:cubicBezTo>
                    <a:pt x="0" y="44375"/>
                    <a:pt x="44375" y="0"/>
                    <a:pt x="99114" y="0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9411"/>
                </a:srgbClr>
              </a:outerShdw>
              <a:reflection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72;g35bee1ce9eb_0_65">
              <a:extLst>
                <a:ext uri="{FF2B5EF4-FFF2-40B4-BE49-F238E27FC236}">
                  <a16:creationId xmlns:a16="http://schemas.microsoft.com/office/drawing/2014/main" id="{C9AD0F45-D297-694F-8A09-8351E4EF7AD6}"/>
                </a:ext>
              </a:extLst>
            </p:cNvPr>
            <p:cNvSpPr txBox="1"/>
            <p:nvPr/>
          </p:nvSpPr>
          <p:spPr>
            <a:xfrm>
              <a:off x="0" y="0"/>
              <a:ext cx="720000" cy="16629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49411"/>
                </a:srgbClr>
              </a:outerShdw>
              <a:reflection dist="38100" dir="5400000" fadeDir="5400012" sy="-100000" algn="bl" rotWithShape="0"/>
            </a:effectLst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g35bee1ce9eb_0_65"/>
          <p:cNvGrpSpPr/>
          <p:nvPr/>
        </p:nvGrpSpPr>
        <p:grpSpPr>
          <a:xfrm>
            <a:off x="8869625" y="793569"/>
            <a:ext cx="2719203" cy="3603670"/>
            <a:chOff x="0" y="0"/>
            <a:chExt cx="716164" cy="1662998"/>
          </a:xfrm>
        </p:grpSpPr>
        <p:sp>
          <p:nvSpPr>
            <p:cNvPr id="255" name="Google Shape;255;g35bee1ce9eb_0_65"/>
            <p:cNvSpPr/>
            <p:nvPr/>
          </p:nvSpPr>
          <p:spPr>
            <a:xfrm>
              <a:off x="0" y="0"/>
              <a:ext cx="716164" cy="1662998"/>
            </a:xfrm>
            <a:custGeom>
              <a:avLst/>
              <a:gdLst/>
              <a:ahLst/>
              <a:cxnLst/>
              <a:rect l="l" t="t" r="r" b="b"/>
              <a:pathLst>
                <a:path w="716164" h="1662998" extrusionOk="0">
                  <a:moveTo>
                    <a:pt x="99650" y="0"/>
                  </a:moveTo>
                  <a:lnTo>
                    <a:pt x="616513" y="0"/>
                  </a:lnTo>
                  <a:cubicBezTo>
                    <a:pt x="671549" y="0"/>
                    <a:pt x="716164" y="44615"/>
                    <a:pt x="716164" y="99650"/>
                  </a:cubicBezTo>
                  <a:lnTo>
                    <a:pt x="716164" y="1563347"/>
                  </a:lnTo>
                  <a:cubicBezTo>
                    <a:pt x="716164" y="1589776"/>
                    <a:pt x="705665" y="1615123"/>
                    <a:pt x="686977" y="1633811"/>
                  </a:cubicBezTo>
                  <a:cubicBezTo>
                    <a:pt x="668289" y="1652499"/>
                    <a:pt x="642942" y="1662998"/>
                    <a:pt x="616513" y="1662998"/>
                  </a:cubicBezTo>
                  <a:lnTo>
                    <a:pt x="99650" y="1662998"/>
                  </a:lnTo>
                  <a:cubicBezTo>
                    <a:pt x="73221" y="1662998"/>
                    <a:pt x="47875" y="1652499"/>
                    <a:pt x="29187" y="1633811"/>
                  </a:cubicBezTo>
                  <a:cubicBezTo>
                    <a:pt x="10499" y="1615123"/>
                    <a:pt x="0" y="1589776"/>
                    <a:pt x="0" y="1563347"/>
                  </a:cubicBezTo>
                  <a:lnTo>
                    <a:pt x="0" y="99650"/>
                  </a:lnTo>
                  <a:cubicBezTo>
                    <a:pt x="0" y="73221"/>
                    <a:pt x="10499" y="47875"/>
                    <a:pt x="29187" y="29187"/>
                  </a:cubicBezTo>
                  <a:cubicBezTo>
                    <a:pt x="47875" y="10499"/>
                    <a:pt x="73221" y="0"/>
                    <a:pt x="99650" y="0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9411"/>
                </a:srgbClr>
              </a:outerShdw>
              <a:reflection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g35bee1ce9eb_0_65"/>
            <p:cNvSpPr txBox="1"/>
            <p:nvPr/>
          </p:nvSpPr>
          <p:spPr>
            <a:xfrm>
              <a:off x="0" y="0"/>
              <a:ext cx="716100" cy="16629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49411"/>
                </a:srgbClr>
              </a:outerShdw>
              <a:reflection dist="38100" dir="5400000" fadeDir="5400012" sy="-100000" algn="bl" rotWithShape="0"/>
            </a:effectLst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g35bee1ce9eb_0_65"/>
          <p:cNvSpPr txBox="1"/>
          <p:nvPr/>
        </p:nvSpPr>
        <p:spPr>
          <a:xfrm>
            <a:off x="9070150" y="2638751"/>
            <a:ext cx="2434265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MXN$ 68.000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5bee1ce9eb_0_65"/>
          <p:cNvSpPr txBox="1"/>
          <p:nvPr/>
        </p:nvSpPr>
        <p:spPr>
          <a:xfrm>
            <a:off x="9222270" y="1246228"/>
            <a:ext cx="2009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PREMIUM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0" name="Google Shape;270;g35bee1ce9eb_0_65"/>
          <p:cNvGrpSpPr/>
          <p:nvPr/>
        </p:nvGrpSpPr>
        <p:grpSpPr>
          <a:xfrm>
            <a:off x="5808956" y="771344"/>
            <a:ext cx="2733901" cy="3626109"/>
            <a:chOff x="0" y="0"/>
            <a:chExt cx="720035" cy="1662998"/>
          </a:xfrm>
        </p:grpSpPr>
        <p:sp>
          <p:nvSpPr>
            <p:cNvPr id="271" name="Google Shape;271;g35bee1ce9eb_0_65"/>
            <p:cNvSpPr/>
            <p:nvPr/>
          </p:nvSpPr>
          <p:spPr>
            <a:xfrm>
              <a:off x="0" y="0"/>
              <a:ext cx="720035" cy="1662998"/>
            </a:xfrm>
            <a:custGeom>
              <a:avLst/>
              <a:gdLst/>
              <a:ahLst/>
              <a:cxnLst/>
              <a:rect l="l" t="t" r="r" b="b"/>
              <a:pathLst>
                <a:path w="720035" h="1662998" extrusionOk="0">
                  <a:moveTo>
                    <a:pt x="99114" y="0"/>
                  </a:moveTo>
                  <a:lnTo>
                    <a:pt x="620920" y="0"/>
                  </a:lnTo>
                  <a:cubicBezTo>
                    <a:pt x="675659" y="0"/>
                    <a:pt x="720035" y="44375"/>
                    <a:pt x="720035" y="99114"/>
                  </a:cubicBezTo>
                  <a:lnTo>
                    <a:pt x="720035" y="1563883"/>
                  </a:lnTo>
                  <a:cubicBezTo>
                    <a:pt x="720035" y="1618622"/>
                    <a:pt x="675659" y="1662998"/>
                    <a:pt x="620920" y="1662998"/>
                  </a:cubicBezTo>
                  <a:lnTo>
                    <a:pt x="99114" y="1662998"/>
                  </a:lnTo>
                  <a:cubicBezTo>
                    <a:pt x="44375" y="1662998"/>
                    <a:pt x="0" y="1618622"/>
                    <a:pt x="0" y="1563883"/>
                  </a:cubicBezTo>
                  <a:lnTo>
                    <a:pt x="0" y="99114"/>
                  </a:lnTo>
                  <a:cubicBezTo>
                    <a:pt x="0" y="44375"/>
                    <a:pt x="44375" y="0"/>
                    <a:pt x="99114" y="0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9411"/>
                </a:srgbClr>
              </a:outerShdw>
              <a:reflection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35bee1ce9eb_0_65"/>
            <p:cNvSpPr txBox="1"/>
            <p:nvPr/>
          </p:nvSpPr>
          <p:spPr>
            <a:xfrm>
              <a:off x="0" y="0"/>
              <a:ext cx="720000" cy="16629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49411"/>
                </a:srgbClr>
              </a:outerShdw>
              <a:reflection dist="38100" dir="5400000" fadeDir="5400012" sy="-100000" algn="bl" rotWithShape="0"/>
            </a:effectLst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g35bee1ce9eb_0_65"/>
          <p:cNvSpPr txBox="1"/>
          <p:nvPr/>
        </p:nvSpPr>
        <p:spPr>
          <a:xfrm>
            <a:off x="6096369" y="2562080"/>
            <a:ext cx="2468323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MXN$ 40.000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5bee1ce9eb_0_65"/>
          <p:cNvSpPr txBox="1"/>
          <p:nvPr/>
        </p:nvSpPr>
        <p:spPr>
          <a:xfrm>
            <a:off x="6202369" y="1246228"/>
            <a:ext cx="2009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EXECUTIVE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5bee1ce9eb_0_65"/>
          <p:cNvSpPr/>
          <p:nvPr/>
        </p:nvSpPr>
        <p:spPr>
          <a:xfrm>
            <a:off x="12179349" y="713021"/>
            <a:ext cx="215121" cy="246091"/>
          </a:xfrm>
          <a:custGeom>
            <a:avLst/>
            <a:gdLst/>
            <a:ahLst/>
            <a:cxnLst/>
            <a:rect l="l" t="t" r="r" b="b"/>
            <a:pathLst>
              <a:path w="215121" h="246091" extrusionOk="0">
                <a:moveTo>
                  <a:pt x="0" y="0"/>
                </a:moveTo>
                <a:lnTo>
                  <a:pt x="215121" y="0"/>
                </a:lnTo>
                <a:lnTo>
                  <a:pt x="21512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198" r="-718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5bee1ce9eb_0_65"/>
          <p:cNvSpPr txBox="1"/>
          <p:nvPr/>
        </p:nvSpPr>
        <p:spPr>
          <a:xfrm>
            <a:off x="12929861" y="655484"/>
            <a:ext cx="5249700" cy="454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1700" b="1" dirty="0">
                <a:latin typeface="Avenir"/>
                <a:sym typeface="Avenir"/>
              </a:rPr>
              <a:t>BILLING: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dirty="0">
                <a:latin typeface="Avenir"/>
              </a:rPr>
              <a:t>100% upon starting the program, via bank transfer.</a:t>
            </a:r>
            <a:endParaRPr sz="1700" dirty="0">
              <a:latin typeface="Avenir"/>
              <a:sym typeface="Aveni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sz="1700" b="1" i="0" u="none" strike="noStrike" cap="none" dirty="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>
              <a:lnSpc>
                <a:spcPct val="140000"/>
              </a:lnSpc>
              <a:buSzPts val="1700"/>
            </a:pPr>
            <a:r>
              <a:rPr lang="en-US" sz="1700" b="1" dirty="0">
                <a:latin typeface="Avenir"/>
              </a:rPr>
              <a:t>PAYMENT TERM: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dirty="0">
                <a:latin typeface="Avenir"/>
              </a:rPr>
              <a:t>30 days from the invoice date.</a:t>
            </a:r>
            <a:endParaRPr sz="1700" dirty="0">
              <a:latin typeface="Avenir"/>
              <a:sym typeface="Aveni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1700" b="1" i="0" u="none" strike="noStrike" cap="none" dirty="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TAXES: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0000"/>
              </a:lnSpc>
              <a:buSzPts val="1700"/>
            </a:pPr>
            <a:r>
              <a:rPr lang="en-US" sz="1700" dirty="0">
                <a:latin typeface="Avenir"/>
              </a:rPr>
              <a:t>The quoted amounts do not include VAT or any taxes from other countries.</a:t>
            </a:r>
          </a:p>
          <a:p>
            <a:pPr>
              <a:lnSpc>
                <a:spcPct val="140000"/>
              </a:lnSpc>
              <a:buSzPts val="1700"/>
            </a:pPr>
            <a:endParaRPr sz="1700" dirty="0">
              <a:latin typeface="Avenir"/>
              <a:sym typeface="Avenir"/>
            </a:endParaRPr>
          </a:p>
          <a:p>
            <a:pPr>
              <a:lnSpc>
                <a:spcPct val="140000"/>
              </a:lnSpc>
              <a:buSzPts val="1700"/>
            </a:pPr>
            <a:r>
              <a:rPr lang="en-US" sz="1700" b="1" dirty="0">
                <a:latin typeface="Avenir"/>
              </a:rPr>
              <a:t>OFFER VALIDITY:</a:t>
            </a:r>
          </a:p>
          <a:p>
            <a:pPr marL="0" lvl="0" indent="0">
              <a:lnSpc>
                <a:spcPct val="140000"/>
              </a:lnSpc>
              <a:buSzPts val="1700"/>
              <a:buFont typeface="Arial"/>
              <a:buNone/>
            </a:pPr>
            <a:r>
              <a:rPr lang="en-US" sz="1700" dirty="0">
                <a:latin typeface="Avenir"/>
              </a:rPr>
              <a:t>30 days from the date it was sent.</a:t>
            </a:r>
            <a:endParaRPr sz="1700" dirty="0">
              <a:latin typeface="Avenir"/>
            </a:endParaRPr>
          </a:p>
        </p:txBody>
      </p:sp>
      <p:sp>
        <p:nvSpPr>
          <p:cNvPr id="280" name="Google Shape;280;g35bee1ce9eb_0_65"/>
          <p:cNvSpPr/>
          <p:nvPr/>
        </p:nvSpPr>
        <p:spPr>
          <a:xfrm>
            <a:off x="12179349" y="5360496"/>
            <a:ext cx="215120" cy="246091"/>
          </a:xfrm>
          <a:custGeom>
            <a:avLst/>
            <a:gdLst/>
            <a:ahLst/>
            <a:cxnLst/>
            <a:rect l="l" t="t" r="r" b="b"/>
            <a:pathLst>
              <a:path w="286827" h="328122" extrusionOk="0">
                <a:moveTo>
                  <a:pt x="0" y="0"/>
                </a:moveTo>
                <a:lnTo>
                  <a:pt x="286827" y="0"/>
                </a:lnTo>
                <a:lnTo>
                  <a:pt x="286827" y="328122"/>
                </a:lnTo>
                <a:lnTo>
                  <a:pt x="0" y="3281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198" r="-718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5bee1ce9eb_0_65"/>
          <p:cNvSpPr txBox="1"/>
          <p:nvPr/>
        </p:nvSpPr>
        <p:spPr>
          <a:xfrm>
            <a:off x="12599499" y="6607690"/>
            <a:ext cx="4884000" cy="1465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dirty="0">
                <a:latin typeface="Avenir"/>
              </a:rPr>
              <a:t>SESSION FREQUENCY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dirty="0">
                <a:latin typeface="Avenir"/>
              </a:rPr>
              <a:t>It is recommended to keep a maximum interval of two weeks between each session to support the achievement of the established objectives.</a:t>
            </a:r>
            <a:endParaRPr sz="1700" dirty="0">
              <a:latin typeface="Avenir"/>
              <a:sym typeface="Avenir"/>
            </a:endParaRPr>
          </a:p>
        </p:txBody>
      </p:sp>
      <p:sp>
        <p:nvSpPr>
          <p:cNvPr id="282" name="Google Shape;282;g35bee1ce9eb_0_65"/>
          <p:cNvSpPr txBox="1"/>
          <p:nvPr/>
        </p:nvSpPr>
        <p:spPr>
          <a:xfrm>
            <a:off x="9184221" y="4708567"/>
            <a:ext cx="20097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1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99"/>
              <a:buFont typeface="Arial"/>
              <a:buNone/>
            </a:pPr>
            <a:r>
              <a:rPr lang="en-US" sz="3899" b="1" i="0" u="none" strike="noStrike" cap="non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5bee1ce9eb_0_65"/>
          <p:cNvSpPr txBox="1"/>
          <p:nvPr/>
        </p:nvSpPr>
        <p:spPr>
          <a:xfrm>
            <a:off x="6164320" y="4708567"/>
            <a:ext cx="20097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1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99"/>
              <a:buFont typeface="Arial"/>
              <a:buNone/>
            </a:pPr>
            <a:r>
              <a:rPr lang="en-US" sz="3899" b="1" i="0" u="none" strike="noStrike" cap="non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5bee1ce9eb_0_65"/>
          <p:cNvSpPr txBox="1"/>
          <p:nvPr/>
        </p:nvSpPr>
        <p:spPr>
          <a:xfrm>
            <a:off x="2431070" y="5763201"/>
            <a:ext cx="2345700" cy="282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 dirty="0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DIAGNOSTIC TEST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5bee1ce9eb_0_65"/>
          <p:cNvSpPr txBox="1"/>
          <p:nvPr/>
        </p:nvSpPr>
        <p:spPr>
          <a:xfrm>
            <a:off x="9252980" y="5752808"/>
            <a:ext cx="1952400" cy="42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0"/>
              <a:buFont typeface="Arial"/>
              <a:buNone/>
            </a:pPr>
            <a:r>
              <a:rPr lang="en-US" sz="1970" b="0" i="0" u="none" strike="noStrike" cap="none" dirty="0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HOGAN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5bee1ce9eb_0_65"/>
          <p:cNvSpPr txBox="1"/>
          <p:nvPr/>
        </p:nvSpPr>
        <p:spPr>
          <a:xfrm>
            <a:off x="6192984" y="5752808"/>
            <a:ext cx="19524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0"/>
              <a:buFont typeface="Arial"/>
              <a:buNone/>
            </a:pPr>
            <a:r>
              <a:rPr lang="en-US" sz="1970" b="0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PDA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5bee1ce9eb_0_65"/>
          <p:cNvSpPr/>
          <p:nvPr/>
        </p:nvSpPr>
        <p:spPr>
          <a:xfrm>
            <a:off x="156429" y="2011632"/>
            <a:ext cx="920318" cy="374548"/>
          </a:xfrm>
          <a:custGeom>
            <a:avLst/>
            <a:gdLst/>
            <a:ahLst/>
            <a:cxnLst/>
            <a:rect l="l" t="t" r="r" b="b"/>
            <a:pathLst>
              <a:path w="920318" h="374548" extrusionOk="0">
                <a:moveTo>
                  <a:pt x="0" y="0"/>
                </a:moveTo>
                <a:lnTo>
                  <a:pt x="920318" y="0"/>
                </a:lnTo>
                <a:lnTo>
                  <a:pt x="920318" y="374548"/>
                </a:lnTo>
                <a:lnTo>
                  <a:pt x="0" y="374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5bee1ce9eb_0_65"/>
          <p:cNvSpPr txBox="1"/>
          <p:nvPr/>
        </p:nvSpPr>
        <p:spPr>
          <a:xfrm>
            <a:off x="1390326" y="2487980"/>
            <a:ext cx="4135800" cy="104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5306" b="1" i="0" u="none" strike="noStrike" cap="none" dirty="0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SOLUTION: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5bee1ce9eb_0_65"/>
          <p:cNvSpPr txBox="1"/>
          <p:nvPr/>
        </p:nvSpPr>
        <p:spPr>
          <a:xfrm>
            <a:off x="994090" y="1062336"/>
            <a:ext cx="4822531" cy="152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lang="en-US" sz="7064" b="1" i="0" u="none" strike="noStrike" cap="none" dirty="0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Value of the</a:t>
            </a:r>
            <a:endParaRPr b="0" i="0" u="none" strike="noStrike" cap="none" dirty="0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85;g35bee1ce9eb_0_65">
            <a:extLst>
              <a:ext uri="{FF2B5EF4-FFF2-40B4-BE49-F238E27FC236}">
                <a16:creationId xmlns:a16="http://schemas.microsoft.com/office/drawing/2014/main" id="{108DE0C6-9C6A-0E4B-BD0A-C03ED8FF74FB}"/>
              </a:ext>
            </a:extLst>
          </p:cNvPr>
          <p:cNvSpPr txBox="1"/>
          <p:nvPr/>
        </p:nvSpPr>
        <p:spPr>
          <a:xfrm>
            <a:off x="3011870" y="4774796"/>
            <a:ext cx="17649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# </a:t>
            </a:r>
            <a:r>
              <a:rPr lang="en-US" sz="1800" b="1" dirty="0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of </a:t>
            </a:r>
            <a:r>
              <a:rPr lang="en-US" sz="1800" b="1" i="0" u="none" strike="noStrike" cap="none" dirty="0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SESSIONS: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81;g35bee1ce9eb_0_65">
            <a:extLst>
              <a:ext uri="{FF2B5EF4-FFF2-40B4-BE49-F238E27FC236}">
                <a16:creationId xmlns:a16="http://schemas.microsoft.com/office/drawing/2014/main" id="{AFAE8708-9EE3-544C-A4EA-464704CCAEEA}"/>
              </a:ext>
            </a:extLst>
          </p:cNvPr>
          <p:cNvSpPr txBox="1"/>
          <p:nvPr/>
        </p:nvSpPr>
        <p:spPr>
          <a:xfrm>
            <a:off x="6628150" y="7279213"/>
            <a:ext cx="4884000" cy="2499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1700" b="0" i="0" u="none" strike="noStrike" cap="none" dirty="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 EXECUTIVE </a:t>
            </a:r>
            <a:r>
              <a:rPr lang="es-ES" sz="1700" b="0" i="0" u="none" strike="noStrike" cap="none" dirty="0" err="1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Solutions</a:t>
            </a:r>
            <a:r>
              <a:rPr lang="es-ES" sz="1700" b="0" i="0" u="none" strike="noStrike" cap="none" dirty="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: $120.000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1700" dirty="0">
                <a:latin typeface="Avenir"/>
                <a:sym typeface="Avenir"/>
              </a:rPr>
              <a:t>1 PREMIUM </a:t>
            </a:r>
            <a:r>
              <a:rPr lang="es-ES" sz="1700" dirty="0" err="1">
                <a:latin typeface="Avenir"/>
                <a:sym typeface="Avenir"/>
              </a:rPr>
              <a:t>Solutiion</a:t>
            </a:r>
            <a:r>
              <a:rPr lang="es-ES" sz="1700" dirty="0">
                <a:latin typeface="Avenir"/>
                <a:sym typeface="Avenir"/>
              </a:rPr>
              <a:t>: $68.000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s-ES" sz="1700" b="0" i="0" u="none" strike="noStrike" cap="none" dirty="0">
              <a:solidFill>
                <a:srgbClr val="000000"/>
              </a:solidFill>
              <a:latin typeface="Avenir"/>
              <a:ea typeface="Arial"/>
              <a:cs typeface="Arial"/>
              <a:sym typeface="Aveni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s-ES" sz="2400" b="1" dirty="0">
              <a:latin typeface="Avenir"/>
              <a:sym typeface="Avenir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2400" b="1" dirty="0">
                <a:latin typeface="Avenir"/>
                <a:sym typeface="Avenir"/>
              </a:rPr>
              <a:t>TOTAL: $188.000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" name="Google Shape;286;g35bee1ce9eb_0_65">
            <a:extLst>
              <a:ext uri="{FF2B5EF4-FFF2-40B4-BE49-F238E27FC236}">
                <a16:creationId xmlns:a16="http://schemas.microsoft.com/office/drawing/2014/main" id="{B0D01E90-1190-054B-BA9C-E7F4C14D2C76}"/>
              </a:ext>
            </a:extLst>
          </p:cNvPr>
          <p:cNvSpPr txBox="1"/>
          <p:nvPr/>
        </p:nvSpPr>
        <p:spPr>
          <a:xfrm>
            <a:off x="1548619" y="7826422"/>
            <a:ext cx="3091113" cy="87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rgbClr val="54565B"/>
                </a:solidFill>
                <a:latin typeface="Garamond"/>
              </a:rPr>
              <a:t>PROPOSAL FOR LANDSTAR</a:t>
            </a:r>
            <a:endParaRPr lang="es-ES" sz="2800" b="1" dirty="0">
              <a:solidFill>
                <a:srgbClr val="54565B"/>
              </a:solidFill>
              <a:latin typeface="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faeb03101_0_3"/>
          <p:cNvSpPr txBox="1"/>
          <p:nvPr/>
        </p:nvSpPr>
        <p:spPr>
          <a:xfrm>
            <a:off x="1310100" y="3761289"/>
            <a:ext cx="91161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9000" b="1" i="0" u="none" strike="noStrike" cap="none" dirty="0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Solutions</a:t>
            </a:r>
            <a:endParaRPr sz="9000" b="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05" name="Google Shape;305;g35faeb03101_0_3"/>
          <p:cNvSpPr txBox="1"/>
          <p:nvPr/>
        </p:nvSpPr>
        <p:spPr>
          <a:xfrm>
            <a:off x="1287889" y="2906100"/>
            <a:ext cx="435630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lang="en-US" sz="8000" b="1" i="0" u="none" strike="noStrike" cap="none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Our</a:t>
            </a:r>
            <a:endParaRPr sz="8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5faeb03101_0_3"/>
          <p:cNvSpPr txBox="1"/>
          <p:nvPr/>
        </p:nvSpPr>
        <p:spPr>
          <a:xfrm>
            <a:off x="1310100" y="5381150"/>
            <a:ext cx="52074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lang="en-US" sz="2800" dirty="0">
                <a:solidFill>
                  <a:schemeClr val="lt1"/>
                </a:solidFill>
                <a:latin typeface="Garamond"/>
              </a:rPr>
              <a:t>Learn about our solutions to help you attract and strengthen your talent.</a:t>
            </a:r>
            <a:endParaRPr lang="en-US" sz="2800" dirty="0">
              <a:solidFill>
                <a:schemeClr val="lt1"/>
              </a:solidFill>
              <a:latin typeface="Garamond"/>
              <a:sym typeface="Garamond"/>
            </a:endParaRPr>
          </a:p>
        </p:txBody>
      </p:sp>
      <p:sp>
        <p:nvSpPr>
          <p:cNvPr id="307" name="Google Shape;307;g35faeb03101_0_3"/>
          <p:cNvSpPr txBox="1"/>
          <p:nvPr/>
        </p:nvSpPr>
        <p:spPr>
          <a:xfrm>
            <a:off x="10411882" y="19465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Executive Search </a:t>
            </a: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5faeb03101_0_3"/>
          <p:cNvSpPr txBox="1"/>
          <p:nvPr/>
        </p:nvSpPr>
        <p:spPr>
          <a:xfrm>
            <a:off x="10411882" y="60460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Self Placement</a:t>
            </a: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g35faeb03101_0_3"/>
          <p:cNvCxnSpPr/>
          <p:nvPr/>
        </p:nvCxnSpPr>
        <p:spPr>
          <a:xfrm>
            <a:off x="10411875" y="2824650"/>
            <a:ext cx="4466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0" name="Google Shape;310;g35faeb03101_0_3"/>
          <p:cNvSpPr txBox="1"/>
          <p:nvPr/>
        </p:nvSpPr>
        <p:spPr>
          <a:xfrm>
            <a:off x="10419757" y="30336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Assessment </a:t>
            </a: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g35faeb03101_0_3"/>
          <p:cNvCxnSpPr/>
          <p:nvPr/>
        </p:nvCxnSpPr>
        <p:spPr>
          <a:xfrm>
            <a:off x="10411875" y="3767875"/>
            <a:ext cx="4466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2" name="Google Shape;312;g35faeb03101_0_3"/>
          <p:cNvSpPr txBox="1"/>
          <p:nvPr/>
        </p:nvSpPr>
        <p:spPr>
          <a:xfrm>
            <a:off x="10419757" y="40242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Market Insights </a:t>
            </a: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g35faeb03101_0_3"/>
          <p:cNvCxnSpPr/>
          <p:nvPr/>
        </p:nvCxnSpPr>
        <p:spPr>
          <a:xfrm>
            <a:off x="10411875" y="4758475"/>
            <a:ext cx="4466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4" name="Google Shape;314;g35faeb03101_0_3"/>
          <p:cNvSpPr txBox="1"/>
          <p:nvPr/>
        </p:nvSpPr>
        <p:spPr>
          <a:xfrm>
            <a:off x="10419757" y="50351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Coaching</a:t>
            </a:r>
            <a:endParaRPr sz="3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g35faeb03101_0_3"/>
          <p:cNvCxnSpPr/>
          <p:nvPr/>
        </p:nvCxnSpPr>
        <p:spPr>
          <a:xfrm>
            <a:off x="10411875" y="5769375"/>
            <a:ext cx="4466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16" name="Google Shape;316;g35faeb03101_0_3" title="VDH Logo_2025-0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12925" y="9058425"/>
            <a:ext cx="3559228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65B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7"/>
          <p:cNvSpPr/>
          <p:nvPr/>
        </p:nvSpPr>
        <p:spPr>
          <a:xfrm>
            <a:off x="0" y="5660700"/>
            <a:ext cx="18320353" cy="4592300"/>
          </a:xfrm>
          <a:custGeom>
            <a:avLst/>
            <a:gdLst/>
            <a:ahLst/>
            <a:cxnLst/>
            <a:rect l="l" t="t" r="r" b="b"/>
            <a:pathLst>
              <a:path w="6428194" h="1554078" extrusionOk="0">
                <a:moveTo>
                  <a:pt x="0" y="0"/>
                </a:moveTo>
                <a:lnTo>
                  <a:pt x="6428194" y="0"/>
                </a:lnTo>
                <a:lnTo>
                  <a:pt x="6428194" y="1554078"/>
                </a:lnTo>
                <a:lnTo>
                  <a:pt x="0" y="15540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7"/>
          <p:cNvSpPr txBox="1"/>
          <p:nvPr/>
        </p:nvSpPr>
        <p:spPr>
          <a:xfrm>
            <a:off x="7469472" y="6178207"/>
            <a:ext cx="5188934" cy="202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 b="0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Website: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 b="0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LinkedIn: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 b="0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Correo: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endParaRPr sz="2799" b="0" i="0" u="none" strike="noStrike" cap="none">
              <a:solidFill>
                <a:srgbClr val="5456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3" name="Google Shape;323;p37"/>
          <p:cNvSpPr txBox="1"/>
          <p:nvPr/>
        </p:nvSpPr>
        <p:spPr>
          <a:xfrm>
            <a:off x="12951650" y="6283097"/>
            <a:ext cx="4631629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WWW.VONDERHEIDE.COM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7"/>
          <p:cNvSpPr txBox="1"/>
          <p:nvPr/>
        </p:nvSpPr>
        <p:spPr>
          <a:xfrm>
            <a:off x="12951650" y="6848913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VON DER HEIDE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7"/>
          <p:cNvSpPr txBox="1"/>
          <p:nvPr/>
        </p:nvSpPr>
        <p:spPr>
          <a:xfrm>
            <a:off x="12951650" y="7464472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CONTACTO@VDH.JOBS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p37"/>
          <p:cNvGrpSpPr/>
          <p:nvPr/>
        </p:nvGrpSpPr>
        <p:grpSpPr>
          <a:xfrm>
            <a:off x="-523800" y="2286026"/>
            <a:ext cx="8703799" cy="2272849"/>
            <a:chOff x="-523800" y="2286026"/>
            <a:chExt cx="8703799" cy="2272849"/>
          </a:xfrm>
        </p:grpSpPr>
        <p:pic>
          <p:nvPicPr>
            <p:cNvPr id="327" name="Google Shape;327;p37" title="people to business.png"/>
            <p:cNvPicPr preferRelativeResize="0"/>
            <p:nvPr/>
          </p:nvPicPr>
          <p:blipFill rotWithShape="1">
            <a:blip r:embed="rId3">
              <a:alphaModFix/>
            </a:blip>
            <a:srcRect l="35240" t="51646" r="35608" b="33238"/>
            <a:stretch/>
          </p:blipFill>
          <p:spPr>
            <a:xfrm>
              <a:off x="1303875" y="3119500"/>
              <a:ext cx="4935000" cy="143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37"/>
            <p:cNvSpPr/>
            <p:nvPr/>
          </p:nvSpPr>
          <p:spPr>
            <a:xfrm>
              <a:off x="-523800" y="2286026"/>
              <a:ext cx="8703799" cy="1336045"/>
            </a:xfrm>
            <a:custGeom>
              <a:avLst/>
              <a:gdLst/>
              <a:ahLst/>
              <a:cxnLst/>
              <a:rect l="l" t="t" r="r" b="b"/>
              <a:pathLst>
                <a:path w="10812173" h="1659683" extrusionOk="0">
                  <a:moveTo>
                    <a:pt x="0" y="0"/>
                  </a:moveTo>
                  <a:lnTo>
                    <a:pt x="10812174" y="0"/>
                  </a:lnTo>
                  <a:lnTo>
                    <a:pt x="10812174" y="1659683"/>
                  </a:lnTo>
                  <a:lnTo>
                    <a:pt x="0" y="16596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365961" b="-376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550</Words>
  <Application>Microsoft Macintosh PowerPoint</Application>
  <PresentationFormat>Custom</PresentationFormat>
  <Paragraphs>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Avenir</vt:lpstr>
      <vt:lpstr>Calibri</vt:lpstr>
      <vt:lpstr>Garamond</vt:lpstr>
      <vt:lpstr>Arial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25</cp:revision>
  <dcterms:created xsi:type="dcterms:W3CDTF">2006-08-16T00:00:00Z</dcterms:created>
  <dcterms:modified xsi:type="dcterms:W3CDTF">2025-11-18T20:59:00Z</dcterms:modified>
</cp:coreProperties>
</file>