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10287000" cx="18288000"/>
  <p:notesSz cx="6858000" cy="9144000"/>
  <p:embeddedFontLst>
    <p:embeddedFont>
      <p:font typeface="Garamond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j63to7dpo4lA6aHh/5RAH/5Rro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3EB832-9358-4025-AA97-57D134809C49}">
  <a:tblStyle styleId="{273EB832-9358-4025-AA97-57D134809C4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aramond-bold.fntdata"/><Relationship Id="rId11" Type="http://schemas.openxmlformats.org/officeDocument/2006/relationships/slide" Target="slides/slide5.xml"/><Relationship Id="rId22" Type="http://schemas.openxmlformats.org/officeDocument/2006/relationships/font" Target="fonts/Garamond-boldItalic.fntdata"/><Relationship Id="rId10" Type="http://schemas.openxmlformats.org/officeDocument/2006/relationships/slide" Target="slides/slide4.xml"/><Relationship Id="rId21" Type="http://schemas.openxmlformats.org/officeDocument/2006/relationships/font" Target="fonts/Garamond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Garamond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809203cad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g35809203cad_1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809203cad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5809203cad_1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bee174b82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g35bee174b82_0_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8131ee3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98131ee3b8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5714f9f95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g35714f9f95a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553af37456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553af3745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5ba6ddf0d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35ba6ddf0db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5ba6ddf0d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g35ba6ddf0db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5e6a1417f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5e6a1417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5e6a1417f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g35e6a1417f8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5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5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5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jpg"/><Relationship Id="rId4" Type="http://schemas.openxmlformats.org/officeDocument/2006/relationships/image" Target="../media/image17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jp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4565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3737913" y="3956892"/>
            <a:ext cx="10812173" cy="1659683"/>
          </a:xfrm>
          <a:custGeom>
            <a:rect b="b" l="l" r="r" t="t"/>
            <a:pathLst>
              <a:path extrusionOk="0" h="1659683" w="10812173">
                <a:moveTo>
                  <a:pt x="0" y="0"/>
                </a:moveTo>
                <a:lnTo>
                  <a:pt x="10812174" y="0"/>
                </a:lnTo>
                <a:lnTo>
                  <a:pt x="10812174" y="1659683"/>
                </a:lnTo>
                <a:lnTo>
                  <a:pt x="0" y="16596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76383" l="0" r="0" t="-365580"/>
            </a:stretch>
          </a:blipFill>
          <a:ln>
            <a:noFill/>
          </a:ln>
        </p:spPr>
      </p:sp>
      <p:pic>
        <p:nvPicPr>
          <p:cNvPr id="85" name="Google Shape;85;p2" title="Presentacion Comercial Soluciones VON DER HEIDE.png"/>
          <p:cNvPicPr preferRelativeResize="0"/>
          <p:nvPr/>
        </p:nvPicPr>
        <p:blipFill rotWithShape="1">
          <a:blip r:embed="rId4">
            <a:alphaModFix/>
          </a:blip>
          <a:srcRect b="31963" l="36695" r="36609" t="56580"/>
          <a:stretch/>
        </p:blipFill>
        <p:spPr>
          <a:xfrm>
            <a:off x="6441276" y="5719901"/>
            <a:ext cx="5405448" cy="130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34895" t="-59875"/>
            </a:stretch>
          </a:blipFill>
          <a:ln>
            <a:noFill/>
          </a:ln>
        </p:spPr>
      </p:sp>
      <p:sp>
        <p:nvSpPr>
          <p:cNvPr id="91" name="Google Shape;91;p10"/>
          <p:cNvSpPr/>
          <p:nvPr/>
        </p:nvSpPr>
        <p:spPr>
          <a:xfrm>
            <a:off x="0" y="5143500"/>
            <a:ext cx="18288000" cy="5143500"/>
          </a:xfrm>
          <a:custGeom>
            <a:rect b="b" l="l" r="r" t="t"/>
            <a:pathLst>
              <a:path extrusionOk="0" h="1739900" w="6186311">
                <a:moveTo>
                  <a:pt x="0" y="0"/>
                </a:moveTo>
                <a:lnTo>
                  <a:pt x="6186311" y="0"/>
                </a:lnTo>
                <a:lnTo>
                  <a:pt x="6186311" y="1739900"/>
                </a:lnTo>
                <a:lnTo>
                  <a:pt x="0" y="1739900"/>
                </a:lnTo>
                <a:close/>
              </a:path>
            </a:pathLst>
          </a:custGeom>
          <a:solidFill>
            <a:srgbClr val="54565B"/>
          </a:solidFill>
          <a:ln>
            <a:noFill/>
          </a:ln>
        </p:spPr>
      </p:sp>
      <p:sp>
        <p:nvSpPr>
          <p:cNvPr id="92" name="Google Shape;92;p10"/>
          <p:cNvSpPr/>
          <p:nvPr/>
        </p:nvSpPr>
        <p:spPr>
          <a:xfrm rot="10800000">
            <a:off x="-1158529" y="5143512"/>
            <a:ext cx="19446529" cy="2873913"/>
          </a:xfrm>
          <a:custGeom>
            <a:rect b="b" l="l" r="r" t="t"/>
            <a:pathLst>
              <a:path extrusionOk="0" h="2873913" w="17800027">
                <a:moveTo>
                  <a:pt x="0" y="0"/>
                </a:moveTo>
                <a:lnTo>
                  <a:pt x="17800027" y="0"/>
                </a:lnTo>
                <a:lnTo>
                  <a:pt x="17800027" y="2873913"/>
                </a:lnTo>
                <a:lnTo>
                  <a:pt x="0" y="28739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4000"/>
            </a:blip>
            <a:stretch>
              <a:fillRect b="-41966" l="0" r="0" t="-41973"/>
            </a:stretch>
          </a:blipFill>
          <a:ln>
            <a:noFill/>
          </a:ln>
        </p:spPr>
      </p:sp>
      <p:sp>
        <p:nvSpPr>
          <p:cNvPr id="93" name="Google Shape;93;p10"/>
          <p:cNvSpPr/>
          <p:nvPr/>
        </p:nvSpPr>
        <p:spPr>
          <a:xfrm>
            <a:off x="7821179" y="9258300"/>
            <a:ext cx="3133615" cy="822737"/>
          </a:xfrm>
          <a:custGeom>
            <a:rect b="b" l="l" r="r" t="t"/>
            <a:pathLst>
              <a:path extrusionOk="0" h="822737" w="3133615">
                <a:moveTo>
                  <a:pt x="0" y="0"/>
                </a:moveTo>
                <a:lnTo>
                  <a:pt x="3133615" y="0"/>
                </a:lnTo>
                <a:lnTo>
                  <a:pt x="3133615" y="822737"/>
                </a:lnTo>
                <a:lnTo>
                  <a:pt x="0" y="8227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85126" l="-17402" r="-16821" t="-276250"/>
            </a:stretch>
          </a:blipFill>
          <a:ln>
            <a:noFill/>
          </a:ln>
        </p:spPr>
      </p:sp>
      <p:sp>
        <p:nvSpPr>
          <p:cNvPr id="94" name="Google Shape;94;p10"/>
          <p:cNvSpPr txBox="1"/>
          <p:nvPr/>
        </p:nvSpPr>
        <p:spPr>
          <a:xfrm>
            <a:off x="114603" y="7443105"/>
            <a:ext cx="15723300" cy="16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3"/>
              <a:buFont typeface="Arial"/>
              <a:buNone/>
            </a:pPr>
            <a:r>
              <a:rPr b="1" i="0" lang="en-US" sz="10903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TALENT ACQUISITION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10"/>
          <p:cNvGrpSpPr/>
          <p:nvPr/>
        </p:nvGrpSpPr>
        <p:grpSpPr>
          <a:xfrm>
            <a:off x="16079532" y="8005855"/>
            <a:ext cx="1342975" cy="671488"/>
            <a:chOff x="0" y="0"/>
            <a:chExt cx="1790634" cy="895317"/>
          </a:xfrm>
        </p:grpSpPr>
        <p:sp>
          <p:nvSpPr>
            <p:cNvPr id="96" name="Google Shape;96;p10"/>
            <p:cNvSpPr/>
            <p:nvPr/>
          </p:nvSpPr>
          <p:spPr>
            <a:xfrm>
              <a:off x="0" y="0"/>
              <a:ext cx="1790634" cy="895317"/>
            </a:xfrm>
            <a:custGeom>
              <a:rect b="b" l="l" r="r" t="t"/>
              <a:pathLst>
                <a:path extrusionOk="0" h="895317" w="1790634">
                  <a:moveTo>
                    <a:pt x="0" y="0"/>
                  </a:moveTo>
                  <a:lnTo>
                    <a:pt x="1790634" y="0"/>
                  </a:lnTo>
                  <a:lnTo>
                    <a:pt x="1790634" y="895317"/>
                  </a:lnTo>
                  <a:lnTo>
                    <a:pt x="0" y="89531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7" name="Google Shape;97;p10"/>
            <p:cNvSpPr/>
            <p:nvPr/>
          </p:nvSpPr>
          <p:spPr>
            <a:xfrm>
              <a:off x="210868" y="232737"/>
              <a:ext cx="566515" cy="429843"/>
            </a:xfrm>
            <a:custGeom>
              <a:rect b="b" l="l" r="r" t="t"/>
              <a:pathLst>
                <a:path extrusionOk="0" h="429843" w="566515">
                  <a:moveTo>
                    <a:pt x="0" y="0"/>
                  </a:moveTo>
                  <a:lnTo>
                    <a:pt x="566515" y="0"/>
                  </a:lnTo>
                  <a:lnTo>
                    <a:pt x="566515" y="429843"/>
                  </a:lnTo>
                  <a:lnTo>
                    <a:pt x="0" y="4298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809203cad_1_105"/>
          <p:cNvSpPr/>
          <p:nvPr/>
        </p:nvSpPr>
        <p:spPr>
          <a:xfrm>
            <a:off x="485525" y="3874327"/>
            <a:ext cx="17309894" cy="5199943"/>
          </a:xfrm>
          <a:custGeom>
            <a:rect b="b" l="l" r="r" t="t"/>
            <a:pathLst>
              <a:path extrusionOk="0" h="1759710" w="5857832">
                <a:moveTo>
                  <a:pt x="0" y="0"/>
                </a:moveTo>
                <a:lnTo>
                  <a:pt x="5857832" y="0"/>
                </a:lnTo>
                <a:lnTo>
                  <a:pt x="5857832" y="1759710"/>
                </a:lnTo>
                <a:lnTo>
                  <a:pt x="0" y="1759710"/>
                </a:lnTo>
                <a:close/>
              </a:path>
            </a:pathLst>
          </a:custGeom>
          <a:solidFill>
            <a:srgbClr val="54565B"/>
          </a:solidFill>
          <a:ln>
            <a:noFill/>
          </a:ln>
        </p:spPr>
      </p:sp>
      <p:sp>
        <p:nvSpPr>
          <p:cNvPr id="103" name="Google Shape;103;g35809203cad_1_105"/>
          <p:cNvSpPr txBox="1"/>
          <p:nvPr/>
        </p:nvSpPr>
        <p:spPr>
          <a:xfrm>
            <a:off x="2390792" y="2233026"/>
            <a:ext cx="12438300" cy="9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9"/>
              <a:buFont typeface="Arial"/>
              <a:buNone/>
            </a:pPr>
            <a:r>
              <a:rPr b="1" i="0" lang="en-US" sz="6329" u="none" cap="none" strike="noStrik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 oportunidades se encuentren.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5809203cad_1_105"/>
          <p:cNvSpPr txBox="1"/>
          <p:nvPr/>
        </p:nvSpPr>
        <p:spPr>
          <a:xfrm>
            <a:off x="8698197" y="4119809"/>
            <a:ext cx="8949600" cy="34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9"/>
              <a:buFont typeface="Arial"/>
              <a:buNone/>
            </a:pPr>
            <a:r>
              <a:rPr b="0" i="0" lang="en-US" sz="3109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Con nuestro framework renovado, alineamos las capacidades del talento con los </a:t>
            </a:r>
            <a:r>
              <a:rPr b="0" i="0" lang="en-US" sz="3109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objetivos</a:t>
            </a:r>
            <a:r>
              <a:rPr b="0" i="0" lang="en-US" sz="3109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 empresariales, facilitando encuentros donde los profesionales eligen su futuro. </a:t>
            </a:r>
            <a:r>
              <a:rPr b="1" i="0" lang="en-US" sz="3109" u="none" cap="none" strike="noStrik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Somos el socio para enfrentar desafíos en un contexto cambiante</a:t>
            </a:r>
            <a:r>
              <a:rPr b="0" i="0" lang="en-US" sz="3109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5809203cad_1_105"/>
          <p:cNvSpPr/>
          <p:nvPr/>
        </p:nvSpPr>
        <p:spPr>
          <a:xfrm>
            <a:off x="7620587" y="9258300"/>
            <a:ext cx="3046827" cy="747466"/>
          </a:xfrm>
          <a:custGeom>
            <a:rect b="b" l="l" r="r" t="t"/>
            <a:pathLst>
              <a:path extrusionOk="0" h="747466" w="3046827">
                <a:moveTo>
                  <a:pt x="0" y="0"/>
                </a:moveTo>
                <a:lnTo>
                  <a:pt x="3046826" y="0"/>
                </a:lnTo>
                <a:lnTo>
                  <a:pt x="3046826" y="747466"/>
                </a:lnTo>
                <a:lnTo>
                  <a:pt x="0" y="747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93796" l="-17747" r="-15528" t="-308846"/>
            </a:stretch>
          </a:blipFill>
          <a:ln>
            <a:noFill/>
          </a:ln>
        </p:spPr>
      </p:sp>
      <p:sp>
        <p:nvSpPr>
          <p:cNvPr id="106" name="Google Shape;106;g35809203cad_1_105"/>
          <p:cNvSpPr txBox="1"/>
          <p:nvPr/>
        </p:nvSpPr>
        <p:spPr>
          <a:xfrm>
            <a:off x="2679228" y="1174078"/>
            <a:ext cx="11891700" cy="12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6"/>
              <a:buFont typeface="Arial"/>
              <a:buNone/>
            </a:pPr>
            <a:r>
              <a:rPr b="1" i="0" lang="en-US" sz="8006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Para que el talento y 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" name="Google Shape;107;g35809203cad_1_105"/>
          <p:cNvGrpSpPr/>
          <p:nvPr/>
        </p:nvGrpSpPr>
        <p:grpSpPr>
          <a:xfrm rot="5400000">
            <a:off x="636330" y="3636704"/>
            <a:ext cx="1533728" cy="766864"/>
            <a:chOff x="0" y="0"/>
            <a:chExt cx="2044970" cy="1022485"/>
          </a:xfrm>
        </p:grpSpPr>
        <p:sp>
          <p:nvSpPr>
            <p:cNvPr id="108" name="Google Shape;108;g35809203cad_1_105"/>
            <p:cNvSpPr/>
            <p:nvPr/>
          </p:nvSpPr>
          <p:spPr>
            <a:xfrm>
              <a:off x="0" y="0"/>
              <a:ext cx="2044970" cy="1022485"/>
            </a:xfrm>
            <a:custGeom>
              <a:rect b="b" l="l" r="r" t="t"/>
              <a:pathLst>
                <a:path extrusionOk="0" h="1022485" w="2044970">
                  <a:moveTo>
                    <a:pt x="0" y="0"/>
                  </a:moveTo>
                  <a:lnTo>
                    <a:pt x="2044970" y="0"/>
                  </a:lnTo>
                  <a:lnTo>
                    <a:pt x="2044970" y="1022485"/>
                  </a:lnTo>
                  <a:lnTo>
                    <a:pt x="0" y="102248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9" name="Google Shape;109;g35809203cad_1_105"/>
            <p:cNvSpPr/>
            <p:nvPr/>
          </p:nvSpPr>
          <p:spPr>
            <a:xfrm>
              <a:off x="240819" y="265794"/>
              <a:ext cx="646981" cy="490897"/>
            </a:xfrm>
            <a:custGeom>
              <a:rect b="b" l="l" r="r" t="t"/>
              <a:pathLst>
                <a:path extrusionOk="0" h="490897" w="646981">
                  <a:moveTo>
                    <a:pt x="0" y="0"/>
                  </a:moveTo>
                  <a:lnTo>
                    <a:pt x="646981" y="0"/>
                  </a:lnTo>
                  <a:lnTo>
                    <a:pt x="646981" y="490897"/>
                  </a:lnTo>
                  <a:lnTo>
                    <a:pt x="0" y="4908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10" name="Google Shape;110;g35809203cad_1_105"/>
          <p:cNvSpPr/>
          <p:nvPr/>
        </p:nvSpPr>
        <p:spPr>
          <a:xfrm>
            <a:off x="8011511" y="4281734"/>
            <a:ext cx="26700" cy="4307100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g35809203cad_1_105" title="Elección Mutua.png"/>
          <p:cNvPicPr preferRelativeResize="0"/>
          <p:nvPr/>
        </p:nvPicPr>
        <p:blipFill rotWithShape="1">
          <a:blip r:embed="rId7">
            <a:alphaModFix/>
          </a:blip>
          <a:srcRect b="25926" l="8724" r="60675" t="46534"/>
          <a:stretch/>
        </p:blipFill>
        <p:spPr>
          <a:xfrm>
            <a:off x="1595450" y="4787000"/>
            <a:ext cx="5595926" cy="2832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809203cad_1_75"/>
          <p:cNvSpPr/>
          <p:nvPr/>
        </p:nvSpPr>
        <p:spPr>
          <a:xfrm>
            <a:off x="489050" y="2713288"/>
            <a:ext cx="17309894" cy="6277765"/>
          </a:xfrm>
          <a:custGeom>
            <a:rect b="b" l="l" r="r" t="t"/>
            <a:pathLst>
              <a:path extrusionOk="0" h="1759710" w="5857832">
                <a:moveTo>
                  <a:pt x="0" y="0"/>
                </a:moveTo>
                <a:lnTo>
                  <a:pt x="5857832" y="0"/>
                </a:lnTo>
                <a:lnTo>
                  <a:pt x="5857832" y="1759710"/>
                </a:lnTo>
                <a:lnTo>
                  <a:pt x="0" y="1759710"/>
                </a:lnTo>
                <a:close/>
              </a:path>
            </a:pathLst>
          </a:custGeom>
          <a:solidFill>
            <a:srgbClr val="54565B"/>
          </a:solidFill>
          <a:ln>
            <a:noFill/>
          </a:ln>
        </p:spPr>
      </p:sp>
      <p:sp>
        <p:nvSpPr>
          <p:cNvPr id="117" name="Google Shape;117;g35809203cad_1_75"/>
          <p:cNvSpPr/>
          <p:nvPr/>
        </p:nvSpPr>
        <p:spPr>
          <a:xfrm>
            <a:off x="7620587" y="9258300"/>
            <a:ext cx="3046827" cy="747466"/>
          </a:xfrm>
          <a:custGeom>
            <a:rect b="b" l="l" r="r" t="t"/>
            <a:pathLst>
              <a:path extrusionOk="0" h="747466" w="3046827">
                <a:moveTo>
                  <a:pt x="0" y="0"/>
                </a:moveTo>
                <a:lnTo>
                  <a:pt x="3046826" y="0"/>
                </a:lnTo>
                <a:lnTo>
                  <a:pt x="3046826" y="747466"/>
                </a:lnTo>
                <a:lnTo>
                  <a:pt x="0" y="747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93768" l="-17747" r="-15528" t="-308825"/>
            </a:stretch>
          </a:blipFill>
          <a:ln>
            <a:noFill/>
          </a:ln>
        </p:spPr>
      </p:sp>
      <p:grpSp>
        <p:nvGrpSpPr>
          <p:cNvPr id="118" name="Google Shape;118;g35809203cad_1_75"/>
          <p:cNvGrpSpPr/>
          <p:nvPr/>
        </p:nvGrpSpPr>
        <p:grpSpPr>
          <a:xfrm rot="5400000">
            <a:off x="636330" y="2664567"/>
            <a:ext cx="1533728" cy="766864"/>
            <a:chOff x="0" y="0"/>
            <a:chExt cx="2044970" cy="1022485"/>
          </a:xfrm>
        </p:grpSpPr>
        <p:sp>
          <p:nvSpPr>
            <p:cNvPr id="119" name="Google Shape;119;g35809203cad_1_75"/>
            <p:cNvSpPr/>
            <p:nvPr/>
          </p:nvSpPr>
          <p:spPr>
            <a:xfrm>
              <a:off x="0" y="0"/>
              <a:ext cx="2044970" cy="1022485"/>
            </a:xfrm>
            <a:custGeom>
              <a:rect b="b" l="l" r="r" t="t"/>
              <a:pathLst>
                <a:path extrusionOk="0" h="1022485" w="2044970">
                  <a:moveTo>
                    <a:pt x="0" y="0"/>
                  </a:moveTo>
                  <a:lnTo>
                    <a:pt x="2044970" y="0"/>
                  </a:lnTo>
                  <a:lnTo>
                    <a:pt x="2044970" y="1022485"/>
                  </a:lnTo>
                  <a:lnTo>
                    <a:pt x="0" y="102248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0" name="Google Shape;120;g35809203cad_1_75"/>
            <p:cNvSpPr/>
            <p:nvPr/>
          </p:nvSpPr>
          <p:spPr>
            <a:xfrm>
              <a:off x="240819" y="265794"/>
              <a:ext cx="646981" cy="490897"/>
            </a:xfrm>
            <a:custGeom>
              <a:rect b="b" l="l" r="r" t="t"/>
              <a:pathLst>
                <a:path extrusionOk="0" h="490897" w="646981">
                  <a:moveTo>
                    <a:pt x="0" y="0"/>
                  </a:moveTo>
                  <a:lnTo>
                    <a:pt x="646981" y="0"/>
                  </a:lnTo>
                  <a:lnTo>
                    <a:pt x="646981" y="490897"/>
                  </a:lnTo>
                  <a:lnTo>
                    <a:pt x="0" y="4908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21" name="Google Shape;121;g35809203cad_1_75"/>
          <p:cNvSpPr txBox="1"/>
          <p:nvPr/>
        </p:nvSpPr>
        <p:spPr>
          <a:xfrm>
            <a:off x="2705100" y="3211725"/>
            <a:ext cx="130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1" lang="en-US" sz="3000" u="none" cap="none" strike="noStrik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Se determina el tipo de solución con base al sueldo ofrecido.</a:t>
            </a:r>
            <a:endParaRPr b="0" i="1" sz="2400" u="none" cap="none" strike="noStrike">
              <a:solidFill>
                <a:srgbClr val="F8B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5809203cad_1_75"/>
          <p:cNvSpPr txBox="1"/>
          <p:nvPr/>
        </p:nvSpPr>
        <p:spPr>
          <a:xfrm>
            <a:off x="3266918" y="4973562"/>
            <a:ext cx="38814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"/>
              <a:buFont typeface="Arial"/>
              <a:buNone/>
            </a:pPr>
            <a:r>
              <a:rPr b="1" i="0" lang="en-US" sz="211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SALARIO MENSUAL BRUTO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5809203cad_1_75"/>
          <p:cNvSpPr txBox="1"/>
          <p:nvPr/>
        </p:nvSpPr>
        <p:spPr>
          <a:xfrm>
            <a:off x="3266918" y="5290831"/>
            <a:ext cx="2193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"/>
              <a:buFont typeface="Arial"/>
              <a:buNone/>
            </a:pPr>
            <a:r>
              <a:rPr b="1" i="0" lang="en-US" sz="2110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A PARTIR DE: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5809203cad_1_75"/>
          <p:cNvSpPr txBox="1"/>
          <p:nvPr/>
        </p:nvSpPr>
        <p:spPr>
          <a:xfrm>
            <a:off x="3255500" y="5968750"/>
            <a:ext cx="5276100" cy="3340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Argentina		</a:t>
            </a:r>
            <a:r>
              <a:rPr b="0" i="0" lang="en-US" sz="2171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AR$ 6.000.000</a:t>
            </a:r>
            <a:endParaRPr b="0" i="0" sz="2171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Chile			</a:t>
            </a:r>
            <a:r>
              <a:rPr b="0" i="0" lang="en-US" sz="2171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CLP$ 5.000.000</a:t>
            </a:r>
            <a:endParaRPr b="0" i="0" sz="2171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México			MXN$ 100.000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Otros países	Se calculará según el país</a:t>
            </a:r>
            <a:r>
              <a:rPr b="0" i="0" lang="en-US" sz="2171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5809203cad_1_75"/>
          <p:cNvSpPr txBox="1"/>
          <p:nvPr/>
        </p:nvSpPr>
        <p:spPr>
          <a:xfrm>
            <a:off x="10389093" y="4973562"/>
            <a:ext cx="38814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"/>
              <a:buFont typeface="Arial"/>
              <a:buNone/>
            </a:pPr>
            <a:r>
              <a:rPr b="1" i="0" lang="en-US" sz="211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SALARIO MENSUAL BRUTO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5809203cad_1_75"/>
          <p:cNvSpPr txBox="1"/>
          <p:nvPr/>
        </p:nvSpPr>
        <p:spPr>
          <a:xfrm>
            <a:off x="12077029" y="5290831"/>
            <a:ext cx="2193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"/>
              <a:buFont typeface="Arial"/>
              <a:buNone/>
            </a:pPr>
            <a:r>
              <a:rPr b="1" i="0" lang="en-US" sz="2110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A PARTIR DE: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5809203cad_1_75"/>
          <p:cNvSpPr txBox="1"/>
          <p:nvPr/>
        </p:nvSpPr>
        <p:spPr>
          <a:xfrm>
            <a:off x="10693900" y="5968750"/>
            <a:ext cx="5276100" cy="2672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Argentina		</a:t>
            </a:r>
            <a:r>
              <a:rPr b="0" i="0" lang="en-US" sz="2171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AR$ 3.000.000</a:t>
            </a:r>
            <a:endParaRPr b="0" i="0" sz="2171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Chile			</a:t>
            </a:r>
            <a:r>
              <a:rPr b="0" i="0" lang="en-US" sz="2171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CLP$ 2.000.000</a:t>
            </a:r>
            <a:endParaRPr b="0" i="0" sz="2171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México			MXN$ 35.000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Otros países	USD 2.000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5809203cad_1_75"/>
          <p:cNvSpPr txBox="1"/>
          <p:nvPr/>
        </p:nvSpPr>
        <p:spPr>
          <a:xfrm>
            <a:off x="3282375" y="4410725"/>
            <a:ext cx="42870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EXECUTIVE SEARCH</a:t>
            </a:r>
            <a:endParaRPr b="1" i="0" sz="31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29" name="Google Shape;129;g35809203cad_1_75"/>
          <p:cNvSpPr txBox="1"/>
          <p:nvPr/>
        </p:nvSpPr>
        <p:spPr>
          <a:xfrm>
            <a:off x="10058975" y="4410725"/>
            <a:ext cx="42870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7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TALENT  SEARCH</a:t>
            </a:r>
            <a:endParaRPr b="1" i="0" sz="31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30" name="Google Shape;130;g35809203cad_1_75"/>
          <p:cNvSpPr txBox="1"/>
          <p:nvPr/>
        </p:nvSpPr>
        <p:spPr>
          <a:xfrm>
            <a:off x="2335000" y="380075"/>
            <a:ext cx="7289400" cy="1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1"/>
              <a:buFont typeface="Arial"/>
              <a:buNone/>
            </a:pPr>
            <a:r>
              <a:rPr b="1" i="0" lang="en-US" sz="8501" u="none" cap="none" strike="noStrik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TIPO DE</a:t>
            </a:r>
            <a:endParaRPr b="0" i="0" sz="1400" u="none" cap="none" strike="noStrike">
              <a:solidFill>
                <a:srgbClr val="54565B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31" name="Google Shape;131;g35809203cad_1_75"/>
          <p:cNvSpPr txBox="1"/>
          <p:nvPr/>
        </p:nvSpPr>
        <p:spPr>
          <a:xfrm>
            <a:off x="2447037" y="1433250"/>
            <a:ext cx="75195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83"/>
              <a:buFont typeface="Arial"/>
              <a:buNone/>
            </a:pPr>
            <a:r>
              <a:rPr b="1" i="0" lang="en-US" sz="6783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SOLUCIONES</a:t>
            </a:r>
            <a:endParaRPr b="0" i="0" sz="400" u="none" cap="none" strike="noStrik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132" name="Google Shape;132;g35809203cad_1_75"/>
          <p:cNvCxnSpPr/>
          <p:nvPr/>
        </p:nvCxnSpPr>
        <p:spPr>
          <a:xfrm flipH="1">
            <a:off x="9195388" y="4410725"/>
            <a:ext cx="24900" cy="3754500"/>
          </a:xfrm>
          <a:prstGeom prst="straightConnector1">
            <a:avLst/>
          </a:prstGeom>
          <a:noFill/>
          <a:ln cap="flat" cmpd="sng" w="9525">
            <a:solidFill>
              <a:srgbClr val="F8BF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bee174b82_0_99"/>
          <p:cNvSpPr txBox="1"/>
          <p:nvPr/>
        </p:nvSpPr>
        <p:spPr>
          <a:xfrm>
            <a:off x="1420600" y="580650"/>
            <a:ext cx="65367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1"/>
              <a:buFont typeface="Arial"/>
              <a:buNone/>
            </a:pPr>
            <a:r>
              <a:rPr b="1" i="0" lang="en-US" sz="6501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Executive Search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5bee174b82_0_99"/>
          <p:cNvSpPr txBox="1"/>
          <p:nvPr/>
        </p:nvSpPr>
        <p:spPr>
          <a:xfrm>
            <a:off x="960178" y="1474945"/>
            <a:ext cx="6220200" cy="10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83"/>
              <a:buFont typeface="Arial"/>
              <a:buNone/>
            </a:pPr>
            <a:r>
              <a:rPr b="1" i="0" lang="en-US" sz="6983" u="none" cap="none" strike="noStrik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Metodología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5bee174b82_0_99"/>
          <p:cNvSpPr txBox="1"/>
          <p:nvPr/>
        </p:nvSpPr>
        <p:spPr>
          <a:xfrm>
            <a:off x="1188781" y="5505530"/>
            <a:ext cx="24606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Espacio de franca Co-construcción con cliente  para definir: los desafíos actuales y futuros en función del contexto de negocio del “Rol” a través del </a:t>
            </a:r>
            <a:r>
              <a:rPr b="0" i="0" lang="en-US" sz="2000" u="none" cap="none" strike="noStrik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Job &amp; Profile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5bee174b82_0_99"/>
          <p:cNvSpPr txBox="1"/>
          <p:nvPr/>
        </p:nvSpPr>
        <p:spPr>
          <a:xfrm>
            <a:off x="7137375" y="5505525"/>
            <a:ext cx="3235200" cy="3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Instancia de </a:t>
            </a:r>
            <a:r>
              <a:rPr b="0" i="0" lang="en-US" sz="2000" u="none" cap="none" strike="noStrik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Encuentros Dialógicos</a:t>
            </a: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 usando</a:t>
            </a: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 </a:t>
            </a: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el framework de </a:t>
            </a:r>
            <a:r>
              <a:rPr b="1" i="0" lang="en-US" sz="2000" u="none" cap="none" strike="noStrik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Job Crafting,</a:t>
            </a: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nuestra herramienta disruptiva para mapear habilidades, motivaciones,  experiencias y valores.</a:t>
            </a:r>
            <a:endParaRPr b="0" i="0" sz="2000" u="none" cap="none" strike="noStrike">
              <a:solidFill>
                <a:srgbClr val="E5E5E4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5E5E4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1" name="Google Shape;141;g35bee174b82_0_99"/>
          <p:cNvSpPr txBox="1"/>
          <p:nvPr/>
        </p:nvSpPr>
        <p:spPr>
          <a:xfrm>
            <a:off x="10899275" y="5505525"/>
            <a:ext cx="32352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Etapa de </a:t>
            </a: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entrevistas</a:t>
            </a: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con Cliente e implementación de </a:t>
            </a:r>
            <a:r>
              <a:rPr b="0" i="0" lang="en-US" sz="2000" u="none" cap="none" strike="noStrik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Assessment*  a los 2 candidatos finalistas </a:t>
            </a: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como</a:t>
            </a: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proceso de evaluación de fortalezas, debilidades, habilidades, competencias y  potencial.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5E5E4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2" name="Google Shape;142;g35bee174b82_0_99"/>
          <p:cNvSpPr txBox="1"/>
          <p:nvPr/>
        </p:nvSpPr>
        <p:spPr>
          <a:xfrm>
            <a:off x="14881480" y="5505530"/>
            <a:ext cx="2575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Acompañamiento en instancia de negociación.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Seguimiento post ingreso al candidato.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5bee174b82_0_99"/>
          <p:cNvSpPr txBox="1"/>
          <p:nvPr/>
        </p:nvSpPr>
        <p:spPr>
          <a:xfrm>
            <a:off x="1188781" y="4484324"/>
            <a:ext cx="19689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KICK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OFF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5bee174b82_0_99"/>
          <p:cNvSpPr txBox="1"/>
          <p:nvPr/>
        </p:nvSpPr>
        <p:spPr>
          <a:xfrm>
            <a:off x="4033456" y="4484324"/>
            <a:ext cx="18594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MARKET RESEARCH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5bee174b82_0_99"/>
          <p:cNvSpPr txBox="1"/>
          <p:nvPr/>
        </p:nvSpPr>
        <p:spPr>
          <a:xfrm>
            <a:off x="7145949" y="4484325"/>
            <a:ext cx="22920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JOB </a:t>
            </a:r>
            <a:endParaRPr b="1" i="0" sz="2400" u="none" cap="none" strike="noStrike">
              <a:solidFill>
                <a:srgbClr val="E5E5E4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CRAFTING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5bee174b82_0_99"/>
          <p:cNvSpPr txBox="1"/>
          <p:nvPr/>
        </p:nvSpPr>
        <p:spPr>
          <a:xfrm>
            <a:off x="10899279" y="4484324"/>
            <a:ext cx="21378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TALENT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DISCOVERY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5bee174b82_0_99"/>
          <p:cNvSpPr txBox="1"/>
          <p:nvPr/>
        </p:nvSpPr>
        <p:spPr>
          <a:xfrm>
            <a:off x="14991721" y="4484324"/>
            <a:ext cx="21780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TRANSITION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OFFER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5bee174b82_0_99"/>
          <p:cNvSpPr/>
          <p:nvPr/>
        </p:nvSpPr>
        <p:spPr>
          <a:xfrm>
            <a:off x="14515475" y="4283325"/>
            <a:ext cx="61200" cy="4974900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5bee174b82_0_99"/>
          <p:cNvSpPr/>
          <p:nvPr/>
        </p:nvSpPr>
        <p:spPr>
          <a:xfrm>
            <a:off x="10505651" y="3825001"/>
            <a:ext cx="61200" cy="5433300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5bee174b82_0_99"/>
          <p:cNvSpPr/>
          <p:nvPr/>
        </p:nvSpPr>
        <p:spPr>
          <a:xfrm>
            <a:off x="6644415" y="3825001"/>
            <a:ext cx="61200" cy="5433300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5bee174b82_0_99"/>
          <p:cNvSpPr/>
          <p:nvPr/>
        </p:nvSpPr>
        <p:spPr>
          <a:xfrm>
            <a:off x="3716028" y="3825001"/>
            <a:ext cx="61200" cy="5433300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5bee174b82_0_99"/>
          <p:cNvSpPr txBox="1"/>
          <p:nvPr/>
        </p:nvSpPr>
        <p:spPr>
          <a:xfrm>
            <a:off x="1188781" y="3720226"/>
            <a:ext cx="21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CA8BA"/>
                </a:solidFill>
                <a:latin typeface="Garamond"/>
                <a:ea typeface="Garamond"/>
                <a:cs typeface="Garamond"/>
                <a:sym typeface="Garamond"/>
              </a:rPr>
              <a:t>DÍA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5bee174b82_0_99"/>
          <p:cNvSpPr txBox="1"/>
          <p:nvPr/>
        </p:nvSpPr>
        <p:spPr>
          <a:xfrm>
            <a:off x="7114242" y="3720226"/>
            <a:ext cx="21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CA8BA"/>
                </a:solidFill>
                <a:latin typeface="Garamond"/>
                <a:ea typeface="Garamond"/>
                <a:cs typeface="Garamond"/>
                <a:sym typeface="Garamond"/>
              </a:rPr>
              <a:t>DÍA 15 - 20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5bee174b82_0_99"/>
          <p:cNvSpPr txBox="1"/>
          <p:nvPr/>
        </p:nvSpPr>
        <p:spPr>
          <a:xfrm>
            <a:off x="4033456" y="3720226"/>
            <a:ext cx="21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CA8BA"/>
                </a:solidFill>
                <a:latin typeface="Garamond"/>
                <a:ea typeface="Garamond"/>
                <a:cs typeface="Garamond"/>
                <a:sym typeface="Garamond"/>
              </a:rPr>
              <a:t>DÍA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5bee174b82_0_99"/>
          <p:cNvSpPr txBox="1"/>
          <p:nvPr/>
        </p:nvSpPr>
        <p:spPr>
          <a:xfrm>
            <a:off x="10892956" y="3720225"/>
            <a:ext cx="32964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9"/>
              <a:buFont typeface="Arial"/>
              <a:buNone/>
            </a:pPr>
            <a:r>
              <a:rPr b="1" i="0" lang="en-US" sz="1929" u="none" cap="none" strike="noStrike">
                <a:solidFill>
                  <a:srgbClr val="8CA8BA"/>
                </a:solidFill>
                <a:latin typeface="Garamond"/>
                <a:ea typeface="Garamond"/>
                <a:cs typeface="Garamond"/>
                <a:sym typeface="Garamond"/>
              </a:rPr>
              <a:t>TIEMPOS VARIABLES</a:t>
            </a:r>
            <a:endParaRPr b="1" i="0" sz="1929" u="none" cap="none" strike="noStrike">
              <a:solidFill>
                <a:srgbClr val="8CA8BA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9"/>
              <a:buFont typeface="Arial"/>
              <a:buNone/>
            </a:pPr>
            <a:r>
              <a:rPr b="1" i="0" lang="en-US" sz="1729" u="none" cap="none" strike="noStrike">
                <a:solidFill>
                  <a:srgbClr val="8CA8BA"/>
                </a:solidFill>
                <a:latin typeface="Avenir"/>
                <a:ea typeface="Avenir"/>
                <a:cs typeface="Avenir"/>
                <a:sym typeface="Avenir"/>
              </a:rPr>
              <a:t>Condicionados a agenda cliente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5bee174b82_0_99"/>
          <p:cNvSpPr txBox="1"/>
          <p:nvPr/>
        </p:nvSpPr>
        <p:spPr>
          <a:xfrm>
            <a:off x="4317100" y="9559925"/>
            <a:ext cx="13050000" cy="10033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1" lang="en-US" sz="1900" u="none" cap="none" strike="noStrik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*Incluye un Simulador y un Test  ( PDA O  Hogan)</a:t>
            </a:r>
            <a:endParaRPr b="0" i="1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1" sz="1900" u="none" cap="none" strike="noStrike">
              <a:solidFill>
                <a:srgbClr val="F8BF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7" name="Google Shape;157;g35bee174b82_0_99"/>
          <p:cNvSpPr txBox="1"/>
          <p:nvPr/>
        </p:nvSpPr>
        <p:spPr>
          <a:xfrm>
            <a:off x="3996312" y="5505530"/>
            <a:ext cx="25755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Presentación de los avances de la Identificación de profesionales junto con los insights de Mercado.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5bee174b82_0_99"/>
          <p:cNvSpPr txBox="1"/>
          <p:nvPr/>
        </p:nvSpPr>
        <p:spPr>
          <a:xfrm>
            <a:off x="390700" y="355050"/>
            <a:ext cx="1029900" cy="1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1"/>
              <a:buFont typeface="Arial"/>
              <a:buNone/>
            </a:pPr>
            <a:r>
              <a:rPr b="1" i="0" lang="en-US" sz="8501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8131ee3b8_0_0"/>
          <p:cNvSpPr txBox="1"/>
          <p:nvPr/>
        </p:nvSpPr>
        <p:spPr>
          <a:xfrm>
            <a:off x="1420600" y="580650"/>
            <a:ext cx="65367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1"/>
              <a:buFont typeface="Arial"/>
              <a:buNone/>
            </a:pPr>
            <a:r>
              <a:rPr b="1" i="0" lang="en-US" sz="6501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Talent Search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98131ee3b8_0_0"/>
          <p:cNvSpPr txBox="1"/>
          <p:nvPr/>
        </p:nvSpPr>
        <p:spPr>
          <a:xfrm>
            <a:off x="960178" y="1474945"/>
            <a:ext cx="6220200" cy="10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83"/>
              <a:buFont typeface="Arial"/>
              <a:buNone/>
            </a:pPr>
            <a:r>
              <a:rPr b="1" i="0" lang="en-US" sz="6983" u="none" cap="none" strike="noStrik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Metodología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98131ee3b8_0_0"/>
          <p:cNvSpPr txBox="1"/>
          <p:nvPr/>
        </p:nvSpPr>
        <p:spPr>
          <a:xfrm>
            <a:off x="1188781" y="5505530"/>
            <a:ext cx="24606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Espacio de franca Co-construcción con cliente  para definir: los desafíos actuales y futuros en función del contexto de negocio del “Rol” a través del </a:t>
            </a:r>
            <a:r>
              <a:rPr b="0" i="0" lang="en-US" sz="2000" u="none" cap="none" strike="noStrik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Job &amp; Profile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98131ee3b8_0_0"/>
          <p:cNvSpPr txBox="1"/>
          <p:nvPr/>
        </p:nvSpPr>
        <p:spPr>
          <a:xfrm>
            <a:off x="7137375" y="5505525"/>
            <a:ext cx="32352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Instancia de </a:t>
            </a:r>
            <a:r>
              <a:rPr b="0" i="0" lang="en-US" sz="2000" u="none" cap="none" strike="noStrik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Encuentros Dialógicos</a:t>
            </a: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 con cada uno de los Candidatos.</a:t>
            </a:r>
            <a:endParaRPr b="0" i="0" sz="2000" u="none" cap="none" strike="noStrike">
              <a:solidFill>
                <a:srgbClr val="E5E5E4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5E5E4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7" name="Google Shape;167;g398131ee3b8_0_0"/>
          <p:cNvSpPr txBox="1"/>
          <p:nvPr/>
        </p:nvSpPr>
        <p:spPr>
          <a:xfrm>
            <a:off x="10899275" y="5505525"/>
            <a:ext cx="3235200" cy="3447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Etapa de </a:t>
            </a: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4"/>
                  </a:ext>
                </a:extLst>
              </a:rPr>
              <a:t>entrevistas</a:t>
            </a: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Cliente e implementación de </a:t>
            </a:r>
            <a:r>
              <a:rPr b="0" i="0" lang="en-US" sz="2000" u="none" cap="none" strike="noStrik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Test Online  a los 2 candidatos finalistas</a:t>
            </a: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b="0" i="0" lang="en-US" sz="2000" u="none" cap="none" strike="noStrik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(PDA ) </a:t>
            </a: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como proceso de evaluación de  fortalezas, debilidades, habilidades, competencias y potencial.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5E5E4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8" name="Google Shape;168;g398131ee3b8_0_0"/>
          <p:cNvSpPr txBox="1"/>
          <p:nvPr/>
        </p:nvSpPr>
        <p:spPr>
          <a:xfrm>
            <a:off x="14881480" y="5505530"/>
            <a:ext cx="2575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Acompañamiento en instancia de negociación.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Seguimiento post ingreso al candidato.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98131ee3b8_0_0"/>
          <p:cNvSpPr txBox="1"/>
          <p:nvPr/>
        </p:nvSpPr>
        <p:spPr>
          <a:xfrm>
            <a:off x="1188781" y="4484324"/>
            <a:ext cx="19689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KICK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OFF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98131ee3b8_0_0"/>
          <p:cNvSpPr txBox="1"/>
          <p:nvPr/>
        </p:nvSpPr>
        <p:spPr>
          <a:xfrm>
            <a:off x="4033456" y="4484324"/>
            <a:ext cx="18594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MARKET RESEARCH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98131ee3b8_0_0"/>
          <p:cNvSpPr txBox="1"/>
          <p:nvPr/>
        </p:nvSpPr>
        <p:spPr>
          <a:xfrm>
            <a:off x="7145949" y="4484325"/>
            <a:ext cx="22920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ENCUENTRO DIALÓGICO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98131ee3b8_0_0"/>
          <p:cNvSpPr txBox="1"/>
          <p:nvPr/>
        </p:nvSpPr>
        <p:spPr>
          <a:xfrm>
            <a:off x="10899279" y="4484324"/>
            <a:ext cx="21378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TALENT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DISCOVERY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98131ee3b8_0_0"/>
          <p:cNvSpPr txBox="1"/>
          <p:nvPr/>
        </p:nvSpPr>
        <p:spPr>
          <a:xfrm>
            <a:off x="14991721" y="4484324"/>
            <a:ext cx="21780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TRANSITION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OFFER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98131ee3b8_0_0"/>
          <p:cNvSpPr/>
          <p:nvPr/>
        </p:nvSpPr>
        <p:spPr>
          <a:xfrm>
            <a:off x="14515475" y="4283325"/>
            <a:ext cx="61200" cy="4974900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98131ee3b8_0_0"/>
          <p:cNvSpPr/>
          <p:nvPr/>
        </p:nvSpPr>
        <p:spPr>
          <a:xfrm>
            <a:off x="10505651" y="3825001"/>
            <a:ext cx="61200" cy="5433300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98131ee3b8_0_0"/>
          <p:cNvSpPr/>
          <p:nvPr/>
        </p:nvSpPr>
        <p:spPr>
          <a:xfrm>
            <a:off x="6644415" y="3825001"/>
            <a:ext cx="61200" cy="5433300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98131ee3b8_0_0"/>
          <p:cNvSpPr/>
          <p:nvPr/>
        </p:nvSpPr>
        <p:spPr>
          <a:xfrm>
            <a:off x="3716028" y="3825001"/>
            <a:ext cx="61200" cy="5433300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98131ee3b8_0_0"/>
          <p:cNvSpPr txBox="1"/>
          <p:nvPr/>
        </p:nvSpPr>
        <p:spPr>
          <a:xfrm>
            <a:off x="1188781" y="3720226"/>
            <a:ext cx="21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CA8BA"/>
                </a:solidFill>
                <a:latin typeface="Garamond"/>
                <a:ea typeface="Garamond"/>
                <a:cs typeface="Garamond"/>
                <a:sym typeface="Garamond"/>
              </a:rPr>
              <a:t>DÍA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98131ee3b8_0_0"/>
          <p:cNvSpPr txBox="1"/>
          <p:nvPr/>
        </p:nvSpPr>
        <p:spPr>
          <a:xfrm>
            <a:off x="7114242" y="3720226"/>
            <a:ext cx="21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CA8BA"/>
                </a:solidFill>
                <a:latin typeface="Garamond"/>
                <a:ea typeface="Garamond"/>
                <a:cs typeface="Garamond"/>
                <a:sym typeface="Garamond"/>
              </a:rPr>
              <a:t>DÍA 15 - 20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98131ee3b8_0_0"/>
          <p:cNvSpPr txBox="1"/>
          <p:nvPr/>
        </p:nvSpPr>
        <p:spPr>
          <a:xfrm>
            <a:off x="4033456" y="3720226"/>
            <a:ext cx="21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CA8BA"/>
                </a:solidFill>
                <a:latin typeface="Garamond"/>
                <a:ea typeface="Garamond"/>
                <a:cs typeface="Garamond"/>
                <a:sym typeface="Garamond"/>
              </a:rPr>
              <a:t>DÍA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98131ee3b8_0_0"/>
          <p:cNvSpPr txBox="1"/>
          <p:nvPr/>
        </p:nvSpPr>
        <p:spPr>
          <a:xfrm>
            <a:off x="10892956" y="3720225"/>
            <a:ext cx="32964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9"/>
              <a:buFont typeface="Arial"/>
              <a:buNone/>
            </a:pPr>
            <a:r>
              <a:rPr b="1" i="0" lang="en-US" sz="1929" u="none" cap="none" strike="noStrike">
                <a:solidFill>
                  <a:srgbClr val="8CA8BA"/>
                </a:solidFill>
                <a:latin typeface="Garamond"/>
                <a:ea typeface="Garamond"/>
                <a:cs typeface="Garamond"/>
                <a:sym typeface="Garamond"/>
              </a:rPr>
              <a:t>TIEMPOS VARIABLES</a:t>
            </a:r>
            <a:endParaRPr b="1" i="0" sz="1929" u="none" cap="none" strike="noStrike">
              <a:solidFill>
                <a:srgbClr val="8CA8BA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9"/>
              <a:buFont typeface="Arial"/>
              <a:buNone/>
            </a:pPr>
            <a:r>
              <a:rPr b="1" i="0" lang="en-US" sz="1729" u="none" cap="none" strike="noStrike">
                <a:solidFill>
                  <a:srgbClr val="8CA8BA"/>
                </a:solidFill>
                <a:latin typeface="Avenir"/>
                <a:ea typeface="Avenir"/>
                <a:cs typeface="Avenir"/>
                <a:sym typeface="Avenir"/>
              </a:rPr>
              <a:t>Condicionados a agenda cliente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98131ee3b8_0_0"/>
          <p:cNvSpPr txBox="1"/>
          <p:nvPr/>
        </p:nvSpPr>
        <p:spPr>
          <a:xfrm>
            <a:off x="3996312" y="5505530"/>
            <a:ext cx="25755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Presentación de los avances de la Identificación de profesionales junto con los insights de Mercado.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98131ee3b8_0_0"/>
          <p:cNvSpPr txBox="1"/>
          <p:nvPr/>
        </p:nvSpPr>
        <p:spPr>
          <a:xfrm>
            <a:off x="390700" y="355050"/>
            <a:ext cx="1029900" cy="1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1"/>
              <a:buFont typeface="Arial"/>
              <a:buNone/>
            </a:pPr>
            <a:r>
              <a:rPr b="1" i="0" lang="en-US" sz="8501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4565B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714f9f95a_1_0"/>
          <p:cNvSpPr/>
          <p:nvPr/>
        </p:nvSpPr>
        <p:spPr>
          <a:xfrm>
            <a:off x="2" y="10600"/>
            <a:ext cx="6115822" cy="10282809"/>
          </a:xfrm>
          <a:custGeom>
            <a:rect b="b" l="l" r="r" t="t"/>
            <a:pathLst>
              <a:path extrusionOk="0" h="3479800" w="4132312">
                <a:moveTo>
                  <a:pt x="0" y="0"/>
                </a:moveTo>
                <a:lnTo>
                  <a:pt x="4132312" y="0"/>
                </a:lnTo>
                <a:lnTo>
                  <a:pt x="4132312" y="3479800"/>
                </a:lnTo>
                <a:lnTo>
                  <a:pt x="0" y="34798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89" name="Google Shape;189;g35714f9f95a_1_0"/>
          <p:cNvSpPr/>
          <p:nvPr/>
        </p:nvSpPr>
        <p:spPr>
          <a:xfrm rot="5400000">
            <a:off x="-2078178" y="2095148"/>
            <a:ext cx="10270030" cy="6113674"/>
          </a:xfrm>
          <a:custGeom>
            <a:rect b="b" l="l" r="r" t="t"/>
            <a:pathLst>
              <a:path extrusionOk="0" h="6113674" w="10270030">
                <a:moveTo>
                  <a:pt x="0" y="0"/>
                </a:moveTo>
                <a:lnTo>
                  <a:pt x="10270030" y="0"/>
                </a:lnTo>
                <a:lnTo>
                  <a:pt x="10270030" y="6113674"/>
                </a:lnTo>
                <a:lnTo>
                  <a:pt x="0" y="6113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9000"/>
            </a:blip>
            <a:stretch>
              <a:fillRect b="-14629" l="-89175" r="-40404" t="0"/>
            </a:stretch>
          </a:blipFill>
          <a:ln>
            <a:noFill/>
          </a:ln>
        </p:spPr>
      </p:sp>
      <p:sp>
        <p:nvSpPr>
          <p:cNvPr id="190" name="Google Shape;190;g35714f9f95a_1_0"/>
          <p:cNvSpPr txBox="1"/>
          <p:nvPr/>
        </p:nvSpPr>
        <p:spPr>
          <a:xfrm>
            <a:off x="7013351" y="5745289"/>
            <a:ext cx="441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BASE </a:t>
            </a:r>
            <a:r>
              <a:rPr b="1" i="0" lang="en-US" sz="2000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PARA EL CÁLCULO: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5714f9f95a_1_0"/>
          <p:cNvSpPr txBox="1"/>
          <p:nvPr/>
        </p:nvSpPr>
        <p:spPr>
          <a:xfrm>
            <a:off x="7013351" y="6170411"/>
            <a:ext cx="10898400" cy="20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El honorario se calcula: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                                        </a:t>
            </a:r>
            <a:r>
              <a:rPr b="1" i="0" lang="en-US" sz="1800" u="none" cap="none" strike="noStrike">
                <a:solidFill>
                  <a:srgbClr val="8CA8BA"/>
                </a:solidFill>
                <a:latin typeface="Avenir"/>
                <a:ea typeface="Avenir"/>
                <a:cs typeface="Avenir"/>
                <a:sym typeface="Avenir"/>
              </a:rPr>
              <a:t>FEE x REMUNERACIÓN BRUTA ANUAL*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*La compensación bruta anual resulta de computar: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SALARIO BRUTO MENSUAL x CANTIDAD SALARIOS PAGADOS POR AÑO + COMPENSACIÓN VARIABLE TARGET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(en concepto de bono u otros beneficios)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2" name="Google Shape;192;g35714f9f95a_1_0"/>
          <p:cNvSpPr txBox="1"/>
          <p:nvPr/>
        </p:nvSpPr>
        <p:spPr>
          <a:xfrm>
            <a:off x="6941876" y="2011750"/>
            <a:ext cx="42870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"/>
              <a:buFont typeface="Arial"/>
              <a:buNone/>
            </a:pPr>
            <a:r>
              <a:rPr b="1" i="0" lang="en-US" sz="171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APLICA PARA POSICIONES  CON SALARIO MENSUAL BRUTO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5714f9f95a_1_0"/>
          <p:cNvSpPr txBox="1"/>
          <p:nvPr/>
        </p:nvSpPr>
        <p:spPr>
          <a:xfrm>
            <a:off x="8737793" y="2840619"/>
            <a:ext cx="2193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"/>
              <a:buFont typeface="Arial"/>
              <a:buNone/>
            </a:pPr>
            <a:r>
              <a:rPr b="1" i="0" lang="en-US" sz="2110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A PARTIR DE: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5714f9f95a_1_0"/>
          <p:cNvSpPr txBox="1"/>
          <p:nvPr/>
        </p:nvSpPr>
        <p:spPr>
          <a:xfrm>
            <a:off x="6941868" y="1087925"/>
            <a:ext cx="26862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11"/>
              <a:buFont typeface="Arial"/>
              <a:buNone/>
            </a:pPr>
            <a:r>
              <a:rPr b="1" i="0" lang="en-US" sz="3111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FEE DE 19%</a:t>
            </a:r>
            <a:endParaRPr b="0" i="0" sz="1000" u="none" cap="none" strike="noStrike">
              <a:solidFill>
                <a:srgbClr val="F8B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5714f9f95a_1_0"/>
          <p:cNvSpPr/>
          <p:nvPr/>
        </p:nvSpPr>
        <p:spPr>
          <a:xfrm>
            <a:off x="5611880" y="5735764"/>
            <a:ext cx="920318" cy="374548"/>
          </a:xfrm>
          <a:custGeom>
            <a:rect b="b" l="l" r="r" t="t"/>
            <a:pathLst>
              <a:path extrusionOk="0" h="374548" w="920318">
                <a:moveTo>
                  <a:pt x="0" y="0"/>
                </a:moveTo>
                <a:lnTo>
                  <a:pt x="920319" y="0"/>
                </a:lnTo>
                <a:lnTo>
                  <a:pt x="920319" y="374548"/>
                </a:lnTo>
                <a:lnTo>
                  <a:pt x="0" y="374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g35714f9f95a_1_0"/>
          <p:cNvSpPr/>
          <p:nvPr/>
        </p:nvSpPr>
        <p:spPr>
          <a:xfrm>
            <a:off x="1586511" y="8884567"/>
            <a:ext cx="3046827" cy="747466"/>
          </a:xfrm>
          <a:custGeom>
            <a:rect b="b" l="l" r="r" t="t"/>
            <a:pathLst>
              <a:path extrusionOk="0" h="747466" w="3046827">
                <a:moveTo>
                  <a:pt x="0" y="0"/>
                </a:moveTo>
                <a:lnTo>
                  <a:pt x="3046827" y="0"/>
                </a:lnTo>
                <a:lnTo>
                  <a:pt x="3046827" y="747466"/>
                </a:lnTo>
                <a:lnTo>
                  <a:pt x="0" y="747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93768" l="-17743" r="-15524" t="-308825"/>
            </a:stretch>
          </a:blipFill>
          <a:ln>
            <a:noFill/>
          </a:ln>
        </p:spPr>
      </p:sp>
      <p:sp>
        <p:nvSpPr>
          <p:cNvPr id="197" name="Google Shape;197;g35714f9f95a_1_0"/>
          <p:cNvSpPr txBox="1"/>
          <p:nvPr/>
        </p:nvSpPr>
        <p:spPr>
          <a:xfrm>
            <a:off x="7013351" y="8558011"/>
            <a:ext cx="104913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Cláusulas extraordinarias como Hiring Bonus, Golden Parachute u otros beneficios poco comunes y de aplicación por única vez, NO serán considerados en la remuneración bruta anual para el cálculo de honorarios.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8" name="Google Shape;198;g35714f9f95a_1_0"/>
          <p:cNvSpPr txBox="1"/>
          <p:nvPr/>
        </p:nvSpPr>
        <p:spPr>
          <a:xfrm>
            <a:off x="7061201" y="8148436"/>
            <a:ext cx="869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BENEFICIOS</a:t>
            </a:r>
            <a:r>
              <a:rPr b="1" i="0" lang="en-US" sz="2000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 NO CONSIDERADOS </a:t>
            </a:r>
            <a:r>
              <a:rPr b="1" i="0" lang="en-US" sz="20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PARA EL CÁLCULO</a:t>
            </a:r>
            <a:r>
              <a:rPr b="1" i="0" lang="en-US" sz="2000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5714f9f95a_1_0"/>
          <p:cNvSpPr txBox="1"/>
          <p:nvPr/>
        </p:nvSpPr>
        <p:spPr>
          <a:xfrm>
            <a:off x="6930450" y="3286700"/>
            <a:ext cx="5276100" cy="2505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Argentina		</a:t>
            </a:r>
            <a:r>
              <a:rPr b="0" i="0" lang="en-US" sz="2171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AR$ 6.000.000</a:t>
            </a:r>
            <a:endParaRPr b="0" i="0" sz="2171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Chile			</a:t>
            </a:r>
            <a:r>
              <a:rPr b="0" i="0" lang="en-US" sz="2171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CLP$ 5.000.000</a:t>
            </a:r>
            <a:endParaRPr b="0" i="0" sz="2171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México			MXN$ 100.000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Otros países	Se calculará según el país</a:t>
            </a:r>
            <a:r>
              <a:rPr b="0" i="0" lang="en-US" sz="2171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5714f9f95a_1_0"/>
          <p:cNvSpPr txBox="1"/>
          <p:nvPr/>
        </p:nvSpPr>
        <p:spPr>
          <a:xfrm>
            <a:off x="13454453" y="3286700"/>
            <a:ext cx="4725300" cy="2004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Argentina		</a:t>
            </a:r>
            <a:r>
              <a:rPr b="0" i="0" lang="en-US" sz="2171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AR$ 3.000.000</a:t>
            </a:r>
            <a:endParaRPr b="0" i="0" sz="2171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Chile			</a:t>
            </a:r>
            <a:r>
              <a:rPr b="0" i="0" lang="en-US" sz="2171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CLP$ 2.000.000</a:t>
            </a:r>
            <a:endParaRPr b="0" i="0" sz="2171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México			MXN$ 35.000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Otros países	USD 2.000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" name="Google Shape;201;g35714f9f95a_1_0"/>
          <p:cNvCxnSpPr/>
          <p:nvPr/>
        </p:nvCxnSpPr>
        <p:spPr>
          <a:xfrm flipH="1">
            <a:off x="12932350" y="1562925"/>
            <a:ext cx="24900" cy="3754500"/>
          </a:xfrm>
          <a:prstGeom prst="straightConnector1">
            <a:avLst/>
          </a:prstGeom>
          <a:noFill/>
          <a:ln cap="flat" cmpd="sng" w="9525">
            <a:solidFill>
              <a:srgbClr val="F8B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g35714f9f95a_1_0"/>
          <p:cNvSpPr txBox="1"/>
          <p:nvPr/>
        </p:nvSpPr>
        <p:spPr>
          <a:xfrm>
            <a:off x="6898250" y="472488"/>
            <a:ext cx="42870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EXECUTIVE SEARCH</a:t>
            </a:r>
            <a:endParaRPr b="1" i="0" sz="31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03" name="Google Shape;203;g35714f9f95a_1_0"/>
          <p:cNvSpPr txBox="1"/>
          <p:nvPr/>
        </p:nvSpPr>
        <p:spPr>
          <a:xfrm>
            <a:off x="13217650" y="472488"/>
            <a:ext cx="42870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7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TALENT  SEARCH</a:t>
            </a:r>
            <a:endParaRPr b="1" i="0" sz="31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04" name="Google Shape;204;g35714f9f95a_1_0"/>
          <p:cNvSpPr txBox="1"/>
          <p:nvPr/>
        </p:nvSpPr>
        <p:spPr>
          <a:xfrm>
            <a:off x="6973850" y="1534775"/>
            <a:ext cx="41358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0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11"/>
              <a:buFont typeface="Arial"/>
              <a:buNone/>
            </a:pPr>
            <a:r>
              <a:rPr b="1" i="0" lang="en-US" sz="2311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de la Compensación bruta anual </a:t>
            </a:r>
            <a:endParaRPr b="0" i="0" sz="200" u="none" cap="none" strike="noStrike">
              <a:solidFill>
                <a:srgbClr val="F8B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5714f9f95a_1_0"/>
          <p:cNvSpPr txBox="1"/>
          <p:nvPr/>
        </p:nvSpPr>
        <p:spPr>
          <a:xfrm>
            <a:off x="15751843" y="2840619"/>
            <a:ext cx="2193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"/>
              <a:buFont typeface="Arial"/>
              <a:buNone/>
            </a:pPr>
            <a:r>
              <a:rPr b="1" i="0" lang="en-US" sz="2110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A PARTIR DE: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5714f9f95a_1_0"/>
          <p:cNvSpPr txBox="1"/>
          <p:nvPr/>
        </p:nvSpPr>
        <p:spPr>
          <a:xfrm>
            <a:off x="13506051" y="1996075"/>
            <a:ext cx="4287000" cy="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"/>
              <a:buFont typeface="Arial"/>
              <a:buNone/>
            </a:pPr>
            <a:r>
              <a:rPr b="1" i="0" lang="en-US" sz="171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APLICA PARA POSICIONES  CON SALARIO MENSUAL BRUTO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5714f9f95a_1_0"/>
          <p:cNvSpPr txBox="1"/>
          <p:nvPr/>
        </p:nvSpPr>
        <p:spPr>
          <a:xfrm>
            <a:off x="15106851" y="1072250"/>
            <a:ext cx="26862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11"/>
              <a:buFont typeface="Arial"/>
              <a:buNone/>
            </a:pPr>
            <a:r>
              <a:rPr b="1" i="0" lang="en-US" sz="3111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FEE DE 15%</a:t>
            </a:r>
            <a:endParaRPr b="0" i="0" sz="1000" u="none" cap="none" strike="noStrike">
              <a:solidFill>
                <a:srgbClr val="F8B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5714f9f95a_1_0"/>
          <p:cNvSpPr txBox="1"/>
          <p:nvPr/>
        </p:nvSpPr>
        <p:spPr>
          <a:xfrm>
            <a:off x="13657251" y="1519100"/>
            <a:ext cx="41358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11"/>
              <a:buFont typeface="Arial"/>
              <a:buNone/>
            </a:pPr>
            <a:r>
              <a:rPr b="1" i="0" lang="en-US" sz="2311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de la Compensación bruta anual </a:t>
            </a:r>
            <a:endParaRPr b="0" i="0" sz="200" u="none" cap="none" strike="noStrike">
              <a:solidFill>
                <a:srgbClr val="F8B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5714f9f95a_1_0"/>
          <p:cNvSpPr txBox="1"/>
          <p:nvPr/>
        </p:nvSpPr>
        <p:spPr>
          <a:xfrm>
            <a:off x="982326" y="4581700"/>
            <a:ext cx="41358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5306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SOLUCIÓN: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5714f9f95a_1_0"/>
          <p:cNvSpPr txBox="1"/>
          <p:nvPr/>
        </p:nvSpPr>
        <p:spPr>
          <a:xfrm>
            <a:off x="945197" y="3600375"/>
            <a:ext cx="4135800" cy="10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64"/>
              <a:buFont typeface="Arial"/>
              <a:buNone/>
            </a:pPr>
            <a:r>
              <a:rPr b="1" i="0" lang="en-US" sz="7064" u="none" cap="none" strike="noStrik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Valor de la</a:t>
            </a:r>
            <a:endParaRPr b="0" i="0" sz="1400" u="none" cap="none" strike="noStrike">
              <a:solidFill>
                <a:srgbClr val="54565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" name="Google Shape;215;g3553af37456_0_14"/>
          <p:cNvGraphicFramePr/>
          <p:nvPr/>
        </p:nvGraphicFramePr>
        <p:xfrm>
          <a:off x="4081550" y="3511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{273EB832-9358-4025-AA97-57D134809C49}</a:tableStyleId>
              </a:tblPr>
              <a:tblGrid>
                <a:gridCol w="3537300"/>
                <a:gridCol w="1592975"/>
                <a:gridCol w="2131750"/>
                <a:gridCol w="3123475"/>
                <a:gridCol w="1944375"/>
              </a:tblGrid>
              <a:tr h="37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i="0" lang="en-US" sz="23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Detalle</a:t>
                      </a:r>
                      <a:endParaRPr sz="23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456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i="0" lang="en-US" sz="23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Cantidad</a:t>
                      </a:r>
                      <a:endParaRPr sz="23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456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i="0" lang="en-US" sz="23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Monto</a:t>
                      </a:r>
                      <a:endParaRPr sz="23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456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i="0" lang="en-US" sz="23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Subtotal</a:t>
                      </a:r>
                      <a:endParaRPr sz="23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456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i="0" lang="en-US" sz="2300" u="none" cap="none" strike="noStrike">
                          <a:solidFill>
                            <a:srgbClr val="5456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Salario</a:t>
                      </a:r>
                      <a:endParaRPr b="1" sz="2300" u="none" cap="none" strike="noStrike">
                        <a:solidFill>
                          <a:srgbClr val="54565B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      </a:t>
                      </a:r>
                      <a:r>
                        <a:rPr lang="en-US" sz="2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0,000 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                  </a:t>
                      </a:r>
                      <a:r>
                        <a:rPr lang="en-US" sz="2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2,600</a:t>
                      </a: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,000 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i="0" lang="en-US" sz="2300" u="none" cap="none" strike="noStrike">
                          <a:solidFill>
                            <a:srgbClr val="5456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Bono Porcentaje</a:t>
                      </a:r>
                      <a:endParaRPr b="1" sz="2300" u="none" cap="none" strike="noStrike">
                        <a:solidFill>
                          <a:srgbClr val="54565B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10%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                  </a:t>
                      </a:r>
                      <a:r>
                        <a:rPr lang="en-US" sz="2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260,</a:t>
                      </a: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i="0" lang="en-US" sz="2300" u="none" cap="none" strike="noStrike">
                          <a:solidFill>
                            <a:srgbClr val="5456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Compensación anual</a:t>
                      </a:r>
                      <a:endParaRPr b="1" sz="2300" u="none" cap="none" strike="noStrike">
                        <a:solidFill>
                          <a:srgbClr val="54565B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                  2,86</a:t>
                      </a:r>
                      <a:r>
                        <a:rPr lang="en-US" sz="2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,000 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1" i="0" sz="2300" u="none" cap="none" strike="noStrike">
                        <a:solidFill>
                          <a:srgbClr val="54565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i="0" lang="en-US" sz="2300" u="none" cap="none" strike="noStrike">
                          <a:solidFill>
                            <a:srgbClr val="5456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Fee</a:t>
                      </a:r>
                      <a:endParaRPr b="1" sz="2300" u="none" cap="none" strike="noStrike">
                        <a:solidFill>
                          <a:srgbClr val="54565B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19%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                  </a:t>
                      </a:r>
                      <a:r>
                        <a:rPr lang="en-US" sz="2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543,400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1" i="0" sz="2300" u="none" cap="none" strike="noStrike">
                        <a:solidFill>
                          <a:srgbClr val="54565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i="0" lang="en-US" sz="2300" u="none" cap="none" strike="noStrike">
                          <a:solidFill>
                            <a:srgbClr val="5456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 de pago</a:t>
                      </a:r>
                      <a:endParaRPr b="1" sz="2300" u="none" cap="none" strike="noStrike">
                        <a:solidFill>
                          <a:srgbClr val="54565B"/>
                        </a:solidFill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Cuota 1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</a:t>
                      </a: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                   </a:t>
                      </a:r>
                      <a:r>
                        <a:rPr lang="en-US" sz="2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190,190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Cuota 2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35%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                    </a:t>
                      </a:r>
                      <a:r>
                        <a:rPr lang="en-US" sz="2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190,190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Cuota 3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30%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0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$                        </a:t>
                      </a:r>
                      <a:r>
                        <a:rPr lang="en-US" sz="2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163,020</a:t>
                      </a:r>
                      <a:endParaRPr sz="23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i="0" lang="en-US" sz="2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 </a:t>
                      </a:r>
                      <a:r>
                        <a:rPr b="1" i="0" lang="en-US" sz="23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AJUSTE</a:t>
                      </a:r>
                      <a:endParaRPr sz="23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BF00"/>
                    </a:solidFill>
                  </a:tcPr>
                </a:tc>
              </a:tr>
            </a:tbl>
          </a:graphicData>
        </a:graphic>
      </p:graphicFrame>
      <p:sp>
        <p:nvSpPr>
          <p:cNvPr id="216" name="Google Shape;216;g3553af37456_0_14"/>
          <p:cNvSpPr txBox="1"/>
          <p:nvPr/>
        </p:nvSpPr>
        <p:spPr>
          <a:xfrm>
            <a:off x="1420612" y="380083"/>
            <a:ext cx="4347600" cy="1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1"/>
              <a:buFont typeface="Arial"/>
              <a:buNone/>
            </a:pPr>
            <a:r>
              <a:rPr b="1" i="0" lang="en-US" sz="850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Cálculo</a:t>
            </a:r>
            <a:endParaRPr b="1" i="0" sz="1400" u="none" cap="none" strike="noStrike">
              <a:solidFill>
                <a:srgbClr val="5456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553af37456_0_14"/>
          <p:cNvSpPr txBox="1"/>
          <p:nvPr/>
        </p:nvSpPr>
        <p:spPr>
          <a:xfrm>
            <a:off x="1860975" y="1367000"/>
            <a:ext cx="17034600" cy="10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83"/>
              <a:buFont typeface="Arial"/>
              <a:buNone/>
            </a:pPr>
            <a:r>
              <a:rPr b="1" i="0" lang="en-US" sz="7183" u="none" cap="none" strike="noStrik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del valor de la Solución (aproximado)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5ba6ddf0db_0_6"/>
          <p:cNvSpPr/>
          <p:nvPr/>
        </p:nvSpPr>
        <p:spPr>
          <a:xfrm>
            <a:off x="1225177" y="2794296"/>
            <a:ext cx="246091" cy="246091"/>
          </a:xfrm>
          <a:custGeom>
            <a:rect b="b" l="l" r="r" t="t"/>
            <a:pathLst>
              <a:path extrusionOk="0" h="246091" w="246091">
                <a:moveTo>
                  <a:pt x="0" y="0"/>
                </a:moveTo>
                <a:lnTo>
                  <a:pt x="246091" y="0"/>
                </a:lnTo>
                <a:lnTo>
                  <a:pt x="246091" y="246092"/>
                </a:lnTo>
                <a:lnTo>
                  <a:pt x="0" y="246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g35ba6ddf0db_0_6"/>
          <p:cNvSpPr/>
          <p:nvPr/>
        </p:nvSpPr>
        <p:spPr>
          <a:xfrm>
            <a:off x="1256550" y="7169071"/>
            <a:ext cx="246091" cy="246091"/>
          </a:xfrm>
          <a:custGeom>
            <a:rect b="b" l="l" r="r" t="t"/>
            <a:pathLst>
              <a:path extrusionOk="0" h="246091" w="246091">
                <a:moveTo>
                  <a:pt x="0" y="0"/>
                </a:moveTo>
                <a:lnTo>
                  <a:pt x="246091" y="0"/>
                </a:lnTo>
                <a:lnTo>
                  <a:pt x="246091" y="246092"/>
                </a:lnTo>
                <a:lnTo>
                  <a:pt x="0" y="246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g35ba6ddf0db_0_6"/>
          <p:cNvSpPr/>
          <p:nvPr/>
        </p:nvSpPr>
        <p:spPr>
          <a:xfrm>
            <a:off x="9116000" y="2860974"/>
            <a:ext cx="246091" cy="246091"/>
          </a:xfrm>
          <a:custGeom>
            <a:rect b="b" l="l" r="r" t="t"/>
            <a:pathLst>
              <a:path extrusionOk="0" h="246091" w="246091">
                <a:moveTo>
                  <a:pt x="0" y="0"/>
                </a:moveTo>
                <a:lnTo>
                  <a:pt x="246091" y="0"/>
                </a:lnTo>
                <a:lnTo>
                  <a:pt x="246091" y="246091"/>
                </a:lnTo>
                <a:lnTo>
                  <a:pt x="0" y="24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g35ba6ddf0db_0_6"/>
          <p:cNvSpPr/>
          <p:nvPr/>
        </p:nvSpPr>
        <p:spPr>
          <a:xfrm>
            <a:off x="16936448" y="8981649"/>
            <a:ext cx="896680" cy="980114"/>
          </a:xfrm>
          <a:custGeom>
            <a:rect b="b" l="l" r="r" t="t"/>
            <a:pathLst>
              <a:path extrusionOk="0" h="980114" w="896680">
                <a:moveTo>
                  <a:pt x="0" y="0"/>
                </a:moveTo>
                <a:lnTo>
                  <a:pt x="896680" y="0"/>
                </a:lnTo>
                <a:lnTo>
                  <a:pt x="896680" y="980114"/>
                </a:lnTo>
                <a:lnTo>
                  <a:pt x="0" y="9801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2410" l="-36034" r="-42247" t="-30693"/>
            </a:stretch>
          </a:blipFill>
          <a:ln>
            <a:noFill/>
          </a:ln>
        </p:spPr>
      </p:sp>
      <p:sp>
        <p:nvSpPr>
          <p:cNvPr id="226" name="Google Shape;226;g35ba6ddf0db_0_6"/>
          <p:cNvSpPr txBox="1"/>
          <p:nvPr/>
        </p:nvSpPr>
        <p:spPr>
          <a:xfrm>
            <a:off x="1420612" y="380083"/>
            <a:ext cx="6290700" cy="1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1"/>
              <a:buFont typeface="Arial"/>
              <a:buNone/>
            </a:pPr>
            <a:r>
              <a:rPr b="1" i="0" lang="en-US" sz="850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Condiciones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5ba6ddf0db_0_6"/>
          <p:cNvSpPr txBox="1"/>
          <p:nvPr/>
        </p:nvSpPr>
        <p:spPr>
          <a:xfrm>
            <a:off x="1225177" y="1396526"/>
            <a:ext cx="62202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83"/>
              <a:buFont typeface="Arial"/>
              <a:buNone/>
            </a:pPr>
            <a:r>
              <a:rPr b="1" i="0" lang="en-US" sz="7783" u="none" cap="none" strike="noStrik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Comerciales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5ba6ddf0db_0_6"/>
          <p:cNvSpPr txBox="1"/>
          <p:nvPr/>
        </p:nvSpPr>
        <p:spPr>
          <a:xfrm>
            <a:off x="1705815" y="2727621"/>
            <a:ext cx="6005400" cy="4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FACTURACIÓN: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35% en forma de anticipo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35% con la 1era entrevista de candidatos con el cliente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30% cuando el candidato firma la oferta (el monto se ajusta con el salario real de ingreso)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NO APLICAN PENALIDADES POR CANCELACIÓN</a:t>
            </a:r>
            <a:endParaRPr b="0" i="1" sz="16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2719" lvl="1" marL="34544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Servicios brindados en Argentina, Chile y México serán facturados en moneda local.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2719" lvl="1" marL="34544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Servicios brindados en el resto del mundo serán facturados en dólares americanos, con facturas de exportación emitidas desde las razones sociales de VDH en Chile o México.</a:t>
            </a:r>
            <a:endParaRPr b="0" i="1" sz="16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29" name="Google Shape;229;g35ba6ddf0db_0_6"/>
          <p:cNvSpPr txBox="1"/>
          <p:nvPr/>
        </p:nvSpPr>
        <p:spPr>
          <a:xfrm>
            <a:off x="1737188" y="7102396"/>
            <a:ext cx="6423300" cy="19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IMPUESTOS: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2719" lvl="1" marL="34544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En Argentina, Chile y México se agregará el IVA correspondiente a cada país.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2719" lvl="1" marL="34544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Los servicios facturados a otros países NO tendrán recargo de IVA. Si surge algún impuesto adicional por acuerdos tributarios entre países, este será a cargo del cliente.</a:t>
            </a:r>
            <a:endParaRPr b="0" i="0" sz="16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30" name="Google Shape;230;g35ba6ddf0db_0_6"/>
          <p:cNvSpPr txBox="1"/>
          <p:nvPr/>
        </p:nvSpPr>
        <p:spPr>
          <a:xfrm>
            <a:off x="9596650" y="2794300"/>
            <a:ext cx="7663800" cy="7605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GARANTÍA: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APLICA, cuando: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El profesional contratado se encuentre completamente desvinculado o haya renunciado a la compañía dentro de los siguientes plazos y posiciones.</a:t>
            </a:r>
            <a:endParaRPr b="0" i="0" sz="16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302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venir"/>
              <a:buAutoNum type="arabicPeriod"/>
            </a:pPr>
            <a:r>
              <a:rPr b="0" i="0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Será de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12 meses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para posiciones con salario mensual a partir de:</a:t>
            </a:r>
            <a:endParaRPr b="0" i="0" sz="16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Argentina		AR$ 6.000.000 ó más</a:t>
            </a:r>
            <a:endParaRPr b="0" i="0" sz="16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Chile		CLP$ 5.000.000 ó más</a:t>
            </a:r>
            <a:endParaRPr b="0" i="0" sz="16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México		MXN$ 100.000 ó más</a:t>
            </a:r>
            <a:endParaRPr b="0" i="0" sz="16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302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Será de</a:t>
            </a:r>
            <a:r>
              <a:rPr b="0" i="1" lang="en-US" sz="16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6 meses</a:t>
            </a:r>
            <a:r>
              <a:rPr b="0" i="0" lang="en-US" sz="16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para posiciones con salario mensual dentro del rango:</a:t>
            </a:r>
            <a:endParaRPr b="0" i="0" sz="16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Argentina		AR$ 2.900.000  -  AR$ 5.999.999 </a:t>
            </a:r>
            <a:endParaRPr b="0" i="0" sz="16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Chile		CLP$ 3.500.000  -  CLP$ 4.999.999 </a:t>
            </a:r>
            <a:endParaRPr b="0" i="0" sz="16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México		MXN$ 60.000  -   MXN$ 99.999</a:t>
            </a:r>
            <a:endParaRPr b="0" i="0" sz="16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302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Será de </a:t>
            </a:r>
            <a:r>
              <a:rPr b="0" i="1" lang="en-US" sz="16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3 meses</a:t>
            </a:r>
            <a:r>
              <a:rPr b="0" i="0" lang="en-US" sz="16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para posiciones con salario mensual dentro del rango:</a:t>
            </a:r>
            <a:endParaRPr b="0" i="0" sz="16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Argentina		AR$ 2.000.000  -  AR$ 2.899.999 </a:t>
            </a:r>
            <a:endParaRPr b="0" i="0" sz="16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Chile		CLP$ 1.700.000  -  CLP$ 3.499.999 </a:t>
            </a:r>
            <a:endParaRPr b="0" i="0" sz="16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México		MXN$ 35.000  -   MXN$ 59.999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NO APLICA, cuando: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2719" lvl="1" marL="34544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El perfil de reemplazo fuera modificado parcial o totalmente.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2719" lvl="1" marL="34544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El profesional renuncia por incumplimiento de promesa o acuerdo.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2719" lvl="1" marL="34544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El profesional renuncia por haber sido asignado a un rol diferente.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2719" lvl="1" marL="34544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El profesional renuncia por un cambio del liderazgo organizacional.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31" name="Google Shape;231;g35ba6ddf0db_0_6"/>
          <p:cNvSpPr txBox="1"/>
          <p:nvPr/>
        </p:nvSpPr>
        <p:spPr>
          <a:xfrm>
            <a:off x="405300" y="9613325"/>
            <a:ext cx="8333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0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*</a:t>
            </a:r>
            <a:r>
              <a:rPr b="1" i="1" lang="en-US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Caso la vacante sea cubierta por un referido interno o externo, aplicaremos un descuento del 15% </a:t>
            </a:r>
            <a:endParaRPr b="1" i="1" sz="14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1" lang="en-US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sobre el monto total del proyecto en la última factura.</a:t>
            </a:r>
            <a:endParaRPr b="1" i="1" sz="10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5ba6ddf0db_0_19"/>
          <p:cNvSpPr/>
          <p:nvPr/>
        </p:nvSpPr>
        <p:spPr>
          <a:xfrm>
            <a:off x="767952" y="3234246"/>
            <a:ext cx="246091" cy="246091"/>
          </a:xfrm>
          <a:custGeom>
            <a:rect b="b" l="l" r="r" t="t"/>
            <a:pathLst>
              <a:path extrusionOk="0" h="246091" w="246091">
                <a:moveTo>
                  <a:pt x="0" y="0"/>
                </a:moveTo>
                <a:lnTo>
                  <a:pt x="246091" y="0"/>
                </a:lnTo>
                <a:lnTo>
                  <a:pt x="246091" y="246092"/>
                </a:lnTo>
                <a:lnTo>
                  <a:pt x="0" y="246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g35ba6ddf0db_0_19"/>
          <p:cNvSpPr/>
          <p:nvPr/>
        </p:nvSpPr>
        <p:spPr>
          <a:xfrm>
            <a:off x="767952" y="5581599"/>
            <a:ext cx="246091" cy="246091"/>
          </a:xfrm>
          <a:custGeom>
            <a:rect b="b" l="l" r="r" t="t"/>
            <a:pathLst>
              <a:path extrusionOk="0" h="246091" w="246091">
                <a:moveTo>
                  <a:pt x="0" y="0"/>
                </a:moveTo>
                <a:lnTo>
                  <a:pt x="246091" y="0"/>
                </a:lnTo>
                <a:lnTo>
                  <a:pt x="246091" y="246091"/>
                </a:lnTo>
                <a:lnTo>
                  <a:pt x="0" y="24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8" name="Google Shape;238;g35ba6ddf0db_0_19"/>
          <p:cNvSpPr/>
          <p:nvPr/>
        </p:nvSpPr>
        <p:spPr>
          <a:xfrm>
            <a:off x="16936448" y="8981649"/>
            <a:ext cx="896680" cy="980114"/>
          </a:xfrm>
          <a:custGeom>
            <a:rect b="b" l="l" r="r" t="t"/>
            <a:pathLst>
              <a:path extrusionOk="0" h="980114" w="896680">
                <a:moveTo>
                  <a:pt x="0" y="0"/>
                </a:moveTo>
                <a:lnTo>
                  <a:pt x="896680" y="0"/>
                </a:lnTo>
                <a:lnTo>
                  <a:pt x="896680" y="980114"/>
                </a:lnTo>
                <a:lnTo>
                  <a:pt x="0" y="9801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2410" l="-36034" r="-42247" t="-30693"/>
            </a:stretch>
          </a:blipFill>
          <a:ln>
            <a:noFill/>
          </a:ln>
        </p:spPr>
      </p:sp>
      <p:sp>
        <p:nvSpPr>
          <p:cNvPr id="239" name="Google Shape;239;g35ba6ddf0db_0_19"/>
          <p:cNvSpPr txBox="1"/>
          <p:nvPr/>
        </p:nvSpPr>
        <p:spPr>
          <a:xfrm>
            <a:off x="1420612" y="380083"/>
            <a:ext cx="6290700" cy="1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1"/>
              <a:buFont typeface="Arial"/>
              <a:buNone/>
            </a:pPr>
            <a:r>
              <a:rPr b="1" i="0" lang="en-US" sz="850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Condiciones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5ba6ddf0db_0_19"/>
          <p:cNvSpPr txBox="1"/>
          <p:nvPr/>
        </p:nvSpPr>
        <p:spPr>
          <a:xfrm>
            <a:off x="1225177" y="1396526"/>
            <a:ext cx="62202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83"/>
              <a:buFont typeface="Arial"/>
              <a:buNone/>
            </a:pPr>
            <a:r>
              <a:rPr b="1" i="0" lang="en-US" sz="7783" u="none" cap="none" strike="noStrik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Comerciales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5ba6ddf0db_0_19"/>
          <p:cNvSpPr txBox="1"/>
          <p:nvPr/>
        </p:nvSpPr>
        <p:spPr>
          <a:xfrm>
            <a:off x="1248596" y="3167575"/>
            <a:ext cx="3456600" cy="16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ON HOLD: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Si la búsqueda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5"/>
                  </a:ext>
                </a:extLst>
              </a:rPr>
              <a:t>entrar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a en periodo de “On Hold o Stand By” ya sea por comunicación formal por parte del cliente o no se produjera ningún avance relacionado con el proceso (nuevas entrevistas o toma de decisión con respecto a los candidatos presentados) después un plazo de 60 días, se aplicará la cláusula de cancelación.</a:t>
            </a:r>
            <a:endParaRPr b="0" i="1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2" name="Google Shape;242;g35ba6ddf0db_0_19"/>
          <p:cNvSpPr txBox="1"/>
          <p:nvPr/>
        </p:nvSpPr>
        <p:spPr>
          <a:xfrm>
            <a:off x="1248600" y="5514925"/>
            <a:ext cx="3666300" cy="38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CANCELACIÓN: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Si la búsqueda fuera suspendida o cancelada por razones ajenas a VON DER HEIDE, después de haber presentado candidatos, NO HABRÁ PENALIDADES asociadas siempre que el cliente haya aceptado operar bajo la forma de pago 35%+35%+30%.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En caso que el cliente hubiera optado por una forma de pago diferente a la mencionada, se compromete en abonar a VON DER HEIDE la suma del 35% del honorario si la cancelación se comunica antes de la presentación de candidatos o un 70% en caso que se comunique con posterioridad.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Los anticipos y avances pagados serán considerados compensación por los trabajos realizados hasta el momento y no podrán ser reembolsados o convertidos en créditos para otros procesos. Todas las facturas emitidas con anterioridad a la cancelación deberán ser abonadas en su totalidad.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3" name="Google Shape;243;g35ba6ddf0db_0_19"/>
          <p:cNvSpPr/>
          <p:nvPr/>
        </p:nvSpPr>
        <p:spPr>
          <a:xfrm>
            <a:off x="5339952" y="3234246"/>
            <a:ext cx="246091" cy="246091"/>
          </a:xfrm>
          <a:custGeom>
            <a:rect b="b" l="l" r="r" t="t"/>
            <a:pathLst>
              <a:path extrusionOk="0" h="246091" w="246091">
                <a:moveTo>
                  <a:pt x="0" y="0"/>
                </a:moveTo>
                <a:lnTo>
                  <a:pt x="246091" y="0"/>
                </a:lnTo>
                <a:lnTo>
                  <a:pt x="246091" y="246092"/>
                </a:lnTo>
                <a:lnTo>
                  <a:pt x="0" y="246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g35ba6ddf0db_0_19"/>
          <p:cNvSpPr/>
          <p:nvPr/>
        </p:nvSpPr>
        <p:spPr>
          <a:xfrm>
            <a:off x="5339952" y="5034074"/>
            <a:ext cx="246091" cy="246091"/>
          </a:xfrm>
          <a:custGeom>
            <a:rect b="b" l="l" r="r" t="t"/>
            <a:pathLst>
              <a:path extrusionOk="0" h="246091" w="246091">
                <a:moveTo>
                  <a:pt x="0" y="0"/>
                </a:moveTo>
                <a:lnTo>
                  <a:pt x="246091" y="0"/>
                </a:lnTo>
                <a:lnTo>
                  <a:pt x="246091" y="246091"/>
                </a:lnTo>
                <a:lnTo>
                  <a:pt x="0" y="24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g35ba6ddf0db_0_19"/>
          <p:cNvSpPr txBox="1"/>
          <p:nvPr/>
        </p:nvSpPr>
        <p:spPr>
          <a:xfrm>
            <a:off x="5820596" y="3167575"/>
            <a:ext cx="3456600" cy="1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SECOND PLACEMENT: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Se facturará un 70% para segundas o terceras contrataciones que se deriven del mismo proceso solicitado.  En caso de incorporar a los profesionales para cubrir posiciones distintas a la solicitada originalmente, no aplicará la garantía</a:t>
            </a:r>
            <a:r>
              <a:rPr b="0" i="0" lang="en-US" sz="1400" u="none" cap="none" strike="noStrike">
                <a:solidFill>
                  <a:srgbClr val="5C609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1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6" name="Google Shape;246;g35ba6ddf0db_0_19"/>
          <p:cNvSpPr txBox="1"/>
          <p:nvPr/>
        </p:nvSpPr>
        <p:spPr>
          <a:xfrm>
            <a:off x="5820600" y="4967400"/>
            <a:ext cx="3666300" cy="1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EXCLUSIVIDAD: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La experiencia indica que los contactos simultáneos a un candidato dañan la imagen de la empresa y obstaculizan los procesos. Por ello VON DER HEIDE sólo elige iniciar procesos en los cuales se la designa como consultora exclusiva de cada posición a cubrir.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7" name="Google Shape;247;g35ba6ddf0db_0_19"/>
          <p:cNvSpPr/>
          <p:nvPr/>
        </p:nvSpPr>
        <p:spPr>
          <a:xfrm>
            <a:off x="5339952" y="6862874"/>
            <a:ext cx="246091" cy="246091"/>
          </a:xfrm>
          <a:custGeom>
            <a:rect b="b" l="l" r="r" t="t"/>
            <a:pathLst>
              <a:path extrusionOk="0" h="246091" w="246091">
                <a:moveTo>
                  <a:pt x="0" y="0"/>
                </a:moveTo>
                <a:lnTo>
                  <a:pt x="246091" y="0"/>
                </a:lnTo>
                <a:lnTo>
                  <a:pt x="246091" y="246091"/>
                </a:lnTo>
                <a:lnTo>
                  <a:pt x="0" y="24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8" name="Google Shape;248;g35ba6ddf0db_0_19"/>
          <p:cNvSpPr txBox="1"/>
          <p:nvPr/>
        </p:nvSpPr>
        <p:spPr>
          <a:xfrm>
            <a:off x="5820600" y="6796200"/>
            <a:ext cx="3666300" cy="1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ACEPTACIÓN DE PROPUESTAS: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La realización del relevamiento de la necesidad será considerado como el día 1 del inicio del proceso. En consecuencia, el cliente acepta que una vez realizado dicho relevamiento esta propuesta será considerada aceptada en todos sus términos y condiciones.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9" name="Google Shape;249;g35ba6ddf0db_0_19"/>
          <p:cNvSpPr/>
          <p:nvPr/>
        </p:nvSpPr>
        <p:spPr>
          <a:xfrm>
            <a:off x="5339952" y="8539274"/>
            <a:ext cx="246091" cy="246091"/>
          </a:xfrm>
          <a:custGeom>
            <a:rect b="b" l="l" r="r" t="t"/>
            <a:pathLst>
              <a:path extrusionOk="0" h="246091" w="246091">
                <a:moveTo>
                  <a:pt x="0" y="0"/>
                </a:moveTo>
                <a:lnTo>
                  <a:pt x="246091" y="0"/>
                </a:lnTo>
                <a:lnTo>
                  <a:pt x="246091" y="246091"/>
                </a:lnTo>
                <a:lnTo>
                  <a:pt x="0" y="24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g35ba6ddf0db_0_19"/>
          <p:cNvSpPr txBox="1"/>
          <p:nvPr/>
        </p:nvSpPr>
        <p:spPr>
          <a:xfrm>
            <a:off x="5820600" y="8472600"/>
            <a:ext cx="3666300" cy="16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REFERIDOS: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En caso de que la compañía proponga referidos externos o internos, dichos candidatos deberán ser considerados dentro del proceso de VON DER HEIDE. En caso que la búsqueda sea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6"/>
                  </a:ext>
                </a:extLst>
              </a:rPr>
              <a:t>cerrad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a con alguno de ellos, se realizará un descuento del 15% sobre el monto total del proyecto que será aplicable en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7"/>
                  </a:ext>
                </a:extLst>
              </a:rPr>
              <a:t>la última factura de cierre del proceso.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51" name="Google Shape;251;g35ba6ddf0db_0_19"/>
          <p:cNvSpPr/>
          <p:nvPr/>
        </p:nvSpPr>
        <p:spPr>
          <a:xfrm>
            <a:off x="10609477" y="3234246"/>
            <a:ext cx="246091" cy="246091"/>
          </a:xfrm>
          <a:custGeom>
            <a:rect b="b" l="l" r="r" t="t"/>
            <a:pathLst>
              <a:path extrusionOk="0" h="246091" w="246091">
                <a:moveTo>
                  <a:pt x="0" y="0"/>
                </a:moveTo>
                <a:lnTo>
                  <a:pt x="246091" y="0"/>
                </a:lnTo>
                <a:lnTo>
                  <a:pt x="246091" y="246092"/>
                </a:lnTo>
                <a:lnTo>
                  <a:pt x="0" y="246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2" name="Google Shape;252;g35ba6ddf0db_0_19"/>
          <p:cNvSpPr/>
          <p:nvPr/>
        </p:nvSpPr>
        <p:spPr>
          <a:xfrm>
            <a:off x="10609477" y="5034074"/>
            <a:ext cx="246091" cy="246091"/>
          </a:xfrm>
          <a:custGeom>
            <a:rect b="b" l="l" r="r" t="t"/>
            <a:pathLst>
              <a:path extrusionOk="0" h="246091" w="246091">
                <a:moveTo>
                  <a:pt x="0" y="0"/>
                </a:moveTo>
                <a:lnTo>
                  <a:pt x="246091" y="0"/>
                </a:lnTo>
                <a:lnTo>
                  <a:pt x="246091" y="246091"/>
                </a:lnTo>
                <a:lnTo>
                  <a:pt x="0" y="24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g35ba6ddf0db_0_19"/>
          <p:cNvSpPr txBox="1"/>
          <p:nvPr/>
        </p:nvSpPr>
        <p:spPr>
          <a:xfrm>
            <a:off x="11002200" y="3167575"/>
            <a:ext cx="5219700" cy="14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COMPROMISO DEL CLIENTE: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El cliente se compromete a proveer la información básica a compartir con los candidatos, ser ágiles y flexibles para atender las necesidades de seguimiento y los ajustes del proceso. También, para entrevistar a los candidatos presentados, dar devolución sobre dichos candidatos dentro de los dos días de la entrevista y mantener en reserva la identidad de los profesionales.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54" name="Google Shape;254;g35ba6ddf0db_0_19"/>
          <p:cNvSpPr txBox="1"/>
          <p:nvPr/>
        </p:nvSpPr>
        <p:spPr>
          <a:xfrm>
            <a:off x="11002200" y="4967400"/>
            <a:ext cx="5219700" cy="25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OFF LIMITS: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8"/>
                  </a:ext>
                </a:extLst>
              </a:rPr>
              <a:t>VON DER HEIDE se compromete a no abordar proactivamente a los colaboradores de sus clientes activos en un mismo país y departamento. La condición de off-limit se pierde después de 6 meses de inactividad comercial, a partir del último proyecto finalizado. Los candidatos incorporados al cliente a través de VON DER HEIDE no serán tenidos en cuenta para otros procesos de Talent Acquisition  durante dos años a partir de su incorporación.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  <a:extLst>
                <a:ext uri="http://customooxmlschemas.google.com/">
                  <go:slidesCustomData xmlns:go="http://customooxmlschemas.google.com/" textRoundtripDataId="9"/>
                </a:ext>
              </a:extLs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10"/>
                  </a:ext>
                </a:extLst>
              </a:rPr>
              <a:t> 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  <a:extLst>
                <a:ext uri="http://customooxmlschemas.google.com/">
                  <go:slidesCustomData xmlns:go="http://customooxmlschemas.google.com/" textRoundtripDataId="11"/>
                </a:ext>
              </a:extLs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12"/>
                  </a:ext>
                </a:extLst>
              </a:rPr>
              <a:t>En caso que colaboradores de los clientes apliquen a posiciones publicadas en los portales de internet o se comuniquen por otros medios, VON DER HEIDE se reserva el derecho de considerarlos o no para otros procesos de </a:t>
            </a:r>
            <a:r>
              <a:rPr b="0" i="0" lang="en-US" sz="12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13"/>
                  </a:ext>
                </a:extLst>
              </a:rPr>
              <a:t>Talent Acquisition</a:t>
            </a:r>
            <a:r>
              <a:rPr b="0" i="0" lang="en-US" sz="12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.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55" name="Google Shape;255;g35ba6ddf0db_0_19"/>
          <p:cNvSpPr/>
          <p:nvPr/>
        </p:nvSpPr>
        <p:spPr>
          <a:xfrm>
            <a:off x="10609477" y="8054849"/>
            <a:ext cx="246091" cy="246091"/>
          </a:xfrm>
          <a:custGeom>
            <a:rect b="b" l="l" r="r" t="t"/>
            <a:pathLst>
              <a:path extrusionOk="0" h="246091" w="246091">
                <a:moveTo>
                  <a:pt x="0" y="0"/>
                </a:moveTo>
                <a:lnTo>
                  <a:pt x="246091" y="0"/>
                </a:lnTo>
                <a:lnTo>
                  <a:pt x="246091" y="246091"/>
                </a:lnTo>
                <a:lnTo>
                  <a:pt x="0" y="24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g35ba6ddf0db_0_19"/>
          <p:cNvSpPr txBox="1"/>
          <p:nvPr/>
        </p:nvSpPr>
        <p:spPr>
          <a:xfrm>
            <a:off x="11002200" y="7988175"/>
            <a:ext cx="52197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VIGENCIA: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30 días desde la fecha de envío. </a:t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57" name="Google Shape;257;g35ba6ddf0db_0_19"/>
          <p:cNvSpPr/>
          <p:nvPr/>
        </p:nvSpPr>
        <p:spPr>
          <a:xfrm>
            <a:off x="10609477" y="9179199"/>
            <a:ext cx="246091" cy="246091"/>
          </a:xfrm>
          <a:custGeom>
            <a:rect b="b" l="l" r="r" t="t"/>
            <a:pathLst>
              <a:path extrusionOk="0" h="246091" w="246091">
                <a:moveTo>
                  <a:pt x="0" y="0"/>
                </a:moveTo>
                <a:lnTo>
                  <a:pt x="246091" y="0"/>
                </a:lnTo>
                <a:lnTo>
                  <a:pt x="246091" y="246091"/>
                </a:lnTo>
                <a:lnTo>
                  <a:pt x="0" y="24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g35ba6ddf0db_0_19"/>
          <p:cNvSpPr txBox="1"/>
          <p:nvPr/>
        </p:nvSpPr>
        <p:spPr>
          <a:xfrm>
            <a:off x="11025640" y="9129749"/>
            <a:ext cx="55872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PLAZO DE PAGO: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30 días de fecha de factura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5e6a1417f8_0_0"/>
          <p:cNvSpPr txBox="1"/>
          <p:nvPr/>
        </p:nvSpPr>
        <p:spPr>
          <a:xfrm>
            <a:off x="1295773" y="4133450"/>
            <a:ext cx="91161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9000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Soluciones</a:t>
            </a:r>
            <a:endParaRPr b="0" i="0" sz="9000" u="none" cap="none" strike="noStrik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4" name="Google Shape;264;g35e6a1417f8_0_0"/>
          <p:cNvSpPr txBox="1"/>
          <p:nvPr/>
        </p:nvSpPr>
        <p:spPr>
          <a:xfrm>
            <a:off x="1258625" y="3152125"/>
            <a:ext cx="43563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64"/>
              <a:buFont typeface="Arial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Nuestras</a:t>
            </a:r>
            <a:endParaRPr b="0" i="0" sz="8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5e6a1417f8_0_0"/>
          <p:cNvSpPr txBox="1"/>
          <p:nvPr/>
        </p:nvSpPr>
        <p:spPr>
          <a:xfrm>
            <a:off x="1310100" y="5381150"/>
            <a:ext cx="5207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64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Conoce nuestras soluciones para incorporar y potenciar tu talento.</a:t>
            </a:r>
            <a:endParaRPr b="0" i="0" sz="2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6" name="Google Shape;266;g35e6a1417f8_0_0"/>
          <p:cNvSpPr txBox="1"/>
          <p:nvPr/>
        </p:nvSpPr>
        <p:spPr>
          <a:xfrm>
            <a:off x="10411882" y="19465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Executive Search 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5e6a1417f8_0_0"/>
          <p:cNvSpPr txBox="1"/>
          <p:nvPr/>
        </p:nvSpPr>
        <p:spPr>
          <a:xfrm>
            <a:off x="10411882" y="60460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Self Placement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Google Shape;268;g35e6a1417f8_0_0"/>
          <p:cNvCxnSpPr/>
          <p:nvPr/>
        </p:nvCxnSpPr>
        <p:spPr>
          <a:xfrm>
            <a:off x="10411875" y="2824650"/>
            <a:ext cx="446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g35e6a1417f8_0_0"/>
          <p:cNvSpPr txBox="1"/>
          <p:nvPr/>
        </p:nvSpPr>
        <p:spPr>
          <a:xfrm>
            <a:off x="10419757" y="30336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Assessment 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0" name="Google Shape;270;g35e6a1417f8_0_0"/>
          <p:cNvCxnSpPr/>
          <p:nvPr/>
        </p:nvCxnSpPr>
        <p:spPr>
          <a:xfrm>
            <a:off x="10411875" y="3767875"/>
            <a:ext cx="446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g35e6a1417f8_0_0"/>
          <p:cNvSpPr txBox="1"/>
          <p:nvPr/>
        </p:nvSpPr>
        <p:spPr>
          <a:xfrm>
            <a:off x="10419757" y="40242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Market Insights 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" name="Google Shape;272;g35e6a1417f8_0_0"/>
          <p:cNvCxnSpPr/>
          <p:nvPr/>
        </p:nvCxnSpPr>
        <p:spPr>
          <a:xfrm>
            <a:off x="10411875" y="4758475"/>
            <a:ext cx="446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g35e6a1417f8_0_0"/>
          <p:cNvSpPr txBox="1"/>
          <p:nvPr/>
        </p:nvSpPr>
        <p:spPr>
          <a:xfrm>
            <a:off x="10419757" y="50351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Coaching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4" name="Google Shape;274;g35e6a1417f8_0_0"/>
          <p:cNvCxnSpPr/>
          <p:nvPr/>
        </p:nvCxnSpPr>
        <p:spPr>
          <a:xfrm>
            <a:off x="10411875" y="5769375"/>
            <a:ext cx="446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75" name="Google Shape;275;g35e6a1417f8_0_0" title="VDH Logo_2025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12925" y="9058425"/>
            <a:ext cx="3559228" cy="5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4565B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e6a1417f8_0_16"/>
          <p:cNvSpPr/>
          <p:nvPr/>
        </p:nvSpPr>
        <p:spPr>
          <a:xfrm>
            <a:off x="0" y="5660700"/>
            <a:ext cx="18320353" cy="4592300"/>
          </a:xfrm>
          <a:custGeom>
            <a:rect b="b" l="l" r="r" t="t"/>
            <a:pathLst>
              <a:path extrusionOk="0" h="1554078" w="6428194">
                <a:moveTo>
                  <a:pt x="0" y="0"/>
                </a:moveTo>
                <a:lnTo>
                  <a:pt x="6428194" y="0"/>
                </a:lnTo>
                <a:lnTo>
                  <a:pt x="6428194" y="1554078"/>
                </a:lnTo>
                <a:lnTo>
                  <a:pt x="0" y="155407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1" name="Google Shape;281;g35e6a1417f8_0_16"/>
          <p:cNvSpPr txBox="1"/>
          <p:nvPr/>
        </p:nvSpPr>
        <p:spPr>
          <a:xfrm>
            <a:off x="7469472" y="6178207"/>
            <a:ext cx="5188800" cy="22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Website: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LinkedIn: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Correo: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54565B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82" name="Google Shape;282;g35e6a1417f8_0_16"/>
          <p:cNvSpPr txBox="1"/>
          <p:nvPr/>
        </p:nvSpPr>
        <p:spPr>
          <a:xfrm>
            <a:off x="12951650" y="6283097"/>
            <a:ext cx="463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WWW.VONDERHEIDE.COM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5e6a1417f8_0_16"/>
          <p:cNvSpPr txBox="1"/>
          <p:nvPr/>
        </p:nvSpPr>
        <p:spPr>
          <a:xfrm>
            <a:off x="12951650" y="6848913"/>
            <a:ext cx="463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VON DER HEIDE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5e6a1417f8_0_16"/>
          <p:cNvSpPr txBox="1"/>
          <p:nvPr/>
        </p:nvSpPr>
        <p:spPr>
          <a:xfrm>
            <a:off x="12951650" y="7414738"/>
            <a:ext cx="463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CONTACTO@VDH.JOBS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5" name="Google Shape;285;g35e6a1417f8_0_16"/>
          <p:cNvGrpSpPr/>
          <p:nvPr/>
        </p:nvGrpSpPr>
        <p:grpSpPr>
          <a:xfrm>
            <a:off x="-523800" y="2286026"/>
            <a:ext cx="8703799" cy="2272849"/>
            <a:chOff x="-523800" y="2286026"/>
            <a:chExt cx="8703799" cy="2272849"/>
          </a:xfrm>
        </p:grpSpPr>
        <p:pic>
          <p:nvPicPr>
            <p:cNvPr id="286" name="Google Shape;286;g35e6a1417f8_0_16" title="people to business.png"/>
            <p:cNvPicPr preferRelativeResize="0"/>
            <p:nvPr/>
          </p:nvPicPr>
          <p:blipFill rotWithShape="1">
            <a:blip r:embed="rId3">
              <a:alphaModFix/>
            </a:blip>
            <a:srcRect b="33238" l="35239" r="35608" t="51645"/>
            <a:stretch/>
          </p:blipFill>
          <p:spPr>
            <a:xfrm>
              <a:off x="1303875" y="3119500"/>
              <a:ext cx="4935000" cy="1439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g35e6a1417f8_0_16"/>
            <p:cNvSpPr/>
            <p:nvPr/>
          </p:nvSpPr>
          <p:spPr>
            <a:xfrm>
              <a:off x="-523800" y="2286026"/>
              <a:ext cx="8703799" cy="1336045"/>
            </a:xfrm>
            <a:custGeom>
              <a:rect b="b" l="l" r="r" t="t"/>
              <a:pathLst>
                <a:path extrusionOk="0" h="1659683" w="10812173">
                  <a:moveTo>
                    <a:pt x="0" y="0"/>
                  </a:moveTo>
                  <a:lnTo>
                    <a:pt x="10812174" y="0"/>
                  </a:lnTo>
                  <a:lnTo>
                    <a:pt x="10812174" y="1659683"/>
                  </a:lnTo>
                  <a:lnTo>
                    <a:pt x="0" y="165968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376567" l="0" r="0" t="-365751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