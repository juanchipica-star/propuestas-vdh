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10287000" cy="18288000"/>
  <p:embeddedFontLst>
    <p:embeddedFont>
      <p:font typeface="Anton"/>
      <p:regular r:id="rId19"/>
    </p:embeddedFont>
    <p:embeddedFont>
      <p:font typeface="Poppi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0xygtOyML34D2oWroJGpTwctZ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11" Type="http://schemas.openxmlformats.org/officeDocument/2006/relationships/slide" Target="slides/slide7.xml"/><Relationship Id="rId22" Type="http://schemas.openxmlformats.org/officeDocument/2006/relationships/font" Target="fonts/Poppins-italic.fntdata"/><Relationship Id="rId10" Type="http://schemas.openxmlformats.org/officeDocument/2006/relationships/slide" Target="slides/slide6.xml"/><Relationship Id="rId21" Type="http://schemas.openxmlformats.org/officeDocument/2006/relationships/font" Target="fonts/Poppins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Anton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4871" y="3629245"/>
            <a:ext cx="9398257" cy="379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14021157" y="575310"/>
            <a:ext cx="331566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PROPUESTA · 2026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1047750" y="2091690"/>
            <a:ext cx="4632008" cy="42672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E8B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207770" y="2175510"/>
            <a:ext cx="4450928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FUTURE READINESS INDEX®</a:t>
            </a:r>
            <a:endParaRPr b="1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047750" y="3070860"/>
            <a:ext cx="16678275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000"/>
              <a:buFont typeface="Anton"/>
              <a:buNone/>
            </a:pPr>
            <a:r>
              <a:rPr b="0" i="0" lang="en-US" sz="15000" u="none" cap="none" strike="noStrike">
                <a:solidFill>
                  <a:srgbClr val="F2EDE3"/>
                </a:solidFill>
                <a:latin typeface="Anton"/>
                <a:ea typeface="Anton"/>
                <a:cs typeface="Anton"/>
                <a:sym typeface="Anton"/>
              </a:rPr>
              <a:t>FutureQuest</a:t>
            </a:r>
            <a:r>
              <a:rPr b="0" i="0" lang="en-US" sz="15000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.</a:t>
            </a:r>
            <a:endParaRPr b="0" i="0" sz="15000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047750" y="5598367"/>
            <a:ext cx="11791172" cy="25969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5"/>
              <a:buFont typeface="Arial"/>
              <a:buNone/>
            </a:pPr>
            <a:r>
              <a:rPr b="0" i="0" lang="en-US" sz="437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Un instrumento de exploración y mapeo del </a:t>
            </a:r>
            <a:r>
              <a:rPr b="0" i="1" lang="en-US" sz="4375" u="none" cap="none" strike="noStrike">
                <a:solidFill>
                  <a:srgbClr val="E8B53D"/>
                </a:solidFill>
                <a:latin typeface="Georgia"/>
                <a:ea typeface="Georgia"/>
                <a:cs typeface="Georgia"/>
                <a:sym typeface="Georgia"/>
              </a:rPr>
              <a:t>Future Readiness </a:t>
            </a:r>
            <a:r>
              <a:rPr b="0" i="0" lang="en-US" sz="437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— capabilities y mindset, de la persona a la organización.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75"/>
              <a:buFont typeface="Arial"/>
              <a:buNone/>
            </a:pPr>
            <a:r>
              <a:t/>
            </a:r>
            <a:endParaRPr b="0" i="0" sz="4375" u="none" cap="none" strike="noStrike">
              <a:solidFill>
                <a:srgbClr val="00B0F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047750" y="9304020"/>
            <a:ext cx="352291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AR · CL · PE · MX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B53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01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419710" y="3313280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LA PREGUNTA AHORA ES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47750" y="4154811"/>
            <a:ext cx="16678275" cy="2997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1655"/>
              <a:buFont typeface="Anton"/>
              <a:buNone/>
            </a:pPr>
            <a:r>
              <a:rPr b="0" i="0" lang="en-US" sz="11655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¿Quién está listo para el </a:t>
            </a:r>
            <a:r>
              <a:rPr b="0" i="1" lang="en-US" sz="11655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futuro?</a:t>
            </a:r>
            <a:endParaRPr b="0" i="0" sz="1165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5160228" y="7943850"/>
            <a:ext cx="2156222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4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12"/>
              <a:buFont typeface="Calibri"/>
              <a:buNone/>
            </a:pPr>
            <a:r>
              <a:t/>
            </a:r>
            <a:endParaRPr b="0" i="0" sz="20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9710" y="537210"/>
            <a:ext cx="171307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4">
            <a:alphaModFix/>
          </a:blip>
          <a:srcRect b="32932" l="28966" r="23093" t="26541"/>
          <a:stretch/>
        </p:blipFill>
        <p:spPr>
          <a:xfrm>
            <a:off x="14929263" y="7152325"/>
            <a:ext cx="2618151" cy="25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02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47750" y="1333500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QUÉ ES FUTURE QUEST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47750" y="1821180"/>
            <a:ext cx="16678275" cy="18333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382"/>
              <a:buFont typeface="Anton"/>
              <a:buNone/>
            </a:pPr>
            <a:r>
              <a:rPr b="0" i="0" lang="en-US" sz="6383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Una doble mirada del </a:t>
            </a:r>
            <a:r>
              <a:rPr b="0" i="1" lang="en-US" sz="6383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potencial de transformación.</a:t>
            </a:r>
            <a:endParaRPr b="0" i="0" sz="6383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47750" y="3864055"/>
            <a:ext cx="1255776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Poppins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Entendemos </a:t>
            </a:r>
            <a:r>
              <a:rPr b="0" i="1" lang="en-US" sz="2498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Potencial</a:t>
            </a:r>
            <a:r>
              <a:rPr b="0" i="1" lang="en-US" sz="2498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22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como la predisposición individual para traer el futuro al presente — representado por el índice FRI® (Future Readiness Index).</a:t>
            </a:r>
            <a:endParaRPr b="0" i="0" sz="222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47750" y="5247084"/>
            <a:ext cx="7573328" cy="3863340"/>
          </a:xfrm>
          <a:prstGeom prst="roundRect">
            <a:avLst>
              <a:gd fmla="val 986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341120" y="5559504"/>
            <a:ext cx="188702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MIRADA 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367350" y="5559504"/>
            <a:ext cx="103655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Persona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41120" y="6028134"/>
            <a:ext cx="7196185" cy="111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3450"/>
              <a:buFont typeface="Georgia"/>
              <a:buNone/>
            </a:pPr>
            <a:r>
              <a:rPr b="0" i="0" lang="en-US" sz="34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Exploración </a:t>
            </a:r>
            <a:r>
              <a:rPr b="0" i="1" lang="en-US" sz="34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individual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41120" y="7254954"/>
            <a:ext cx="719618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Indaga el Future Readiness de una persona: su FRI® -capabilities- y su Arquetipo de Mindset.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41120" y="8112204"/>
            <a:ext cx="719618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906828" y="6892052"/>
            <a:ext cx="550545" cy="6115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5966"/>
              <a:buFont typeface="Arial"/>
              <a:buNone/>
            </a:pPr>
            <a:r>
              <a:rPr b="0" i="0" lang="en-US" sz="5966" u="none" cap="none" strike="noStrike">
                <a:solidFill>
                  <a:srgbClr val="E6331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59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666923" y="5247084"/>
            <a:ext cx="7573328" cy="3863340"/>
          </a:xfrm>
          <a:prstGeom prst="roundRect">
            <a:avLst>
              <a:gd fmla="val 986" name="adj"/>
            </a:avLst>
          </a:prstGeom>
          <a:solidFill>
            <a:srgbClr val="E8B5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952673" y="5551884"/>
            <a:ext cx="188702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MIRADA 02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308223" y="5551884"/>
            <a:ext cx="1722477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Organización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952673" y="6020514"/>
            <a:ext cx="7211883" cy="1112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Georgia"/>
              <a:buNone/>
            </a:pPr>
            <a:r>
              <a:rPr b="0" i="0" lang="en-US" sz="34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Mapeo </a:t>
            </a:r>
            <a:r>
              <a:rPr b="0" i="1" lang="en-US" sz="345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organizacional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952673" y="7247334"/>
            <a:ext cx="721188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Visualiza el Future Readiness colectivo de un equipo u organización: distribución en Clusters, Heatmap, Benchmark 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03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047750" y="2361233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CÓMO CONTRIBUYE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47750" y="2810813"/>
            <a:ext cx="16678275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4578"/>
              <a:buFont typeface="Anton"/>
              <a:buNone/>
            </a:pPr>
            <a:r>
              <a:rPr b="0" i="0" lang="en-US" sz="4579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No es un diagnóstico más, es la </a:t>
            </a:r>
            <a:r>
              <a:rPr b="0" i="1" lang="en-US" sz="4579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puerta de entrada.</a:t>
            </a:r>
            <a:endParaRPr b="0" i="0" sz="4579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47750" y="3828083"/>
            <a:ext cx="3101340" cy="3368040"/>
          </a:xfrm>
          <a:prstGeom prst="roundRect">
            <a:avLst>
              <a:gd fmla="val 122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264920" y="4083353"/>
            <a:ext cx="274701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191"/>
              <a:buFont typeface="Anton"/>
              <a:buNone/>
            </a:pPr>
            <a:r>
              <a:rPr b="0" i="0" lang="en-US" sz="3191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INTEGRA</a:t>
            </a:r>
            <a:endParaRPr b="0" i="0" sz="3191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264920" y="5461263"/>
            <a:ext cx="2747010" cy="1011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la mirada de futuro en las decisiones de talento, con criterio estratégico.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320540" y="3828083"/>
            <a:ext cx="3101340" cy="3368040"/>
          </a:xfrm>
          <a:prstGeom prst="roundRect">
            <a:avLst>
              <a:gd fmla="val 122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37710" y="4083353"/>
            <a:ext cx="274701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191"/>
              <a:buFont typeface="Anton"/>
              <a:buNone/>
            </a:pPr>
            <a:r>
              <a:rPr b="0" i="0" lang="en-US" sz="3191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MAPEA</a:t>
            </a:r>
            <a:endParaRPr b="0" i="0" sz="3191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37710" y="5461263"/>
            <a:ext cx="2747010" cy="1336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el FRI® de líderes y de la organización: "¿estamos listos?" tiene un número y una lectura accionable.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593330" y="3828083"/>
            <a:ext cx="3101340" cy="3368040"/>
          </a:xfrm>
          <a:prstGeom prst="roundRect">
            <a:avLst>
              <a:gd fmla="val 122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810500" y="4083353"/>
            <a:ext cx="274701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191"/>
              <a:buFont typeface="Anton"/>
              <a:buNone/>
            </a:pPr>
            <a:r>
              <a:rPr b="0" i="0" lang="en-US" sz="3191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IDENTIFICA</a:t>
            </a:r>
            <a:endParaRPr b="0" i="0" sz="3191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7810500" y="5512330"/>
            <a:ext cx="2747010" cy="1336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brechas críticas, capabilities clave por desarrollar y tensiones ocultas.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866120" y="3828083"/>
            <a:ext cx="3101340" cy="3368040"/>
          </a:xfrm>
          <a:prstGeom prst="roundRect">
            <a:avLst>
              <a:gd fmla="val 122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1083290" y="4083353"/>
            <a:ext cx="274701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191"/>
              <a:buFont typeface="Anton"/>
              <a:buNone/>
            </a:pPr>
            <a:r>
              <a:rPr b="0" i="0" lang="en-US" sz="3191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TRAZA</a:t>
            </a:r>
            <a:endParaRPr b="0" i="0" sz="3191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043285" y="5512103"/>
            <a:ext cx="2958466" cy="16609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y redefine líneas de desarrollo con intervenciones diferenciadas, no programas genéricos.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4138910" y="3828083"/>
            <a:ext cx="3101340" cy="3368040"/>
          </a:xfrm>
          <a:prstGeom prst="roundRect">
            <a:avLst>
              <a:gd fmla="val 122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4356081" y="4083353"/>
            <a:ext cx="2747010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191"/>
              <a:buFont typeface="Anton"/>
              <a:buNone/>
            </a:pPr>
            <a:r>
              <a:rPr b="0" i="0" lang="en-US" sz="3191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APORTA</a:t>
            </a:r>
            <a:endParaRPr b="0" i="0" sz="3191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4356081" y="5512330"/>
            <a:ext cx="2747010" cy="13363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data y criterio para clusterizar, priorizar y decidir por dónde empezar</a:t>
            </a:r>
            <a:r>
              <a:rPr b="0" i="0" lang="en-US" sz="18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47750" y="7577123"/>
            <a:ext cx="16192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47750" y="8106713"/>
            <a:ext cx="310841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EL GRAN DESAFÍO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320540" y="7966015"/>
            <a:ext cx="13334403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3884"/>
              <a:buFont typeface="Georgia"/>
              <a:buNone/>
            </a:pPr>
            <a:r>
              <a:rPr b="0" i="0" lang="en-US" sz="3885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Hacer </a:t>
            </a:r>
            <a:r>
              <a:rPr b="0" i="1" lang="en-US" sz="3885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sustentables </a:t>
            </a:r>
            <a:r>
              <a:rPr b="0" i="0" lang="en-US" sz="3885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a las organizaciones y </a:t>
            </a:r>
            <a:r>
              <a:rPr b="0" i="1" lang="en-US" sz="3885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empleables </a:t>
            </a:r>
            <a:r>
              <a:rPr b="0" i="0" lang="en-US" sz="3885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a las personas.</a:t>
            </a:r>
            <a:endParaRPr b="0" i="0" sz="3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04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047750" y="1333500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EL INSTRUMENTO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047750" y="1840230"/>
            <a:ext cx="16678275" cy="1722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6600"/>
              <a:buFont typeface="Anton"/>
              <a:buNone/>
            </a:pPr>
            <a:r>
              <a:rPr b="0" i="0" lang="en-US" sz="6600" u="none" cap="none" strike="noStrike">
                <a:solidFill>
                  <a:srgbClr val="F2EDE3"/>
                </a:solidFill>
                <a:latin typeface="Anton"/>
                <a:ea typeface="Anton"/>
                <a:cs typeface="Anton"/>
                <a:sym typeface="Anton"/>
              </a:rPr>
              <a:t>Dos dimensiones, </a:t>
            </a:r>
            <a:r>
              <a:rPr b="0" i="1" lang="en-US" sz="6600" u="none" cap="none" strike="noStrike">
                <a:solidFill>
                  <a:srgbClr val="E8B53D"/>
                </a:solidFill>
                <a:latin typeface="Anton"/>
                <a:ea typeface="Anton"/>
                <a:cs typeface="Anton"/>
                <a:sym typeface="Anton"/>
              </a:rPr>
              <a:t>un solo índice.</a:t>
            </a:r>
            <a:endParaRPr b="0" i="0" sz="6600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47750" y="4038600"/>
            <a:ext cx="7953375" cy="4189095"/>
          </a:xfrm>
          <a:prstGeom prst="roundRect">
            <a:avLst>
              <a:gd fmla="val 910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341120" y="4808220"/>
            <a:ext cx="249054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DIMENSIÓN 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783711" y="4351020"/>
            <a:ext cx="1000244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6105"/>
              <a:buFont typeface="Anton"/>
              <a:buNone/>
            </a:pPr>
            <a:r>
              <a:rPr b="0" i="0" lang="en-US" sz="6105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b="0" i="0" sz="610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341120" y="5219700"/>
            <a:ext cx="758763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4800"/>
              <a:buFont typeface="Anton"/>
              <a:buNone/>
            </a:pPr>
            <a:r>
              <a:rPr b="0" i="0" lang="en-US" sz="4800" u="none" cap="none" strike="noStrike">
                <a:solidFill>
                  <a:srgbClr val="F2EDE3"/>
                </a:solidFill>
                <a:latin typeface="Anton"/>
                <a:ea typeface="Anton"/>
                <a:cs typeface="Anton"/>
                <a:sym typeface="Anton"/>
              </a:rPr>
              <a:t>Capabilities</a:t>
            </a:r>
            <a:endParaRPr b="0" i="0" sz="4800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341120" y="6046470"/>
            <a:ext cx="758763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3"/>
              <a:buFont typeface="Poppins"/>
              <a:buNone/>
            </a:pPr>
            <a:r>
              <a:rPr b="0" i="0" lang="en-US" sz="1804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PDA customizado con las 9 Capabilities creadas por VDH.</a:t>
            </a:r>
            <a:endParaRPr b="0" i="0" sz="1804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341120" y="6551295"/>
            <a:ext cx="758763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Responde </a:t>
            </a:r>
            <a:r>
              <a:rPr b="0" i="1" lang="en-US" sz="1943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qué tanto </a:t>
            </a:r>
            <a:r>
              <a:rPr b="0" i="0" lang="en-US" sz="1665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potencial de transformación tiene la persona.</a:t>
            </a:r>
            <a:endParaRPr b="0" i="0" sz="1665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341120" y="7198995"/>
            <a:ext cx="7366635" cy="716280"/>
          </a:xfrm>
          <a:prstGeom prst="roundRect">
            <a:avLst>
              <a:gd fmla="val 5319" name="adj"/>
            </a:avLst>
          </a:prstGeom>
          <a:noFill/>
          <a:ln cap="flat" cmpd="sng" w="9525">
            <a:solidFill>
              <a:srgbClr val="E633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558290" y="7427595"/>
            <a:ext cx="120110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763220" y="7359015"/>
            <a:ext cx="280918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79"/>
              <a:buFont typeface="Georgia"/>
              <a:buNone/>
            </a:pPr>
            <a:r>
              <a:rPr b="0" i="1" lang="en-US" sz="168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Índice de Potencial · FRI®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9286875" y="4038600"/>
            <a:ext cx="7953375" cy="4189095"/>
          </a:xfrm>
          <a:prstGeom prst="roundRect">
            <a:avLst>
              <a:gd fmla="val 910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580245" y="4808220"/>
            <a:ext cx="249054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DIMENSIÓN 02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6022836" y="4351020"/>
            <a:ext cx="1000244" cy="7505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6105"/>
              <a:buFont typeface="Anton"/>
              <a:buNone/>
            </a:pPr>
            <a:r>
              <a:rPr b="0" i="0" lang="en-US" sz="6105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b="0" i="0" sz="610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580245" y="5219700"/>
            <a:ext cx="7587634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4800"/>
              <a:buFont typeface="Anton"/>
              <a:buNone/>
            </a:pPr>
            <a:r>
              <a:rPr b="0" i="0" lang="en-US" sz="4800" u="none" cap="none" strike="noStrike">
                <a:solidFill>
                  <a:srgbClr val="F2EDE3"/>
                </a:solidFill>
                <a:latin typeface="Anton"/>
                <a:ea typeface="Anton"/>
                <a:cs typeface="Anton"/>
                <a:sym typeface="Anton"/>
              </a:rPr>
              <a:t>Mindset</a:t>
            </a:r>
            <a:endParaRPr b="0" i="0" sz="4800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9580245" y="6046470"/>
            <a:ext cx="758763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3"/>
              <a:buFont typeface="Poppins"/>
              <a:buNone/>
            </a:pPr>
            <a:r>
              <a:rPr b="0" i="0" lang="en-US" sz="1804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Mindset Quest — cuestionario propio de VDH.</a:t>
            </a:r>
            <a:endParaRPr b="0" i="0" sz="1804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9580245" y="6551295"/>
            <a:ext cx="758763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Responde </a:t>
            </a:r>
            <a:r>
              <a:rPr b="0" i="0" lang="en-US" sz="1800" u="none" cap="none" strike="noStrike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b="0" i="0" lang="en-U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se evidencia y el tono que le confiere al FRI®  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9580245" y="7198995"/>
            <a:ext cx="7366635" cy="716280"/>
          </a:xfrm>
          <a:prstGeom prst="roundRect">
            <a:avLst>
              <a:gd fmla="val 5319" name="adj"/>
            </a:avLst>
          </a:prstGeom>
          <a:noFill/>
          <a:ln cap="flat" cmpd="sng" w="9525">
            <a:solidFill>
              <a:srgbClr val="E633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9797415" y="7427595"/>
            <a:ext cx="120110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4082474" y="7359015"/>
            <a:ext cx="2726653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79"/>
              <a:buFont typeface="Georgia"/>
              <a:buNone/>
            </a:pPr>
            <a:r>
              <a:rPr b="0" i="1" lang="en-US" sz="168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4 Mindsets · 81 Arquetipos</a:t>
            </a:r>
            <a:endParaRPr b="0" i="0" sz="1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05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047750" y="1333500"/>
            <a:ext cx="804481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DIMENSIÓN 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47750" y="1821180"/>
            <a:ext cx="8044815" cy="18333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900"/>
              <a:buFont typeface="Georgia"/>
              <a:buNone/>
            </a:pPr>
            <a:r>
              <a:rPr b="0" i="0" lang="en-US" sz="690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Las 9 </a:t>
            </a:r>
            <a:r>
              <a:rPr b="0" i="1" lang="en-US" sz="6900" u="none" cap="none" strike="noStrike">
                <a:solidFill>
                  <a:srgbClr val="E63312"/>
                </a:solidFill>
                <a:latin typeface="Georgia"/>
                <a:ea typeface="Georgia"/>
                <a:cs typeface="Georgia"/>
                <a:sym typeface="Georgia"/>
              </a:rPr>
              <a:t>Capabilities.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47750" y="3569201"/>
            <a:ext cx="5143500" cy="9600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47750" y="3830256"/>
            <a:ext cx="5297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47750" y="4194265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Metacognición y Desaprendizaje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47750" y="4763106"/>
            <a:ext cx="5524500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Capacidad de pensar sobre el propio pensamiento. Capacidad de abandonar conscientemente prácticas obsoletas para dar paso a nuevos estándares.</a:t>
            </a:r>
            <a:endParaRPr b="0" i="0" sz="1400" u="none" cap="none" strike="noStrike">
              <a:solidFill>
                <a:srgbClr val="0A080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572250" y="3569201"/>
            <a:ext cx="5143500" cy="9600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572250" y="3853015"/>
            <a:ext cx="5297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572250" y="4164511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Pensamiento Crítico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644642" y="4680161"/>
            <a:ext cx="5225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Capacidad de analizar rigurosamente información, situaciones o argumentos , cuestionando supuestos, evaluando evidencia y distinguiendo hechos de interpretaciones.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2096750" y="3569201"/>
            <a:ext cx="5143500" cy="9600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2096750" y="3830256"/>
            <a:ext cx="5297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2096750" y="4164512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Experimentación Disciplinada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2096750" y="4645648"/>
            <a:ext cx="52977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Capacidad para innovar de forma controlada, utilizando micro-pilotos con métricas y umbrales para aprender rápido..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47750" y="5861821"/>
            <a:ext cx="5143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47750" y="5889556"/>
            <a:ext cx="529780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47750" y="6269325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Ética y Criterio Algorítmico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47750" y="6764679"/>
            <a:ext cx="52977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Capacidad de gobernar la IA, gestionar sus sesgos y mantener la decisión humana documentada. La IA recomienda, no decide. La responsabilidad es humana,.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572250" y="5843614"/>
            <a:ext cx="5143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572250" y="5921086"/>
            <a:ext cx="529780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572250" y="6269325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Comunicación Interdimensional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572250" y="6764680"/>
            <a:ext cx="52977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Habilidad para traducir lenguaje entre dominios de manera clara incluyendo todos los canales disponibles para dialogar con personas y sistemas de AI.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2096750" y="5829753"/>
            <a:ext cx="5143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096750" y="5905321"/>
            <a:ext cx="529780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2096750" y="6269325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Curiosidad Aplicada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2096749" y="6746749"/>
            <a:ext cx="52977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El motor para buscar y validar nuevas soluciones que generan valor.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47750" y="7830410"/>
            <a:ext cx="5143500" cy="8659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47750" y="7951590"/>
            <a:ext cx="5297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47750" y="8202427"/>
            <a:ext cx="5297805" cy="3794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Conciencia Sistémica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47750" y="8742324"/>
            <a:ext cx="5297700" cy="3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Moverse con el cambio sin perder sentido,Visión para anticipar efectos de segundo orden y asegurar que las decisiones tácticas estén alineadas con la estrategia de largo plazo.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649402" y="7800120"/>
            <a:ext cx="5143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72250" y="7902124"/>
            <a:ext cx="5297805" cy="2701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572250" y="8233215"/>
            <a:ext cx="52977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Sensemaking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572250" y="8708561"/>
            <a:ext cx="52977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La capacidad de distinguir la Señal del. Ruido en contextos sobreestimulados y en consecuencia tomar decisiones basadas en los datos relevantes. 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2096750" y="7798985"/>
            <a:ext cx="5143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2096750" y="7904119"/>
            <a:ext cx="529780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096750" y="8216946"/>
            <a:ext cx="5297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20"/>
              <a:buFont typeface="Georgia"/>
              <a:buNone/>
            </a:pPr>
            <a:r>
              <a:rPr b="0" i="0" lang="en-US" sz="222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Vulnerabilidad con Valentía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2096750" y="8663851"/>
            <a:ext cx="5297700" cy="17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Disposición a la autenticidad , mostrando propias dudas y límites sin resignar responsabilidad por las decisiones y resultados</a:t>
            </a:r>
            <a:endParaRPr b="0" i="0" sz="1400" u="none" cap="none" strike="noStrike">
              <a:solidFill>
                <a:srgbClr val="0A080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5671184" y="533400"/>
            <a:ext cx="804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06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047750" y="2674751"/>
            <a:ext cx="1216533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DIMENSIÓN 02 · MINDSET</a:t>
            </a:r>
            <a:endParaRPr b="1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47750" y="3143381"/>
            <a:ext cx="12165330" cy="8458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5827"/>
              <a:buFont typeface="Georgia"/>
              <a:buNone/>
            </a:pPr>
            <a:r>
              <a:rPr b="0" i="0" lang="en-US" sz="5828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4 tipos </a:t>
            </a:r>
            <a:r>
              <a:rPr b="0" i="1" lang="en-US" sz="5828" u="none" cap="none" strike="noStrike">
                <a:solidFill>
                  <a:srgbClr val="E8B53D"/>
                </a:solidFill>
                <a:latin typeface="Georgia"/>
                <a:ea typeface="Georgia"/>
                <a:cs typeface="Georgia"/>
                <a:sym typeface="Georgia"/>
              </a:rPr>
              <a:t>· </a:t>
            </a:r>
            <a:r>
              <a:rPr b="0" i="0" lang="en-US" sz="5828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81 </a:t>
            </a:r>
            <a:r>
              <a:rPr b="0" i="1" lang="en-US" sz="5828" u="none" cap="none" strike="noStrike">
                <a:solidFill>
                  <a:srgbClr val="E63312"/>
                </a:solidFill>
                <a:latin typeface="Georgia"/>
                <a:ea typeface="Georgia"/>
                <a:cs typeface="Georgia"/>
                <a:sym typeface="Georgia"/>
              </a:rPr>
              <a:t>arquetipos.</a:t>
            </a:r>
            <a:endParaRPr b="0" i="0" sz="58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3325475" y="2910517"/>
            <a:ext cx="3924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La combinación de </a:t>
            </a: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niveles</a:t>
            </a: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 en los 4 mindsets núcleo genera 81 arquetipos posibles.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47750" y="4408301"/>
            <a:ext cx="3905250" cy="3368040"/>
          </a:xfrm>
          <a:prstGeom prst="roundRect">
            <a:avLst>
              <a:gd fmla="val 1131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95430" y="4618559"/>
            <a:ext cx="188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2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FUTURISTA</a:t>
            </a:r>
            <a:endParaRPr b="1" i="0" sz="2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03020" y="5360801"/>
            <a:ext cx="349655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9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Anticipa tendencias y construye escenarios.</a:t>
            </a:r>
            <a:endParaRPr b="0" i="0" sz="19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303020" y="6911572"/>
            <a:ext cx="34965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Courier New"/>
              <a:buNone/>
            </a:pPr>
            <a:r>
              <a:rPr b="0" i="0" lang="en-US" sz="1826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VISIÓN · ANTICIPACIÓN · ESTRATEGIA</a:t>
            </a:r>
            <a:endParaRPr b="0" i="0" sz="1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143500" y="4408301"/>
            <a:ext cx="3905250" cy="3368040"/>
          </a:xfrm>
          <a:prstGeom prst="roundRect">
            <a:avLst>
              <a:gd fmla="val 1131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398770" y="4663571"/>
            <a:ext cx="245626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4440"/>
              <a:buFont typeface="Anton"/>
              <a:buNone/>
            </a:pPr>
            <a:r>
              <a:t/>
            </a:r>
            <a:endParaRPr b="0" i="0" sz="4440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47490" y="4618559"/>
            <a:ext cx="1887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2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INNOVADOR</a:t>
            </a:r>
            <a:endParaRPr b="1" i="0" sz="2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398770" y="5360801"/>
            <a:ext cx="349655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9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Crea, prototipa y transforma lo existente.</a:t>
            </a:r>
            <a:endParaRPr b="0" i="0" sz="19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398770" y="6868549"/>
            <a:ext cx="34965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CREACIÓN · PROTOTIPADO · DISRUPCIÓN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239250" y="4408301"/>
            <a:ext cx="3905250" cy="3368040"/>
          </a:xfrm>
          <a:prstGeom prst="roundRect">
            <a:avLst>
              <a:gd fmla="val 1131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541001" y="4618559"/>
            <a:ext cx="2694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2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IMPACT DRIVER</a:t>
            </a:r>
            <a:endParaRPr b="1" i="0" sz="2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494520" y="5360801"/>
            <a:ext cx="349655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9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Genera impacto ético, social y reputacional.</a:t>
            </a:r>
            <a:endParaRPr b="0" i="0" sz="19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494520" y="6934331"/>
            <a:ext cx="3496551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SOSTENIBLE · SISTÉMICO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3335000" y="4408301"/>
            <a:ext cx="3905250" cy="3368040"/>
          </a:xfrm>
          <a:prstGeom prst="roundRect">
            <a:avLst>
              <a:gd fmla="val 1131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3637162" y="4618559"/>
            <a:ext cx="2289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2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TECNOLÓGICO</a:t>
            </a:r>
            <a:endParaRPr b="1" i="0" sz="2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590270" y="5360801"/>
            <a:ext cx="349655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9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Integra tecnología con criterio humano.</a:t>
            </a:r>
            <a:endParaRPr b="0" i="0" sz="19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3590275" y="6914056"/>
            <a:ext cx="37263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Courier New"/>
              <a:buNone/>
            </a:pPr>
            <a:r>
              <a:rPr b="0" i="0" lang="en-US" sz="1826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TECH · CRITERIO ALGORÍTMICO · IMPLICANCIAS</a:t>
            </a:r>
            <a:endParaRPr b="0" i="0" sz="18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07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47750" y="2294397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EL PROCESO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047750" y="2763027"/>
            <a:ext cx="16678275" cy="939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382"/>
              <a:buFont typeface="Anton"/>
              <a:buNone/>
            </a:pPr>
            <a:r>
              <a:rPr b="0" i="0" lang="en-US" sz="6383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De la toma de datos a la </a:t>
            </a:r>
            <a:r>
              <a:rPr b="0" i="1" lang="en-US" sz="6383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conversación.</a:t>
            </a:r>
            <a:endParaRPr b="0" i="0" sz="6383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47750" y="4197849"/>
            <a:ext cx="4637722" cy="3219450"/>
          </a:xfrm>
          <a:prstGeom prst="roundRect">
            <a:avLst>
              <a:gd fmla="val 1183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341120" y="4491219"/>
            <a:ext cx="417251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884"/>
              <a:buFont typeface="Anton"/>
              <a:buNone/>
            </a:pPr>
            <a:r>
              <a:rPr b="0" i="0" lang="en-US" sz="3885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b="0" i="0" sz="388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341120" y="5097009"/>
            <a:ext cx="417251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Data Collection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341119" y="5702799"/>
            <a:ext cx="4127183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50"/>
              <a:buFont typeface="Poppins"/>
              <a:buNone/>
            </a:pPr>
            <a:r>
              <a:rPr b="0" i="0" lang="en-US" sz="165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Ingreso vía link al entorno FutureQuest.</a:t>
            </a:r>
            <a:endParaRPr b="0" i="0" sz="16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50"/>
              <a:buFont typeface="Poppins"/>
              <a:buNone/>
            </a:pPr>
            <a:r>
              <a:rPr b="0" i="0" lang="en-US" sz="165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Cuestionario conductual PDA custom.</a:t>
            </a:r>
            <a:endParaRPr b="0" i="0" sz="16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50"/>
              <a:buFont typeface="Poppins"/>
              <a:buNone/>
            </a:pPr>
            <a:r>
              <a:rPr b="0" i="0" lang="en-US" sz="165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Cuestionario Mindset Quest.</a:t>
            </a:r>
            <a:endParaRPr b="0" i="0" sz="16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914073" y="5567544"/>
            <a:ext cx="758666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4995"/>
              <a:buFont typeface="Arial"/>
              <a:buNone/>
            </a:pPr>
            <a:r>
              <a:rPr b="0" i="0" lang="en-US" sz="4995" u="none" cap="none" strike="noStrike">
                <a:solidFill>
                  <a:srgbClr val="E6331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825139" y="4197849"/>
            <a:ext cx="4637722" cy="3219450"/>
          </a:xfrm>
          <a:prstGeom prst="roundRect">
            <a:avLst>
              <a:gd fmla="val 1183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118509" y="4491219"/>
            <a:ext cx="417251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3884"/>
              <a:buFont typeface="Anton"/>
              <a:buNone/>
            </a:pPr>
            <a:r>
              <a:rPr b="0" i="0" lang="en-US" sz="3885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b="0" i="0" sz="388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118509" y="5097009"/>
            <a:ext cx="417251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550"/>
              <a:buFont typeface="Georgia"/>
              <a:buNone/>
            </a:pPr>
            <a:r>
              <a:rPr b="1" i="0" lang="en-US" sz="25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Comprehensive Output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118508" y="5702799"/>
            <a:ext cx="4127183" cy="1335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Reporte individual online al terminar la toma: gaps, arquetipo, reseña.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00"/>
              <a:buFont typeface="Poppins"/>
              <a:buNone/>
            </a:pPr>
            <a:r>
              <a:rPr b="0" i="0" lang="en-US" sz="16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Mapa Organizacional: overview, clusters, red flags, tensiones, highlights.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1691462" y="5567544"/>
            <a:ext cx="758666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4995"/>
              <a:buFont typeface="Arial"/>
              <a:buNone/>
            </a:pPr>
            <a:r>
              <a:rPr b="0" i="0" lang="en-US" sz="4995" u="none" cap="none" strike="noStrike">
                <a:solidFill>
                  <a:srgbClr val="E6331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49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2602527" y="4197849"/>
            <a:ext cx="4637722" cy="3219450"/>
          </a:xfrm>
          <a:prstGeom prst="roundRect">
            <a:avLst>
              <a:gd fmla="val 1183" name="adj"/>
            </a:avLst>
          </a:prstGeom>
          <a:solidFill>
            <a:srgbClr val="0A0807"/>
          </a:solidFill>
          <a:ln cap="flat" cmpd="sng" w="9525">
            <a:solidFill>
              <a:srgbClr val="0A08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2895898" y="4491219"/>
            <a:ext cx="4172512" cy="49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884"/>
              <a:buFont typeface="Anton"/>
              <a:buNone/>
            </a:pPr>
            <a:r>
              <a:rPr b="0" i="0" lang="en-US" sz="3885" u="none" cap="none" strike="noStrike">
                <a:solidFill>
                  <a:srgbClr val="F2EDE3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b="0" i="0" sz="3885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2895898" y="5097009"/>
            <a:ext cx="4172512" cy="472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Team Awareness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3067348" y="5702799"/>
            <a:ext cx="4001062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Poppins"/>
              <a:buNone/>
            </a:pPr>
            <a:r>
              <a:rPr b="0" i="0" lang="en-US" sz="1526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Encuentro consultivo VDH–Sponsor.</a:t>
            </a:r>
            <a:endParaRPr b="0" i="0" sz="152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3067348" y="6119994"/>
            <a:ext cx="4001062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Poppins"/>
              <a:buNone/>
            </a:pPr>
            <a:r>
              <a:rPr b="0" i="0" lang="en-US" sz="1526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Lectura ejecutiva de resultados.</a:t>
            </a:r>
            <a:endParaRPr b="0" i="0" sz="152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3067348" y="6537189"/>
            <a:ext cx="4001062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Poppins"/>
              <a:buNone/>
            </a:pPr>
            <a:r>
              <a:rPr b="0" i="0" lang="en-US" sz="1526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Recomendaciones y próximos pasos.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26"/>
              <a:buFont typeface="Poppins"/>
              <a:buNone/>
            </a:pPr>
            <a:r>
              <a:rPr b="0" i="1" lang="en-US" sz="1526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So what?</a:t>
            </a:r>
            <a:endParaRPr b="0" i="0" sz="152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08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47750" y="1333500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ENTREGABLES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47750" y="1802130"/>
            <a:ext cx="16678275" cy="939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382"/>
              <a:buFont typeface="Anton"/>
              <a:buNone/>
            </a:pPr>
            <a:r>
              <a:rPr b="0" i="0" lang="en-US" sz="6383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Dos dimensiones, </a:t>
            </a:r>
            <a:r>
              <a:rPr b="0" i="1" lang="en-US" sz="6383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una lectura completa.</a:t>
            </a:r>
            <a:endParaRPr b="0" i="0" sz="6383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047750" y="3179801"/>
            <a:ext cx="7953375" cy="3455775"/>
          </a:xfrm>
          <a:prstGeom prst="roundRect">
            <a:avLst>
              <a:gd fmla="val 95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341128" y="3492225"/>
            <a:ext cx="5354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3300"/>
              <a:buFont typeface="Georgia"/>
              <a:buNone/>
            </a:pPr>
            <a:r>
              <a:rPr b="0" i="0" lang="en-US" sz="330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Reporte Individual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695837" y="3682722"/>
            <a:ext cx="208811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1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AUTOMÁTICO</a:t>
            </a:r>
            <a:endParaRPr b="1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341120" y="4174212"/>
            <a:ext cx="758763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Generado al completar ambos instrumentos.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325899" y="4636414"/>
            <a:ext cx="7602855" cy="17297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Gráfico de araña de 9 capabilities con índice individual.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Gráfico de araña de 4 mindsets núcleo con índice.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Arquetipo de mindset asignado.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Reseña del arquetipo personalizada.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286875" y="3179801"/>
            <a:ext cx="7953375" cy="3455775"/>
          </a:xfrm>
          <a:prstGeom prst="roundRect">
            <a:avLst>
              <a:gd fmla="val 950" name="adj"/>
            </a:avLst>
          </a:prstGeom>
          <a:solidFill>
            <a:srgbClr val="0A0807"/>
          </a:solidFill>
          <a:ln cap="flat" cmpd="sng" w="9525">
            <a:solidFill>
              <a:srgbClr val="0A08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580252" y="3492225"/>
            <a:ext cx="5958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300"/>
              <a:buFont typeface="Georgia"/>
              <a:buNone/>
            </a:pPr>
            <a:r>
              <a:rPr b="0" i="0" lang="en-US" sz="33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Mapeo Organizacional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5538490" y="3682722"/>
            <a:ext cx="14845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1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POR VDH</a:t>
            </a:r>
            <a:endParaRPr b="1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9580245" y="4174212"/>
            <a:ext cx="758763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Elaborado y presentado por el equipo VDH.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9565024" y="4636414"/>
            <a:ext cx="7602855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Marco FutureQuest y contexto de la toma.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Readiness de Futuro: síntesis ejecutiva.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Mapa comparativo: FRI®, radares, heatmap.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Clusters organizacionales de readiness.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Tensiones, red flags, hallazgos y recomendaciones.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0" y="6804304"/>
            <a:ext cx="18288000" cy="3482696"/>
          </a:xfrm>
          <a:prstGeom prst="roundRect">
            <a:avLst>
              <a:gd fmla="val 95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1926" y="6827164"/>
            <a:ext cx="6188859" cy="329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24112" y="6804305"/>
            <a:ext cx="6471963" cy="334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09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1047750" y="2015425"/>
            <a:ext cx="1157668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SOLUCIÓN INTEGRAL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1047750" y="2484055"/>
            <a:ext cx="11576685" cy="939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382"/>
              <a:buFont typeface="Anton"/>
              <a:buNone/>
            </a:pPr>
            <a:r>
              <a:rPr b="0" i="0" lang="en-US" sz="6383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Del diagnóstico </a:t>
            </a:r>
            <a:r>
              <a:rPr b="0" i="1" lang="en-US" sz="6383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a la acción.</a:t>
            </a:r>
            <a:endParaRPr b="0" i="0" sz="6383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2745998" y="2680031"/>
            <a:ext cx="451294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Cuatro etapas para llevar a tu equipo de la toma de datos a una hoja de ruta concreta.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47750" y="3861727"/>
            <a:ext cx="3905250" cy="3406140"/>
          </a:xfrm>
          <a:prstGeom prst="roundRect">
            <a:avLst>
              <a:gd fmla="val 111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1303020" y="4136047"/>
            <a:ext cx="349655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ETAPA 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303020" y="4566577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636"/>
              <a:buFont typeface="Georgia"/>
              <a:buNone/>
            </a:pPr>
            <a:r>
              <a:rPr b="1" i="0" lang="en-US" sz="2636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Kickoff y Relevamiento</a:t>
            </a:r>
            <a:endParaRPr b="0" i="0" sz="26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303020" y="6060573"/>
            <a:ext cx="3496551" cy="971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95"/>
              <a:buFont typeface="Poppins"/>
              <a:buNone/>
            </a:pPr>
            <a:r>
              <a:rPr b="0" i="0" lang="en-US" sz="1596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Alineación con el sponsor. Definición de alcance, población objetivo y cronograma de la toma.</a:t>
            </a:r>
            <a:endParaRPr b="0" i="0" sz="159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5143500" y="3861727"/>
            <a:ext cx="3905250" cy="3406140"/>
          </a:xfrm>
          <a:prstGeom prst="roundRect">
            <a:avLst>
              <a:gd fmla="val 111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398770" y="4136047"/>
            <a:ext cx="349655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ETAPA 02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398770" y="4566577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636"/>
              <a:buFont typeface="Georgia"/>
              <a:buNone/>
            </a:pPr>
            <a:r>
              <a:rPr b="1" i="0" lang="en-US" sz="2636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Configuración y Planificación</a:t>
            </a:r>
            <a:endParaRPr b="0" i="0" sz="26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398770" y="6060573"/>
            <a:ext cx="3496551" cy="971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95"/>
              <a:buFont typeface="Poppins"/>
              <a:buNone/>
            </a:pPr>
            <a:r>
              <a:rPr b="0" i="0" lang="en-US" sz="1596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Habilitación de la plataforma, personalización del cuestionario y logística de comunicación.</a:t>
            </a:r>
            <a:endParaRPr b="0" i="0" sz="159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239250" y="3861727"/>
            <a:ext cx="3905250" cy="3406140"/>
          </a:xfrm>
          <a:prstGeom prst="roundRect">
            <a:avLst>
              <a:gd fmla="val 1119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9494520" y="4136047"/>
            <a:ext cx="349655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ETAPA 03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494520" y="4566577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636"/>
              <a:buFont typeface="Georgia"/>
              <a:buNone/>
            </a:pPr>
            <a:r>
              <a:rPr b="1" i="0" lang="en-US" sz="2636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Assessment y Reportería</a:t>
            </a:r>
            <a:endParaRPr b="0" i="0" sz="26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9494520" y="6060573"/>
            <a:ext cx="3496551" cy="971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95"/>
              <a:buFont typeface="Poppins"/>
              <a:buNone/>
            </a:pPr>
            <a:r>
              <a:rPr b="0" i="0" lang="en-US" sz="1596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Administración hasta 15 personas. Reportes individuales automáticos y Mapa Organizacional.</a:t>
            </a:r>
            <a:endParaRPr b="0" i="0" sz="159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3335000" y="3861727"/>
            <a:ext cx="3905250" cy="3406140"/>
          </a:xfrm>
          <a:prstGeom prst="roundRect">
            <a:avLst>
              <a:gd fmla="val 1119" name="adj"/>
            </a:avLst>
          </a:prstGeom>
          <a:solidFill>
            <a:srgbClr val="0A0807"/>
          </a:solidFill>
          <a:ln cap="flat" cmpd="sng" w="9525">
            <a:solidFill>
              <a:srgbClr val="0A08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3590270" y="4136047"/>
            <a:ext cx="3496551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ETAPA 04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3590270" y="4566577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636"/>
              <a:buFont typeface="Georgia"/>
              <a:buNone/>
            </a:pPr>
            <a:r>
              <a:rPr b="1" i="0" lang="en-US" sz="2636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Workshop con Accionables</a:t>
            </a:r>
            <a:endParaRPr b="0" i="0" sz="26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3590270" y="6060573"/>
            <a:ext cx="3496551" cy="971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595"/>
              <a:buFont typeface="Poppins"/>
              <a:buNone/>
            </a:pPr>
            <a:r>
              <a:rPr lang="en-US" sz="1596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4-</a:t>
            </a:r>
            <a:r>
              <a:rPr b="0" i="0" lang="en-US" sz="1596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6 horas. Sesión con el equipo sponsor para convertir hallazgos en planes de acción y próximos pasos.</a:t>
            </a:r>
            <a:endParaRPr b="0" i="0" sz="1596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047750" y="7648867"/>
            <a:ext cx="45529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2775"/>
              <a:buFont typeface="Arial"/>
              <a:buNone/>
            </a:pPr>
            <a:r>
              <a:rPr b="0" i="0" lang="en-US" sz="2775" u="none" cap="none" strike="noStrike">
                <a:solidFill>
                  <a:srgbClr val="E6331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1560195" y="7652677"/>
            <a:ext cx="148459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KICKOFF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101935" y="7777455"/>
            <a:ext cx="1942028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177314" y="7652677"/>
            <a:ext cx="269403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CONFIGURACIÓN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926229" y="7777455"/>
            <a:ext cx="1942148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0001727" y="7652677"/>
            <a:ext cx="2088118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ASSESSMENT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2146995" y="7777455"/>
            <a:ext cx="1942028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4222373" y="7652677"/>
            <a:ext cx="3108413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WORKSHOP · 6 HS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0" name="Google Shape;2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11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057394" y="1800225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3200"/>
              <a:buFont typeface="Courier New"/>
              <a:buNone/>
            </a:pPr>
            <a:r>
              <a:rPr b="0" i="0" lang="en-US" sz="3200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VALOR DE LA SOLUCIÓN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047750" y="2792730"/>
            <a:ext cx="7115175" cy="4282440"/>
          </a:xfrm>
          <a:prstGeom prst="roundRect">
            <a:avLst>
              <a:gd fmla="val 890" name="adj"/>
            </a:avLst>
          </a:prstGeom>
          <a:solidFill>
            <a:srgbClr val="E633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USD 8000 </a:t>
            </a:r>
            <a:endParaRPr b="0" i="0" sz="1400" u="none" cap="none" strike="noStrike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on boarding fee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1333500" y="6217920"/>
            <a:ext cx="6543675" cy="9525"/>
          </a:xfrm>
          <a:prstGeom prst="rect">
            <a:avLst/>
          </a:prstGeom>
          <a:solidFill>
            <a:srgbClr val="F2EDE3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1333500" y="6396990"/>
            <a:ext cx="36037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Descuento por cantidad: consultar.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543925" y="2792730"/>
            <a:ext cx="8696325" cy="915765"/>
          </a:xfrm>
          <a:prstGeom prst="roundRect">
            <a:avLst>
              <a:gd fmla="val 2874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794040" y="3134558"/>
            <a:ext cx="559237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0" i="0" lang="en-US" sz="3191" u="none" cap="none" strike="noStrike">
                <a:solidFill>
                  <a:srgbClr val="E8B53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8603425" y="3877200"/>
            <a:ext cx="8631600" cy="1099200"/>
          </a:xfrm>
          <a:prstGeom prst="roundRect">
            <a:avLst>
              <a:gd fmla="val 2874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8825598" y="4396263"/>
            <a:ext cx="559237" cy="4105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3191"/>
              <a:buFont typeface="Arial"/>
              <a:buNone/>
            </a:pPr>
            <a:r>
              <a:rPr b="0" i="0" lang="en-US" sz="3191" u="none" cap="none" strike="noStrike">
                <a:solidFill>
                  <a:srgbClr val="E8B53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8538833" y="5174112"/>
            <a:ext cx="8696325" cy="1091553"/>
          </a:xfrm>
          <a:prstGeom prst="roundRect">
            <a:avLst>
              <a:gd fmla="val 2874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8794040" y="5614988"/>
            <a:ext cx="559237" cy="457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0" i="0" lang="en-US" sz="3191" u="none" cap="none" strike="noStrike">
                <a:solidFill>
                  <a:srgbClr val="E8B5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047750" y="9174480"/>
            <a:ext cx="282672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FACTURACIÓN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047750" y="9486900"/>
            <a:ext cx="28267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100% al solicitar el servicio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249341" y="9174480"/>
            <a:ext cx="25290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PLAZO DE PAGO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249341" y="9486900"/>
            <a:ext cx="25290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30 días fecha de factura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159347" y="9174480"/>
            <a:ext cx="28881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IMPUESTOS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159347" y="9486900"/>
            <a:ext cx="288816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No incluye IVA ni asociados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420588" y="9174480"/>
            <a:ext cx="2376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VIGENCIA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10420588" y="9486900"/>
            <a:ext cx="237660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Poppins"/>
                <a:ea typeface="Poppins"/>
                <a:cs typeface="Poppins"/>
                <a:sym typeface="Poppins"/>
              </a:rPr>
              <a:t>30 días desde el envío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538833" y="6554841"/>
            <a:ext cx="8696325" cy="1008549"/>
          </a:xfrm>
          <a:prstGeom prst="roundRect">
            <a:avLst>
              <a:gd fmla="val 2874" name="adj"/>
            </a:avLst>
          </a:prstGeom>
          <a:solidFill>
            <a:srgbClr val="F2EDE3">
              <a:alpha val="3921"/>
            </a:srgbClr>
          </a:solidFill>
          <a:ln cap="flat" cmpd="sng" w="9525">
            <a:solidFill>
              <a:srgbClr val="F2EDE3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333500" y="5815965"/>
            <a:ext cx="360373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360"/>
              <a:buFont typeface="Georgia"/>
              <a:buNone/>
            </a:pPr>
            <a:r>
              <a:rPr b="0" i="1" lang="en-US" sz="136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Valor individual a partir del test 16: USD 150  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0047509" y="3079314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Kickoff y Relevamiento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0047508" y="4126705"/>
            <a:ext cx="3496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Configuración y 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0047507" y="5499561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Assessment y Reportería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8815808" y="6894059"/>
            <a:ext cx="559237" cy="457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1"/>
              <a:buFont typeface="Arial"/>
              <a:buNone/>
            </a:pPr>
            <a:r>
              <a:rPr b="0" i="0" lang="en-US" sz="3191" u="none" cap="none" strike="noStrike">
                <a:solidFill>
                  <a:srgbClr val="E8B53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19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0047507" y="6821483"/>
            <a:ext cx="3496551" cy="8198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Workshop con Accionables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DE3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2" name="Google Shape;3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12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047750" y="1295400"/>
            <a:ext cx="1157668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PORTFOLIO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047750" y="1764030"/>
            <a:ext cx="11576685" cy="9395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6382"/>
              <a:buFont typeface="Anton"/>
              <a:buNone/>
            </a:pPr>
            <a:r>
              <a:rPr b="0" i="0" lang="en-US" sz="6383" u="none" cap="none" strike="noStrike">
                <a:solidFill>
                  <a:srgbClr val="0A0807"/>
                </a:solidFill>
                <a:latin typeface="Anton"/>
                <a:ea typeface="Anton"/>
                <a:cs typeface="Anton"/>
                <a:sym typeface="Anton"/>
              </a:rPr>
              <a:t>Nuestras </a:t>
            </a:r>
            <a:r>
              <a:rPr b="0" i="1" lang="en-US" sz="6383" u="none" cap="none" strike="noStrike">
                <a:solidFill>
                  <a:srgbClr val="E63312"/>
                </a:solidFill>
                <a:latin typeface="Anton"/>
                <a:ea typeface="Anton"/>
                <a:cs typeface="Anton"/>
                <a:sym typeface="Anton"/>
              </a:rPr>
              <a:t>soluciones.</a:t>
            </a:r>
            <a:endParaRPr b="0" i="0" sz="6383" u="none" cap="none" strike="noStrike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12721829" y="1979652"/>
            <a:ext cx="451294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Poppins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Poppins"/>
                <a:ea typeface="Poppins"/>
                <a:cs typeface="Poppins"/>
                <a:sym typeface="Poppins"/>
              </a:rPr>
              <a:t>Acompañamos la evolución de clientes y profesionales en toda América Latina.</a:t>
            </a:r>
            <a:endParaRPr b="0" i="0" sz="1665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1047750" y="3084552"/>
            <a:ext cx="3375422" cy="2514600"/>
          </a:xfrm>
          <a:prstGeom prst="roundRect">
            <a:avLst>
              <a:gd fmla="val 1515" name="adj"/>
            </a:avLst>
          </a:prstGeom>
          <a:solidFill>
            <a:srgbClr val="E6331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333500" y="3389352"/>
            <a:ext cx="288804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NUEVO · 2026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333500" y="4456152"/>
            <a:ext cx="288804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3300"/>
              <a:buFont typeface="Georgia"/>
              <a:buNone/>
            </a:pPr>
            <a:r>
              <a:rPr b="0" i="0" lang="en-US" sz="33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Future</a:t>
            </a:r>
            <a:r>
              <a:rPr b="0" i="1" lang="en-US" sz="33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Quest 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575572" y="3084552"/>
            <a:ext cx="2411016" cy="2514600"/>
          </a:xfrm>
          <a:prstGeom prst="roundRect">
            <a:avLst>
              <a:gd fmla="val 158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792742" y="3320772"/>
            <a:ext cx="20528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688562" y="4745712"/>
            <a:ext cx="2052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081"/>
              <a:buFont typeface="Georgia"/>
              <a:buNone/>
            </a:pPr>
            <a:r>
              <a:rPr b="0" i="0" lang="en-US" sz="2081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Executive Search</a:t>
            </a:r>
            <a:endParaRPr b="0" i="0" sz="2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7138988" y="3084552"/>
            <a:ext cx="2411016" cy="2514600"/>
          </a:xfrm>
          <a:prstGeom prst="roundRect">
            <a:avLst>
              <a:gd fmla="val 158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356157" y="3320772"/>
            <a:ext cx="20528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251969" y="4745700"/>
            <a:ext cx="23571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Market Insights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9702403" y="3084552"/>
            <a:ext cx="2411016" cy="2514600"/>
          </a:xfrm>
          <a:prstGeom prst="roundRect">
            <a:avLst>
              <a:gd fmla="val 158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919574" y="3320772"/>
            <a:ext cx="20528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9805749" y="4745712"/>
            <a:ext cx="2052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Assessment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2265819" y="3084552"/>
            <a:ext cx="2411016" cy="2514600"/>
          </a:xfrm>
          <a:prstGeom prst="roundRect">
            <a:avLst>
              <a:gd fmla="val 158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2482989" y="3320772"/>
            <a:ext cx="20528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2369164" y="4745712"/>
            <a:ext cx="20529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Coaching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4829234" y="3084552"/>
            <a:ext cx="2411016" cy="2514600"/>
          </a:xfrm>
          <a:prstGeom prst="roundRect">
            <a:avLst>
              <a:gd fmla="val 1580" name="adj"/>
            </a:avLst>
          </a:prstGeom>
          <a:solidFill>
            <a:srgbClr val="FAF6EF"/>
          </a:solidFill>
          <a:ln cap="flat" cmpd="sng" w="9525">
            <a:solidFill>
              <a:srgbClr val="0A0807">
                <a:alpha val="14117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5046405" y="3320772"/>
            <a:ext cx="205287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3312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6331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14942225" y="4745712"/>
            <a:ext cx="20529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2250"/>
              <a:buFont typeface="Georgia"/>
              <a:buNone/>
            </a:pPr>
            <a:r>
              <a:rPr b="0" i="0" lang="en-US" sz="2250" u="none" cap="none" strike="noStrike">
                <a:solidFill>
                  <a:srgbClr val="0A0807"/>
                </a:solidFill>
                <a:latin typeface="Georgia"/>
                <a:ea typeface="Georgia"/>
                <a:cs typeface="Georgia"/>
                <a:sym typeface="Georgia"/>
              </a:rPr>
              <a:t>Self Placement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047750" y="5980152"/>
            <a:ext cx="16192500" cy="9525"/>
          </a:xfrm>
          <a:prstGeom prst="rect">
            <a:avLst/>
          </a:prstGeom>
          <a:solidFill>
            <a:srgbClr val="0A0807">
              <a:alpha val="1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047750" y="6235422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CONFÍAN EN NOSOTROS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047750" y="6665952"/>
            <a:ext cx="95261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188720" y="6740247"/>
            <a:ext cx="74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Alsea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133719" y="6665952"/>
            <a:ext cx="95261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274689" y="6740247"/>
            <a:ext cx="74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Arcor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117064" y="6665952"/>
            <a:ext cx="818555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258034" y="6740247"/>
            <a:ext cx="6128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BASF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068969" y="6665952"/>
            <a:ext cx="95261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209939" y="6740247"/>
            <a:ext cx="74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Bayer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5154938" y="6665952"/>
            <a:ext cx="95261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295908" y="6740247"/>
            <a:ext cx="746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Bitso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240907" y="6665952"/>
            <a:ext cx="1086802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381877" y="6740247"/>
            <a:ext cx="8810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Herdez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7461059" y="6665952"/>
            <a:ext cx="2562225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7602029" y="6740247"/>
            <a:ext cx="2357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Johnson &amp; Johnson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0156635" y="6665952"/>
            <a:ext cx="1623298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10297605" y="6740247"/>
            <a:ext cx="14175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McDonald's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913282" y="6665952"/>
            <a:ext cx="1220867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12054252" y="6740247"/>
            <a:ext cx="10151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L'Oréal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3267500" y="6665952"/>
            <a:ext cx="202572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13408470" y="6740247"/>
            <a:ext cx="18199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Mercado Libre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047750" y="7146012"/>
            <a:ext cx="2025729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188720" y="7220307"/>
            <a:ext cx="18199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Mercedes-Benz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206830" y="7146012"/>
            <a:ext cx="2562225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347800" y="7220307"/>
            <a:ext cx="2357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Boston Scientific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902404" y="7146012"/>
            <a:ext cx="2964656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043374" y="7220307"/>
            <a:ext cx="27716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Bristol-Myers Squibb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0115595" y="7146012"/>
            <a:ext cx="14892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0256565" y="7220307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Coca-Cola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2898880" y="7146012"/>
            <a:ext cx="12210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3039850" y="7220307"/>
            <a:ext cx="10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Corteva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4184820" y="7146012"/>
            <a:ext cx="14892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4325790" y="7220307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Falabella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5761886" y="7146012"/>
            <a:ext cx="6843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5902856" y="7220307"/>
            <a:ext cx="47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HDI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972080" y="7644832"/>
            <a:ext cx="9525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113050" y="7719127"/>
            <a:ext cx="7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Merck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5394999" y="6696560"/>
            <a:ext cx="1220867" cy="38481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5535969" y="6770855"/>
            <a:ext cx="101512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MetLife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062232" y="7659942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2218702" y="7734237"/>
            <a:ext cx="8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Natura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3264027" y="7649236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404997" y="7723531"/>
            <a:ext cx="8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Nestlé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4484179" y="7671995"/>
            <a:ext cx="14892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625149" y="7723531"/>
            <a:ext cx="12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Santander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106763" y="7671995"/>
            <a:ext cx="12210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6247733" y="7723531"/>
            <a:ext cx="10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Siemens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7460980" y="7671995"/>
            <a:ext cx="13551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7601950" y="7723531"/>
            <a:ext cx="114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Syngenta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8949380" y="7671995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9090350" y="7723531"/>
            <a:ext cx="8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Veolia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10169533" y="7671995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10310503" y="7723531"/>
            <a:ext cx="8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Vestas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1389685" y="7671995"/>
            <a:ext cx="12210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11530655" y="7723531"/>
            <a:ext cx="10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Berkley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2679227" y="7671995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2884872" y="7723531"/>
            <a:ext cx="88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Google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13899380" y="7671995"/>
            <a:ext cx="17574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14040350" y="7723531"/>
            <a:ext cx="155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Bridgestone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15790211" y="7671995"/>
            <a:ext cx="8187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5931181" y="7723531"/>
            <a:ext cx="61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PUIG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8962625" y="7137237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8982557" y="7188781"/>
            <a:ext cx="108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Camposol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1726025" y="7161334"/>
            <a:ext cx="1086900" cy="384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A0807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1791456" y="7235641"/>
            <a:ext cx="114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807"/>
              </a:buClr>
              <a:buSzPts val="1526"/>
              <a:buFont typeface="Courier New"/>
              <a:buNone/>
            </a:pPr>
            <a:r>
              <a:rPr b="0" i="0" lang="en-US" sz="1526" u="none" cap="none" strike="noStrike">
                <a:solidFill>
                  <a:srgbClr val="0A0807"/>
                </a:solidFill>
                <a:latin typeface="Courier New"/>
                <a:ea typeface="Courier New"/>
                <a:cs typeface="Courier New"/>
                <a:sym typeface="Courier New"/>
              </a:rPr>
              <a:t>Copeinca</a:t>
            </a:r>
            <a:endParaRPr b="0" i="0" sz="15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807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6" name="Google Shape;3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533400"/>
            <a:ext cx="171307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15927824" y="537210"/>
            <a:ext cx="13886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F2EDE3"/>
                </a:solidFill>
                <a:latin typeface="Courier New"/>
                <a:ea typeface="Courier New"/>
                <a:cs typeface="Courier New"/>
                <a:sym typeface="Courier New"/>
              </a:rPr>
              <a:t>13 / 13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047750" y="3192780"/>
            <a:ext cx="1667827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CONVERSEMOS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047750" y="3794760"/>
            <a:ext cx="16678275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9000"/>
              <a:buFont typeface="Georgia"/>
              <a:buNone/>
            </a:pPr>
            <a:r>
              <a:rPr b="0" i="1" lang="en-US" sz="9000" u="none" cap="none" strike="noStrike">
                <a:solidFill>
                  <a:srgbClr val="E8B53D"/>
                </a:solidFill>
                <a:latin typeface="Georgia"/>
                <a:ea typeface="Georgia"/>
                <a:cs typeface="Georgia"/>
                <a:sym typeface="Georgia"/>
              </a:rPr>
              <a:t>Construimos futuro </a:t>
            </a:r>
            <a:r>
              <a:rPr b="0" i="0" lang="en-US" sz="9000" u="none" cap="none" strike="noStrike">
                <a:solidFill>
                  <a:srgbClr val="F2EDE3"/>
                </a:solidFill>
                <a:latin typeface="Georgia"/>
                <a:ea typeface="Georgia"/>
                <a:cs typeface="Georgia"/>
                <a:sym typeface="Georgia"/>
              </a:rPr>
              <a:t>a través del talento.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1047750" y="8684895"/>
            <a:ext cx="256770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WEBSITE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047750" y="9058275"/>
            <a:ext cx="256770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3"/>
              <a:buFont typeface="Arial"/>
              <a:buNone/>
            </a:pPr>
            <a:r>
              <a:rPr b="0" i="0" lang="en-US" sz="1804" u="none" cap="none" strike="noStrike">
                <a:solidFill>
                  <a:srgbClr val="F2EDE3"/>
                </a:solidFill>
                <a:latin typeface="Arial"/>
                <a:ea typeface="Arial"/>
                <a:cs typeface="Arial"/>
                <a:sym typeface="Arial"/>
              </a:rPr>
              <a:t>www.vonderheide.com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4110752" y="8684895"/>
            <a:ext cx="218622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CORREO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110752" y="9058275"/>
            <a:ext cx="21862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3"/>
              <a:buFont typeface="Arial"/>
              <a:buNone/>
            </a:pPr>
            <a:r>
              <a:rPr b="0" i="0" lang="en-US" sz="1804" u="none" cap="none" strike="noStrike">
                <a:solidFill>
                  <a:srgbClr val="F2EDE3"/>
                </a:solidFill>
                <a:latin typeface="Arial"/>
                <a:ea typeface="Arial"/>
                <a:cs typeface="Arial"/>
                <a:sym typeface="Arial"/>
              </a:rPr>
              <a:t>contacto@vdh.jobs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6792278" y="8684895"/>
            <a:ext cx="168580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B53D"/>
              </a:buClr>
              <a:buSzPts val="1665"/>
              <a:buFont typeface="Courier New"/>
              <a:buNone/>
            </a:pPr>
            <a:r>
              <a:rPr b="0" i="0" lang="en-US" sz="1665" u="none" cap="none" strike="noStrike">
                <a:solidFill>
                  <a:srgbClr val="E8B53D"/>
                </a:solidFill>
                <a:latin typeface="Courier New"/>
                <a:ea typeface="Courier New"/>
                <a:cs typeface="Courier New"/>
                <a:sym typeface="Courier New"/>
              </a:rPr>
              <a:t>LINKEDIN</a:t>
            </a:r>
            <a:endParaRPr b="0" i="0" sz="16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792278" y="9058275"/>
            <a:ext cx="168580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EDE3"/>
              </a:buClr>
              <a:buSzPts val="1803"/>
              <a:buFont typeface="Arial"/>
              <a:buNone/>
            </a:pPr>
            <a:r>
              <a:rPr b="0" i="0" lang="en-US" sz="1804" u="none" cap="none" strike="noStrike">
                <a:solidFill>
                  <a:srgbClr val="F2EDE3"/>
                </a:solidFill>
                <a:latin typeface="Arial"/>
                <a:ea typeface="Arial"/>
                <a:cs typeface="Arial"/>
                <a:sym typeface="Arial"/>
              </a:rPr>
              <a:t>vonderheide</a:t>
            </a:r>
            <a:endParaRPr b="0" i="0" sz="18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16574572" y="8789670"/>
            <a:ext cx="741878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0"/>
              <a:buFont typeface="Calibri"/>
              <a:buNone/>
            </a:pPr>
            <a:r>
              <a:t/>
            </a:r>
            <a:endParaRPr b="0" i="0" sz="66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2026-06-12T19:43:15Z</dcterms:created>
  <dc:creator>PptxGenJS</dc:creator>
</cp:coreProperties>
</file>