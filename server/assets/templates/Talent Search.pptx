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embeddedFontLst>
    <p:embeddedFont>
      <p:font typeface="Garamon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tyEfKgGMwJqHWT4Rslk2mGMNr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6BBF38-9A2A-42A6-854C-320A14638152}">
  <a:tblStyle styleId="{B96BBF38-9A2A-42A6-854C-320A1463815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aramond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aramond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aramo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36d95e7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536d95e70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bed72ca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5bed72ca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d83db50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9d83db50e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bed72ca3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5bed72ca39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bed72ca39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5bed72ca3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https://docs.google.com/spreadsheets/d/1Q_tRxSn9pGYoKdV4sEGR_RQOVtvJrYN6/edit?gid=1151441481#gid=1151441481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bed72ca3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5bed72ca39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bed72ca3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5bed72ca39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fb9f226c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fb9f226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fb9f226c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5fb9f226c3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1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3737913" y="3956892"/>
            <a:ext cx="10812173" cy="1659683"/>
          </a:xfrm>
          <a:custGeom>
            <a:rect b="b" l="l" r="r" t="t"/>
            <a:pathLst>
              <a:path extrusionOk="0" h="1659683" w="10812173">
                <a:moveTo>
                  <a:pt x="0" y="0"/>
                </a:moveTo>
                <a:lnTo>
                  <a:pt x="10812174" y="0"/>
                </a:lnTo>
                <a:lnTo>
                  <a:pt x="10812174" y="1659683"/>
                </a:lnTo>
                <a:lnTo>
                  <a:pt x="0" y="1659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6710" l="0" r="0" t="-365891"/>
            </a:stretch>
          </a:blipFill>
          <a:ln>
            <a:noFill/>
          </a:ln>
        </p:spPr>
      </p:sp>
      <p:pic>
        <p:nvPicPr>
          <p:cNvPr id="85" name="Google Shape;85;p2" title="Presentacion Comercial Soluciones VON DER HEIDE.png"/>
          <p:cNvPicPr preferRelativeResize="0"/>
          <p:nvPr/>
        </p:nvPicPr>
        <p:blipFill rotWithShape="1">
          <a:blip r:embed="rId4">
            <a:alphaModFix/>
          </a:blip>
          <a:srcRect b="31963" l="36694" r="36611" t="56581"/>
          <a:stretch/>
        </p:blipFill>
        <p:spPr>
          <a:xfrm>
            <a:off x="6441276" y="5719901"/>
            <a:ext cx="5405448" cy="130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36d95e707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34901" t="-59889"/>
            </a:stretch>
          </a:blipFill>
          <a:ln>
            <a:noFill/>
          </a:ln>
        </p:spPr>
      </p:sp>
      <p:sp>
        <p:nvSpPr>
          <p:cNvPr id="91" name="Google Shape;91;g3536d95e707_0_0"/>
          <p:cNvSpPr/>
          <p:nvPr/>
        </p:nvSpPr>
        <p:spPr>
          <a:xfrm>
            <a:off x="0" y="5143500"/>
            <a:ext cx="18280549" cy="5141405"/>
          </a:xfrm>
          <a:custGeom>
            <a:rect b="b" l="l" r="r" t="t"/>
            <a:pathLst>
              <a:path extrusionOk="0" h="1739900" w="6186311">
                <a:moveTo>
                  <a:pt x="0" y="0"/>
                </a:moveTo>
                <a:lnTo>
                  <a:pt x="6186311" y="0"/>
                </a:lnTo>
                <a:lnTo>
                  <a:pt x="6186311" y="1739900"/>
                </a:lnTo>
                <a:lnTo>
                  <a:pt x="0" y="173990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</p:sp>
      <p:sp>
        <p:nvSpPr>
          <p:cNvPr id="92" name="Google Shape;92;g3536d95e707_0_0"/>
          <p:cNvSpPr/>
          <p:nvPr/>
        </p:nvSpPr>
        <p:spPr>
          <a:xfrm rot="10800000">
            <a:off x="487973" y="5143500"/>
            <a:ext cx="17800027" cy="2873913"/>
          </a:xfrm>
          <a:custGeom>
            <a:rect b="b" l="l" r="r" t="t"/>
            <a:pathLst>
              <a:path extrusionOk="0" h="2873913" w="17800027">
                <a:moveTo>
                  <a:pt x="0" y="0"/>
                </a:moveTo>
                <a:lnTo>
                  <a:pt x="17800027" y="0"/>
                </a:lnTo>
                <a:lnTo>
                  <a:pt x="17800027" y="2873913"/>
                </a:lnTo>
                <a:lnTo>
                  <a:pt x="0" y="2873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4000"/>
            </a:blip>
            <a:stretch>
              <a:fillRect b="-41984" l="0" r="0" t="-41997"/>
            </a:stretch>
          </a:blipFill>
          <a:ln>
            <a:noFill/>
          </a:ln>
        </p:spPr>
      </p:sp>
      <p:sp>
        <p:nvSpPr>
          <p:cNvPr id="93" name="Google Shape;93;g3536d95e707_0_0"/>
          <p:cNvSpPr/>
          <p:nvPr/>
        </p:nvSpPr>
        <p:spPr>
          <a:xfrm>
            <a:off x="7821179" y="9258300"/>
            <a:ext cx="3133615" cy="822737"/>
          </a:xfrm>
          <a:custGeom>
            <a:rect b="b" l="l" r="r" t="t"/>
            <a:pathLst>
              <a:path extrusionOk="0" h="822737" w="3133615">
                <a:moveTo>
                  <a:pt x="0" y="0"/>
                </a:moveTo>
                <a:lnTo>
                  <a:pt x="3133615" y="0"/>
                </a:lnTo>
                <a:lnTo>
                  <a:pt x="3133615" y="822737"/>
                </a:lnTo>
                <a:lnTo>
                  <a:pt x="0" y="822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5207" l="-17412" r="-16831" t="-276342"/>
            </a:stretch>
          </a:blipFill>
          <a:ln>
            <a:noFill/>
          </a:ln>
        </p:spPr>
      </p:sp>
      <p:sp>
        <p:nvSpPr>
          <p:cNvPr id="94" name="Google Shape;94;g3536d95e707_0_0"/>
          <p:cNvSpPr txBox="1"/>
          <p:nvPr/>
        </p:nvSpPr>
        <p:spPr>
          <a:xfrm>
            <a:off x="2006458" y="7424897"/>
            <a:ext cx="134349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86"/>
              <a:buFont typeface="Arial"/>
              <a:buNone/>
            </a:pPr>
            <a:r>
              <a:rPr b="1" i="0" lang="en-US" sz="12086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TALENT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g3536d95e707_0_0"/>
          <p:cNvGrpSpPr/>
          <p:nvPr/>
        </p:nvGrpSpPr>
        <p:grpSpPr>
          <a:xfrm>
            <a:off x="16079532" y="8005855"/>
            <a:ext cx="1342976" cy="671488"/>
            <a:chOff x="0" y="0"/>
            <a:chExt cx="1790634" cy="895317"/>
          </a:xfrm>
        </p:grpSpPr>
        <p:sp>
          <p:nvSpPr>
            <p:cNvPr id="96" name="Google Shape;96;g3536d95e707_0_0"/>
            <p:cNvSpPr/>
            <p:nvPr/>
          </p:nvSpPr>
          <p:spPr>
            <a:xfrm>
              <a:off x="0" y="0"/>
              <a:ext cx="1790634" cy="895317"/>
            </a:xfrm>
            <a:custGeom>
              <a:rect b="b" l="l" r="r" t="t"/>
              <a:pathLst>
                <a:path extrusionOk="0" h="895317" w="1790634">
                  <a:moveTo>
                    <a:pt x="0" y="0"/>
                  </a:moveTo>
                  <a:lnTo>
                    <a:pt x="1790634" y="0"/>
                  </a:lnTo>
                  <a:lnTo>
                    <a:pt x="1790634" y="895317"/>
                  </a:lnTo>
                  <a:lnTo>
                    <a:pt x="0" y="8953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7" name="Google Shape;97;g3536d95e707_0_0"/>
            <p:cNvSpPr/>
            <p:nvPr/>
          </p:nvSpPr>
          <p:spPr>
            <a:xfrm>
              <a:off x="210868" y="232737"/>
              <a:ext cx="566515" cy="429843"/>
            </a:xfrm>
            <a:custGeom>
              <a:rect b="b" l="l" r="r" t="t"/>
              <a:pathLst>
                <a:path extrusionOk="0" h="429843" w="566515">
                  <a:moveTo>
                    <a:pt x="0" y="0"/>
                  </a:moveTo>
                  <a:lnTo>
                    <a:pt x="566515" y="0"/>
                  </a:lnTo>
                  <a:lnTo>
                    <a:pt x="566515" y="429843"/>
                  </a:lnTo>
                  <a:lnTo>
                    <a:pt x="0" y="4298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bed72ca39_0_0"/>
          <p:cNvSpPr/>
          <p:nvPr/>
        </p:nvSpPr>
        <p:spPr>
          <a:xfrm>
            <a:off x="485525" y="3874327"/>
            <a:ext cx="17309894" cy="5199943"/>
          </a:xfrm>
          <a:custGeom>
            <a:rect b="b" l="l" r="r" t="t"/>
            <a:pathLst>
              <a:path extrusionOk="0" h="1759710" w="5857832">
                <a:moveTo>
                  <a:pt x="0" y="0"/>
                </a:moveTo>
                <a:lnTo>
                  <a:pt x="5857832" y="0"/>
                </a:lnTo>
                <a:lnTo>
                  <a:pt x="5857832" y="1759710"/>
                </a:lnTo>
                <a:lnTo>
                  <a:pt x="0" y="175971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</p:sp>
      <p:sp>
        <p:nvSpPr>
          <p:cNvPr id="103" name="Google Shape;103;g35bed72ca39_0_0"/>
          <p:cNvSpPr txBox="1"/>
          <p:nvPr/>
        </p:nvSpPr>
        <p:spPr>
          <a:xfrm>
            <a:off x="2390792" y="2233026"/>
            <a:ext cx="124383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9"/>
              <a:buFont typeface="Arial"/>
              <a:buNone/>
            </a:pPr>
            <a:r>
              <a:rPr b="1" i="0" lang="en-US" sz="6329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 oportunidades se encuentren.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5bed72ca39_0_0"/>
          <p:cNvSpPr txBox="1"/>
          <p:nvPr/>
        </p:nvSpPr>
        <p:spPr>
          <a:xfrm>
            <a:off x="8698197" y="4119809"/>
            <a:ext cx="8949600" cy="3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9"/>
              <a:buFont typeface="Arial"/>
              <a:buNone/>
            </a:pPr>
            <a:r>
              <a:rPr b="0" i="0" lang="en-US" sz="310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Con nuestro framework renovado, alineamos las capacidades del talento con los </a:t>
            </a:r>
            <a:r>
              <a:rPr b="0" i="0" lang="en-US" sz="310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objetivos</a:t>
            </a:r>
            <a:r>
              <a:rPr b="0" i="0" lang="en-US" sz="310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 empresariales, facilitando encuentros donde los profesionales eligen su futuro. </a:t>
            </a:r>
            <a:r>
              <a:rPr b="1" i="0" lang="en-US" sz="3109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Somos el socio para enfrentar desafíos en un contexto cambiante</a:t>
            </a:r>
            <a:r>
              <a:rPr b="0" i="0" lang="en-US" sz="310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5bed72ca39_0_0"/>
          <p:cNvSpPr/>
          <p:nvPr/>
        </p:nvSpPr>
        <p:spPr>
          <a:xfrm>
            <a:off x="7620587" y="9258300"/>
            <a:ext cx="3046827" cy="747466"/>
          </a:xfrm>
          <a:custGeom>
            <a:rect b="b" l="l" r="r" t="t"/>
            <a:pathLst>
              <a:path extrusionOk="0" h="747466" w="3046827">
                <a:moveTo>
                  <a:pt x="0" y="0"/>
                </a:moveTo>
                <a:lnTo>
                  <a:pt x="3046826" y="0"/>
                </a:lnTo>
                <a:lnTo>
                  <a:pt x="3046826" y="747466"/>
                </a:lnTo>
                <a:lnTo>
                  <a:pt x="0" y="747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3982" l="-17759" r="-15538" t="-309005"/>
            </a:stretch>
          </a:blipFill>
          <a:ln>
            <a:noFill/>
          </a:ln>
        </p:spPr>
      </p:sp>
      <p:sp>
        <p:nvSpPr>
          <p:cNvPr id="106" name="Google Shape;106;g35bed72ca39_0_0"/>
          <p:cNvSpPr txBox="1"/>
          <p:nvPr/>
        </p:nvSpPr>
        <p:spPr>
          <a:xfrm>
            <a:off x="2679228" y="1174078"/>
            <a:ext cx="11891700" cy="1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6"/>
              <a:buFont typeface="Arial"/>
              <a:buNone/>
            </a:pPr>
            <a:r>
              <a:rPr b="1" i="0" lang="en-US" sz="8006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Para que el talento y 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g35bed72ca39_0_0"/>
          <p:cNvGrpSpPr/>
          <p:nvPr/>
        </p:nvGrpSpPr>
        <p:grpSpPr>
          <a:xfrm rot="5400000">
            <a:off x="636330" y="3636704"/>
            <a:ext cx="1533728" cy="766864"/>
            <a:chOff x="0" y="0"/>
            <a:chExt cx="2044970" cy="1022485"/>
          </a:xfrm>
        </p:grpSpPr>
        <p:sp>
          <p:nvSpPr>
            <p:cNvPr id="108" name="Google Shape;108;g35bed72ca39_0_0"/>
            <p:cNvSpPr/>
            <p:nvPr/>
          </p:nvSpPr>
          <p:spPr>
            <a:xfrm>
              <a:off x="0" y="0"/>
              <a:ext cx="2044970" cy="1022485"/>
            </a:xfrm>
            <a:custGeom>
              <a:rect b="b" l="l" r="r" t="t"/>
              <a:pathLst>
                <a:path extrusionOk="0" h="1022485" w="2044970">
                  <a:moveTo>
                    <a:pt x="0" y="0"/>
                  </a:moveTo>
                  <a:lnTo>
                    <a:pt x="2044970" y="0"/>
                  </a:lnTo>
                  <a:lnTo>
                    <a:pt x="2044970" y="1022485"/>
                  </a:lnTo>
                  <a:lnTo>
                    <a:pt x="0" y="10224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9" name="Google Shape;109;g35bed72ca39_0_0"/>
            <p:cNvSpPr/>
            <p:nvPr/>
          </p:nvSpPr>
          <p:spPr>
            <a:xfrm>
              <a:off x="240819" y="265794"/>
              <a:ext cx="646981" cy="490897"/>
            </a:xfrm>
            <a:custGeom>
              <a:rect b="b" l="l" r="r" t="t"/>
              <a:pathLst>
                <a:path extrusionOk="0" h="490897" w="646981">
                  <a:moveTo>
                    <a:pt x="0" y="0"/>
                  </a:moveTo>
                  <a:lnTo>
                    <a:pt x="646981" y="0"/>
                  </a:lnTo>
                  <a:lnTo>
                    <a:pt x="646981" y="490897"/>
                  </a:lnTo>
                  <a:lnTo>
                    <a:pt x="0" y="4908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0" name="Google Shape;110;g35bed72ca39_0_0"/>
          <p:cNvSpPr/>
          <p:nvPr/>
        </p:nvSpPr>
        <p:spPr>
          <a:xfrm>
            <a:off x="8011511" y="4281734"/>
            <a:ext cx="26700" cy="4307100"/>
          </a:xfrm>
          <a:prstGeom prst="rect">
            <a:avLst/>
          </a:prstGeom>
          <a:solidFill>
            <a:srgbClr val="FFFFFF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35bed72ca39_0_0" title="Elección Mutua.png"/>
          <p:cNvPicPr preferRelativeResize="0"/>
          <p:nvPr/>
        </p:nvPicPr>
        <p:blipFill rotWithShape="1">
          <a:blip r:embed="rId7">
            <a:alphaModFix/>
          </a:blip>
          <a:srcRect b="25926" l="8724" r="60675" t="46534"/>
          <a:stretch/>
        </p:blipFill>
        <p:spPr>
          <a:xfrm>
            <a:off x="1595450" y="4787000"/>
            <a:ext cx="5595926" cy="283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d83db50e1_0_0"/>
          <p:cNvSpPr txBox="1"/>
          <p:nvPr/>
        </p:nvSpPr>
        <p:spPr>
          <a:xfrm>
            <a:off x="1420600" y="580650"/>
            <a:ext cx="65367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b="1" lang="en-US" sz="6501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Talent</a:t>
            </a:r>
            <a:r>
              <a:rPr b="1" i="0" lang="en-US" sz="650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 Search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9d83db50e1_0_0"/>
          <p:cNvSpPr txBox="1"/>
          <p:nvPr/>
        </p:nvSpPr>
        <p:spPr>
          <a:xfrm>
            <a:off x="960178" y="1474945"/>
            <a:ext cx="62202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b="1" i="0" lang="en-US" sz="6983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Metodología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9d83db50e1_0_0"/>
          <p:cNvSpPr txBox="1"/>
          <p:nvPr/>
        </p:nvSpPr>
        <p:spPr>
          <a:xfrm>
            <a:off x="1188781" y="5505530"/>
            <a:ext cx="24606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Espacio de franca Co-construcción con cliente  para definir: los desafíos actuales y futuros en función del contexto de negocio del “Rol” a través del </a:t>
            </a:r>
            <a:r>
              <a:rPr b="0" i="0" lang="en-US" sz="2000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Job &amp; Profile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9d83db50e1_0_0"/>
          <p:cNvSpPr txBox="1"/>
          <p:nvPr/>
        </p:nvSpPr>
        <p:spPr>
          <a:xfrm>
            <a:off x="7137375" y="5505525"/>
            <a:ext cx="3235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Instancia de </a:t>
            </a:r>
            <a:r>
              <a:rPr lang="en-US" sz="2000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Encuentros Dialógicos</a:t>
            </a:r>
            <a:r>
              <a:rPr lang="en-US" sz="200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con cada uno de los Candidatos.</a:t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0" name="Google Shape;120;g39d83db50e1_0_0"/>
          <p:cNvSpPr txBox="1"/>
          <p:nvPr/>
        </p:nvSpPr>
        <p:spPr>
          <a:xfrm>
            <a:off x="10899275" y="5505525"/>
            <a:ext cx="32352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Etapa de </a:t>
            </a:r>
            <a:r>
              <a:rPr lang="en-US" sz="200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entrevistas</a:t>
            </a:r>
            <a:r>
              <a:rPr lang="en-US" sz="200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Cliente e implementación de </a:t>
            </a:r>
            <a:r>
              <a:rPr lang="en-US" sz="2000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Test Online  a los 2 candidatos finalistas</a:t>
            </a:r>
            <a:r>
              <a:rPr lang="en-US" sz="200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sz="2000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(puede ser PDA ó TTI Success Insights) </a:t>
            </a:r>
            <a:r>
              <a:rPr lang="en-US" sz="200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como proceso de evaluación de  fortalezas, debilidades, habilidades, competencias y potencial.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1" name="Google Shape;121;g39d83db50e1_0_0"/>
          <p:cNvSpPr txBox="1"/>
          <p:nvPr/>
        </p:nvSpPr>
        <p:spPr>
          <a:xfrm>
            <a:off x="14881480" y="5505530"/>
            <a:ext cx="2575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Acompañamiento en instancia de negociación.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Seguimiento post ingreso al candidato.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9d83db50e1_0_0"/>
          <p:cNvSpPr txBox="1"/>
          <p:nvPr/>
        </p:nvSpPr>
        <p:spPr>
          <a:xfrm>
            <a:off x="1188781" y="4484324"/>
            <a:ext cx="19689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KICK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9d83db50e1_0_0"/>
          <p:cNvSpPr txBox="1"/>
          <p:nvPr/>
        </p:nvSpPr>
        <p:spPr>
          <a:xfrm>
            <a:off x="4033456" y="4484324"/>
            <a:ext cx="18594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MARKET RESEARCH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9d83db50e1_0_0"/>
          <p:cNvSpPr txBox="1"/>
          <p:nvPr/>
        </p:nvSpPr>
        <p:spPr>
          <a:xfrm>
            <a:off x="7145949" y="4484325"/>
            <a:ext cx="2292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ENCUENTRO DIALÓGICO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9d83db50e1_0_0"/>
          <p:cNvSpPr txBox="1"/>
          <p:nvPr/>
        </p:nvSpPr>
        <p:spPr>
          <a:xfrm>
            <a:off x="10899279" y="4484324"/>
            <a:ext cx="21378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TALENT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DISCOVERY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9d83db50e1_0_0"/>
          <p:cNvSpPr txBox="1"/>
          <p:nvPr/>
        </p:nvSpPr>
        <p:spPr>
          <a:xfrm>
            <a:off x="14991721" y="4484324"/>
            <a:ext cx="2178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TRANSITION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OFFER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9d83db50e1_0_0"/>
          <p:cNvSpPr/>
          <p:nvPr/>
        </p:nvSpPr>
        <p:spPr>
          <a:xfrm>
            <a:off x="14515475" y="4283325"/>
            <a:ext cx="61200" cy="4974900"/>
          </a:xfrm>
          <a:prstGeom prst="rect">
            <a:avLst/>
          </a:prstGeom>
          <a:solidFill>
            <a:srgbClr val="FFFFFF">
              <a:alpha val="2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9d83db50e1_0_0"/>
          <p:cNvSpPr/>
          <p:nvPr/>
        </p:nvSpPr>
        <p:spPr>
          <a:xfrm>
            <a:off x="10505651" y="3825001"/>
            <a:ext cx="61200" cy="5433300"/>
          </a:xfrm>
          <a:prstGeom prst="rect">
            <a:avLst/>
          </a:prstGeom>
          <a:solidFill>
            <a:srgbClr val="FFFFFF">
              <a:alpha val="2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9d83db50e1_0_0"/>
          <p:cNvSpPr/>
          <p:nvPr/>
        </p:nvSpPr>
        <p:spPr>
          <a:xfrm>
            <a:off x="6644415" y="3825001"/>
            <a:ext cx="61200" cy="5433300"/>
          </a:xfrm>
          <a:prstGeom prst="rect">
            <a:avLst/>
          </a:prstGeom>
          <a:solidFill>
            <a:srgbClr val="FFFFFF">
              <a:alpha val="2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9d83db50e1_0_0"/>
          <p:cNvSpPr/>
          <p:nvPr/>
        </p:nvSpPr>
        <p:spPr>
          <a:xfrm>
            <a:off x="3716028" y="3825001"/>
            <a:ext cx="61200" cy="5433300"/>
          </a:xfrm>
          <a:prstGeom prst="rect">
            <a:avLst/>
          </a:prstGeom>
          <a:solidFill>
            <a:srgbClr val="FFFFFF">
              <a:alpha val="2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9d83db50e1_0_0"/>
          <p:cNvSpPr txBox="1"/>
          <p:nvPr/>
        </p:nvSpPr>
        <p:spPr>
          <a:xfrm>
            <a:off x="1188781" y="3720226"/>
            <a:ext cx="21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DÍA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9d83db50e1_0_0"/>
          <p:cNvSpPr txBox="1"/>
          <p:nvPr/>
        </p:nvSpPr>
        <p:spPr>
          <a:xfrm>
            <a:off x="7114242" y="3720226"/>
            <a:ext cx="21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DÍA 15 - 20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9d83db50e1_0_0"/>
          <p:cNvSpPr txBox="1"/>
          <p:nvPr/>
        </p:nvSpPr>
        <p:spPr>
          <a:xfrm>
            <a:off x="4033456" y="3720226"/>
            <a:ext cx="21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DÍA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9d83db50e1_0_0"/>
          <p:cNvSpPr txBox="1"/>
          <p:nvPr/>
        </p:nvSpPr>
        <p:spPr>
          <a:xfrm>
            <a:off x="10892956" y="3720225"/>
            <a:ext cx="32964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9"/>
              <a:buFont typeface="Arial"/>
              <a:buNone/>
            </a:pPr>
            <a:r>
              <a:rPr b="1" i="0" lang="en-US" sz="1929" u="none" cap="none" strike="noStrik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TIEMPOS VARIABLES</a:t>
            </a:r>
            <a:endParaRPr b="1" i="0" sz="1929" u="none" cap="none" strike="noStrike">
              <a:solidFill>
                <a:srgbClr val="8CA8BA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9"/>
              <a:buFont typeface="Arial"/>
              <a:buNone/>
            </a:pPr>
            <a:r>
              <a:rPr b="1" i="0" lang="en-US" sz="1729" u="none" cap="none" strike="noStrike">
                <a:solidFill>
                  <a:srgbClr val="8CA8BA"/>
                </a:solidFill>
                <a:latin typeface="Avenir"/>
                <a:ea typeface="Avenir"/>
                <a:cs typeface="Avenir"/>
                <a:sym typeface="Avenir"/>
              </a:rPr>
              <a:t>Condicionados a agenda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9d83db50e1_0_0"/>
          <p:cNvSpPr txBox="1"/>
          <p:nvPr/>
        </p:nvSpPr>
        <p:spPr>
          <a:xfrm>
            <a:off x="3996312" y="5505530"/>
            <a:ext cx="25755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Presentación de los avances de la Identificación de profesionales junto con los insights de Mercado.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bed72ca39_0_36"/>
          <p:cNvSpPr/>
          <p:nvPr/>
        </p:nvSpPr>
        <p:spPr>
          <a:xfrm>
            <a:off x="2" y="10600"/>
            <a:ext cx="6115822" cy="10282809"/>
          </a:xfrm>
          <a:custGeom>
            <a:rect b="b" l="l" r="r" t="t"/>
            <a:pathLst>
              <a:path extrusionOk="0" h="3479800" w="4132312">
                <a:moveTo>
                  <a:pt x="0" y="0"/>
                </a:moveTo>
                <a:lnTo>
                  <a:pt x="4132312" y="0"/>
                </a:lnTo>
                <a:lnTo>
                  <a:pt x="4132312" y="3479800"/>
                </a:lnTo>
                <a:lnTo>
                  <a:pt x="0" y="34798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41" name="Google Shape;141;g35bed72ca39_0_36"/>
          <p:cNvSpPr/>
          <p:nvPr/>
        </p:nvSpPr>
        <p:spPr>
          <a:xfrm rot="5400000">
            <a:off x="-2078178" y="2095148"/>
            <a:ext cx="10270030" cy="6113674"/>
          </a:xfrm>
          <a:custGeom>
            <a:rect b="b" l="l" r="r" t="t"/>
            <a:pathLst>
              <a:path extrusionOk="0" h="6113674" w="10270030">
                <a:moveTo>
                  <a:pt x="0" y="0"/>
                </a:moveTo>
                <a:lnTo>
                  <a:pt x="10270030" y="0"/>
                </a:lnTo>
                <a:lnTo>
                  <a:pt x="10270030" y="6113674"/>
                </a:lnTo>
                <a:lnTo>
                  <a:pt x="0" y="6113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000"/>
            </a:blip>
            <a:stretch>
              <a:fillRect b="-14639" l="-89215" r="-40437" t="0"/>
            </a:stretch>
          </a:blipFill>
          <a:ln>
            <a:noFill/>
          </a:ln>
        </p:spPr>
      </p:sp>
      <p:sp>
        <p:nvSpPr>
          <p:cNvPr id="142" name="Google Shape;142;g35bed72ca39_0_36"/>
          <p:cNvSpPr txBox="1"/>
          <p:nvPr/>
        </p:nvSpPr>
        <p:spPr>
          <a:xfrm>
            <a:off x="7013351" y="5745289"/>
            <a:ext cx="441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BASE </a:t>
            </a:r>
            <a:r>
              <a:rPr b="1" i="0" lang="en-US" sz="200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PARA EL CÁLCULO: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5bed72ca39_0_36"/>
          <p:cNvSpPr txBox="1"/>
          <p:nvPr/>
        </p:nvSpPr>
        <p:spPr>
          <a:xfrm>
            <a:off x="7013351" y="6170411"/>
            <a:ext cx="10898400" cy="20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El honorario se calcula: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        </a:t>
            </a:r>
            <a:r>
              <a:rPr b="1" i="0" lang="en-US" sz="1800" u="none" cap="none" strike="noStrike">
                <a:solidFill>
                  <a:srgbClr val="8CA8BA"/>
                </a:solidFill>
                <a:latin typeface="Avenir"/>
                <a:ea typeface="Avenir"/>
                <a:cs typeface="Avenir"/>
                <a:sym typeface="Avenir"/>
              </a:rPr>
              <a:t>FEE x REMUNERACIÓN BRUTA ANUAL*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*La compensación bruta anual resulta de computar: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SALARIO BRUTO MENSUAL x CANTIDAD SALARIOS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PAGADO</a:t>
            </a:r>
            <a:r>
              <a:rPr lang="en-US" sz="16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POR AÑO + COMPENSACIÓN VARIABLE TARGET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(en concepto de bono u otros beneficios)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4" name="Google Shape;144;g35bed72ca39_0_36"/>
          <p:cNvSpPr/>
          <p:nvPr/>
        </p:nvSpPr>
        <p:spPr>
          <a:xfrm>
            <a:off x="5611880" y="5735764"/>
            <a:ext cx="920318" cy="374548"/>
          </a:xfrm>
          <a:custGeom>
            <a:rect b="b" l="l" r="r" t="t"/>
            <a:pathLst>
              <a:path extrusionOk="0" h="374548" w="920318">
                <a:moveTo>
                  <a:pt x="0" y="0"/>
                </a:moveTo>
                <a:lnTo>
                  <a:pt x="920319" y="0"/>
                </a:lnTo>
                <a:lnTo>
                  <a:pt x="920319" y="374548"/>
                </a:lnTo>
                <a:lnTo>
                  <a:pt x="0" y="374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g35bed72ca39_0_36"/>
          <p:cNvSpPr/>
          <p:nvPr/>
        </p:nvSpPr>
        <p:spPr>
          <a:xfrm>
            <a:off x="1586511" y="8884567"/>
            <a:ext cx="3046827" cy="747466"/>
          </a:xfrm>
          <a:custGeom>
            <a:rect b="b" l="l" r="r" t="t"/>
            <a:pathLst>
              <a:path extrusionOk="0" h="747466" w="3046827">
                <a:moveTo>
                  <a:pt x="0" y="0"/>
                </a:moveTo>
                <a:lnTo>
                  <a:pt x="3046827" y="0"/>
                </a:lnTo>
                <a:lnTo>
                  <a:pt x="3046827" y="747466"/>
                </a:lnTo>
                <a:lnTo>
                  <a:pt x="0" y="747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93954" l="-17759" r="-15529" t="-308983"/>
            </a:stretch>
          </a:blipFill>
          <a:ln>
            <a:noFill/>
          </a:ln>
        </p:spPr>
      </p:sp>
      <p:sp>
        <p:nvSpPr>
          <p:cNvPr id="146" name="Google Shape;146;g35bed72ca39_0_36"/>
          <p:cNvSpPr txBox="1"/>
          <p:nvPr/>
        </p:nvSpPr>
        <p:spPr>
          <a:xfrm>
            <a:off x="7013351" y="8558011"/>
            <a:ext cx="10491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Cláusulas extraordinarias como Hiring Bonus, Golden Parachute u otros beneficios poco comunes y de aplicación por única vez, NO serán considerados en la remuneración bruta anual para el cálculo de honorarios.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7" name="Google Shape;147;g35bed72ca39_0_36"/>
          <p:cNvSpPr txBox="1"/>
          <p:nvPr/>
        </p:nvSpPr>
        <p:spPr>
          <a:xfrm>
            <a:off x="7061201" y="8148436"/>
            <a:ext cx="869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BENEFICIOS</a:t>
            </a:r>
            <a:r>
              <a:rPr b="1" i="0" lang="en-US" sz="200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 NO CONSIDERADOS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PARA EL CÁLCULO</a:t>
            </a:r>
            <a:r>
              <a:rPr b="1" i="0" lang="en-US" sz="200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g35bed72ca39_0_36"/>
          <p:cNvGrpSpPr/>
          <p:nvPr/>
        </p:nvGrpSpPr>
        <p:grpSpPr>
          <a:xfrm>
            <a:off x="6598146" y="310424"/>
            <a:ext cx="1064312" cy="1028499"/>
            <a:chOff x="19045" y="19050"/>
            <a:chExt cx="1419082" cy="1371332"/>
          </a:xfrm>
        </p:grpSpPr>
        <p:cxnSp>
          <p:nvCxnSpPr>
            <p:cNvPr id="149" name="Google Shape;149;g35bed72ca39_0_36"/>
            <p:cNvCxnSpPr/>
            <p:nvPr/>
          </p:nvCxnSpPr>
          <p:spPr>
            <a:xfrm rot="10800000">
              <a:off x="66827" y="19050"/>
              <a:ext cx="1371300" cy="0"/>
            </a:xfrm>
            <a:prstGeom prst="straightConnector1">
              <a:avLst/>
            </a:prstGeom>
            <a:noFill/>
            <a:ln cap="flat" cmpd="sng" w="38100">
              <a:solidFill>
                <a:srgbClr val="F8BF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g35bed72ca39_0_36"/>
            <p:cNvCxnSpPr/>
            <p:nvPr/>
          </p:nvCxnSpPr>
          <p:spPr>
            <a:xfrm flipH="1" rot="10800000">
              <a:off x="19045" y="19382"/>
              <a:ext cx="30900" cy="1371000"/>
            </a:xfrm>
            <a:prstGeom prst="straightConnector1">
              <a:avLst/>
            </a:prstGeom>
            <a:noFill/>
            <a:ln cap="flat" cmpd="sng" w="38100">
              <a:solidFill>
                <a:srgbClr val="F8BF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1" name="Google Shape;151;g35bed72ca39_0_36"/>
          <p:cNvGrpSpPr/>
          <p:nvPr/>
        </p:nvGrpSpPr>
        <p:grpSpPr>
          <a:xfrm>
            <a:off x="16847445" y="4475748"/>
            <a:ext cx="1064311" cy="1028499"/>
            <a:chOff x="0" y="431"/>
            <a:chExt cx="1419082" cy="1371332"/>
          </a:xfrm>
        </p:grpSpPr>
        <p:cxnSp>
          <p:nvCxnSpPr>
            <p:cNvPr id="152" name="Google Shape;152;g35bed72ca39_0_36"/>
            <p:cNvCxnSpPr/>
            <p:nvPr/>
          </p:nvCxnSpPr>
          <p:spPr>
            <a:xfrm>
              <a:off x="0" y="1371763"/>
              <a:ext cx="1371300" cy="0"/>
            </a:xfrm>
            <a:prstGeom prst="straightConnector1">
              <a:avLst/>
            </a:prstGeom>
            <a:noFill/>
            <a:ln cap="flat" cmpd="sng" w="38100">
              <a:solidFill>
                <a:srgbClr val="F8BF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g35bed72ca39_0_36"/>
            <p:cNvCxnSpPr/>
            <p:nvPr/>
          </p:nvCxnSpPr>
          <p:spPr>
            <a:xfrm flipH="1">
              <a:off x="1388182" y="431"/>
              <a:ext cx="30900" cy="1371000"/>
            </a:xfrm>
            <a:prstGeom prst="straightConnector1">
              <a:avLst/>
            </a:prstGeom>
            <a:noFill/>
            <a:ln cap="flat" cmpd="sng" w="38100">
              <a:solidFill>
                <a:srgbClr val="F8BF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4" name="Google Shape;154;g35bed72ca39_0_36"/>
          <p:cNvSpPr txBox="1"/>
          <p:nvPr/>
        </p:nvSpPr>
        <p:spPr>
          <a:xfrm>
            <a:off x="7228625" y="1618530"/>
            <a:ext cx="4198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"/>
              <a:buFont typeface="Arial"/>
              <a:buNone/>
            </a:pPr>
            <a:r>
              <a:rPr b="0" i="0" lang="en-US" sz="211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Este fee aplica para posiciones con salario mensual a partir de : </a:t>
            </a:r>
            <a:endParaRPr b="0" i="0" sz="14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5" name="Google Shape;155;g35bed72ca39_0_36"/>
          <p:cNvSpPr txBox="1"/>
          <p:nvPr/>
        </p:nvSpPr>
        <p:spPr>
          <a:xfrm>
            <a:off x="7228626" y="706766"/>
            <a:ext cx="8358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1"/>
              <a:buFont typeface="Arial"/>
              <a:buNone/>
            </a:pPr>
            <a:r>
              <a:rPr b="1" i="0" lang="en-US" sz="3511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FEE: 1</a:t>
            </a:r>
            <a:r>
              <a:rPr b="1" lang="en-US" sz="3511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  <a:r>
              <a:rPr b="1" i="0" lang="en-US" sz="3511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% de la </a:t>
            </a:r>
            <a:r>
              <a:rPr b="1" lang="en-US" sz="3511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Compensación</a:t>
            </a:r>
            <a:r>
              <a:rPr b="1" i="0" lang="en-US" sz="3511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 bruta anual </a:t>
            </a:r>
            <a:endParaRPr b="0" i="0" sz="1400" u="none" cap="none" strike="noStrike">
              <a:solidFill>
                <a:srgbClr val="F8B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5bed72ca39_0_36"/>
          <p:cNvSpPr txBox="1"/>
          <p:nvPr/>
        </p:nvSpPr>
        <p:spPr>
          <a:xfrm>
            <a:off x="982326" y="4581700"/>
            <a:ext cx="41358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lang="en-US" sz="5306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SOLUCI</a:t>
            </a:r>
            <a:r>
              <a:rPr b="1" lang="en-US" sz="5306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ÓN</a:t>
            </a:r>
            <a:r>
              <a:rPr b="1" i="0" lang="en-US" sz="5306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5bed72ca39_0_36"/>
          <p:cNvSpPr txBox="1"/>
          <p:nvPr/>
        </p:nvSpPr>
        <p:spPr>
          <a:xfrm>
            <a:off x="945197" y="3600375"/>
            <a:ext cx="41358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lang="en-US" sz="7064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Valor</a:t>
            </a:r>
            <a:r>
              <a:rPr b="1" i="0" lang="en-US" sz="7064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 de la</a:t>
            </a:r>
            <a:endParaRPr b="0" i="0" sz="14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5bed72ca39_0_36"/>
          <p:cNvSpPr txBox="1"/>
          <p:nvPr/>
        </p:nvSpPr>
        <p:spPr>
          <a:xfrm>
            <a:off x="9117916" y="2849775"/>
            <a:ext cx="4725300" cy="18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Argentina		AR$ 3.000.000</a:t>
            </a:r>
            <a:endParaRPr b="0" i="0" sz="2171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Chile			CLP$ 2.000.000</a:t>
            </a:r>
            <a:endParaRPr b="0" i="0" sz="2171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México			MXN$ 35.000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Otros países	USD 2.000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Google Shape;163;g35bed72ca39_0_58"/>
          <p:cNvGraphicFramePr/>
          <p:nvPr/>
        </p:nvGraphicFramePr>
        <p:xfrm>
          <a:off x="4081550" y="351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{B96BBF38-9A2A-42A6-854C-320A14638152}</a:tableStyleId>
              </a:tblPr>
              <a:tblGrid>
                <a:gridCol w="3537300"/>
                <a:gridCol w="1592975"/>
                <a:gridCol w="2131750"/>
                <a:gridCol w="3123475"/>
                <a:gridCol w="1944375"/>
              </a:tblGrid>
              <a:tr h="37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Detalle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56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Cantidad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56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Monto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56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Subtotal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56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Salario</a:t>
                      </a:r>
                      <a:endParaRPr b="1" sz="2300" u="none" cap="none" strike="noStrike">
                        <a:solidFill>
                          <a:srgbClr val="54565B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 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959,400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Bono Porcentaje</a:t>
                      </a:r>
                      <a:endParaRPr b="1" sz="2300" u="none" cap="none" strike="noStrike">
                        <a:solidFill>
                          <a:srgbClr val="54565B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Compensación anual</a:t>
                      </a:r>
                      <a:endParaRPr b="1" sz="2300" u="none" cap="none" strike="noStrike">
                        <a:solidFill>
                          <a:srgbClr val="54565B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959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 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1" i="0" sz="2300" u="none" cap="none" strike="noStrike">
                        <a:solidFill>
                          <a:srgbClr val="54565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Fee</a:t>
                      </a:r>
                      <a:endParaRPr b="1" sz="2300" u="none" cap="none" strike="noStrike">
                        <a:solidFill>
                          <a:srgbClr val="54565B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143,910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1" i="0" sz="2300" u="none" cap="none" strike="noStrike">
                        <a:solidFill>
                          <a:srgbClr val="54565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 de pago</a:t>
                      </a:r>
                      <a:endParaRPr b="1" sz="2300" u="none" cap="none" strike="noStrike">
                        <a:solidFill>
                          <a:srgbClr val="54565B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Cuota 1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35%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50,368.50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Cuota 2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35%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50,36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8.50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Cuota 3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43,173.00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</a:t>
                      </a:r>
                      <a:r>
                        <a:rPr b="1" i="0" lang="en-US" sz="23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AJUSTE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BF00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g35bed72ca39_0_58"/>
          <p:cNvSpPr txBox="1"/>
          <p:nvPr/>
        </p:nvSpPr>
        <p:spPr>
          <a:xfrm>
            <a:off x="1420612" y="380083"/>
            <a:ext cx="43476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b="1" i="0" lang="en-US" sz="850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Cálculo</a:t>
            </a:r>
            <a:endParaRPr b="1" i="0" sz="14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5bed72ca39_0_58"/>
          <p:cNvSpPr txBox="1"/>
          <p:nvPr/>
        </p:nvSpPr>
        <p:spPr>
          <a:xfrm>
            <a:off x="1860975" y="1367000"/>
            <a:ext cx="170346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b="1" lang="en-US" sz="7183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del valor de la Solución</a:t>
            </a:r>
            <a:r>
              <a:rPr b="1" i="0" lang="en-US" sz="7183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 (aproximado)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bed72ca39_0_77"/>
          <p:cNvSpPr/>
          <p:nvPr/>
        </p:nvSpPr>
        <p:spPr>
          <a:xfrm>
            <a:off x="767952" y="3234246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g35bed72ca39_0_77"/>
          <p:cNvSpPr/>
          <p:nvPr/>
        </p:nvSpPr>
        <p:spPr>
          <a:xfrm>
            <a:off x="767952" y="5581599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g35bed72ca39_0_77"/>
          <p:cNvSpPr/>
          <p:nvPr/>
        </p:nvSpPr>
        <p:spPr>
          <a:xfrm>
            <a:off x="16936448" y="8981649"/>
            <a:ext cx="896680" cy="980114"/>
          </a:xfrm>
          <a:custGeom>
            <a:rect b="b" l="l" r="r" t="t"/>
            <a:pathLst>
              <a:path extrusionOk="0" h="980114" w="896680">
                <a:moveTo>
                  <a:pt x="0" y="0"/>
                </a:moveTo>
                <a:lnTo>
                  <a:pt x="896680" y="0"/>
                </a:lnTo>
                <a:lnTo>
                  <a:pt x="896680" y="980114"/>
                </a:lnTo>
                <a:lnTo>
                  <a:pt x="0" y="980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2428" l="-36048" r="-42268" t="-30708"/>
            </a:stretch>
          </a:blipFill>
          <a:ln>
            <a:noFill/>
          </a:ln>
        </p:spPr>
      </p:sp>
      <p:sp>
        <p:nvSpPr>
          <p:cNvPr id="173" name="Google Shape;173;g35bed72ca39_0_77"/>
          <p:cNvSpPr txBox="1"/>
          <p:nvPr/>
        </p:nvSpPr>
        <p:spPr>
          <a:xfrm>
            <a:off x="1420612" y="380083"/>
            <a:ext cx="62907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b="1" i="0" lang="en-US" sz="850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Condiciones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5bed72ca39_0_77"/>
          <p:cNvSpPr txBox="1"/>
          <p:nvPr/>
        </p:nvSpPr>
        <p:spPr>
          <a:xfrm>
            <a:off x="1225177" y="1396526"/>
            <a:ext cx="6220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b="1" i="0" lang="en-US" sz="7783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Comerciales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5bed72ca39_0_77"/>
          <p:cNvSpPr txBox="1"/>
          <p:nvPr/>
        </p:nvSpPr>
        <p:spPr>
          <a:xfrm>
            <a:off x="1248596" y="3167575"/>
            <a:ext cx="34566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ON HOLD: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Si la búsqueda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entrar</a:t>
            </a:r>
            <a:r>
              <a:rPr lang="en-US" sz="1200">
                <a:latin typeface="Avenir"/>
                <a:ea typeface="Avenir"/>
                <a:cs typeface="Avenir"/>
                <a:sym typeface="Avenir"/>
              </a:rPr>
              <a:t>a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en periodo de “On Hold o Stand By” ya sea por comunicación formal por parte del cliente o no se produjera ningún avance relacionado con el proceso (nuevas entrevistas o toma de decisión con respecto a los candidatos presentados) después un plazo de 60 días, se aplicará la cláusula de cancelación.</a:t>
            </a:r>
            <a:endParaRPr b="0" i="1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6" name="Google Shape;176;g35bed72ca39_0_77"/>
          <p:cNvSpPr txBox="1"/>
          <p:nvPr/>
        </p:nvSpPr>
        <p:spPr>
          <a:xfrm>
            <a:off x="1248600" y="5514925"/>
            <a:ext cx="3666300" cy="3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CANCELACIÓN: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Si la búsqueda fuera suspendida o cancelada por razones ajenas a VON DER HEIDE,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después de haber presentado candidatos, NO HABRÁ PENALIDADES asociadas siempre que el cliente haya aceptado operar bajo la forma de pago 35%+35%+30%.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En caso que el cliente hubiera optado por una forma de pago diferente a la mencionada, se compromete en abonar a VON DER HEIDE la suma del 35% del honorario si la cancelación se comunica antes de la presentación de candidatos o un 70% en caso que se comunique con posterioridad.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Los anticipos y avances pagados serán considerados compensación por los trabajos realizados hasta el momento y no podrán ser reembolsados o convertidos en créditos para otros procesos. Todas las facturas emitidas con anterioridad a la cancelación deberán ser abonadas en su totalidad.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" name="Google Shape;177;g35bed72ca39_0_77"/>
          <p:cNvSpPr/>
          <p:nvPr/>
        </p:nvSpPr>
        <p:spPr>
          <a:xfrm>
            <a:off x="5339952" y="3234246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g35bed72ca39_0_77"/>
          <p:cNvSpPr/>
          <p:nvPr/>
        </p:nvSpPr>
        <p:spPr>
          <a:xfrm>
            <a:off x="5339952" y="5034074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g35bed72ca39_0_77"/>
          <p:cNvSpPr txBox="1"/>
          <p:nvPr/>
        </p:nvSpPr>
        <p:spPr>
          <a:xfrm>
            <a:off x="5820596" y="3167575"/>
            <a:ext cx="34566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SECOND PLACEMENT: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Se facturará un 70% para segundas o terceras contrataciones que se deriven del mismo proceso solicitado.  En caso de incorporar a los profesionales para cubrir posiciones distintas a la solicitada originalmente, no aplicará la garantía</a:t>
            </a:r>
            <a:r>
              <a:rPr b="0" i="0" lang="en-US" sz="1400" u="none" cap="none" strike="noStrike">
                <a:solidFill>
                  <a:srgbClr val="5C609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1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0" name="Google Shape;180;g35bed72ca39_0_77"/>
          <p:cNvSpPr txBox="1"/>
          <p:nvPr/>
        </p:nvSpPr>
        <p:spPr>
          <a:xfrm>
            <a:off x="5820600" y="4967400"/>
            <a:ext cx="3666300" cy="1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EXCLUSIVIDAD: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La experiencia indica que los contactos simultáneos a un candidato dañan la imagen de la empresa y obstaculizan los procesos. Por ello VON DER HEIDE sólo elige iniciar procesos en los cuales se la designa como consultora exclusiva de cada posición a cubrir.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1" name="Google Shape;181;g35bed72ca39_0_77"/>
          <p:cNvSpPr/>
          <p:nvPr/>
        </p:nvSpPr>
        <p:spPr>
          <a:xfrm>
            <a:off x="5339952" y="6862874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g35bed72ca39_0_77"/>
          <p:cNvSpPr txBox="1"/>
          <p:nvPr/>
        </p:nvSpPr>
        <p:spPr>
          <a:xfrm>
            <a:off x="5820600" y="6796200"/>
            <a:ext cx="3666300" cy="1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ACEPTACIÓN DE PROPUESTAS: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La realización del relevamiento de la necesidad será considerado como el día 1 del inicio del proceso. En consecuencia, el cliente acepta que una vez realizado dicho relevamiento esta propuesta será considerada aceptada en todos sus términos y condiciones.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3" name="Google Shape;183;g35bed72ca39_0_77"/>
          <p:cNvSpPr/>
          <p:nvPr/>
        </p:nvSpPr>
        <p:spPr>
          <a:xfrm>
            <a:off x="5339952" y="8539274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g35bed72ca39_0_77"/>
          <p:cNvSpPr txBox="1"/>
          <p:nvPr/>
        </p:nvSpPr>
        <p:spPr>
          <a:xfrm>
            <a:off x="5820600" y="8472600"/>
            <a:ext cx="36663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REFERIDOS: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En caso de que la compañía proponga referidos externos o internos, dichos candidatos deber</a:t>
            </a:r>
            <a:r>
              <a:rPr lang="en-US" sz="1200">
                <a:latin typeface="Avenir"/>
                <a:ea typeface="Avenir"/>
                <a:cs typeface="Avenir"/>
                <a:sym typeface="Avenir"/>
              </a:rPr>
              <a:t>án ser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considerados </a:t>
            </a:r>
            <a:r>
              <a:rPr lang="en-US" sz="1200">
                <a:latin typeface="Avenir"/>
                <a:ea typeface="Avenir"/>
                <a:cs typeface="Avenir"/>
                <a:sym typeface="Avenir"/>
              </a:rPr>
              <a:t>dentro del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proceso de VON DER HEIDE. En caso que la búsqueda sea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cerrad</a:t>
            </a:r>
            <a:r>
              <a:rPr lang="en-US" sz="1200">
                <a:latin typeface="Avenir"/>
                <a:ea typeface="Avenir"/>
                <a:cs typeface="Avenir"/>
                <a:sym typeface="Avenir"/>
              </a:rPr>
              <a:t>a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con alguno de ellos, se realizar</a:t>
            </a:r>
            <a:r>
              <a:rPr lang="en-US" sz="1200">
                <a:latin typeface="Avenir"/>
                <a:ea typeface="Avenir"/>
                <a:cs typeface="Avenir"/>
                <a:sym typeface="Avenir"/>
              </a:rPr>
              <a:t>á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un descuento del 15% sobr</a:t>
            </a:r>
            <a:r>
              <a:rPr lang="en-US" sz="1200">
                <a:latin typeface="Avenir"/>
                <a:ea typeface="Avenir"/>
                <a:cs typeface="Avenir"/>
                <a:sym typeface="Avenir"/>
              </a:rPr>
              <a:t>e el monto total del proyecto que será aplicable en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la última factura de cierre del proceso.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5" name="Google Shape;185;g35bed72ca39_0_77"/>
          <p:cNvSpPr/>
          <p:nvPr/>
        </p:nvSpPr>
        <p:spPr>
          <a:xfrm>
            <a:off x="10609477" y="3234246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g35bed72ca39_0_77"/>
          <p:cNvSpPr/>
          <p:nvPr/>
        </p:nvSpPr>
        <p:spPr>
          <a:xfrm>
            <a:off x="10609477" y="5034074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g35bed72ca39_0_77"/>
          <p:cNvSpPr txBox="1"/>
          <p:nvPr/>
        </p:nvSpPr>
        <p:spPr>
          <a:xfrm>
            <a:off x="11002200" y="3167575"/>
            <a:ext cx="5219700" cy="1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COMPROMISO DEL CLIENTE: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cliente se compromete a proveer la información básica a compartir con los candidatos, ser ágiles y flexibles para atender las necesidades de seguimiento y los ajustes del proceso. También, para entrevistar a los candidatos presentados, dar devolución sobre dichos candidatos dentro de los dos días de la entrevista y mantener en reserva la identidad de los profesionales.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8" name="Google Shape;188;g35bed72ca39_0_77"/>
          <p:cNvSpPr txBox="1"/>
          <p:nvPr/>
        </p:nvSpPr>
        <p:spPr>
          <a:xfrm>
            <a:off x="11002200" y="4967400"/>
            <a:ext cx="5219700" cy="25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OFF LIMITS: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VON DER HEIDE se compromete a no abordar proactivamente a los </a:t>
            </a:r>
            <a:r>
              <a:rPr lang="en-US" sz="1200"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colaboradores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 de sus clientes activos en un mismo país y departamento. La condición de off-limit se pierde después de 6 meses de inactividad comercial, a partir del último proyecto finalizado. Los candidatos incorporados al cliente a través de VON DER HEIDE no serán tenidos en cuenta para otros procesos de </a:t>
            </a:r>
            <a:r>
              <a:rPr lang="en-US" sz="1200"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0"/>
                  </a:ext>
                </a:extLst>
              </a:rPr>
              <a:t>Talent Acquisition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1"/>
                  </a:ext>
                </a:extLst>
              </a:rPr>
              <a:t> durante dos años a partir de su incorporación.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  <a:extLst>
                <a:ext uri="http://customooxmlschemas.google.com/">
                  <go:slidesCustomData xmlns:go="http://customooxmlschemas.google.com/" textRoundtripDataId="12"/>
                </a:ext>
              </a:extLs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3"/>
                  </a:ext>
                </a:extLst>
              </a:rPr>
              <a:t> 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  <a:extLst>
                <a:ext uri="http://customooxmlschemas.google.com/">
                  <go:slidesCustomData xmlns:go="http://customooxmlschemas.google.com/" textRoundtripDataId="14"/>
                </a:ext>
              </a:extLs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5"/>
                  </a:ext>
                </a:extLst>
              </a:rPr>
              <a:t>En caso que </a:t>
            </a:r>
            <a:r>
              <a:rPr lang="en-US" sz="1200"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6"/>
                  </a:ext>
                </a:extLst>
              </a:rPr>
              <a:t>colaboradores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7"/>
                  </a:ext>
                </a:extLst>
              </a:rPr>
              <a:t>de los clientes apliquen a posiciones publicadas en los portales de internet o se comuniquen por otros medios, VON DER HEIDE se reserva el derecho de considerarlos o no para otros procesos de </a:t>
            </a:r>
            <a:r>
              <a:rPr lang="en-US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8"/>
                  </a:ext>
                </a:extLst>
              </a:rPr>
              <a:t>Talent Acquisition</a:t>
            </a:r>
            <a:r>
              <a:rPr lang="en-US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9" name="Google Shape;189;g35bed72ca39_0_77"/>
          <p:cNvSpPr/>
          <p:nvPr/>
        </p:nvSpPr>
        <p:spPr>
          <a:xfrm>
            <a:off x="10609477" y="8054849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g35bed72ca39_0_77"/>
          <p:cNvSpPr txBox="1"/>
          <p:nvPr/>
        </p:nvSpPr>
        <p:spPr>
          <a:xfrm>
            <a:off x="11002200" y="7988175"/>
            <a:ext cx="52197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VIGENCIA: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 días desde la fecha de envío. 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g35bed72ca39_0_77"/>
          <p:cNvSpPr/>
          <p:nvPr/>
        </p:nvSpPr>
        <p:spPr>
          <a:xfrm>
            <a:off x="10609477" y="9179199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g35bed72ca39_0_77"/>
          <p:cNvSpPr txBox="1"/>
          <p:nvPr/>
        </p:nvSpPr>
        <p:spPr>
          <a:xfrm>
            <a:off x="11025640" y="9129749"/>
            <a:ext cx="55872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PLAZO DE PAGO: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 días de fecha de factura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bed72ca39_0_64"/>
          <p:cNvSpPr/>
          <p:nvPr/>
        </p:nvSpPr>
        <p:spPr>
          <a:xfrm>
            <a:off x="1225177" y="2794296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g35bed72ca39_0_64"/>
          <p:cNvSpPr/>
          <p:nvPr/>
        </p:nvSpPr>
        <p:spPr>
          <a:xfrm>
            <a:off x="1256550" y="7169071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g35bed72ca39_0_64"/>
          <p:cNvSpPr/>
          <p:nvPr/>
        </p:nvSpPr>
        <p:spPr>
          <a:xfrm>
            <a:off x="9116000" y="2860974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g35bed72ca39_0_64"/>
          <p:cNvSpPr/>
          <p:nvPr/>
        </p:nvSpPr>
        <p:spPr>
          <a:xfrm>
            <a:off x="16936448" y="8981649"/>
            <a:ext cx="896680" cy="980114"/>
          </a:xfrm>
          <a:custGeom>
            <a:rect b="b" l="l" r="r" t="t"/>
            <a:pathLst>
              <a:path extrusionOk="0" h="980114" w="896680">
                <a:moveTo>
                  <a:pt x="0" y="0"/>
                </a:moveTo>
                <a:lnTo>
                  <a:pt x="896680" y="0"/>
                </a:lnTo>
                <a:lnTo>
                  <a:pt x="896680" y="980114"/>
                </a:lnTo>
                <a:lnTo>
                  <a:pt x="0" y="980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2428" l="-36048" r="-42268" t="-30708"/>
            </a:stretch>
          </a:blipFill>
          <a:ln>
            <a:noFill/>
          </a:ln>
        </p:spPr>
      </p:sp>
      <p:sp>
        <p:nvSpPr>
          <p:cNvPr id="201" name="Google Shape;201;g35bed72ca39_0_64"/>
          <p:cNvSpPr txBox="1"/>
          <p:nvPr/>
        </p:nvSpPr>
        <p:spPr>
          <a:xfrm>
            <a:off x="1420612" y="380083"/>
            <a:ext cx="62907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b="1" i="0" lang="en-US" sz="850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Condiciones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5bed72ca39_0_64"/>
          <p:cNvSpPr txBox="1"/>
          <p:nvPr/>
        </p:nvSpPr>
        <p:spPr>
          <a:xfrm>
            <a:off x="1225177" y="1396526"/>
            <a:ext cx="6220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b="1" i="0" lang="en-US" sz="7783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Comerciales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5bed72ca39_0_64"/>
          <p:cNvSpPr txBox="1"/>
          <p:nvPr/>
        </p:nvSpPr>
        <p:spPr>
          <a:xfrm>
            <a:off x="1705815" y="2727621"/>
            <a:ext cx="6005400" cy="4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latin typeface="Avenir"/>
                <a:ea typeface="Avenir"/>
                <a:cs typeface="Avenir"/>
                <a:sym typeface="Avenir"/>
              </a:rPr>
              <a:t>FACTURACIÓN: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35% de anticipo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35% con la 1era entrevista de candidatos con el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30% cuando el candidato firma la oferta (el monto se ajusta con el salario real de ingreso)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NO APLICAN PENALIDADES POR CANCELACIÓN</a:t>
            </a:r>
            <a:endParaRPr i="1" sz="16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72719" lvl="1" marL="345442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brindados en Argentina, Chile y México serán facturados en moneda local.</a:t>
            </a:r>
            <a:endParaRPr>
              <a:solidFill>
                <a:schemeClr val="dk1"/>
              </a:solidFill>
            </a:endParaRPr>
          </a:p>
          <a:p>
            <a:pPr indent="-172719" lvl="1" marL="345442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brindados en el resto del mundo serán facturados en dólares americanos, con facturas de exportación emitidas desde las razones sociales de VDH en Chile o México.</a:t>
            </a:r>
            <a:endParaRPr i="1" sz="1600"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4" name="Google Shape;204;g35bed72ca39_0_64"/>
          <p:cNvSpPr txBox="1"/>
          <p:nvPr/>
        </p:nvSpPr>
        <p:spPr>
          <a:xfrm>
            <a:off x="1737188" y="7102396"/>
            <a:ext cx="6423300" cy="19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IMPUESTOS: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En Argentina, Chile y México se agregará el IVA correspondiente a cada país.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Los servicios facturados a otro</a:t>
            </a:r>
            <a:r>
              <a:rPr lang="en-US" sz="1600">
                <a:latin typeface="Avenir"/>
                <a:ea typeface="Avenir"/>
                <a:cs typeface="Avenir"/>
                <a:sym typeface="Avenir"/>
              </a:rPr>
              <a:t>s países NO tendrán recargo de IVA. Si surge algún impuesto adicional por acuerdos tributarios entre países, este será a cargo del cliente.</a:t>
            </a:r>
            <a:endParaRPr sz="16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5" name="Google Shape;205;g35bed72ca39_0_64"/>
          <p:cNvSpPr txBox="1"/>
          <p:nvPr/>
        </p:nvSpPr>
        <p:spPr>
          <a:xfrm>
            <a:off x="9596650" y="2794300"/>
            <a:ext cx="7663800" cy="6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GARANTÍA: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APLICA, cuando: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profesional contratado se encuentre completamente desvinculado o haya renunciado a la compañía dentro de los siguientes plazos y posiciones</a:t>
            </a:r>
            <a:r>
              <a:rPr lang="en-US" sz="1600">
                <a:latin typeface="Avenir"/>
                <a:ea typeface="Avenir"/>
                <a:cs typeface="Avenir"/>
                <a:sym typeface="Avenir"/>
              </a:rPr>
              <a:t>.</a:t>
            </a:r>
            <a:endParaRPr sz="1600">
              <a:latin typeface="Avenir"/>
              <a:ea typeface="Avenir"/>
              <a:cs typeface="Avenir"/>
              <a:sym typeface="Avenir"/>
            </a:endParaRPr>
          </a:p>
          <a:p>
            <a:pPr indent="-3302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venir"/>
              <a:buAutoNum type="arabicPeriod"/>
            </a:pPr>
            <a:r>
              <a:rPr lang="en-US" sz="1600">
                <a:latin typeface="Avenir"/>
                <a:ea typeface="Avenir"/>
                <a:cs typeface="Avenir"/>
                <a:sym typeface="Avenir"/>
              </a:rPr>
              <a:t>Será de</a:t>
            </a:r>
            <a:r>
              <a:rPr i="1" lang="en-US" sz="1600">
                <a:latin typeface="Avenir"/>
                <a:ea typeface="Avenir"/>
                <a:cs typeface="Avenir"/>
                <a:sym typeface="Avenir"/>
              </a:rPr>
              <a:t> 6 meses</a:t>
            </a:r>
            <a:r>
              <a:rPr lang="en-US" sz="1600"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para posiciones con salario mensual dentro del rango:</a:t>
            </a:r>
            <a:endParaRPr sz="1600"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venir"/>
                <a:ea typeface="Avenir"/>
                <a:cs typeface="Avenir"/>
                <a:sym typeface="Avenir"/>
              </a:rPr>
              <a:t>Argentina		AR$ 2.900.000  -  </a:t>
            </a: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AR$ 5.999.999 </a:t>
            </a:r>
            <a:endParaRPr sz="1600"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venir"/>
                <a:ea typeface="Avenir"/>
                <a:cs typeface="Avenir"/>
                <a:sym typeface="Avenir"/>
              </a:rPr>
              <a:t>Chile		CLP$ 3.500.00  -  </a:t>
            </a: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CLP$ 4.999.999 </a:t>
            </a:r>
            <a:endParaRPr sz="1600"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venir"/>
                <a:ea typeface="Avenir"/>
                <a:cs typeface="Avenir"/>
                <a:sym typeface="Avenir"/>
              </a:rPr>
              <a:t>México		MXN$ 60.000  -   </a:t>
            </a: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MXN$ 99.999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302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AutoNum type="arabicPeriod"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Será de </a:t>
            </a:r>
            <a:r>
              <a:rPr i="1"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 meses</a:t>
            </a: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para posiciones con salario mensual dentro del rango: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Argentina		AR$ 2.000.000  -  AR$ 2.899.999 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Chile		CLP$ 1.700.00  -  CLP$ 3.499.999 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México		MXN$ 35.000  -   MXN$ 59.999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NO APLICA, cuando: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perfil de reemplazo fuera modificado parcial o totalmente.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profesional renuncia por incumplimiento de promesa o acuerdo.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profesional renuncia por haber sido asignado a un rol diferente.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profesional renuncia por un cambio del liderazgo organizacional.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6" name="Google Shape;206;g35bed72ca39_0_64"/>
          <p:cNvSpPr txBox="1"/>
          <p:nvPr/>
        </p:nvSpPr>
        <p:spPr>
          <a:xfrm>
            <a:off x="1028700" y="9395506"/>
            <a:ext cx="15708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*Si la vacante es cubierta por un referido interno o externo, aplicaremos un descuento del 15% </a:t>
            </a:r>
            <a:endParaRPr b="1" i="1" sz="180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sobre el monto total del proyecto en la última factura.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fb9f226c3_0_0"/>
          <p:cNvSpPr txBox="1"/>
          <p:nvPr/>
        </p:nvSpPr>
        <p:spPr>
          <a:xfrm>
            <a:off x="1295773" y="4133450"/>
            <a:ext cx="9116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lang="en-US" sz="9000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Soluciones</a:t>
            </a:r>
            <a:endParaRPr i="0" sz="90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2" name="Google Shape;212;g35fb9f226c3_0_0"/>
          <p:cNvSpPr txBox="1"/>
          <p:nvPr/>
        </p:nvSpPr>
        <p:spPr>
          <a:xfrm>
            <a:off x="1258625" y="3152125"/>
            <a:ext cx="4356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lang="en-US" sz="80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Nuestras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5fb9f226c3_0_0"/>
          <p:cNvSpPr txBox="1"/>
          <p:nvPr/>
        </p:nvSpPr>
        <p:spPr>
          <a:xfrm>
            <a:off x="1310100" y="5381150"/>
            <a:ext cx="5207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Conoce nuestras soluciones para incorporar y potenciar tu talento.</a:t>
            </a:r>
            <a:endParaRPr i="0" sz="2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4" name="Google Shape;214;g35fb9f226c3_0_0"/>
          <p:cNvSpPr txBox="1"/>
          <p:nvPr/>
        </p:nvSpPr>
        <p:spPr>
          <a:xfrm>
            <a:off x="10411882" y="19465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Executive Search 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15" name="Google Shape;215;g35fb9f226c3_0_0"/>
          <p:cNvSpPr txBox="1"/>
          <p:nvPr/>
        </p:nvSpPr>
        <p:spPr>
          <a:xfrm>
            <a:off x="10411882" y="60460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Selfplacement</a:t>
            </a:r>
            <a:endParaRPr sz="3600">
              <a:solidFill>
                <a:schemeClr val="lt1"/>
              </a:solidFill>
            </a:endParaRPr>
          </a:p>
        </p:txBody>
      </p:sp>
      <p:cxnSp>
        <p:nvCxnSpPr>
          <p:cNvPr id="216" name="Google Shape;216;g35fb9f226c3_0_0"/>
          <p:cNvCxnSpPr/>
          <p:nvPr/>
        </p:nvCxnSpPr>
        <p:spPr>
          <a:xfrm>
            <a:off x="10411875" y="2824650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g35fb9f226c3_0_0"/>
          <p:cNvSpPr txBox="1"/>
          <p:nvPr/>
        </p:nvSpPr>
        <p:spPr>
          <a:xfrm>
            <a:off x="10419757" y="30336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Assessment </a:t>
            </a:r>
            <a:endParaRPr sz="3600">
              <a:solidFill>
                <a:schemeClr val="lt1"/>
              </a:solidFill>
            </a:endParaRPr>
          </a:p>
        </p:txBody>
      </p:sp>
      <p:cxnSp>
        <p:nvCxnSpPr>
          <p:cNvPr id="218" name="Google Shape;218;g35fb9f226c3_0_0"/>
          <p:cNvCxnSpPr/>
          <p:nvPr/>
        </p:nvCxnSpPr>
        <p:spPr>
          <a:xfrm>
            <a:off x="10411875" y="37678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g35fb9f226c3_0_0"/>
          <p:cNvSpPr txBox="1"/>
          <p:nvPr/>
        </p:nvSpPr>
        <p:spPr>
          <a:xfrm>
            <a:off x="10419757" y="40242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Market Insights </a:t>
            </a:r>
            <a:endParaRPr sz="3600">
              <a:solidFill>
                <a:schemeClr val="lt1"/>
              </a:solidFill>
            </a:endParaRPr>
          </a:p>
        </p:txBody>
      </p:sp>
      <p:cxnSp>
        <p:nvCxnSpPr>
          <p:cNvPr id="220" name="Google Shape;220;g35fb9f226c3_0_0"/>
          <p:cNvCxnSpPr/>
          <p:nvPr/>
        </p:nvCxnSpPr>
        <p:spPr>
          <a:xfrm>
            <a:off x="10411875" y="47584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g35fb9f226c3_0_0"/>
          <p:cNvSpPr txBox="1"/>
          <p:nvPr/>
        </p:nvSpPr>
        <p:spPr>
          <a:xfrm>
            <a:off x="10419757" y="50351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Coaching</a:t>
            </a:r>
            <a:endParaRPr sz="3600">
              <a:solidFill>
                <a:schemeClr val="lt1"/>
              </a:solidFill>
            </a:endParaRPr>
          </a:p>
        </p:txBody>
      </p:sp>
      <p:cxnSp>
        <p:nvCxnSpPr>
          <p:cNvPr id="222" name="Google Shape;222;g35fb9f226c3_0_0"/>
          <p:cNvCxnSpPr/>
          <p:nvPr/>
        </p:nvCxnSpPr>
        <p:spPr>
          <a:xfrm>
            <a:off x="10411875" y="57693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3" name="Google Shape;223;g35fb9f226c3_0_0" title="VDH Logo_2025-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12925" y="9058425"/>
            <a:ext cx="3559228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fb9f226c3_0_16"/>
          <p:cNvSpPr/>
          <p:nvPr/>
        </p:nvSpPr>
        <p:spPr>
          <a:xfrm>
            <a:off x="0" y="5660700"/>
            <a:ext cx="18320353" cy="4592300"/>
          </a:xfrm>
          <a:custGeom>
            <a:rect b="b" l="l" r="r" t="t"/>
            <a:pathLst>
              <a:path extrusionOk="0" h="1554078" w="6428194">
                <a:moveTo>
                  <a:pt x="0" y="0"/>
                </a:moveTo>
                <a:lnTo>
                  <a:pt x="6428194" y="0"/>
                </a:lnTo>
                <a:lnTo>
                  <a:pt x="6428194" y="1554078"/>
                </a:lnTo>
                <a:lnTo>
                  <a:pt x="0" y="15540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9" name="Google Shape;229;g35fb9f226c3_0_16"/>
          <p:cNvSpPr txBox="1"/>
          <p:nvPr/>
        </p:nvSpPr>
        <p:spPr>
          <a:xfrm>
            <a:off x="7469472" y="6178207"/>
            <a:ext cx="51888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Website: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LinkedIn: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Correo: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5456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0" name="Google Shape;230;g35fb9f226c3_0_16"/>
          <p:cNvSpPr txBox="1"/>
          <p:nvPr/>
        </p:nvSpPr>
        <p:spPr>
          <a:xfrm>
            <a:off x="12951650" y="6283097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WWW.VONDERHEIDE.COM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5fb9f226c3_0_16"/>
          <p:cNvSpPr txBox="1"/>
          <p:nvPr/>
        </p:nvSpPr>
        <p:spPr>
          <a:xfrm>
            <a:off x="12951650" y="6848913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VON DER HEIDE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5fb9f226c3_0_16"/>
          <p:cNvSpPr txBox="1"/>
          <p:nvPr/>
        </p:nvSpPr>
        <p:spPr>
          <a:xfrm>
            <a:off x="12951650" y="7414738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CONTACTO@VDH.JOBS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g35fb9f226c3_0_16"/>
          <p:cNvGrpSpPr/>
          <p:nvPr/>
        </p:nvGrpSpPr>
        <p:grpSpPr>
          <a:xfrm>
            <a:off x="-523800" y="2286026"/>
            <a:ext cx="8703799" cy="2272849"/>
            <a:chOff x="-523800" y="2286026"/>
            <a:chExt cx="8703799" cy="2272849"/>
          </a:xfrm>
        </p:grpSpPr>
        <p:pic>
          <p:nvPicPr>
            <p:cNvPr id="234" name="Google Shape;234;g35fb9f226c3_0_16" title="people to business.png"/>
            <p:cNvPicPr preferRelativeResize="0"/>
            <p:nvPr/>
          </p:nvPicPr>
          <p:blipFill rotWithShape="1">
            <a:blip r:embed="rId3">
              <a:alphaModFix/>
            </a:blip>
            <a:srcRect b="33238" l="35239" r="35609" t="51645"/>
            <a:stretch/>
          </p:blipFill>
          <p:spPr>
            <a:xfrm>
              <a:off x="1303875" y="3119500"/>
              <a:ext cx="4935000" cy="143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g35fb9f226c3_0_16"/>
            <p:cNvSpPr/>
            <p:nvPr/>
          </p:nvSpPr>
          <p:spPr>
            <a:xfrm>
              <a:off x="-523800" y="2286026"/>
              <a:ext cx="8703799" cy="1336045"/>
            </a:xfrm>
            <a:custGeom>
              <a:rect b="b" l="l" r="r" t="t"/>
              <a:pathLst>
                <a:path extrusionOk="0" h="1659683" w="10812173">
                  <a:moveTo>
                    <a:pt x="0" y="0"/>
                  </a:moveTo>
                  <a:lnTo>
                    <a:pt x="10812174" y="0"/>
                  </a:lnTo>
                  <a:lnTo>
                    <a:pt x="10812174" y="1659683"/>
                  </a:lnTo>
                  <a:lnTo>
                    <a:pt x="0" y="16596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376822" l="0" r="0" t="-365992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