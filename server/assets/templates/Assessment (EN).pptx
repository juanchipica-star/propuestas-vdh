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Garamon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Q/fI+822syTEjvQ0RN9S7zjKv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.fntdata"/><Relationship Id="rId14" Type="http://schemas.openxmlformats.org/officeDocument/2006/relationships/font" Target="fonts/Garamond-regular.fntdata"/><Relationship Id="rId17" Type="http://schemas.openxmlformats.org/officeDocument/2006/relationships/font" Target="fonts/Garamond-boldItalic.fntdata"/><Relationship Id="rId16" Type="http://schemas.openxmlformats.org/officeDocument/2006/relationships/font" Target="fonts/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bed67c5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5bed67c57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bed67c57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5bed67c570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bed67c57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5bed67c570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bed67c57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5bed67c570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0.jp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3737913" y="3956892"/>
            <a:ext cx="10812173" cy="1659683"/>
          </a:xfrm>
          <a:custGeom>
            <a:rect b="b" l="l" r="r" t="t"/>
            <a:pathLst>
              <a:path extrusionOk="0" h="1659683" w="10812173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6814" l="0" r="0" t="-366000"/>
            </a:stretch>
          </a:blipFill>
          <a:ln>
            <a:noFill/>
          </a:ln>
        </p:spPr>
      </p:sp>
      <p:pic>
        <p:nvPicPr>
          <p:cNvPr id="85" name="Google Shape;85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b="31963" l="36693" r="36612" t="56580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0" y="5143500"/>
            <a:ext cx="18288000" cy="5143500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</p:sp>
      <p:grpSp>
        <p:nvGrpSpPr>
          <p:cNvPr id="91" name="Google Shape;91;p17"/>
          <p:cNvGrpSpPr/>
          <p:nvPr/>
        </p:nvGrpSpPr>
        <p:grpSpPr>
          <a:xfrm>
            <a:off x="16437562" y="6099761"/>
            <a:ext cx="821738" cy="410869"/>
            <a:chOff x="0" y="0"/>
            <a:chExt cx="1095650" cy="547825"/>
          </a:xfrm>
        </p:grpSpPr>
        <p:sp>
          <p:nvSpPr>
            <p:cNvPr id="92" name="Google Shape;92;p17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3" name="Google Shape;93;p17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94" name="Google Shape;94;p17"/>
          <p:cNvGrpSpPr/>
          <p:nvPr/>
        </p:nvGrpSpPr>
        <p:grpSpPr>
          <a:xfrm>
            <a:off x="16437562" y="6773706"/>
            <a:ext cx="821738" cy="410869"/>
            <a:chOff x="0" y="0"/>
            <a:chExt cx="1095650" cy="547825"/>
          </a:xfrm>
        </p:grpSpPr>
        <p:sp>
          <p:nvSpPr>
            <p:cNvPr id="95" name="Google Shape;95;p17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6" name="Google Shape;96;p17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97" name="Google Shape;97;p17"/>
          <p:cNvPicPr preferRelativeResize="0"/>
          <p:nvPr/>
        </p:nvPicPr>
        <p:blipFill rotWithShape="1">
          <a:blip r:embed="rId5">
            <a:alphaModFix/>
          </a:blip>
          <a:srcRect b="28893" l="0" r="0" t="28892"/>
          <a:stretch/>
        </p:blipFill>
        <p:spPr>
          <a:xfrm>
            <a:off x="0" y="0"/>
            <a:ext cx="1828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 rot="10800000">
            <a:off x="487973" y="5143500"/>
            <a:ext cx="9673049" cy="2873913"/>
          </a:xfrm>
          <a:custGeom>
            <a:rect b="b" l="l" r="r" t="t"/>
            <a:pathLst>
              <a:path extrusionOk="0" h="2873913" w="9673049">
                <a:moveTo>
                  <a:pt x="0" y="0"/>
                </a:moveTo>
                <a:lnTo>
                  <a:pt x="9673049" y="0"/>
                </a:lnTo>
                <a:lnTo>
                  <a:pt x="9673049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17"/>
          <p:cNvGrpSpPr/>
          <p:nvPr/>
        </p:nvGrpSpPr>
        <p:grpSpPr>
          <a:xfrm>
            <a:off x="16437562" y="7521101"/>
            <a:ext cx="821738" cy="410869"/>
            <a:chOff x="0" y="0"/>
            <a:chExt cx="1095650" cy="547825"/>
          </a:xfrm>
        </p:grpSpPr>
        <p:sp>
          <p:nvSpPr>
            <p:cNvPr id="100" name="Google Shape;100;p17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7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02" name="Google Shape;102;p17"/>
          <p:cNvSpPr txBox="1"/>
          <p:nvPr/>
        </p:nvSpPr>
        <p:spPr>
          <a:xfrm>
            <a:off x="13217986" y="7544486"/>
            <a:ext cx="22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PREMIUM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13217986" y="6773693"/>
            <a:ext cx="258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3217986" y="6002926"/>
            <a:ext cx="22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ESSENTIAL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821179" y="9258300"/>
            <a:ext cx="3133615" cy="822737"/>
          </a:xfrm>
          <a:custGeom>
            <a:rect b="b" l="l" r="r" t="t"/>
            <a:pathLst>
              <a:path extrusionOk="0" h="822737" w="3133615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85245" l="-17414" r="-16833" t="-276392"/>
            </a:stretch>
          </a:blipFill>
          <a:ln>
            <a:noFill/>
          </a:ln>
        </p:spPr>
      </p:sp>
      <p:sp>
        <p:nvSpPr>
          <p:cNvPr id="106" name="Google Shape;106;p17"/>
          <p:cNvSpPr txBox="1"/>
          <p:nvPr/>
        </p:nvSpPr>
        <p:spPr>
          <a:xfrm>
            <a:off x="824900" y="7424897"/>
            <a:ext cx="11031401" cy="1833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86"/>
              <a:buFont typeface="Arial"/>
              <a:buNone/>
            </a:pPr>
            <a:r>
              <a:rPr b="1" i="0" lang="en-US" sz="12086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ASSESSMENT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g35bed67c570_0_0"/>
          <p:cNvGrpSpPr/>
          <p:nvPr/>
        </p:nvGrpSpPr>
        <p:grpSpPr>
          <a:xfrm>
            <a:off x="12175208" y="-144662"/>
            <a:ext cx="6087228" cy="10431728"/>
            <a:chOff x="0" y="-38100"/>
            <a:chExt cx="1603210" cy="2747433"/>
          </a:xfrm>
        </p:grpSpPr>
        <p:sp>
          <p:nvSpPr>
            <p:cNvPr id="112" name="Google Shape;112;g35bed67c570_0_0"/>
            <p:cNvSpPr/>
            <p:nvPr/>
          </p:nvSpPr>
          <p:spPr>
            <a:xfrm>
              <a:off x="0" y="0"/>
              <a:ext cx="1603210" cy="2709333"/>
            </a:xfrm>
            <a:custGeom>
              <a:rect b="b" l="l" r="r" t="t"/>
              <a:pathLst>
                <a:path extrusionOk="0" h="2709333" w="1603210">
                  <a:moveTo>
                    <a:pt x="0" y="0"/>
                  </a:moveTo>
                  <a:lnTo>
                    <a:pt x="1603210" y="0"/>
                  </a:lnTo>
                  <a:lnTo>
                    <a:pt x="16032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4565B"/>
            </a:solidFill>
            <a:ln>
              <a:noFill/>
            </a:ln>
          </p:spPr>
        </p:sp>
        <p:sp>
          <p:nvSpPr>
            <p:cNvPr id="113" name="Google Shape;113;g35bed67c570_0_0"/>
            <p:cNvSpPr txBox="1"/>
            <p:nvPr/>
          </p:nvSpPr>
          <p:spPr>
            <a:xfrm>
              <a:off x="0" y="-38100"/>
              <a:ext cx="16032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g35bed67c570_0_0"/>
          <p:cNvGrpSpPr/>
          <p:nvPr/>
        </p:nvGrpSpPr>
        <p:grpSpPr>
          <a:xfrm>
            <a:off x="10254275" y="1757040"/>
            <a:ext cx="6192398" cy="8529983"/>
            <a:chOff x="0" y="-38100"/>
            <a:chExt cx="812800" cy="1119626"/>
          </a:xfrm>
        </p:grpSpPr>
        <p:sp>
          <p:nvSpPr>
            <p:cNvPr id="115" name="Google Shape;115;g35bed67c570_0_0"/>
            <p:cNvSpPr/>
            <p:nvPr/>
          </p:nvSpPr>
          <p:spPr>
            <a:xfrm>
              <a:off x="0" y="0"/>
              <a:ext cx="812800" cy="1081526"/>
            </a:xfrm>
            <a:custGeom>
              <a:rect b="b" l="l" r="r" t="t"/>
              <a:pathLst>
                <a:path extrusionOk="0" h="108152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81526"/>
                  </a:lnTo>
                  <a:lnTo>
                    <a:pt x="0" y="1081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g35bed67c570_0_0"/>
            <p:cNvSpPr txBox="1"/>
            <p:nvPr/>
          </p:nvSpPr>
          <p:spPr>
            <a:xfrm>
              <a:off x="0" y="-38100"/>
              <a:ext cx="812700" cy="11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7" name="Google Shape;117;g35bed67c570_0_0"/>
          <p:cNvPicPr preferRelativeResize="0"/>
          <p:nvPr/>
        </p:nvPicPr>
        <p:blipFill rotWithShape="1">
          <a:blip r:embed="rId3">
            <a:alphaModFix/>
          </a:blip>
          <a:srcRect b="0" l="26315" r="26315" t="0"/>
          <a:stretch/>
        </p:blipFill>
        <p:spPr>
          <a:xfrm>
            <a:off x="10527156" y="2320528"/>
            <a:ext cx="5663553" cy="79664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g35bed67c570_0_0"/>
          <p:cNvGrpSpPr/>
          <p:nvPr/>
        </p:nvGrpSpPr>
        <p:grpSpPr>
          <a:xfrm>
            <a:off x="10213525" y="1892878"/>
            <a:ext cx="1210363" cy="1169636"/>
            <a:chOff x="19045" y="19050"/>
            <a:chExt cx="1613817" cy="1559514"/>
          </a:xfrm>
        </p:grpSpPr>
        <p:cxnSp>
          <p:nvCxnSpPr>
            <p:cNvPr id="119" name="Google Shape;119;g35bed67c570_0_0"/>
            <p:cNvCxnSpPr/>
            <p:nvPr/>
          </p:nvCxnSpPr>
          <p:spPr>
            <a:xfrm rot="10800000">
              <a:off x="73462" y="19050"/>
              <a:ext cx="1559400" cy="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g35bed67c570_0_0"/>
            <p:cNvCxnSpPr/>
            <p:nvPr/>
          </p:nvCxnSpPr>
          <p:spPr>
            <a:xfrm flipH="1" rot="10800000">
              <a:off x="19045" y="19464"/>
              <a:ext cx="35400" cy="155910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" name="Google Shape;121;g35bed67c570_0_0"/>
          <p:cNvSpPr/>
          <p:nvPr/>
        </p:nvSpPr>
        <p:spPr>
          <a:xfrm>
            <a:off x="11423887" y="713919"/>
            <a:ext cx="1889833" cy="769118"/>
          </a:xfrm>
          <a:custGeom>
            <a:rect b="b" l="l" r="r" t="t"/>
            <a:pathLst>
              <a:path extrusionOk="0" h="769118" w="1889833">
                <a:moveTo>
                  <a:pt x="0" y="0"/>
                </a:moveTo>
                <a:lnTo>
                  <a:pt x="1889833" y="0"/>
                </a:lnTo>
                <a:lnTo>
                  <a:pt x="1889833" y="769118"/>
                </a:lnTo>
                <a:lnTo>
                  <a:pt x="0" y="769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g35bed67c570_0_0"/>
          <p:cNvSpPr txBox="1"/>
          <p:nvPr/>
        </p:nvSpPr>
        <p:spPr>
          <a:xfrm>
            <a:off x="2544451" y="6137950"/>
            <a:ext cx="7407600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We apply this methodology to address key challenges such as:</a:t>
            </a:r>
            <a:endParaRPr b="0" i="0" sz="14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26696" lvl="1" marL="45339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E40"/>
              </a:buClr>
              <a:buSzPts val="2100"/>
              <a:buFont typeface="Avenir"/>
              <a:buChar char="•"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</a:rPr>
              <a:t>Strengthening leadership capabilities</a:t>
            </a:r>
            <a:endParaRPr/>
          </a:p>
          <a:p>
            <a:pPr indent="-226696" lvl="1" marL="45339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E40"/>
              </a:buClr>
              <a:buSzPts val="2100"/>
              <a:buFont typeface="Avenir"/>
              <a:buChar char="•"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</a:rPr>
              <a:t>Supporting internal mobility and promotions</a:t>
            </a:r>
            <a:endParaRPr/>
          </a:p>
          <a:p>
            <a:pPr indent="-226696" lvl="1" marL="45339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E40"/>
              </a:buClr>
              <a:buSzPts val="2100"/>
              <a:buFont typeface="Avenir"/>
              <a:buChar char="•"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</a:rPr>
              <a:t>Building robust succession pipelines</a:t>
            </a:r>
            <a:endParaRPr/>
          </a:p>
          <a:p>
            <a:pPr indent="-226696" lvl="1" marL="45339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E40"/>
              </a:buClr>
              <a:buSzPts val="2100"/>
              <a:buFont typeface="Avenir"/>
              <a:buChar char="•"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</a:rPr>
              <a:t>Enhancing internal and external talent acquisition strategies</a:t>
            </a:r>
            <a:endParaRPr/>
          </a:p>
          <a:p>
            <a:pPr indent="-226696" lvl="1" marL="45339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E40"/>
              </a:buClr>
              <a:buSzPts val="2100"/>
              <a:buFont typeface="Avenir"/>
              <a:buChar char="•"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</a:rPr>
              <a:t>Designing personalized development plans</a:t>
            </a:r>
            <a:endParaRPr/>
          </a:p>
          <a:p>
            <a:pPr indent="-226696" lvl="1" marL="45339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E40"/>
              </a:buClr>
              <a:buSzPts val="2100"/>
              <a:buFont typeface="Avenir"/>
              <a:buChar char="•"/>
            </a:pPr>
            <a:r>
              <a:rPr b="0" i="0" lang="en-US" sz="2100" u="none" cap="none" strike="noStrike">
                <a:solidFill>
                  <a:srgbClr val="3D3E40"/>
                </a:solidFill>
                <a:latin typeface="Avenir"/>
                <a:ea typeface="Avenir"/>
                <a:cs typeface="Avenir"/>
                <a:sym typeface="Avenir"/>
              </a:rPr>
              <a:t>Diagnosing capability gaps within teams or departments</a:t>
            </a:r>
            <a:endParaRPr b="0" i="0" sz="14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D3E4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" name="Google Shape;123;g35bed67c570_0_0"/>
          <p:cNvSpPr txBox="1"/>
          <p:nvPr/>
        </p:nvSpPr>
        <p:spPr>
          <a:xfrm>
            <a:off x="1065850" y="3024900"/>
            <a:ext cx="8629800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highlight>
                  <a:srgbClr val="8CA8BA"/>
                </a:highlight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Map their talent  </a:t>
            </a:r>
            <a:r>
              <a:rPr b="1" i="0" lang="en-US" sz="21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 by deepening the understanding of each individual’s strengths, competencies, and growth potential.</a:t>
            </a:r>
            <a:endParaRPr b="1" i="0" sz="1400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" name="Google Shape;124;g35bed67c570_0_0"/>
          <p:cNvSpPr/>
          <p:nvPr/>
        </p:nvSpPr>
        <p:spPr>
          <a:xfrm>
            <a:off x="1233363" y="4884963"/>
            <a:ext cx="989464" cy="989464"/>
          </a:xfrm>
          <a:custGeom>
            <a:rect b="b" l="l" r="r" t="t"/>
            <a:pathLst>
              <a:path extrusionOk="0" h="989464" w="989464">
                <a:moveTo>
                  <a:pt x="0" y="0"/>
                </a:moveTo>
                <a:lnTo>
                  <a:pt x="989463" y="0"/>
                </a:lnTo>
                <a:lnTo>
                  <a:pt x="989463" y="989463"/>
                </a:lnTo>
                <a:lnTo>
                  <a:pt x="0" y="989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g35bed67c570_0_0"/>
          <p:cNvSpPr txBox="1"/>
          <p:nvPr/>
        </p:nvSpPr>
        <p:spPr>
          <a:xfrm>
            <a:off x="21070950" y="-728875"/>
            <a:ext cx="127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5bed67c570_0_0"/>
          <p:cNvSpPr txBox="1"/>
          <p:nvPr/>
        </p:nvSpPr>
        <p:spPr>
          <a:xfrm>
            <a:off x="2544450" y="4884975"/>
            <a:ext cx="7151400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This approach fosters greater self-awareness, enabling more informed and impactful talent decisions.</a:t>
            </a:r>
            <a:endParaRPr b="0" i="0" sz="1400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" name="Google Shape;127;g35bed67c570_0_0"/>
          <p:cNvSpPr txBox="1"/>
          <p:nvPr/>
        </p:nvSpPr>
        <p:spPr>
          <a:xfrm>
            <a:off x="1065853" y="1867150"/>
            <a:ext cx="7677900" cy="104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ORGANIZTIONS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5bed67c570_0_0"/>
          <p:cNvSpPr txBox="1"/>
          <p:nvPr/>
        </p:nvSpPr>
        <p:spPr>
          <a:xfrm>
            <a:off x="1028700" y="885825"/>
            <a:ext cx="8331900" cy="152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We partner with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g35bed67c570_0_21"/>
          <p:cNvCxnSpPr/>
          <p:nvPr/>
        </p:nvCxnSpPr>
        <p:spPr>
          <a:xfrm>
            <a:off x="8995382" y="5061659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" name="Google Shape;134;g35bed67c570_0_21"/>
          <p:cNvCxnSpPr/>
          <p:nvPr/>
        </p:nvCxnSpPr>
        <p:spPr>
          <a:xfrm>
            <a:off x="8995382" y="7245289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5" name="Google Shape;135;g35bed67c570_0_21"/>
          <p:cNvCxnSpPr/>
          <p:nvPr/>
        </p:nvCxnSpPr>
        <p:spPr>
          <a:xfrm>
            <a:off x="8995382" y="2879747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6" name="Google Shape;136;g35bed67c570_0_21"/>
          <p:cNvSpPr txBox="1"/>
          <p:nvPr/>
        </p:nvSpPr>
        <p:spPr>
          <a:xfrm>
            <a:off x="10826106" y="3407177"/>
            <a:ext cx="5176800" cy="117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internal and external candidates for specific roles using objective and detailed insights.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5bed67c570_0_21"/>
          <p:cNvSpPr txBox="1"/>
          <p:nvPr/>
        </p:nvSpPr>
        <p:spPr>
          <a:xfrm>
            <a:off x="10826106" y="1247394"/>
            <a:ext cx="5774400" cy="117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personalized development plans using detailed insights into each employee’s potential, competencies, and mindset.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5bed67c570_0_21"/>
          <p:cNvSpPr txBox="1"/>
          <p:nvPr/>
        </p:nvSpPr>
        <p:spPr>
          <a:xfrm>
            <a:off x="10826106" y="5472369"/>
            <a:ext cx="5723100" cy="183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the employee experience by increasing awareness of their strengths and development areas — a key lever for boosting motivation and engagement. </a:t>
            </a:r>
            <a:endParaRPr/>
          </a:p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5bed67c570_0_21"/>
          <p:cNvSpPr txBox="1"/>
          <p:nvPr/>
        </p:nvSpPr>
        <p:spPr>
          <a:xfrm>
            <a:off x="10826106" y="7769164"/>
            <a:ext cx="5774400" cy="195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       to your Employer Brand by demonstrating a genuine interest in deeply understanding your people — positively influencing how the organization is perceived as a desirable and inspiring workplace.</a:t>
            </a:r>
            <a:endParaRPr b="0" i="0" sz="1999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g35bed67c570_0_21"/>
          <p:cNvSpPr txBox="1"/>
          <p:nvPr/>
        </p:nvSpPr>
        <p:spPr>
          <a:xfrm>
            <a:off x="1065851" y="1867150"/>
            <a:ext cx="8385726" cy="104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TALENT ASSESSMENT: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5bed67c570_0_21"/>
          <p:cNvSpPr txBox="1"/>
          <p:nvPr/>
        </p:nvSpPr>
        <p:spPr>
          <a:xfrm>
            <a:off x="1028700" y="885825"/>
            <a:ext cx="5599500" cy="152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Advantages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5bed67c570_0_21"/>
          <p:cNvSpPr/>
          <p:nvPr/>
        </p:nvSpPr>
        <p:spPr>
          <a:xfrm>
            <a:off x="9638573" y="1168908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9" y="0"/>
                </a:lnTo>
                <a:lnTo>
                  <a:pt x="434489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g35bed67c570_0_21"/>
          <p:cNvSpPr txBox="1"/>
          <p:nvPr/>
        </p:nvSpPr>
        <p:spPr>
          <a:xfrm>
            <a:off x="10826106" y="1130808"/>
            <a:ext cx="1804800" cy="49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5bed67c570_0_21"/>
          <p:cNvSpPr/>
          <p:nvPr/>
        </p:nvSpPr>
        <p:spPr>
          <a:xfrm>
            <a:off x="203171" y="3464327"/>
            <a:ext cx="6612025" cy="6364266"/>
          </a:xfrm>
          <a:custGeom>
            <a:rect b="b" l="l" r="r" t="t"/>
            <a:pathLst>
              <a:path extrusionOk="0" h="6364266" w="6612025">
                <a:moveTo>
                  <a:pt x="0" y="0"/>
                </a:moveTo>
                <a:lnTo>
                  <a:pt x="6612025" y="0"/>
                </a:lnTo>
                <a:lnTo>
                  <a:pt x="6612025" y="6364266"/>
                </a:lnTo>
                <a:lnTo>
                  <a:pt x="0" y="636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9032" r="0" t="-50226"/>
            </a:stretch>
          </a:blipFill>
          <a:ln>
            <a:noFill/>
          </a:ln>
        </p:spPr>
      </p:sp>
      <p:sp>
        <p:nvSpPr>
          <p:cNvPr id="145" name="Google Shape;145;g35bed67c570_0_21"/>
          <p:cNvSpPr/>
          <p:nvPr/>
        </p:nvSpPr>
        <p:spPr>
          <a:xfrm>
            <a:off x="9638573" y="3359552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9" y="0"/>
                </a:lnTo>
                <a:lnTo>
                  <a:pt x="434489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g35bed67c570_0_21"/>
          <p:cNvSpPr txBox="1"/>
          <p:nvPr/>
        </p:nvSpPr>
        <p:spPr>
          <a:xfrm>
            <a:off x="10826106" y="3321452"/>
            <a:ext cx="2287500" cy="49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COMPARE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5bed67c570_0_21"/>
          <p:cNvSpPr/>
          <p:nvPr/>
        </p:nvSpPr>
        <p:spPr>
          <a:xfrm>
            <a:off x="9638573" y="5423609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9" y="0"/>
                </a:lnTo>
                <a:lnTo>
                  <a:pt x="434489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5bed67c570_0_21"/>
          <p:cNvSpPr txBox="1"/>
          <p:nvPr/>
        </p:nvSpPr>
        <p:spPr>
          <a:xfrm>
            <a:off x="10826106" y="5385509"/>
            <a:ext cx="1957200" cy="49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ENHANCE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5bed67c570_0_21"/>
          <p:cNvSpPr/>
          <p:nvPr/>
        </p:nvSpPr>
        <p:spPr>
          <a:xfrm>
            <a:off x="9638573" y="7745861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9" y="0"/>
                </a:lnTo>
                <a:lnTo>
                  <a:pt x="434489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g35bed67c570_0_21"/>
          <p:cNvSpPr txBox="1"/>
          <p:nvPr/>
        </p:nvSpPr>
        <p:spPr>
          <a:xfrm>
            <a:off x="10826106" y="7707761"/>
            <a:ext cx="2588400" cy="49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CONTRIBUTE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35bed67c570_0_42"/>
          <p:cNvGrpSpPr/>
          <p:nvPr/>
        </p:nvGrpSpPr>
        <p:grpSpPr>
          <a:xfrm rot="5400000">
            <a:off x="3163475" y="-3027932"/>
            <a:ext cx="767733" cy="7846127"/>
            <a:chOff x="0" y="-123825"/>
            <a:chExt cx="202200" cy="2066456"/>
          </a:xfrm>
        </p:grpSpPr>
        <p:sp>
          <p:nvSpPr>
            <p:cNvPr id="156" name="Google Shape;156;g35bed67c570_0_42"/>
            <p:cNvSpPr/>
            <p:nvPr/>
          </p:nvSpPr>
          <p:spPr>
            <a:xfrm>
              <a:off x="0" y="0"/>
              <a:ext cx="202089" cy="1942631"/>
            </a:xfrm>
            <a:custGeom>
              <a:rect b="b" l="l" r="r" t="t"/>
              <a:pathLst>
                <a:path extrusionOk="0" h="1942631" w="202089">
                  <a:moveTo>
                    <a:pt x="101045" y="0"/>
                  </a:moveTo>
                  <a:lnTo>
                    <a:pt x="101045" y="0"/>
                  </a:lnTo>
                  <a:cubicBezTo>
                    <a:pt x="127843" y="0"/>
                    <a:pt x="153544" y="10646"/>
                    <a:pt x="172494" y="29595"/>
                  </a:cubicBezTo>
                  <a:cubicBezTo>
                    <a:pt x="191443" y="48545"/>
                    <a:pt x="202089" y="74246"/>
                    <a:pt x="202089" y="101045"/>
                  </a:cubicBezTo>
                  <a:lnTo>
                    <a:pt x="202089" y="1841587"/>
                  </a:lnTo>
                  <a:cubicBezTo>
                    <a:pt x="202089" y="1868385"/>
                    <a:pt x="191443" y="1894086"/>
                    <a:pt x="172494" y="1913036"/>
                  </a:cubicBezTo>
                  <a:cubicBezTo>
                    <a:pt x="153544" y="1931985"/>
                    <a:pt x="127843" y="1942631"/>
                    <a:pt x="101045" y="1942631"/>
                  </a:cubicBezTo>
                  <a:lnTo>
                    <a:pt x="101045" y="1942631"/>
                  </a:lnTo>
                  <a:cubicBezTo>
                    <a:pt x="74246" y="1942631"/>
                    <a:pt x="48545" y="1931985"/>
                    <a:pt x="29595" y="1913036"/>
                  </a:cubicBezTo>
                  <a:cubicBezTo>
                    <a:pt x="10646" y="1894086"/>
                    <a:pt x="0" y="1868385"/>
                    <a:pt x="0" y="1841587"/>
                  </a:cubicBezTo>
                  <a:lnTo>
                    <a:pt x="0" y="101045"/>
                  </a:lnTo>
                  <a:cubicBezTo>
                    <a:pt x="0" y="74246"/>
                    <a:pt x="10646" y="48545"/>
                    <a:pt x="29595" y="29595"/>
                  </a:cubicBezTo>
                  <a:cubicBezTo>
                    <a:pt x="48545" y="10646"/>
                    <a:pt x="74246" y="0"/>
                    <a:pt x="101045" y="0"/>
                  </a:cubicBezTo>
                  <a:close/>
                </a:path>
              </a:pathLst>
            </a:custGeom>
            <a:solidFill>
              <a:srgbClr val="8CA8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5bed67c570_0_42"/>
            <p:cNvSpPr txBox="1"/>
            <p:nvPr/>
          </p:nvSpPr>
          <p:spPr>
            <a:xfrm>
              <a:off x="0" y="-123825"/>
              <a:ext cx="202200" cy="206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g35bed67c570_0_42"/>
          <p:cNvSpPr/>
          <p:nvPr/>
        </p:nvSpPr>
        <p:spPr>
          <a:xfrm>
            <a:off x="10231757" y="1771637"/>
            <a:ext cx="30000" cy="7894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5bed67c570_0_42"/>
          <p:cNvSpPr/>
          <p:nvPr/>
        </p:nvSpPr>
        <p:spPr>
          <a:xfrm>
            <a:off x="11567768" y="1787618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g35bed67c570_0_42"/>
          <p:cNvSpPr txBox="1"/>
          <p:nvPr/>
        </p:nvSpPr>
        <p:spPr>
          <a:xfrm>
            <a:off x="245796" y="594825"/>
            <a:ext cx="5719800" cy="6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ASSESSMENTS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5bed67c570_0_42"/>
          <p:cNvSpPr txBox="1"/>
          <p:nvPr/>
        </p:nvSpPr>
        <p:spPr>
          <a:xfrm>
            <a:off x="15950725" y="1107694"/>
            <a:ext cx="196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ESSENTIAL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5bed67c570_0_42"/>
          <p:cNvSpPr txBox="1"/>
          <p:nvPr/>
        </p:nvSpPr>
        <p:spPr>
          <a:xfrm>
            <a:off x="13468734" y="1107694"/>
            <a:ext cx="18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5bed67c570_0_42"/>
          <p:cNvSpPr txBox="1"/>
          <p:nvPr/>
        </p:nvSpPr>
        <p:spPr>
          <a:xfrm>
            <a:off x="10836572" y="1107694"/>
            <a:ext cx="20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PREMIUM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5bed67c570_0_42"/>
          <p:cNvSpPr txBox="1"/>
          <p:nvPr/>
        </p:nvSpPr>
        <p:spPr>
          <a:xfrm>
            <a:off x="703264" y="1704962"/>
            <a:ext cx="196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01. KICK OFF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5bed67c570_0_42"/>
          <p:cNvSpPr txBox="1"/>
          <p:nvPr/>
        </p:nvSpPr>
        <p:spPr>
          <a:xfrm>
            <a:off x="3044890" y="1704962"/>
            <a:ext cx="6592500" cy="732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Understanding the client’s needs. Analyzing the role's challenges and responsibilities, and identifying key capabilities to observe and evaluate.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bed67c570_0_42"/>
          <p:cNvSpPr txBox="1"/>
          <p:nvPr/>
        </p:nvSpPr>
        <p:spPr>
          <a:xfrm>
            <a:off x="703264" y="2854011"/>
            <a:ext cx="19689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02. JOB CRAFTING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5bed67c570_0_42"/>
          <p:cNvSpPr txBox="1"/>
          <p:nvPr/>
        </p:nvSpPr>
        <p:spPr>
          <a:xfrm>
            <a:off x="3044890" y="2854011"/>
            <a:ext cx="6592500" cy="10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One-on-one conversation with the participant using a guided tool to explore their experience and current challenges, with a focus on motivations, purpose, and future aspirations.</a:t>
            </a:r>
            <a:endParaRPr b="0" i="0" sz="17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8" name="Google Shape;168;g35bed67c570_0_42"/>
          <p:cNvSpPr txBox="1"/>
          <p:nvPr/>
        </p:nvSpPr>
        <p:spPr>
          <a:xfrm>
            <a:off x="193376" y="4106231"/>
            <a:ext cx="24789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03. SIMULATOR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5bed67c570_0_42"/>
          <p:cNvSpPr txBox="1"/>
          <p:nvPr/>
        </p:nvSpPr>
        <p:spPr>
          <a:xfrm>
            <a:off x="3044890" y="4106231"/>
            <a:ext cx="6738000" cy="732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Digital simulation that enables real-time observation of participant behavior in recreated business scenarios.</a:t>
            </a:r>
            <a:endParaRPr b="0" i="0" sz="14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5bed67c570_0_42"/>
          <p:cNvSpPr txBox="1"/>
          <p:nvPr/>
        </p:nvSpPr>
        <p:spPr>
          <a:xfrm>
            <a:off x="193376" y="5148900"/>
            <a:ext cx="2478900" cy="68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04. LEADERSHIP DIALOGUE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5bed67c570_0_42"/>
          <p:cNvSpPr txBox="1"/>
          <p:nvPr/>
        </p:nvSpPr>
        <p:spPr>
          <a:xfrm>
            <a:off x="3044890" y="5148900"/>
            <a:ext cx="6883500" cy="732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Roleplaying exercise with a peer, assuming predefined roles relevant to the business context in which the participant would operate.</a:t>
            </a:r>
            <a:endParaRPr b="0" i="0" sz="17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2" name="Google Shape;172;g35bed67c570_0_42"/>
          <p:cNvSpPr txBox="1"/>
          <p:nvPr/>
        </p:nvSpPr>
        <p:spPr>
          <a:xfrm>
            <a:off x="193376" y="6192396"/>
            <a:ext cx="2478900" cy="68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05. BUSINESS</a:t>
            </a:r>
            <a:endParaRPr/>
          </a:p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 CASE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5bed67c570_0_42"/>
          <p:cNvSpPr txBox="1"/>
          <p:nvPr/>
        </p:nvSpPr>
        <p:spPr>
          <a:xfrm>
            <a:off x="3044890" y="6192396"/>
            <a:ext cx="6883500" cy="10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Strategic exercise where the participant faces a professional challenge, assumes a role, analyzes information, builds a solution, and presents an action plan to evaluators.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bed67c570_0_42"/>
          <p:cNvSpPr txBox="1"/>
          <p:nvPr/>
        </p:nvSpPr>
        <p:spPr>
          <a:xfrm>
            <a:off x="193376" y="7739064"/>
            <a:ext cx="2478900" cy="68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06. EVALUATION TEST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5bed67c570_0_42"/>
          <p:cNvSpPr txBox="1"/>
          <p:nvPr/>
        </p:nvSpPr>
        <p:spPr>
          <a:xfrm>
            <a:off x="3044890" y="7739064"/>
            <a:ext cx="6883500" cy="10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We use tailored Talent Diagnostic Tools to identify individual motivators, strengths, and potential derailers, providing a comprehensive view of performance enablers. (Hogan, PDA, or TTI Success Insights)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5bed67c570_0_42"/>
          <p:cNvSpPr txBox="1"/>
          <p:nvPr/>
        </p:nvSpPr>
        <p:spPr>
          <a:xfrm>
            <a:off x="193376" y="9038909"/>
            <a:ext cx="2478900" cy="68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07. OUTPUTS + FEEDBACK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5bed67c570_0_42"/>
          <p:cNvSpPr/>
          <p:nvPr/>
        </p:nvSpPr>
        <p:spPr>
          <a:xfrm>
            <a:off x="11567768" y="2964374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g35bed67c570_0_42"/>
          <p:cNvSpPr/>
          <p:nvPr/>
        </p:nvSpPr>
        <p:spPr>
          <a:xfrm>
            <a:off x="11567768" y="4109169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g35bed67c570_0_42"/>
          <p:cNvSpPr/>
          <p:nvPr/>
        </p:nvSpPr>
        <p:spPr>
          <a:xfrm>
            <a:off x="11567768" y="5215575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g35bed67c570_0_42"/>
          <p:cNvSpPr/>
          <p:nvPr/>
        </p:nvSpPr>
        <p:spPr>
          <a:xfrm>
            <a:off x="11567768" y="6410645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69"/>
                </a:lnTo>
                <a:lnTo>
                  <a:pt x="0" y="547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g35bed67c570_0_42"/>
          <p:cNvSpPr/>
          <p:nvPr/>
        </p:nvSpPr>
        <p:spPr>
          <a:xfrm>
            <a:off x="11567768" y="7700965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69"/>
                </a:lnTo>
                <a:lnTo>
                  <a:pt x="0" y="547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5bed67c570_0_42"/>
          <p:cNvSpPr/>
          <p:nvPr/>
        </p:nvSpPr>
        <p:spPr>
          <a:xfrm>
            <a:off x="11567768" y="9005888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g35bed67c570_0_42"/>
          <p:cNvSpPr/>
          <p:nvPr/>
        </p:nvSpPr>
        <p:spPr>
          <a:xfrm>
            <a:off x="14153814" y="6439639"/>
            <a:ext cx="489381" cy="489381"/>
          </a:xfrm>
          <a:custGeom>
            <a:rect b="b" l="l" r="r" t="t"/>
            <a:pathLst>
              <a:path extrusionOk="0" h="489381" w="489381">
                <a:moveTo>
                  <a:pt x="0" y="0"/>
                </a:moveTo>
                <a:lnTo>
                  <a:pt x="489381" y="0"/>
                </a:lnTo>
                <a:lnTo>
                  <a:pt x="489381" y="489381"/>
                </a:lnTo>
                <a:lnTo>
                  <a:pt x="0" y="4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g35bed67c570_0_42"/>
          <p:cNvSpPr/>
          <p:nvPr/>
        </p:nvSpPr>
        <p:spPr>
          <a:xfrm>
            <a:off x="16681545" y="5244570"/>
            <a:ext cx="489381" cy="489381"/>
          </a:xfrm>
          <a:custGeom>
            <a:rect b="b" l="l" r="r" t="t"/>
            <a:pathLst>
              <a:path extrusionOk="0" h="489381" w="489381">
                <a:moveTo>
                  <a:pt x="0" y="0"/>
                </a:moveTo>
                <a:lnTo>
                  <a:pt x="489381" y="0"/>
                </a:lnTo>
                <a:lnTo>
                  <a:pt x="489381" y="489380"/>
                </a:lnTo>
                <a:lnTo>
                  <a:pt x="0" y="489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g35bed67c570_0_42"/>
          <p:cNvSpPr/>
          <p:nvPr/>
        </p:nvSpPr>
        <p:spPr>
          <a:xfrm>
            <a:off x="16681545" y="6439639"/>
            <a:ext cx="489381" cy="489381"/>
          </a:xfrm>
          <a:custGeom>
            <a:rect b="b" l="l" r="r" t="t"/>
            <a:pathLst>
              <a:path extrusionOk="0" h="489381" w="489381">
                <a:moveTo>
                  <a:pt x="0" y="0"/>
                </a:moveTo>
                <a:lnTo>
                  <a:pt x="489381" y="0"/>
                </a:lnTo>
                <a:lnTo>
                  <a:pt x="489381" y="489381"/>
                </a:lnTo>
                <a:lnTo>
                  <a:pt x="0" y="4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g35bed67c570_0_42"/>
          <p:cNvSpPr/>
          <p:nvPr/>
        </p:nvSpPr>
        <p:spPr>
          <a:xfrm>
            <a:off x="14124820" y="1787618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35bed67c570_0_42"/>
          <p:cNvSpPr/>
          <p:nvPr/>
        </p:nvSpPr>
        <p:spPr>
          <a:xfrm>
            <a:off x="14124820" y="2964374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g35bed67c570_0_42"/>
          <p:cNvSpPr/>
          <p:nvPr/>
        </p:nvSpPr>
        <p:spPr>
          <a:xfrm>
            <a:off x="14124820" y="4109169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g35bed67c570_0_42"/>
          <p:cNvSpPr/>
          <p:nvPr/>
        </p:nvSpPr>
        <p:spPr>
          <a:xfrm>
            <a:off x="16652551" y="1787618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69" y="0"/>
                </a:lnTo>
                <a:lnTo>
                  <a:pt x="547369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5bed67c570_0_42"/>
          <p:cNvSpPr/>
          <p:nvPr/>
        </p:nvSpPr>
        <p:spPr>
          <a:xfrm>
            <a:off x="16652551" y="2964374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69" y="0"/>
                </a:lnTo>
                <a:lnTo>
                  <a:pt x="547369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g35bed67c570_0_42"/>
          <p:cNvSpPr/>
          <p:nvPr/>
        </p:nvSpPr>
        <p:spPr>
          <a:xfrm>
            <a:off x="14095826" y="7700965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69" y="0"/>
                </a:lnTo>
                <a:lnTo>
                  <a:pt x="547369" y="547369"/>
                </a:lnTo>
                <a:lnTo>
                  <a:pt x="0" y="547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g35bed67c570_0_42"/>
          <p:cNvSpPr/>
          <p:nvPr/>
        </p:nvSpPr>
        <p:spPr>
          <a:xfrm>
            <a:off x="14095826" y="9005888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69" y="0"/>
                </a:lnTo>
                <a:lnTo>
                  <a:pt x="547369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5bed67c570_0_42"/>
          <p:cNvSpPr/>
          <p:nvPr/>
        </p:nvSpPr>
        <p:spPr>
          <a:xfrm>
            <a:off x="16652551" y="7700965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69" y="0"/>
                </a:lnTo>
                <a:lnTo>
                  <a:pt x="547369" y="547369"/>
                </a:lnTo>
                <a:lnTo>
                  <a:pt x="0" y="547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g35bed67c570_0_42"/>
          <p:cNvSpPr/>
          <p:nvPr/>
        </p:nvSpPr>
        <p:spPr>
          <a:xfrm>
            <a:off x="16652551" y="9005888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69" y="0"/>
                </a:lnTo>
                <a:lnTo>
                  <a:pt x="547369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g35bed67c570_0_42"/>
          <p:cNvSpPr/>
          <p:nvPr/>
        </p:nvSpPr>
        <p:spPr>
          <a:xfrm>
            <a:off x="16681545" y="4177770"/>
            <a:ext cx="489381" cy="489381"/>
          </a:xfrm>
          <a:custGeom>
            <a:rect b="b" l="l" r="r" t="t"/>
            <a:pathLst>
              <a:path extrusionOk="0" h="489381" w="489381">
                <a:moveTo>
                  <a:pt x="0" y="0"/>
                </a:moveTo>
                <a:lnTo>
                  <a:pt x="489381" y="0"/>
                </a:lnTo>
                <a:lnTo>
                  <a:pt x="489381" y="489380"/>
                </a:lnTo>
                <a:lnTo>
                  <a:pt x="0" y="489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g35bed67c570_0_42"/>
          <p:cNvSpPr txBox="1"/>
          <p:nvPr/>
        </p:nvSpPr>
        <p:spPr>
          <a:xfrm>
            <a:off x="3044900" y="9038900"/>
            <a:ext cx="7043700" cy="10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 results report is delivered for individual diagnostics, and a comparative “competency mapping” for group processes. All participants receive a personalized feedback session. </a:t>
            </a:r>
            <a:endParaRPr b="0" i="0" sz="17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7" name="Google Shape;197;g35bed67c570_0_42"/>
          <p:cNvSpPr/>
          <p:nvPr/>
        </p:nvSpPr>
        <p:spPr>
          <a:xfrm>
            <a:off x="14113066" y="5219135"/>
            <a:ext cx="547370" cy="547370"/>
          </a:xfrm>
          <a:custGeom>
            <a:rect b="b" l="l" r="r" t="t"/>
            <a:pathLst>
              <a:path extrusionOk="0" h="547370" w="547370">
                <a:moveTo>
                  <a:pt x="0" y="0"/>
                </a:moveTo>
                <a:lnTo>
                  <a:pt x="547370" y="0"/>
                </a:lnTo>
                <a:lnTo>
                  <a:pt x="547370" y="547370"/>
                </a:lnTo>
                <a:lnTo>
                  <a:pt x="0" y="54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g35bed67c570_0_88"/>
          <p:cNvGrpSpPr/>
          <p:nvPr/>
        </p:nvGrpSpPr>
        <p:grpSpPr>
          <a:xfrm>
            <a:off x="8866327" y="3432020"/>
            <a:ext cx="2719203" cy="4897124"/>
            <a:chOff x="0" y="0"/>
            <a:chExt cx="716164" cy="1289769"/>
          </a:xfrm>
        </p:grpSpPr>
        <p:sp>
          <p:nvSpPr>
            <p:cNvPr id="203" name="Google Shape;203;g35bed67c570_0_88"/>
            <p:cNvSpPr/>
            <p:nvPr/>
          </p:nvSpPr>
          <p:spPr>
            <a:xfrm>
              <a:off x="0" y="0"/>
              <a:ext cx="716164" cy="1289769"/>
            </a:xfrm>
            <a:custGeom>
              <a:rect b="b" l="l" r="r" t="t"/>
              <a:pathLst>
                <a:path extrusionOk="0" h="1289769" w="716164">
                  <a:moveTo>
                    <a:pt x="153746" y="0"/>
                  </a:moveTo>
                  <a:lnTo>
                    <a:pt x="562418" y="0"/>
                  </a:lnTo>
                  <a:cubicBezTo>
                    <a:pt x="647329" y="0"/>
                    <a:pt x="716164" y="68834"/>
                    <a:pt x="716164" y="153746"/>
                  </a:cubicBezTo>
                  <a:lnTo>
                    <a:pt x="716164" y="1136023"/>
                  </a:lnTo>
                  <a:cubicBezTo>
                    <a:pt x="716164" y="1220934"/>
                    <a:pt x="647329" y="1289769"/>
                    <a:pt x="562418" y="1289769"/>
                  </a:cubicBezTo>
                  <a:lnTo>
                    <a:pt x="153746" y="1289769"/>
                  </a:lnTo>
                  <a:cubicBezTo>
                    <a:pt x="68834" y="1289769"/>
                    <a:pt x="0" y="1220934"/>
                    <a:pt x="0" y="1136023"/>
                  </a:cubicBezTo>
                  <a:lnTo>
                    <a:pt x="0" y="153746"/>
                  </a:lnTo>
                  <a:cubicBezTo>
                    <a:pt x="0" y="68834"/>
                    <a:pt x="68834" y="0"/>
                    <a:pt x="153746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5bed67c570_0_88"/>
            <p:cNvSpPr txBox="1"/>
            <p:nvPr/>
          </p:nvSpPr>
          <p:spPr>
            <a:xfrm>
              <a:off x="0" y="0"/>
              <a:ext cx="7161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5bed67c570_0_88"/>
          <p:cNvSpPr txBox="1"/>
          <p:nvPr/>
        </p:nvSpPr>
        <p:spPr>
          <a:xfrm>
            <a:off x="9162060" y="5213425"/>
            <a:ext cx="2013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AR$ 1.500.000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bed67c570_0_88"/>
          <p:cNvSpPr txBox="1"/>
          <p:nvPr/>
        </p:nvSpPr>
        <p:spPr>
          <a:xfrm>
            <a:off x="9162060" y="5833298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CLP$ 1.500.000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bed67c570_0_88"/>
          <p:cNvSpPr txBox="1"/>
          <p:nvPr/>
        </p:nvSpPr>
        <p:spPr>
          <a:xfrm>
            <a:off x="9162060" y="6455207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MXN$ 25,000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5bed67c570_0_88"/>
          <p:cNvSpPr txBox="1"/>
          <p:nvPr/>
        </p:nvSpPr>
        <p:spPr>
          <a:xfrm>
            <a:off x="9162060" y="7076316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1.500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5bed67c570_0_88"/>
          <p:cNvSpPr txBox="1"/>
          <p:nvPr/>
        </p:nvSpPr>
        <p:spPr>
          <a:xfrm>
            <a:off x="9218981" y="4206624"/>
            <a:ext cx="20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PREMIUM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g35bed67c570_0_88"/>
          <p:cNvGrpSpPr/>
          <p:nvPr/>
        </p:nvGrpSpPr>
        <p:grpSpPr>
          <a:xfrm>
            <a:off x="2794265" y="3432020"/>
            <a:ext cx="2725795" cy="4897124"/>
            <a:chOff x="0" y="0"/>
            <a:chExt cx="717900" cy="1289769"/>
          </a:xfrm>
        </p:grpSpPr>
        <p:sp>
          <p:nvSpPr>
            <p:cNvPr id="211" name="Google Shape;211;g35bed67c570_0_88"/>
            <p:cNvSpPr/>
            <p:nvPr/>
          </p:nvSpPr>
          <p:spPr>
            <a:xfrm>
              <a:off x="0" y="0"/>
              <a:ext cx="717771" cy="1289769"/>
            </a:xfrm>
            <a:custGeom>
              <a:rect b="b" l="l" r="r" t="t"/>
              <a:pathLst>
                <a:path extrusionOk="0" h="1289769" w="717771">
                  <a:moveTo>
                    <a:pt x="153402" y="0"/>
                  </a:moveTo>
                  <a:lnTo>
                    <a:pt x="564369" y="0"/>
                  </a:lnTo>
                  <a:cubicBezTo>
                    <a:pt x="605054" y="0"/>
                    <a:pt x="644072" y="16162"/>
                    <a:pt x="672841" y="44930"/>
                  </a:cubicBezTo>
                  <a:cubicBezTo>
                    <a:pt x="701609" y="73699"/>
                    <a:pt x="717771" y="112717"/>
                    <a:pt x="717771" y="153402"/>
                  </a:cubicBezTo>
                  <a:lnTo>
                    <a:pt x="717771" y="1136367"/>
                  </a:lnTo>
                  <a:cubicBezTo>
                    <a:pt x="717771" y="1177052"/>
                    <a:pt x="701609" y="1216070"/>
                    <a:pt x="672841" y="1244838"/>
                  </a:cubicBezTo>
                  <a:cubicBezTo>
                    <a:pt x="644072" y="1273607"/>
                    <a:pt x="605054" y="1289769"/>
                    <a:pt x="564369" y="1289769"/>
                  </a:cubicBezTo>
                  <a:lnTo>
                    <a:pt x="153402" y="1289769"/>
                  </a:lnTo>
                  <a:cubicBezTo>
                    <a:pt x="112717" y="1289769"/>
                    <a:pt x="73699" y="1273607"/>
                    <a:pt x="44930" y="1244838"/>
                  </a:cubicBezTo>
                  <a:cubicBezTo>
                    <a:pt x="16162" y="1216070"/>
                    <a:pt x="0" y="1177052"/>
                    <a:pt x="0" y="1136367"/>
                  </a:cubicBezTo>
                  <a:lnTo>
                    <a:pt x="0" y="153402"/>
                  </a:lnTo>
                  <a:cubicBezTo>
                    <a:pt x="0" y="112717"/>
                    <a:pt x="16162" y="73699"/>
                    <a:pt x="44930" y="44930"/>
                  </a:cubicBezTo>
                  <a:cubicBezTo>
                    <a:pt x="73699" y="16162"/>
                    <a:pt x="112717" y="0"/>
                    <a:pt x="153402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5bed67c570_0_88"/>
            <p:cNvSpPr txBox="1"/>
            <p:nvPr/>
          </p:nvSpPr>
          <p:spPr>
            <a:xfrm>
              <a:off x="0" y="0"/>
              <a:ext cx="7179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g35bed67c570_0_88"/>
          <p:cNvGrpSpPr/>
          <p:nvPr/>
        </p:nvGrpSpPr>
        <p:grpSpPr>
          <a:xfrm>
            <a:off x="266878" y="5079069"/>
            <a:ext cx="2285601" cy="2329393"/>
            <a:chOff x="0" y="-85725"/>
            <a:chExt cx="3047468" cy="3105857"/>
          </a:xfrm>
        </p:grpSpPr>
        <p:sp>
          <p:nvSpPr>
            <p:cNvPr id="214" name="Google Shape;214;g35bed67c570_0_88"/>
            <p:cNvSpPr txBox="1"/>
            <p:nvPr/>
          </p:nvSpPr>
          <p:spPr>
            <a:xfrm>
              <a:off x="636068" y="-85725"/>
              <a:ext cx="2411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Argentina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5bed67c570_0_88"/>
            <p:cNvSpPr txBox="1"/>
            <p:nvPr/>
          </p:nvSpPr>
          <p:spPr>
            <a:xfrm>
              <a:off x="1797024" y="740245"/>
              <a:ext cx="1250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Chile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5bed67c570_0_88"/>
            <p:cNvSpPr txBox="1"/>
            <p:nvPr/>
          </p:nvSpPr>
          <p:spPr>
            <a:xfrm>
              <a:off x="1196853" y="1568394"/>
              <a:ext cx="1785600" cy="623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Mexico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5bed67c570_0_88"/>
            <p:cNvSpPr txBox="1"/>
            <p:nvPr/>
          </p:nvSpPr>
          <p:spPr>
            <a:xfrm>
              <a:off x="0" y="2396543"/>
              <a:ext cx="3047400" cy="623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Other Countries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g35bed67c570_0_88"/>
          <p:cNvSpPr txBox="1"/>
          <p:nvPr/>
        </p:nvSpPr>
        <p:spPr>
          <a:xfrm>
            <a:off x="3090686" y="5128100"/>
            <a:ext cx="2013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AR$ 700.000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5bed67c570_0_88"/>
          <p:cNvSpPr txBox="1"/>
          <p:nvPr/>
        </p:nvSpPr>
        <p:spPr>
          <a:xfrm>
            <a:off x="3090686" y="5747974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CLP$ 700.000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bed67c570_0_88"/>
          <p:cNvSpPr txBox="1"/>
          <p:nvPr/>
        </p:nvSpPr>
        <p:spPr>
          <a:xfrm>
            <a:off x="3090686" y="6369882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MXN$ 12,000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5bed67c570_0_88"/>
          <p:cNvSpPr txBox="1"/>
          <p:nvPr/>
        </p:nvSpPr>
        <p:spPr>
          <a:xfrm>
            <a:off x="3090686" y="6990991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700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5bed67c570_0_88"/>
          <p:cNvSpPr txBox="1"/>
          <p:nvPr/>
        </p:nvSpPr>
        <p:spPr>
          <a:xfrm>
            <a:off x="3160410" y="4211450"/>
            <a:ext cx="20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ESSENTIAL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g35bed67c570_0_88"/>
          <p:cNvGrpSpPr/>
          <p:nvPr/>
        </p:nvGrpSpPr>
        <p:grpSpPr>
          <a:xfrm>
            <a:off x="5827646" y="3432020"/>
            <a:ext cx="2733901" cy="4897124"/>
            <a:chOff x="0" y="0"/>
            <a:chExt cx="720035" cy="1289769"/>
          </a:xfrm>
        </p:grpSpPr>
        <p:sp>
          <p:nvSpPr>
            <p:cNvPr id="224" name="Google Shape;224;g35bed67c570_0_88"/>
            <p:cNvSpPr/>
            <p:nvPr/>
          </p:nvSpPr>
          <p:spPr>
            <a:xfrm>
              <a:off x="0" y="0"/>
              <a:ext cx="720035" cy="1289769"/>
            </a:xfrm>
            <a:custGeom>
              <a:rect b="b" l="l" r="r" t="t"/>
              <a:pathLst>
                <a:path extrusionOk="0" h="1289769" w="720035">
                  <a:moveTo>
                    <a:pt x="152919" y="0"/>
                  </a:moveTo>
                  <a:lnTo>
                    <a:pt x="567115" y="0"/>
                  </a:lnTo>
                  <a:cubicBezTo>
                    <a:pt x="651570" y="0"/>
                    <a:pt x="720035" y="68464"/>
                    <a:pt x="720035" y="152919"/>
                  </a:cubicBezTo>
                  <a:lnTo>
                    <a:pt x="720035" y="1136849"/>
                  </a:lnTo>
                  <a:cubicBezTo>
                    <a:pt x="720035" y="1177406"/>
                    <a:pt x="703923" y="1216302"/>
                    <a:pt x="675245" y="1244980"/>
                  </a:cubicBezTo>
                  <a:cubicBezTo>
                    <a:pt x="646568" y="1273657"/>
                    <a:pt x="607672" y="1289769"/>
                    <a:pt x="567115" y="1289769"/>
                  </a:cubicBezTo>
                  <a:lnTo>
                    <a:pt x="152919" y="1289769"/>
                  </a:lnTo>
                  <a:cubicBezTo>
                    <a:pt x="68464" y="1289769"/>
                    <a:pt x="0" y="1221304"/>
                    <a:pt x="0" y="1136849"/>
                  </a:cubicBezTo>
                  <a:lnTo>
                    <a:pt x="0" y="152919"/>
                  </a:lnTo>
                  <a:cubicBezTo>
                    <a:pt x="0" y="68464"/>
                    <a:pt x="68464" y="0"/>
                    <a:pt x="152919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5bed67c570_0_88"/>
            <p:cNvSpPr txBox="1"/>
            <p:nvPr/>
          </p:nvSpPr>
          <p:spPr>
            <a:xfrm>
              <a:off x="0" y="0"/>
              <a:ext cx="720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g35bed67c570_0_88"/>
          <p:cNvSpPr txBox="1"/>
          <p:nvPr/>
        </p:nvSpPr>
        <p:spPr>
          <a:xfrm>
            <a:off x="6142160" y="5205700"/>
            <a:ext cx="2013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AR$ 1.000.000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bed67c570_0_88"/>
          <p:cNvSpPr txBox="1"/>
          <p:nvPr/>
        </p:nvSpPr>
        <p:spPr>
          <a:xfrm>
            <a:off x="6142160" y="5825577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CLP$ 1.000.000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5bed67c570_0_88"/>
          <p:cNvSpPr txBox="1"/>
          <p:nvPr/>
        </p:nvSpPr>
        <p:spPr>
          <a:xfrm>
            <a:off x="6142160" y="6447489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MXN$ 17,000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5bed67c570_0_88"/>
          <p:cNvSpPr txBox="1"/>
          <p:nvPr/>
        </p:nvSpPr>
        <p:spPr>
          <a:xfrm>
            <a:off x="6142160" y="7068600"/>
            <a:ext cx="2160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5bed67c570_0_88"/>
          <p:cNvSpPr txBox="1"/>
          <p:nvPr/>
        </p:nvSpPr>
        <p:spPr>
          <a:xfrm>
            <a:off x="6199081" y="4206624"/>
            <a:ext cx="20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bed67c570_0_88"/>
          <p:cNvSpPr/>
          <p:nvPr/>
        </p:nvSpPr>
        <p:spPr>
          <a:xfrm>
            <a:off x="867367" y="1319031"/>
            <a:ext cx="920318" cy="374548"/>
          </a:xfrm>
          <a:custGeom>
            <a:rect b="b" l="l" r="r" t="t"/>
            <a:pathLst>
              <a:path extrusionOk="0" h="374548" w="920318">
                <a:moveTo>
                  <a:pt x="0" y="0"/>
                </a:moveTo>
                <a:lnTo>
                  <a:pt x="920318" y="0"/>
                </a:lnTo>
                <a:lnTo>
                  <a:pt x="920318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g35bed67c570_0_88"/>
          <p:cNvSpPr/>
          <p:nvPr/>
        </p:nvSpPr>
        <p:spPr>
          <a:xfrm>
            <a:off x="12199476" y="3721249"/>
            <a:ext cx="215121" cy="246091"/>
          </a:xfrm>
          <a:custGeom>
            <a:rect b="b" l="l" r="r" t="t"/>
            <a:pathLst>
              <a:path extrusionOk="0" h="246091" w="215121">
                <a:moveTo>
                  <a:pt x="0" y="0"/>
                </a:moveTo>
                <a:lnTo>
                  <a:pt x="215121" y="0"/>
                </a:lnTo>
                <a:lnTo>
                  <a:pt x="21512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197" r="-7196" t="0"/>
            </a:stretch>
          </a:blipFill>
          <a:ln>
            <a:noFill/>
          </a:ln>
        </p:spPr>
      </p:sp>
      <p:sp>
        <p:nvSpPr>
          <p:cNvPr id="233" name="Google Shape;233;g35bed67c570_0_88"/>
          <p:cNvSpPr txBox="1"/>
          <p:nvPr/>
        </p:nvSpPr>
        <p:spPr>
          <a:xfrm>
            <a:off x="12619626" y="3654574"/>
            <a:ext cx="5249700" cy="3348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COMMERCIAL TERMS:</a:t>
            </a:r>
            <a:endParaRPr b="1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183516" lvl="1" marL="36703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Invoicing: 100% upon confirmation of the service.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6" lvl="1" marL="36703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Payment term: 30 days from invoice date.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6" lvl="1" marL="36703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Taxes: Quoted amounts do not include VAT.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6" lvl="1" marL="36703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This proposal remains valid for 30 days from the date it is issued. </a:t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4" name="Google Shape;234;g35bed67c570_0_88"/>
          <p:cNvSpPr txBox="1"/>
          <p:nvPr/>
        </p:nvSpPr>
        <p:spPr>
          <a:xfrm>
            <a:off x="2230101" y="1785675"/>
            <a:ext cx="4135800" cy="104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FEE: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5bed67c570_0_88"/>
          <p:cNvSpPr txBox="1"/>
          <p:nvPr/>
        </p:nvSpPr>
        <p:spPr>
          <a:xfrm>
            <a:off x="2192972" y="804350"/>
            <a:ext cx="4135800" cy="152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Solution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"/>
          <p:cNvSpPr txBox="1"/>
          <p:nvPr/>
        </p:nvSpPr>
        <p:spPr>
          <a:xfrm>
            <a:off x="1295773" y="4133450"/>
            <a:ext cx="9116100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9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Portfolio</a:t>
            </a:r>
            <a:endParaRPr b="0" i="0" sz="9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1" name="Google Shape;241;p1"/>
          <p:cNvSpPr txBox="1"/>
          <p:nvPr/>
        </p:nvSpPr>
        <p:spPr>
          <a:xfrm>
            <a:off x="1258624" y="3152125"/>
            <a:ext cx="6609619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Our Solution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"/>
          <p:cNvSpPr txBox="1"/>
          <p:nvPr/>
        </p:nvSpPr>
        <p:spPr>
          <a:xfrm>
            <a:off x="1310100" y="5459695"/>
            <a:ext cx="520740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Explore our solutions to hire and empower your talent.</a:t>
            </a:r>
            <a:endParaRPr b="0" i="0" sz="2800" u="none" cap="none" strike="noStrik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3" name="Google Shape;243;p1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Selfplacement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1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1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1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2" name="Google Shape;252;p1" title="VDH Logo_2025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"/>
          <p:cNvSpPr/>
          <p:nvPr/>
        </p:nvSpPr>
        <p:spPr>
          <a:xfrm>
            <a:off x="0" y="5660700"/>
            <a:ext cx="18320353" cy="4592300"/>
          </a:xfrm>
          <a:custGeom>
            <a:rect b="b" l="l" r="r" t="t"/>
            <a:pathLst>
              <a:path extrusionOk="0" h="1554078" w="6428194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8" name="Google Shape;258;p3"/>
          <p:cNvSpPr txBox="1"/>
          <p:nvPr/>
        </p:nvSpPr>
        <p:spPr>
          <a:xfrm>
            <a:off x="7469472" y="6178207"/>
            <a:ext cx="5188800" cy="241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9" name="Google Shape;259;p3"/>
          <p:cNvSpPr txBox="1"/>
          <p:nvPr/>
        </p:nvSpPr>
        <p:spPr>
          <a:xfrm>
            <a:off x="12951650" y="6283097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"/>
          <p:cNvSpPr txBox="1"/>
          <p:nvPr/>
        </p:nvSpPr>
        <p:spPr>
          <a:xfrm>
            <a:off x="12951650" y="7414738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"/>
          <p:cNvGrpSpPr/>
          <p:nvPr/>
        </p:nvGrpSpPr>
        <p:grpSpPr>
          <a:xfrm>
            <a:off x="-523800" y="2286026"/>
            <a:ext cx="8703799" cy="2272849"/>
            <a:chOff x="-523800" y="2286026"/>
            <a:chExt cx="8703799" cy="2272849"/>
          </a:xfrm>
        </p:grpSpPr>
        <p:pic>
          <p:nvPicPr>
            <p:cNvPr id="263" name="Google Shape;263;p3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b="33238" l="35239" r="35608" t="51645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"/>
            <p:cNvSpPr/>
            <p:nvPr/>
          </p:nvSpPr>
          <p:spPr>
            <a:xfrm>
              <a:off x="-523800" y="2286026"/>
              <a:ext cx="8703799" cy="1336045"/>
            </a:xfrm>
            <a:custGeom>
              <a:rect b="b" l="l" r="r" t="t"/>
              <a:pathLst>
                <a:path extrusionOk="0" h="1659683" w="10812173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76782" l="0" r="0" t="-365961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DELL-HYNDVP2</dc:creator>
</cp:coreProperties>
</file>