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Garamond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hK70QzkjVyWUpYwM5ROeFR9Ddy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aramond-bold.fntdata"/><Relationship Id="rId14" Type="http://schemas.openxmlformats.org/officeDocument/2006/relationships/font" Target="fonts/Garamond-regular.fntdata"/><Relationship Id="rId17" Type="http://schemas.openxmlformats.org/officeDocument/2006/relationships/font" Target="fonts/Garamond-boldItalic.fntdata"/><Relationship Id="rId16" Type="http://schemas.openxmlformats.org/officeDocument/2006/relationships/font" Target="fonts/Garamon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672e28a83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g35672e28a83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bee1ce9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g35bee1ce9e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bee1ce9e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5bee1ce9eb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bee1ce9e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5bee1ce9eb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bee1ce9e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35bee1ce9eb_0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faeb03101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5faeb0310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5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jpg"/><Relationship Id="rId4" Type="http://schemas.openxmlformats.org/officeDocument/2006/relationships/image" Target="../media/image21.png"/><Relationship Id="rId5" Type="http://schemas.openxmlformats.org/officeDocument/2006/relationships/image" Target="../media/image23.png"/><Relationship Id="rId6" Type="http://schemas.openxmlformats.org/officeDocument/2006/relationships/image" Target="../media/image2.png"/><Relationship Id="rId7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image" Target="../media/image13.jp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jp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jpg"/><Relationship Id="rId4" Type="http://schemas.openxmlformats.org/officeDocument/2006/relationships/image" Target="../media/image1.png"/><Relationship Id="rId5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jp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65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3737913" y="3956892"/>
            <a:ext cx="10812173" cy="1659683"/>
          </a:xfrm>
          <a:custGeom>
            <a:rect b="b" l="l" r="r" t="t"/>
            <a:pathLst>
              <a:path extrusionOk="0" h="1659683" w="10812173">
                <a:moveTo>
                  <a:pt x="0" y="0"/>
                </a:moveTo>
                <a:lnTo>
                  <a:pt x="10812174" y="0"/>
                </a:lnTo>
                <a:lnTo>
                  <a:pt x="10812174" y="1659683"/>
                </a:lnTo>
                <a:lnTo>
                  <a:pt x="0" y="16596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6814" l="0" r="0" t="-3660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2" title="Presentacion Comercial Soluciones VON DER HEIDE.png"/>
          <p:cNvPicPr preferRelativeResize="0"/>
          <p:nvPr/>
        </p:nvPicPr>
        <p:blipFill rotWithShape="1">
          <a:blip r:embed="rId4">
            <a:alphaModFix/>
          </a:blip>
          <a:srcRect b="31963" l="36694" r="36611" t="56581"/>
          <a:stretch/>
        </p:blipFill>
        <p:spPr>
          <a:xfrm>
            <a:off x="6441276" y="5719901"/>
            <a:ext cx="5405448" cy="130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672e28a83_0_98"/>
          <p:cNvSpPr/>
          <p:nvPr/>
        </p:nvSpPr>
        <p:spPr>
          <a:xfrm>
            <a:off x="0" y="-166304"/>
            <a:ext cx="18288000" cy="9424604"/>
          </a:xfrm>
          <a:custGeom>
            <a:rect b="b" l="l" r="r" t="t"/>
            <a:pathLst>
              <a:path extrusionOk="0" h="9424604" w="18288000">
                <a:moveTo>
                  <a:pt x="0" y="0"/>
                </a:moveTo>
                <a:lnTo>
                  <a:pt x="18288000" y="0"/>
                </a:lnTo>
                <a:lnTo>
                  <a:pt x="18288000" y="9424604"/>
                </a:lnTo>
                <a:lnTo>
                  <a:pt x="0" y="94246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4757" l="0" r="0" t="-147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5672e28a83_0_98"/>
          <p:cNvSpPr/>
          <p:nvPr/>
        </p:nvSpPr>
        <p:spPr>
          <a:xfrm>
            <a:off x="0" y="5143500"/>
            <a:ext cx="18280549" cy="5141405"/>
          </a:xfrm>
          <a:custGeom>
            <a:rect b="b" l="l" r="r" t="t"/>
            <a:pathLst>
              <a:path extrusionOk="0" h="1739900" w="6186311">
                <a:moveTo>
                  <a:pt x="0" y="0"/>
                </a:moveTo>
                <a:lnTo>
                  <a:pt x="6186311" y="0"/>
                </a:lnTo>
                <a:lnTo>
                  <a:pt x="6186311" y="1739900"/>
                </a:lnTo>
                <a:lnTo>
                  <a:pt x="0" y="1739900"/>
                </a:lnTo>
                <a:close/>
              </a:path>
            </a:pathLst>
          </a:custGeom>
          <a:solidFill>
            <a:srgbClr val="54565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5672e28a83_0_98"/>
          <p:cNvSpPr/>
          <p:nvPr/>
        </p:nvSpPr>
        <p:spPr>
          <a:xfrm rot="10800000">
            <a:off x="487973" y="5143500"/>
            <a:ext cx="9673049" cy="2873913"/>
          </a:xfrm>
          <a:custGeom>
            <a:rect b="b" l="l" r="r" t="t"/>
            <a:pathLst>
              <a:path extrusionOk="0" h="2873913" w="9673049">
                <a:moveTo>
                  <a:pt x="0" y="0"/>
                </a:moveTo>
                <a:lnTo>
                  <a:pt x="9673049" y="0"/>
                </a:lnTo>
                <a:lnTo>
                  <a:pt x="9673049" y="2873913"/>
                </a:lnTo>
                <a:lnTo>
                  <a:pt x="0" y="28739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4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5672e28a83_0_98"/>
          <p:cNvSpPr/>
          <p:nvPr/>
        </p:nvSpPr>
        <p:spPr>
          <a:xfrm>
            <a:off x="7821179" y="9258300"/>
            <a:ext cx="3133615" cy="822737"/>
          </a:xfrm>
          <a:custGeom>
            <a:rect b="b" l="l" r="r" t="t"/>
            <a:pathLst>
              <a:path extrusionOk="0" h="822737" w="3133615">
                <a:moveTo>
                  <a:pt x="0" y="0"/>
                </a:moveTo>
                <a:lnTo>
                  <a:pt x="3133615" y="0"/>
                </a:lnTo>
                <a:lnTo>
                  <a:pt x="3133615" y="822737"/>
                </a:lnTo>
                <a:lnTo>
                  <a:pt x="0" y="8227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85245" l="-17417" r="-16837" t="-27639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" name="Google Shape;94;g35672e28a83_0_98"/>
          <p:cNvGrpSpPr/>
          <p:nvPr/>
        </p:nvGrpSpPr>
        <p:grpSpPr>
          <a:xfrm>
            <a:off x="16813251" y="5557776"/>
            <a:ext cx="821738" cy="410869"/>
            <a:chOff x="0" y="0"/>
            <a:chExt cx="1095650" cy="547825"/>
          </a:xfrm>
        </p:grpSpPr>
        <p:sp>
          <p:nvSpPr>
            <p:cNvPr id="95" name="Google Shape;95;g35672e28a83_0_98"/>
            <p:cNvSpPr/>
            <p:nvPr/>
          </p:nvSpPr>
          <p:spPr>
            <a:xfrm>
              <a:off x="0" y="0"/>
              <a:ext cx="1095650" cy="547825"/>
            </a:xfrm>
            <a:custGeom>
              <a:rect b="b" l="l" r="r" t="t"/>
              <a:pathLst>
                <a:path extrusionOk="0" h="547825" w="1095650">
                  <a:moveTo>
                    <a:pt x="0" y="0"/>
                  </a:moveTo>
                  <a:lnTo>
                    <a:pt x="1095650" y="0"/>
                  </a:lnTo>
                  <a:lnTo>
                    <a:pt x="1095650" y="547825"/>
                  </a:lnTo>
                  <a:lnTo>
                    <a:pt x="0" y="5478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35672e28a83_0_98"/>
            <p:cNvSpPr/>
            <p:nvPr/>
          </p:nvSpPr>
          <p:spPr>
            <a:xfrm>
              <a:off x="129026" y="142407"/>
              <a:ext cx="346638" cy="263012"/>
            </a:xfrm>
            <a:custGeom>
              <a:rect b="b" l="l" r="r" t="t"/>
              <a:pathLst>
                <a:path extrusionOk="0" h="263012" w="346638">
                  <a:moveTo>
                    <a:pt x="0" y="0"/>
                  </a:moveTo>
                  <a:lnTo>
                    <a:pt x="346638" y="0"/>
                  </a:lnTo>
                  <a:lnTo>
                    <a:pt x="346638" y="263011"/>
                  </a:lnTo>
                  <a:lnTo>
                    <a:pt x="0" y="26301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" name="Google Shape;97;g35672e28a83_0_98"/>
          <p:cNvGrpSpPr/>
          <p:nvPr/>
        </p:nvGrpSpPr>
        <p:grpSpPr>
          <a:xfrm>
            <a:off x="16813251" y="6231720"/>
            <a:ext cx="821738" cy="410869"/>
            <a:chOff x="0" y="0"/>
            <a:chExt cx="1095650" cy="547825"/>
          </a:xfrm>
        </p:grpSpPr>
        <p:sp>
          <p:nvSpPr>
            <p:cNvPr id="98" name="Google Shape;98;g35672e28a83_0_98"/>
            <p:cNvSpPr/>
            <p:nvPr/>
          </p:nvSpPr>
          <p:spPr>
            <a:xfrm>
              <a:off x="0" y="0"/>
              <a:ext cx="1095650" cy="547825"/>
            </a:xfrm>
            <a:custGeom>
              <a:rect b="b" l="l" r="r" t="t"/>
              <a:pathLst>
                <a:path extrusionOk="0" h="547825" w="1095650">
                  <a:moveTo>
                    <a:pt x="0" y="0"/>
                  </a:moveTo>
                  <a:lnTo>
                    <a:pt x="1095650" y="0"/>
                  </a:lnTo>
                  <a:lnTo>
                    <a:pt x="1095650" y="547825"/>
                  </a:lnTo>
                  <a:lnTo>
                    <a:pt x="0" y="5478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5672e28a83_0_98"/>
            <p:cNvSpPr/>
            <p:nvPr/>
          </p:nvSpPr>
          <p:spPr>
            <a:xfrm>
              <a:off x="129026" y="142407"/>
              <a:ext cx="346638" cy="263012"/>
            </a:xfrm>
            <a:custGeom>
              <a:rect b="b" l="l" r="r" t="t"/>
              <a:pathLst>
                <a:path extrusionOk="0" h="263012" w="346638">
                  <a:moveTo>
                    <a:pt x="0" y="0"/>
                  </a:moveTo>
                  <a:lnTo>
                    <a:pt x="346638" y="0"/>
                  </a:lnTo>
                  <a:lnTo>
                    <a:pt x="346638" y="263011"/>
                  </a:lnTo>
                  <a:lnTo>
                    <a:pt x="0" y="26301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" name="Google Shape;100;g35672e28a83_0_98"/>
          <p:cNvGrpSpPr/>
          <p:nvPr/>
        </p:nvGrpSpPr>
        <p:grpSpPr>
          <a:xfrm>
            <a:off x="16813251" y="6979115"/>
            <a:ext cx="821738" cy="410869"/>
            <a:chOff x="0" y="0"/>
            <a:chExt cx="1095650" cy="547825"/>
          </a:xfrm>
        </p:grpSpPr>
        <p:sp>
          <p:nvSpPr>
            <p:cNvPr id="101" name="Google Shape;101;g35672e28a83_0_98"/>
            <p:cNvSpPr/>
            <p:nvPr/>
          </p:nvSpPr>
          <p:spPr>
            <a:xfrm>
              <a:off x="0" y="0"/>
              <a:ext cx="1095650" cy="547825"/>
            </a:xfrm>
            <a:custGeom>
              <a:rect b="b" l="l" r="r" t="t"/>
              <a:pathLst>
                <a:path extrusionOk="0" h="547825" w="1095650">
                  <a:moveTo>
                    <a:pt x="0" y="0"/>
                  </a:moveTo>
                  <a:lnTo>
                    <a:pt x="1095650" y="0"/>
                  </a:lnTo>
                  <a:lnTo>
                    <a:pt x="1095650" y="547825"/>
                  </a:lnTo>
                  <a:lnTo>
                    <a:pt x="0" y="5478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35672e28a83_0_98"/>
            <p:cNvSpPr/>
            <p:nvPr/>
          </p:nvSpPr>
          <p:spPr>
            <a:xfrm>
              <a:off x="129026" y="142407"/>
              <a:ext cx="346638" cy="263012"/>
            </a:xfrm>
            <a:custGeom>
              <a:rect b="b" l="l" r="r" t="t"/>
              <a:pathLst>
                <a:path extrusionOk="0" h="263012" w="346638">
                  <a:moveTo>
                    <a:pt x="0" y="0"/>
                  </a:moveTo>
                  <a:lnTo>
                    <a:pt x="346638" y="0"/>
                  </a:lnTo>
                  <a:lnTo>
                    <a:pt x="346638" y="263011"/>
                  </a:lnTo>
                  <a:lnTo>
                    <a:pt x="0" y="26301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g35672e28a83_0_98"/>
          <p:cNvSpPr txBox="1"/>
          <p:nvPr/>
        </p:nvSpPr>
        <p:spPr>
          <a:xfrm>
            <a:off x="14073799" y="6938251"/>
            <a:ext cx="2283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PREMIUM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5672e28a83_0_98"/>
          <p:cNvSpPr txBox="1"/>
          <p:nvPr/>
        </p:nvSpPr>
        <p:spPr>
          <a:xfrm>
            <a:off x="13769299" y="6181769"/>
            <a:ext cx="258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EXECUTIVE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5672e28a83_0_98"/>
          <p:cNvSpPr txBox="1"/>
          <p:nvPr/>
        </p:nvSpPr>
        <p:spPr>
          <a:xfrm>
            <a:off x="10541000" y="5516913"/>
            <a:ext cx="589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PERSONAL BOOTCAMP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5672e28a83_0_98"/>
          <p:cNvSpPr txBox="1"/>
          <p:nvPr/>
        </p:nvSpPr>
        <p:spPr>
          <a:xfrm>
            <a:off x="824900" y="7421350"/>
            <a:ext cx="13718700" cy="18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86"/>
              <a:buFont typeface="Arial"/>
              <a:buNone/>
            </a:pPr>
            <a:r>
              <a:rPr b="1" i="0" lang="en-US" sz="12086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SELF PLACEMENT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bee1ce9eb_0_0"/>
          <p:cNvSpPr/>
          <p:nvPr/>
        </p:nvSpPr>
        <p:spPr>
          <a:xfrm>
            <a:off x="369692" y="2303566"/>
            <a:ext cx="9063222" cy="3423528"/>
          </a:xfrm>
          <a:custGeom>
            <a:rect b="b" l="l" r="r" t="t"/>
            <a:pathLst>
              <a:path extrusionOk="0" h="492063" w="1302655">
                <a:moveTo>
                  <a:pt x="17938" y="0"/>
                </a:moveTo>
                <a:lnTo>
                  <a:pt x="1284717" y="0"/>
                </a:lnTo>
                <a:cubicBezTo>
                  <a:pt x="1294623" y="0"/>
                  <a:pt x="1302655" y="8031"/>
                  <a:pt x="1302655" y="17938"/>
                </a:cubicBezTo>
                <a:lnTo>
                  <a:pt x="1302655" y="474124"/>
                </a:lnTo>
                <a:cubicBezTo>
                  <a:pt x="1302655" y="484031"/>
                  <a:pt x="1294623" y="492063"/>
                  <a:pt x="1284717" y="492063"/>
                </a:cubicBezTo>
                <a:lnTo>
                  <a:pt x="17938" y="492063"/>
                </a:lnTo>
                <a:cubicBezTo>
                  <a:pt x="8031" y="492063"/>
                  <a:pt x="0" y="484031"/>
                  <a:pt x="0" y="474124"/>
                </a:cubicBezTo>
                <a:lnTo>
                  <a:pt x="0" y="17938"/>
                </a:lnTo>
                <a:cubicBezTo>
                  <a:pt x="0" y="8031"/>
                  <a:pt x="8031" y="0"/>
                  <a:pt x="17938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358" l="0" r="0" t="-15347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g35bee1ce9eb_0_0"/>
          <p:cNvGrpSpPr/>
          <p:nvPr/>
        </p:nvGrpSpPr>
        <p:grpSpPr>
          <a:xfrm>
            <a:off x="9655745" y="26352"/>
            <a:ext cx="8221807" cy="5701045"/>
            <a:chOff x="0" y="-38100"/>
            <a:chExt cx="2165400" cy="1501500"/>
          </a:xfrm>
        </p:grpSpPr>
        <p:sp>
          <p:nvSpPr>
            <p:cNvPr id="113" name="Google Shape;113;g35bee1ce9eb_0_0"/>
            <p:cNvSpPr/>
            <p:nvPr/>
          </p:nvSpPr>
          <p:spPr>
            <a:xfrm>
              <a:off x="0" y="0"/>
              <a:ext cx="2165345" cy="1463348"/>
            </a:xfrm>
            <a:custGeom>
              <a:rect b="b" l="l" r="r" t="t"/>
              <a:pathLst>
                <a:path extrusionOk="0" h="1463348" w="2165345">
                  <a:moveTo>
                    <a:pt x="40491" y="0"/>
                  </a:moveTo>
                  <a:lnTo>
                    <a:pt x="2124854" y="0"/>
                  </a:lnTo>
                  <a:cubicBezTo>
                    <a:pt x="2135593" y="0"/>
                    <a:pt x="2145892" y="4266"/>
                    <a:pt x="2153485" y="11860"/>
                  </a:cubicBezTo>
                  <a:cubicBezTo>
                    <a:pt x="2161079" y="19453"/>
                    <a:pt x="2165345" y="29752"/>
                    <a:pt x="2165345" y="40491"/>
                  </a:cubicBezTo>
                  <a:lnTo>
                    <a:pt x="2165345" y="1422857"/>
                  </a:lnTo>
                  <a:cubicBezTo>
                    <a:pt x="2165345" y="1445219"/>
                    <a:pt x="2147216" y="1463348"/>
                    <a:pt x="2124854" y="1463348"/>
                  </a:cubicBezTo>
                  <a:lnTo>
                    <a:pt x="40491" y="1463348"/>
                  </a:lnTo>
                  <a:cubicBezTo>
                    <a:pt x="29752" y="1463348"/>
                    <a:pt x="19453" y="1459082"/>
                    <a:pt x="11860" y="1451488"/>
                  </a:cubicBezTo>
                  <a:cubicBezTo>
                    <a:pt x="4266" y="1443895"/>
                    <a:pt x="0" y="1433596"/>
                    <a:pt x="0" y="1422857"/>
                  </a:cubicBezTo>
                  <a:lnTo>
                    <a:pt x="0" y="40491"/>
                  </a:lnTo>
                  <a:cubicBezTo>
                    <a:pt x="0" y="29752"/>
                    <a:pt x="4266" y="19453"/>
                    <a:pt x="11860" y="11860"/>
                  </a:cubicBezTo>
                  <a:cubicBezTo>
                    <a:pt x="19453" y="4266"/>
                    <a:pt x="29752" y="0"/>
                    <a:pt x="40491" y="0"/>
                  </a:cubicBezTo>
                  <a:close/>
                </a:path>
              </a:pathLst>
            </a:custGeom>
            <a:solidFill>
              <a:srgbClr val="5456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g35bee1ce9eb_0_0"/>
            <p:cNvSpPr txBox="1"/>
            <p:nvPr/>
          </p:nvSpPr>
          <p:spPr>
            <a:xfrm>
              <a:off x="0" y="-38100"/>
              <a:ext cx="2165400" cy="150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g35bee1ce9eb_0_0"/>
          <p:cNvSpPr/>
          <p:nvPr/>
        </p:nvSpPr>
        <p:spPr>
          <a:xfrm>
            <a:off x="5145779" y="5961564"/>
            <a:ext cx="9019738" cy="3079918"/>
          </a:xfrm>
          <a:custGeom>
            <a:rect b="b" l="l" r="r" t="t"/>
            <a:pathLst>
              <a:path extrusionOk="0" h="442676" w="1296405">
                <a:moveTo>
                  <a:pt x="18883" y="0"/>
                </a:moveTo>
                <a:lnTo>
                  <a:pt x="1277523" y="0"/>
                </a:lnTo>
                <a:cubicBezTo>
                  <a:pt x="1282531" y="0"/>
                  <a:pt x="1287333" y="1989"/>
                  <a:pt x="1290875" y="5531"/>
                </a:cubicBezTo>
                <a:cubicBezTo>
                  <a:pt x="1294416" y="9072"/>
                  <a:pt x="1296405" y="13875"/>
                  <a:pt x="1296405" y="18883"/>
                </a:cubicBezTo>
                <a:lnTo>
                  <a:pt x="1296405" y="423794"/>
                </a:lnTo>
                <a:cubicBezTo>
                  <a:pt x="1296405" y="428802"/>
                  <a:pt x="1294416" y="433604"/>
                  <a:pt x="1290875" y="437146"/>
                </a:cubicBezTo>
                <a:cubicBezTo>
                  <a:pt x="1287333" y="440687"/>
                  <a:pt x="1282531" y="442676"/>
                  <a:pt x="1277523" y="442676"/>
                </a:cubicBezTo>
                <a:lnTo>
                  <a:pt x="18883" y="442676"/>
                </a:lnTo>
                <a:cubicBezTo>
                  <a:pt x="8454" y="442676"/>
                  <a:pt x="0" y="434222"/>
                  <a:pt x="0" y="423794"/>
                </a:cubicBezTo>
                <a:lnTo>
                  <a:pt x="0" y="18883"/>
                </a:lnTo>
                <a:cubicBezTo>
                  <a:pt x="0" y="8454"/>
                  <a:pt x="8454" y="0"/>
                  <a:pt x="18883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7603" l="0" r="0" t="-47603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5bee1ce9eb_0_0"/>
          <p:cNvSpPr txBox="1"/>
          <p:nvPr/>
        </p:nvSpPr>
        <p:spPr>
          <a:xfrm>
            <a:off x="10892900" y="619575"/>
            <a:ext cx="6903600" cy="46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                             </a:t>
            </a:r>
            <a:r>
              <a:rPr b="0" i="0" lang="en-US" sz="24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es una solución que optimiza las condiciones de empleabilidad durante la transición </a:t>
            </a:r>
            <a:r>
              <a:rPr b="0" i="0" lang="en-US" sz="24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laboral</a:t>
            </a:r>
            <a:r>
              <a:rPr b="0" i="0" lang="en-US" sz="24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Nace como una alternativa al outplacement tradicional para asistir a las personas ante las exigencias del mercado laboral actual. Con enfoque multidimensional, integra no sólo la perspectiva profesional así como también, la humanista.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5bee1ce9eb_0_0"/>
          <p:cNvSpPr/>
          <p:nvPr/>
        </p:nvSpPr>
        <p:spPr>
          <a:xfrm>
            <a:off x="9962945" y="663439"/>
            <a:ext cx="500884" cy="500884"/>
          </a:xfrm>
          <a:custGeom>
            <a:rect b="b" l="l" r="r" t="t"/>
            <a:pathLst>
              <a:path extrusionOk="0" h="500884" w="500884">
                <a:moveTo>
                  <a:pt x="0" y="0"/>
                </a:moveTo>
                <a:lnTo>
                  <a:pt x="500884" y="0"/>
                </a:lnTo>
                <a:lnTo>
                  <a:pt x="500884" y="500883"/>
                </a:lnTo>
                <a:lnTo>
                  <a:pt x="0" y="5008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5bee1ce9eb_0_0"/>
          <p:cNvSpPr/>
          <p:nvPr/>
        </p:nvSpPr>
        <p:spPr>
          <a:xfrm>
            <a:off x="9964131" y="2782320"/>
            <a:ext cx="498510" cy="498510"/>
          </a:xfrm>
          <a:custGeom>
            <a:rect b="b" l="l" r="r" t="t"/>
            <a:pathLst>
              <a:path extrusionOk="0" h="498510" w="498510">
                <a:moveTo>
                  <a:pt x="0" y="0"/>
                </a:moveTo>
                <a:lnTo>
                  <a:pt x="498510" y="0"/>
                </a:lnTo>
                <a:lnTo>
                  <a:pt x="498510" y="498510"/>
                </a:lnTo>
                <a:lnTo>
                  <a:pt x="0" y="4985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5bee1ce9eb_0_0"/>
          <p:cNvSpPr/>
          <p:nvPr/>
        </p:nvSpPr>
        <p:spPr>
          <a:xfrm rot="-5400000">
            <a:off x="14413361" y="5961564"/>
            <a:ext cx="3268161" cy="3268161"/>
          </a:xfrm>
          <a:custGeom>
            <a:rect b="b" l="l" r="r" t="t"/>
            <a:pathLst>
              <a:path extrusionOk="0" h="3268161" w="3268161">
                <a:moveTo>
                  <a:pt x="0" y="0"/>
                </a:moveTo>
                <a:lnTo>
                  <a:pt x="3268161" y="0"/>
                </a:lnTo>
                <a:lnTo>
                  <a:pt x="3268161" y="3268161"/>
                </a:lnTo>
                <a:lnTo>
                  <a:pt x="0" y="32681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5bee1ce9eb_0_0"/>
          <p:cNvSpPr txBox="1"/>
          <p:nvPr/>
        </p:nvSpPr>
        <p:spPr>
          <a:xfrm>
            <a:off x="1596153" y="223601"/>
            <a:ext cx="49410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19"/>
              <a:buFont typeface="Arial"/>
              <a:buNone/>
            </a:pPr>
            <a:r>
              <a:rPr b="1" i="0" lang="en-US" sz="7219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Alternativa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5bee1ce9eb_0_0"/>
          <p:cNvSpPr txBox="1"/>
          <p:nvPr/>
        </p:nvSpPr>
        <p:spPr>
          <a:xfrm>
            <a:off x="3202997" y="1210230"/>
            <a:ext cx="50037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26"/>
              <a:buFont typeface="Arial"/>
              <a:buNone/>
            </a:pPr>
            <a:r>
              <a:rPr b="1" i="0" lang="en-US" sz="4726" u="none" cap="none" strike="noStrike">
                <a:solidFill>
                  <a:srgbClr val="F8BF00"/>
                </a:solidFill>
                <a:latin typeface="Avenir"/>
                <a:ea typeface="Avenir"/>
                <a:cs typeface="Avenir"/>
                <a:sym typeface="Avenir"/>
              </a:rPr>
              <a:t>al Outplacement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" name="Google Shape;122;g35bee1ce9eb_0_0"/>
          <p:cNvGrpSpPr/>
          <p:nvPr/>
        </p:nvGrpSpPr>
        <p:grpSpPr>
          <a:xfrm>
            <a:off x="1333196" y="5491413"/>
            <a:ext cx="4371751" cy="1333141"/>
            <a:chOff x="0" y="-123825"/>
            <a:chExt cx="1151400" cy="351113"/>
          </a:xfrm>
        </p:grpSpPr>
        <p:sp>
          <p:nvSpPr>
            <p:cNvPr id="123" name="Google Shape;123;g35bee1ce9eb_0_0"/>
            <p:cNvSpPr/>
            <p:nvPr/>
          </p:nvSpPr>
          <p:spPr>
            <a:xfrm>
              <a:off x="0" y="0"/>
              <a:ext cx="1151374" cy="227288"/>
            </a:xfrm>
            <a:custGeom>
              <a:rect b="b" l="l" r="r" t="t"/>
              <a:pathLst>
                <a:path extrusionOk="0" h="227288" w="1151374">
                  <a:moveTo>
                    <a:pt x="90318" y="0"/>
                  </a:moveTo>
                  <a:lnTo>
                    <a:pt x="1061056" y="0"/>
                  </a:lnTo>
                  <a:cubicBezTo>
                    <a:pt x="1085010" y="0"/>
                    <a:pt x="1107983" y="9516"/>
                    <a:pt x="1124921" y="26454"/>
                  </a:cubicBezTo>
                  <a:cubicBezTo>
                    <a:pt x="1141859" y="43392"/>
                    <a:pt x="1151374" y="66364"/>
                    <a:pt x="1151374" y="90318"/>
                  </a:cubicBezTo>
                  <a:lnTo>
                    <a:pt x="1151374" y="136970"/>
                  </a:lnTo>
                  <a:cubicBezTo>
                    <a:pt x="1151374" y="160924"/>
                    <a:pt x="1141859" y="183896"/>
                    <a:pt x="1124921" y="200834"/>
                  </a:cubicBezTo>
                  <a:cubicBezTo>
                    <a:pt x="1107983" y="217772"/>
                    <a:pt x="1085010" y="227288"/>
                    <a:pt x="1061056" y="227288"/>
                  </a:cubicBezTo>
                  <a:lnTo>
                    <a:pt x="90318" y="227288"/>
                  </a:lnTo>
                  <a:cubicBezTo>
                    <a:pt x="66364" y="227288"/>
                    <a:pt x="43392" y="217772"/>
                    <a:pt x="26454" y="200834"/>
                  </a:cubicBezTo>
                  <a:cubicBezTo>
                    <a:pt x="9516" y="183896"/>
                    <a:pt x="0" y="160924"/>
                    <a:pt x="0" y="136970"/>
                  </a:cubicBezTo>
                  <a:lnTo>
                    <a:pt x="0" y="90318"/>
                  </a:lnTo>
                  <a:cubicBezTo>
                    <a:pt x="0" y="66364"/>
                    <a:pt x="9516" y="43392"/>
                    <a:pt x="26454" y="26454"/>
                  </a:cubicBezTo>
                  <a:cubicBezTo>
                    <a:pt x="43392" y="9516"/>
                    <a:pt x="66364" y="0"/>
                    <a:pt x="90318" y="0"/>
                  </a:cubicBezTo>
                  <a:close/>
                </a:path>
              </a:pathLst>
            </a:custGeom>
            <a:solidFill>
              <a:srgbClr val="8CA8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35bee1ce9eb_0_0"/>
            <p:cNvSpPr txBox="1"/>
            <p:nvPr/>
          </p:nvSpPr>
          <p:spPr>
            <a:xfrm>
              <a:off x="0" y="-123825"/>
              <a:ext cx="1151400" cy="35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g35bee1ce9eb_0_0"/>
          <p:cNvSpPr txBox="1"/>
          <p:nvPr/>
        </p:nvSpPr>
        <p:spPr>
          <a:xfrm>
            <a:off x="1596153" y="6967424"/>
            <a:ext cx="3305100" cy="18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 ¿Qué pasó?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 ¿Qué quiero hacer?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 ¿Quién quiero ser?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t/>
            </a:r>
            <a:endParaRPr b="1" i="0" sz="2325" u="none" cap="none" strike="noStrike">
              <a:solidFill>
                <a:srgbClr val="54565B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6" name="Google Shape;126;g35bee1ce9eb_0_0"/>
          <p:cNvSpPr txBox="1"/>
          <p:nvPr/>
        </p:nvSpPr>
        <p:spPr>
          <a:xfrm>
            <a:off x="2033874" y="6068250"/>
            <a:ext cx="3035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99"/>
              <a:buFont typeface="Arial"/>
              <a:buNone/>
            </a:pPr>
            <a:r>
              <a:rPr b="1" i="0" lang="en-US" sz="3299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Self-awareness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5bee1ce9eb_0_0"/>
          <p:cNvSpPr/>
          <p:nvPr/>
        </p:nvSpPr>
        <p:spPr>
          <a:xfrm>
            <a:off x="7742609" y="9278701"/>
            <a:ext cx="3035341" cy="744648"/>
          </a:xfrm>
          <a:custGeom>
            <a:rect b="b" l="l" r="r" t="t"/>
            <a:pathLst>
              <a:path extrusionOk="0" h="744648" w="3035341">
                <a:moveTo>
                  <a:pt x="0" y="0"/>
                </a:moveTo>
                <a:lnTo>
                  <a:pt x="3035341" y="0"/>
                </a:lnTo>
                <a:lnTo>
                  <a:pt x="3035341" y="744648"/>
                </a:lnTo>
                <a:lnTo>
                  <a:pt x="0" y="7446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293983" l="-17757" r="-15537" t="-30900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g35bee1ce9eb_0_0" title="Materiales (2).png"/>
          <p:cNvPicPr preferRelativeResize="0"/>
          <p:nvPr/>
        </p:nvPicPr>
        <p:blipFill rotWithShape="1">
          <a:blip r:embed="rId8">
            <a:alphaModFix/>
          </a:blip>
          <a:srcRect b="36741" l="6704" r="53878" t="45497"/>
          <a:stretch/>
        </p:blipFill>
        <p:spPr>
          <a:xfrm>
            <a:off x="10816700" y="465575"/>
            <a:ext cx="2507525" cy="635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65B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Google Shape;133;g35bee1ce9eb_0_47"/>
          <p:cNvCxnSpPr/>
          <p:nvPr/>
        </p:nvCxnSpPr>
        <p:spPr>
          <a:xfrm>
            <a:off x="9144000" y="7266591"/>
            <a:ext cx="7351800" cy="0"/>
          </a:xfrm>
          <a:prstGeom prst="straightConnector1">
            <a:avLst/>
          </a:prstGeom>
          <a:noFill/>
          <a:ln cap="rnd" cmpd="sng" w="28575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34" name="Google Shape;134;g35bee1ce9eb_0_47"/>
          <p:cNvCxnSpPr/>
          <p:nvPr/>
        </p:nvCxnSpPr>
        <p:spPr>
          <a:xfrm>
            <a:off x="9144000" y="5084679"/>
            <a:ext cx="7351800" cy="0"/>
          </a:xfrm>
          <a:prstGeom prst="straightConnector1">
            <a:avLst/>
          </a:prstGeom>
          <a:noFill/>
          <a:ln cap="rnd" cmpd="sng" w="28575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35" name="Google Shape;135;g35bee1ce9eb_0_47"/>
          <p:cNvSpPr txBox="1"/>
          <p:nvPr/>
        </p:nvSpPr>
        <p:spPr>
          <a:xfrm>
            <a:off x="1065843" y="1867154"/>
            <a:ext cx="71196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5306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SELFPLACEMENT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5bee1ce9eb_0_47"/>
          <p:cNvSpPr txBox="1"/>
          <p:nvPr/>
        </p:nvSpPr>
        <p:spPr>
          <a:xfrm>
            <a:off x="1028700" y="885825"/>
            <a:ext cx="4356300" cy="10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b="1" i="0" lang="en-US" sz="7064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Beneficios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5bee1ce9eb_0_47"/>
          <p:cNvSpPr/>
          <p:nvPr/>
        </p:nvSpPr>
        <p:spPr>
          <a:xfrm>
            <a:off x="9787191" y="3359552"/>
            <a:ext cx="434489" cy="434489"/>
          </a:xfrm>
          <a:custGeom>
            <a:rect b="b" l="l" r="r" t="t"/>
            <a:pathLst>
              <a:path extrusionOk="0" h="434489" w="434489">
                <a:moveTo>
                  <a:pt x="0" y="0"/>
                </a:moveTo>
                <a:lnTo>
                  <a:pt x="434488" y="0"/>
                </a:lnTo>
                <a:lnTo>
                  <a:pt x="434488" y="434489"/>
                </a:lnTo>
                <a:lnTo>
                  <a:pt x="0" y="434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5bee1ce9eb_0_47"/>
          <p:cNvSpPr txBox="1"/>
          <p:nvPr/>
        </p:nvSpPr>
        <p:spPr>
          <a:xfrm>
            <a:off x="10974724" y="3321452"/>
            <a:ext cx="21096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1" i="0" lang="en-US" sz="2524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GENERAR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5bee1ce9eb_0_47"/>
          <p:cNvSpPr/>
          <p:nvPr/>
        </p:nvSpPr>
        <p:spPr>
          <a:xfrm>
            <a:off x="231016" y="3359552"/>
            <a:ext cx="6662817" cy="3225345"/>
          </a:xfrm>
          <a:custGeom>
            <a:rect b="b" l="l" r="r" t="t"/>
            <a:pathLst>
              <a:path extrusionOk="0" h="3225345" w="6662817">
                <a:moveTo>
                  <a:pt x="0" y="0"/>
                </a:moveTo>
                <a:lnTo>
                  <a:pt x="6662818" y="0"/>
                </a:lnTo>
                <a:lnTo>
                  <a:pt x="6662818" y="3225345"/>
                </a:lnTo>
                <a:lnTo>
                  <a:pt x="0" y="32253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97300" l="-97950" r="-13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5bee1ce9eb_0_47"/>
          <p:cNvSpPr/>
          <p:nvPr/>
        </p:nvSpPr>
        <p:spPr>
          <a:xfrm>
            <a:off x="9787191" y="5550197"/>
            <a:ext cx="434489" cy="434489"/>
          </a:xfrm>
          <a:custGeom>
            <a:rect b="b" l="l" r="r" t="t"/>
            <a:pathLst>
              <a:path extrusionOk="0" h="434489" w="434489">
                <a:moveTo>
                  <a:pt x="0" y="0"/>
                </a:moveTo>
                <a:lnTo>
                  <a:pt x="434488" y="0"/>
                </a:lnTo>
                <a:lnTo>
                  <a:pt x="434488" y="434489"/>
                </a:lnTo>
                <a:lnTo>
                  <a:pt x="0" y="434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5bee1ce9eb_0_47"/>
          <p:cNvSpPr txBox="1"/>
          <p:nvPr/>
        </p:nvSpPr>
        <p:spPr>
          <a:xfrm>
            <a:off x="10974724" y="5512097"/>
            <a:ext cx="27348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1" i="0" lang="en-US" sz="2524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DEMOSTRAR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5bee1ce9eb_0_47"/>
          <p:cNvSpPr/>
          <p:nvPr/>
        </p:nvSpPr>
        <p:spPr>
          <a:xfrm>
            <a:off x="9787191" y="7614253"/>
            <a:ext cx="434489" cy="434489"/>
          </a:xfrm>
          <a:custGeom>
            <a:rect b="b" l="l" r="r" t="t"/>
            <a:pathLst>
              <a:path extrusionOk="0" h="434489" w="434489">
                <a:moveTo>
                  <a:pt x="0" y="0"/>
                </a:moveTo>
                <a:lnTo>
                  <a:pt x="434488" y="0"/>
                </a:lnTo>
                <a:lnTo>
                  <a:pt x="434488" y="434489"/>
                </a:lnTo>
                <a:lnTo>
                  <a:pt x="0" y="434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5bee1ce9eb_0_47"/>
          <p:cNvSpPr txBox="1"/>
          <p:nvPr/>
        </p:nvSpPr>
        <p:spPr>
          <a:xfrm>
            <a:off x="10974724" y="7576153"/>
            <a:ext cx="19572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4"/>
              <a:buFont typeface="Arial"/>
              <a:buNone/>
            </a:pPr>
            <a:r>
              <a:rPr b="1" i="0" lang="en-US" sz="2524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BRINDAR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5bee1ce9eb_0_47"/>
          <p:cNvSpPr txBox="1"/>
          <p:nvPr/>
        </p:nvSpPr>
        <p:spPr>
          <a:xfrm>
            <a:off x="10974724" y="3361838"/>
            <a:ext cx="5469900" cy="14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r>
              <a:rPr b="0" i="0" lang="en-US" sz="1999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                        una huella  positiva en el “Employer Branding” por trabajar los emergentes y estados de ánimo  de sus colaboradores en el proceso de salida.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5bee1ce9eb_0_47"/>
          <p:cNvSpPr txBox="1"/>
          <p:nvPr/>
        </p:nvSpPr>
        <p:spPr>
          <a:xfrm>
            <a:off x="10974724" y="5574633"/>
            <a:ext cx="5469900" cy="14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r>
              <a:rPr b="0" i="0" lang="en-US" sz="1999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                               un compromiso genuino con sus colaboradores, incluso en su salida impactando positivamente en la cultura organizacional.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5bee1ce9eb_0_47"/>
          <p:cNvSpPr txBox="1"/>
          <p:nvPr/>
        </p:nvSpPr>
        <p:spPr>
          <a:xfrm>
            <a:off x="11006141" y="7595203"/>
            <a:ext cx="5438400" cy="18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r>
              <a:rPr b="0" i="0" lang="en-US" sz="1999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                    </a:t>
            </a:r>
            <a:r>
              <a:rPr b="0" i="0" lang="en-US" sz="1999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 </a:t>
            </a:r>
            <a:r>
              <a:rPr b="0" i="0" lang="en-US" sz="1999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b="0" i="0" lang="en-US" sz="1999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apoyo</a:t>
            </a:r>
            <a:r>
              <a:rPr b="0" i="0" lang="en-US" sz="1999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 al profesional y personal en la transición laboral, demostrando responsabilidad social e interés, lo que refuerza el sentimiento de seguridad y compromiso a cada persona.</a:t>
            </a:r>
            <a:endParaRPr b="0" i="0" sz="1999" u="none" cap="none" strike="noStrike">
              <a:solidFill>
                <a:srgbClr val="E5E5E4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7" name="Google Shape;147;g35bee1ce9eb_0_47"/>
          <p:cNvSpPr txBox="1"/>
          <p:nvPr/>
        </p:nvSpPr>
        <p:spPr>
          <a:xfrm>
            <a:off x="815693" y="6978375"/>
            <a:ext cx="5919000" cy="24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7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2"/>
              <a:buFont typeface="Arial"/>
              <a:buNone/>
            </a:pPr>
            <a:r>
              <a:rPr b="0" i="0" lang="en-US" sz="2602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“Nuestras propuestas son diseñadas a medida de las necesidades del cliente y del participante: </a:t>
            </a:r>
            <a:r>
              <a:rPr b="0" i="1" lang="en-US" sz="2602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son encuentros individuales, resaltando la singularidad de cada profesional</a:t>
            </a:r>
            <a:r>
              <a:rPr b="0" i="0" lang="en-US" sz="2602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bee1ce9eb_0_21"/>
          <p:cNvSpPr/>
          <p:nvPr/>
        </p:nvSpPr>
        <p:spPr>
          <a:xfrm>
            <a:off x="0" y="2807901"/>
            <a:ext cx="18280549" cy="5989606"/>
          </a:xfrm>
          <a:custGeom>
            <a:rect b="b" l="l" r="r" t="t"/>
            <a:pathLst>
              <a:path extrusionOk="0" h="1739900" w="6186311">
                <a:moveTo>
                  <a:pt x="0" y="0"/>
                </a:moveTo>
                <a:lnTo>
                  <a:pt x="6186311" y="0"/>
                </a:lnTo>
                <a:lnTo>
                  <a:pt x="6186311" y="1739900"/>
                </a:lnTo>
                <a:lnTo>
                  <a:pt x="0" y="1739900"/>
                </a:lnTo>
                <a:close/>
              </a:path>
            </a:pathLst>
          </a:custGeom>
          <a:solidFill>
            <a:srgbClr val="54565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" name="Google Shape;153;g35bee1ce9eb_0_21"/>
          <p:cNvGrpSpPr/>
          <p:nvPr/>
        </p:nvGrpSpPr>
        <p:grpSpPr>
          <a:xfrm>
            <a:off x="182768" y="1110891"/>
            <a:ext cx="767733" cy="2923993"/>
            <a:chOff x="0" y="-123825"/>
            <a:chExt cx="202200" cy="770100"/>
          </a:xfrm>
        </p:grpSpPr>
        <p:sp>
          <p:nvSpPr>
            <p:cNvPr id="154" name="Google Shape;154;g35bee1ce9eb_0_21"/>
            <p:cNvSpPr/>
            <p:nvPr/>
          </p:nvSpPr>
          <p:spPr>
            <a:xfrm>
              <a:off x="0" y="0"/>
              <a:ext cx="202089" cy="646242"/>
            </a:xfrm>
            <a:custGeom>
              <a:rect b="b" l="l" r="r" t="t"/>
              <a:pathLst>
                <a:path extrusionOk="0" h="646242" w="202089">
                  <a:moveTo>
                    <a:pt x="101045" y="0"/>
                  </a:moveTo>
                  <a:lnTo>
                    <a:pt x="101045" y="0"/>
                  </a:lnTo>
                  <a:cubicBezTo>
                    <a:pt x="127843" y="0"/>
                    <a:pt x="153544" y="10646"/>
                    <a:pt x="172494" y="29595"/>
                  </a:cubicBezTo>
                  <a:cubicBezTo>
                    <a:pt x="191443" y="48545"/>
                    <a:pt x="202089" y="74246"/>
                    <a:pt x="202089" y="101045"/>
                  </a:cubicBezTo>
                  <a:lnTo>
                    <a:pt x="202089" y="545198"/>
                  </a:lnTo>
                  <a:cubicBezTo>
                    <a:pt x="202089" y="571997"/>
                    <a:pt x="191443" y="597698"/>
                    <a:pt x="172494" y="616647"/>
                  </a:cubicBezTo>
                  <a:cubicBezTo>
                    <a:pt x="153544" y="635597"/>
                    <a:pt x="127843" y="646242"/>
                    <a:pt x="101045" y="646242"/>
                  </a:cubicBezTo>
                  <a:lnTo>
                    <a:pt x="101045" y="646242"/>
                  </a:lnTo>
                  <a:cubicBezTo>
                    <a:pt x="74246" y="646242"/>
                    <a:pt x="48545" y="635597"/>
                    <a:pt x="29595" y="616647"/>
                  </a:cubicBezTo>
                  <a:cubicBezTo>
                    <a:pt x="10646" y="597698"/>
                    <a:pt x="0" y="571997"/>
                    <a:pt x="0" y="545198"/>
                  </a:cubicBezTo>
                  <a:lnTo>
                    <a:pt x="0" y="101045"/>
                  </a:lnTo>
                  <a:cubicBezTo>
                    <a:pt x="0" y="74246"/>
                    <a:pt x="10646" y="48545"/>
                    <a:pt x="29595" y="29595"/>
                  </a:cubicBezTo>
                  <a:cubicBezTo>
                    <a:pt x="48545" y="10646"/>
                    <a:pt x="74246" y="0"/>
                    <a:pt x="101045" y="0"/>
                  </a:cubicBezTo>
                  <a:close/>
                </a:path>
              </a:pathLst>
            </a:custGeom>
            <a:solidFill>
              <a:srgbClr val="8CA8B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g35bee1ce9eb_0_21"/>
            <p:cNvSpPr txBox="1"/>
            <p:nvPr/>
          </p:nvSpPr>
          <p:spPr>
            <a:xfrm>
              <a:off x="0" y="-123825"/>
              <a:ext cx="202200" cy="77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g35bee1ce9eb_0_21"/>
          <p:cNvSpPr txBox="1"/>
          <p:nvPr/>
        </p:nvSpPr>
        <p:spPr>
          <a:xfrm rot="-5400000">
            <a:off x="-966521" y="2561641"/>
            <a:ext cx="292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5bee1ce9eb_0_21"/>
          <p:cNvSpPr txBox="1"/>
          <p:nvPr/>
        </p:nvSpPr>
        <p:spPr>
          <a:xfrm>
            <a:off x="1200150" y="1082011"/>
            <a:ext cx="7707600" cy="14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33"/>
              <a:buFont typeface="Arial"/>
              <a:buNone/>
            </a:pPr>
            <a:r>
              <a:rPr b="1" i="0" lang="en-US" sz="9933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Metodología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5bee1ce9eb_0_21"/>
          <p:cNvSpPr txBox="1"/>
          <p:nvPr/>
        </p:nvSpPr>
        <p:spPr>
          <a:xfrm>
            <a:off x="1352550" y="4632758"/>
            <a:ext cx="2575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Aterrizaje de la necesidad, y asignación del COACH.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5E5E4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9" name="Google Shape;159;g35bee1ce9eb_0_21"/>
          <p:cNvSpPr txBox="1"/>
          <p:nvPr/>
        </p:nvSpPr>
        <p:spPr>
          <a:xfrm>
            <a:off x="1352550" y="3159681"/>
            <a:ext cx="17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KICK OFF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5bee1ce9eb_0_21"/>
          <p:cNvSpPr txBox="1"/>
          <p:nvPr/>
        </p:nvSpPr>
        <p:spPr>
          <a:xfrm>
            <a:off x="4422461" y="3159681"/>
            <a:ext cx="223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PREWORK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DIAGNÓSTICO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5bee1ce9eb_0_21"/>
          <p:cNvSpPr txBox="1"/>
          <p:nvPr/>
        </p:nvSpPr>
        <p:spPr>
          <a:xfrm>
            <a:off x="4422461" y="4632758"/>
            <a:ext cx="2575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A través de un test de perfil conductual, se profundiza en el auto-conocimiento del participante.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5bee1ce9eb_0_21"/>
          <p:cNvSpPr txBox="1"/>
          <p:nvPr/>
        </p:nvSpPr>
        <p:spPr>
          <a:xfrm>
            <a:off x="7962198" y="3159681"/>
            <a:ext cx="22329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ENCUENTROS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DIALÓGICOS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E5E5E4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63" name="Google Shape;163;g35bee1ce9eb_0_21"/>
          <p:cNvSpPr txBox="1"/>
          <p:nvPr/>
        </p:nvSpPr>
        <p:spPr>
          <a:xfrm>
            <a:off x="7906639" y="4632758"/>
            <a:ext cx="32079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Instancias individuales con Coach y/o Consultor, para acceder a espacios 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reflexión, conocimiento de herramientas prácticas y desafiar creencias limitantes para diseñar la propuesta de valor del participante.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5E5E4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4" name="Google Shape;164;g35bee1ce9eb_0_21"/>
          <p:cNvSpPr txBox="1"/>
          <p:nvPr/>
        </p:nvSpPr>
        <p:spPr>
          <a:xfrm>
            <a:off x="11762342" y="4632758"/>
            <a:ext cx="2751000" cy="28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Entrenamiento y feedback de la entrevista laboral, con un Consultor de Talento especializado en la industria.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73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5E5E4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5" name="Google Shape;165;g35bee1ce9eb_0_21"/>
          <p:cNvSpPr txBox="1"/>
          <p:nvPr/>
        </p:nvSpPr>
        <p:spPr>
          <a:xfrm>
            <a:off x="15185050" y="4632758"/>
            <a:ext cx="2912400" cy="28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Reporte de cierre del proyecto con cliente.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5E5E4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5E5E4"/>
                </a:solidFill>
                <a:latin typeface="Avenir"/>
                <a:ea typeface="Avenir"/>
                <a:cs typeface="Avenir"/>
                <a:sym typeface="Avenir"/>
              </a:rPr>
              <a:t>Seguimiento del plan de acción del participante dentro de los 3 meses.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73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E5E5E4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6" name="Google Shape;166;g35bee1ce9eb_0_21"/>
          <p:cNvSpPr txBox="1"/>
          <p:nvPr/>
        </p:nvSpPr>
        <p:spPr>
          <a:xfrm>
            <a:off x="11762342" y="3159681"/>
            <a:ext cx="25755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ROLE PLAYING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E5E5E4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67" name="Google Shape;167;g35bee1ce9eb_0_21"/>
          <p:cNvSpPr txBox="1"/>
          <p:nvPr/>
        </p:nvSpPr>
        <p:spPr>
          <a:xfrm>
            <a:off x="15185050" y="3159681"/>
            <a:ext cx="24588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E5E4"/>
                </a:solidFill>
                <a:latin typeface="Garamond"/>
                <a:ea typeface="Garamond"/>
                <a:cs typeface="Garamond"/>
                <a:sym typeface="Garamond"/>
              </a:rPr>
              <a:t>CIERRE Y SEGUIMIENTO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5bee1ce9eb_0_21"/>
          <p:cNvSpPr/>
          <p:nvPr/>
        </p:nvSpPr>
        <p:spPr>
          <a:xfrm>
            <a:off x="7742609" y="9278701"/>
            <a:ext cx="3035341" cy="744648"/>
          </a:xfrm>
          <a:custGeom>
            <a:rect b="b" l="l" r="r" t="t"/>
            <a:pathLst>
              <a:path extrusionOk="0" h="744648" w="3035341">
                <a:moveTo>
                  <a:pt x="0" y="0"/>
                </a:moveTo>
                <a:lnTo>
                  <a:pt x="3035341" y="0"/>
                </a:lnTo>
                <a:lnTo>
                  <a:pt x="3035341" y="744648"/>
                </a:lnTo>
                <a:lnTo>
                  <a:pt x="0" y="7446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93983" l="-17757" r="-15537" t="-30900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9" name="Google Shape;169;g35bee1ce9eb_0_21"/>
          <p:cNvGrpSpPr/>
          <p:nvPr/>
        </p:nvGrpSpPr>
        <p:grpSpPr>
          <a:xfrm>
            <a:off x="1295400" y="4168629"/>
            <a:ext cx="16348450" cy="28575"/>
            <a:chOff x="0" y="19050"/>
            <a:chExt cx="21797933" cy="38100"/>
          </a:xfrm>
        </p:grpSpPr>
        <p:cxnSp>
          <p:nvCxnSpPr>
            <p:cNvPr id="170" name="Google Shape;170;g35bee1ce9eb_0_21"/>
            <p:cNvCxnSpPr/>
            <p:nvPr/>
          </p:nvCxnSpPr>
          <p:spPr>
            <a:xfrm>
              <a:off x="0" y="57150"/>
              <a:ext cx="2556600" cy="0"/>
            </a:xfrm>
            <a:prstGeom prst="straightConnector1">
              <a:avLst/>
            </a:prstGeom>
            <a:noFill/>
            <a:ln cap="rnd" cmpd="sng" w="38100">
              <a:solidFill>
                <a:srgbClr val="F8BF00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g35bee1ce9eb_0_21"/>
            <p:cNvCxnSpPr/>
            <p:nvPr/>
          </p:nvCxnSpPr>
          <p:spPr>
            <a:xfrm>
              <a:off x="4169415" y="38100"/>
              <a:ext cx="2977200" cy="0"/>
            </a:xfrm>
            <a:prstGeom prst="straightConnector1">
              <a:avLst/>
            </a:prstGeom>
            <a:noFill/>
            <a:ln cap="rnd" cmpd="sng" w="38100">
              <a:solidFill>
                <a:srgbClr val="F8BF00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g35bee1ce9eb_0_21"/>
            <p:cNvCxnSpPr/>
            <p:nvPr/>
          </p:nvCxnSpPr>
          <p:spPr>
            <a:xfrm>
              <a:off x="8997744" y="38100"/>
              <a:ext cx="3645600" cy="0"/>
            </a:xfrm>
            <a:prstGeom prst="straightConnector1">
              <a:avLst/>
            </a:prstGeom>
            <a:noFill/>
            <a:ln cap="rnd" cmpd="sng" w="38100">
              <a:solidFill>
                <a:srgbClr val="F8BF00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73" name="Google Shape;173;g35bee1ce9eb_0_21"/>
            <p:cNvCxnSpPr/>
            <p:nvPr/>
          </p:nvCxnSpPr>
          <p:spPr>
            <a:xfrm>
              <a:off x="13955922" y="38100"/>
              <a:ext cx="2995200" cy="0"/>
            </a:xfrm>
            <a:prstGeom prst="straightConnector1">
              <a:avLst/>
            </a:prstGeom>
            <a:noFill/>
            <a:ln cap="rnd" cmpd="sng" w="38100">
              <a:solidFill>
                <a:srgbClr val="F8BF00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74" name="Google Shape;174;g35bee1ce9eb_0_21"/>
            <p:cNvCxnSpPr/>
            <p:nvPr/>
          </p:nvCxnSpPr>
          <p:spPr>
            <a:xfrm>
              <a:off x="18519533" y="19050"/>
              <a:ext cx="3278400" cy="0"/>
            </a:xfrm>
            <a:prstGeom prst="straightConnector1">
              <a:avLst/>
            </a:prstGeom>
            <a:noFill/>
            <a:ln cap="rnd" cmpd="sng" w="38100">
              <a:solidFill>
                <a:srgbClr val="F8BF00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bee1ce9eb_0_65"/>
          <p:cNvSpPr/>
          <p:nvPr/>
        </p:nvSpPr>
        <p:spPr>
          <a:xfrm>
            <a:off x="12179349" y="713021"/>
            <a:ext cx="215121" cy="246091"/>
          </a:xfrm>
          <a:custGeom>
            <a:rect b="b" l="l" r="r" t="t"/>
            <a:pathLst>
              <a:path extrusionOk="0" h="246091" w="215121">
                <a:moveTo>
                  <a:pt x="0" y="0"/>
                </a:moveTo>
                <a:lnTo>
                  <a:pt x="215121" y="0"/>
                </a:lnTo>
                <a:lnTo>
                  <a:pt x="215121" y="246091"/>
                </a:lnTo>
                <a:lnTo>
                  <a:pt x="0" y="246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7198" r="-718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5bee1ce9eb_0_65"/>
          <p:cNvSpPr txBox="1"/>
          <p:nvPr/>
        </p:nvSpPr>
        <p:spPr>
          <a:xfrm>
            <a:off x="12599499" y="663014"/>
            <a:ext cx="5249700" cy="6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FACTURACIÓN: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100% al iniciar el programa mediante transferencia bancaria.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PLAZO DE PAGO: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30 días fecha de factura.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VIGENCIA: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PERSONAL BOOTCAMP: 6 meses a partir de la fecha de contratación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IMPUESTOS: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Los valores cotizados no incluyen IVA, ni impuestos asociados de otros países.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VALIDEZ DE PROPUESTA: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30 días desde su fecha de envío.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*(Para Argentina se ajustará valores por IPC)</a:t>
            </a:r>
            <a:endParaRPr b="0" i="0" sz="17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1" name="Google Shape;181;g35bee1ce9eb_0_65"/>
          <p:cNvSpPr/>
          <p:nvPr/>
        </p:nvSpPr>
        <p:spPr>
          <a:xfrm>
            <a:off x="12179349" y="7511029"/>
            <a:ext cx="215120" cy="246091"/>
          </a:xfrm>
          <a:custGeom>
            <a:rect b="b" l="l" r="r" t="t"/>
            <a:pathLst>
              <a:path extrusionOk="0" h="328122" w="286827">
                <a:moveTo>
                  <a:pt x="0" y="0"/>
                </a:moveTo>
                <a:lnTo>
                  <a:pt x="286827" y="0"/>
                </a:lnTo>
                <a:lnTo>
                  <a:pt x="286827" y="328122"/>
                </a:lnTo>
                <a:lnTo>
                  <a:pt x="0" y="3281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7198" r="-718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5bee1ce9eb_0_65"/>
          <p:cNvSpPr txBox="1"/>
          <p:nvPr/>
        </p:nvSpPr>
        <p:spPr>
          <a:xfrm>
            <a:off x="12572236" y="7522672"/>
            <a:ext cx="48840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FRECUENCIA DE LAS SESIONES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Es recomendable mantener una frecuencia máxima de 2 semanas entre cada encuentro para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favorecer el logro de los objetivos planteados.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3" name="Google Shape;183;g35bee1ce9eb_0_65"/>
          <p:cNvSpPr/>
          <p:nvPr/>
        </p:nvSpPr>
        <p:spPr>
          <a:xfrm>
            <a:off x="867367" y="1319031"/>
            <a:ext cx="920318" cy="374548"/>
          </a:xfrm>
          <a:custGeom>
            <a:rect b="b" l="l" r="r" t="t"/>
            <a:pathLst>
              <a:path extrusionOk="0" h="374548" w="920318">
                <a:moveTo>
                  <a:pt x="0" y="0"/>
                </a:moveTo>
                <a:lnTo>
                  <a:pt x="920318" y="0"/>
                </a:lnTo>
                <a:lnTo>
                  <a:pt x="920318" y="374548"/>
                </a:lnTo>
                <a:lnTo>
                  <a:pt x="0" y="3745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5bee1ce9eb_0_65"/>
          <p:cNvSpPr txBox="1"/>
          <p:nvPr/>
        </p:nvSpPr>
        <p:spPr>
          <a:xfrm>
            <a:off x="2087639" y="1785450"/>
            <a:ext cx="41358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5306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SOLUCIÓN: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5bee1ce9eb_0_65"/>
          <p:cNvSpPr txBox="1"/>
          <p:nvPr/>
        </p:nvSpPr>
        <p:spPr>
          <a:xfrm>
            <a:off x="2050509" y="804125"/>
            <a:ext cx="4135800" cy="10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b="1" i="0" lang="en-US" sz="7064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Valor de la</a:t>
            </a:r>
            <a:endParaRPr b="0" i="0" sz="1400" u="none" cap="none" strike="noStrike">
              <a:solidFill>
                <a:srgbClr val="5456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" name="Google Shape;186;g35bee1ce9eb_0_65"/>
          <p:cNvGrpSpPr/>
          <p:nvPr/>
        </p:nvGrpSpPr>
        <p:grpSpPr>
          <a:xfrm>
            <a:off x="8869625" y="2944102"/>
            <a:ext cx="2719203" cy="3871792"/>
            <a:chOff x="0" y="0"/>
            <a:chExt cx="716164" cy="1662998"/>
          </a:xfrm>
        </p:grpSpPr>
        <p:sp>
          <p:nvSpPr>
            <p:cNvPr id="187" name="Google Shape;187;g35bee1ce9eb_0_65"/>
            <p:cNvSpPr/>
            <p:nvPr/>
          </p:nvSpPr>
          <p:spPr>
            <a:xfrm>
              <a:off x="0" y="0"/>
              <a:ext cx="716164" cy="1662998"/>
            </a:xfrm>
            <a:custGeom>
              <a:rect b="b" l="l" r="r" t="t"/>
              <a:pathLst>
                <a:path extrusionOk="0" h="1662998" w="716164">
                  <a:moveTo>
                    <a:pt x="99650" y="0"/>
                  </a:moveTo>
                  <a:lnTo>
                    <a:pt x="616513" y="0"/>
                  </a:lnTo>
                  <a:cubicBezTo>
                    <a:pt x="671549" y="0"/>
                    <a:pt x="716164" y="44615"/>
                    <a:pt x="716164" y="99650"/>
                  </a:cubicBezTo>
                  <a:lnTo>
                    <a:pt x="716164" y="1563347"/>
                  </a:lnTo>
                  <a:cubicBezTo>
                    <a:pt x="716164" y="1589776"/>
                    <a:pt x="705665" y="1615123"/>
                    <a:pt x="686977" y="1633811"/>
                  </a:cubicBezTo>
                  <a:cubicBezTo>
                    <a:pt x="668289" y="1652499"/>
                    <a:pt x="642942" y="1662998"/>
                    <a:pt x="616513" y="1662998"/>
                  </a:cubicBezTo>
                  <a:lnTo>
                    <a:pt x="99650" y="1662998"/>
                  </a:lnTo>
                  <a:cubicBezTo>
                    <a:pt x="73221" y="1662998"/>
                    <a:pt x="47875" y="1652499"/>
                    <a:pt x="29187" y="1633811"/>
                  </a:cubicBezTo>
                  <a:cubicBezTo>
                    <a:pt x="10499" y="1615123"/>
                    <a:pt x="0" y="1589776"/>
                    <a:pt x="0" y="1563347"/>
                  </a:cubicBezTo>
                  <a:lnTo>
                    <a:pt x="0" y="99650"/>
                  </a:lnTo>
                  <a:cubicBezTo>
                    <a:pt x="0" y="73221"/>
                    <a:pt x="10499" y="47875"/>
                    <a:pt x="29187" y="29187"/>
                  </a:cubicBezTo>
                  <a:cubicBezTo>
                    <a:pt x="47875" y="10499"/>
                    <a:pt x="73221" y="0"/>
                    <a:pt x="99650" y="0"/>
                  </a:cubicBezTo>
                  <a:close/>
                </a:path>
              </a:pathLst>
            </a:custGeom>
            <a:solidFill>
              <a:srgbClr val="E5E5E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4941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g35bee1ce9eb_0_65"/>
            <p:cNvSpPr txBox="1"/>
            <p:nvPr/>
          </p:nvSpPr>
          <p:spPr>
            <a:xfrm>
              <a:off x="0" y="0"/>
              <a:ext cx="716100" cy="16629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410"/>
                </a:srgbClr>
              </a:outerShdw>
              <a:reflection blurRad="0" dir="5400000" dist="38100" endA="0" fadeDir="5400012" kx="0" rotWithShape="0" algn="bl" stPos="0" sy="-100000" ky="0"/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5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g35bee1ce9eb_0_65"/>
          <p:cNvSpPr txBox="1"/>
          <p:nvPr/>
        </p:nvSpPr>
        <p:spPr>
          <a:xfrm>
            <a:off x="9165350" y="4340900"/>
            <a:ext cx="19995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AR$ 3.900.000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5bee1ce9eb_0_65"/>
          <p:cNvSpPr txBox="1"/>
          <p:nvPr/>
        </p:nvSpPr>
        <p:spPr>
          <a:xfrm>
            <a:off x="9165350" y="4960777"/>
            <a:ext cx="21456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CLP$ 3.300.000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5bee1ce9eb_0_65"/>
          <p:cNvSpPr txBox="1"/>
          <p:nvPr/>
        </p:nvSpPr>
        <p:spPr>
          <a:xfrm>
            <a:off x="9165350" y="5582689"/>
            <a:ext cx="21456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MXN$ 68.000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5bee1ce9eb_0_65"/>
          <p:cNvSpPr txBox="1"/>
          <p:nvPr/>
        </p:nvSpPr>
        <p:spPr>
          <a:xfrm>
            <a:off x="9165350" y="6203800"/>
            <a:ext cx="21456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USD 3.400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5bee1ce9eb_0_65"/>
          <p:cNvSpPr txBox="1"/>
          <p:nvPr/>
        </p:nvSpPr>
        <p:spPr>
          <a:xfrm>
            <a:off x="9222270" y="3396761"/>
            <a:ext cx="200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PREMIUM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g35bee1ce9eb_0_65"/>
          <p:cNvGrpSpPr/>
          <p:nvPr/>
        </p:nvGrpSpPr>
        <p:grpSpPr>
          <a:xfrm>
            <a:off x="2769475" y="3006340"/>
            <a:ext cx="2733901" cy="3871792"/>
            <a:chOff x="0" y="0"/>
            <a:chExt cx="720035" cy="1662998"/>
          </a:xfrm>
        </p:grpSpPr>
        <p:sp>
          <p:nvSpPr>
            <p:cNvPr id="195" name="Google Shape;195;g35bee1ce9eb_0_65"/>
            <p:cNvSpPr/>
            <p:nvPr/>
          </p:nvSpPr>
          <p:spPr>
            <a:xfrm>
              <a:off x="0" y="0"/>
              <a:ext cx="720035" cy="1662998"/>
            </a:xfrm>
            <a:custGeom>
              <a:rect b="b" l="l" r="r" t="t"/>
              <a:pathLst>
                <a:path extrusionOk="0" h="1662998" w="720035">
                  <a:moveTo>
                    <a:pt x="99114" y="0"/>
                  </a:moveTo>
                  <a:lnTo>
                    <a:pt x="620920" y="0"/>
                  </a:lnTo>
                  <a:cubicBezTo>
                    <a:pt x="675659" y="0"/>
                    <a:pt x="720035" y="44375"/>
                    <a:pt x="720035" y="99114"/>
                  </a:cubicBezTo>
                  <a:lnTo>
                    <a:pt x="720035" y="1563883"/>
                  </a:lnTo>
                  <a:cubicBezTo>
                    <a:pt x="720035" y="1618622"/>
                    <a:pt x="675659" y="1662998"/>
                    <a:pt x="620920" y="1662998"/>
                  </a:cubicBezTo>
                  <a:lnTo>
                    <a:pt x="99114" y="1662998"/>
                  </a:lnTo>
                  <a:cubicBezTo>
                    <a:pt x="44375" y="1662998"/>
                    <a:pt x="0" y="1618622"/>
                    <a:pt x="0" y="1563883"/>
                  </a:cubicBezTo>
                  <a:lnTo>
                    <a:pt x="0" y="99114"/>
                  </a:lnTo>
                  <a:cubicBezTo>
                    <a:pt x="0" y="44375"/>
                    <a:pt x="44375" y="0"/>
                    <a:pt x="99114" y="0"/>
                  </a:cubicBezTo>
                  <a:close/>
                </a:path>
              </a:pathLst>
            </a:custGeom>
            <a:solidFill>
              <a:srgbClr val="E5E5E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4941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g35bee1ce9eb_0_65"/>
            <p:cNvSpPr txBox="1"/>
            <p:nvPr/>
          </p:nvSpPr>
          <p:spPr>
            <a:xfrm>
              <a:off x="0" y="0"/>
              <a:ext cx="720000" cy="16629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410"/>
                </a:srgbClr>
              </a:outerShdw>
              <a:reflection blurRad="0" dir="5400000" dist="38100" endA="0" fadeDir="5400012" kx="0" rotWithShape="0" algn="bl" stPos="0" sy="-100000" ky="0"/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5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g35bee1ce9eb_0_65"/>
          <p:cNvGrpSpPr/>
          <p:nvPr/>
        </p:nvGrpSpPr>
        <p:grpSpPr>
          <a:xfrm>
            <a:off x="156429" y="4206559"/>
            <a:ext cx="2285601" cy="2195826"/>
            <a:chOff x="0" y="-85725"/>
            <a:chExt cx="3047468" cy="2927768"/>
          </a:xfrm>
        </p:grpSpPr>
        <p:sp>
          <p:nvSpPr>
            <p:cNvPr id="198" name="Google Shape;198;g35bee1ce9eb_0_65"/>
            <p:cNvSpPr txBox="1"/>
            <p:nvPr/>
          </p:nvSpPr>
          <p:spPr>
            <a:xfrm>
              <a:off x="636068" y="-85725"/>
              <a:ext cx="2411400" cy="44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4002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71"/>
                <a:buFont typeface="Arial"/>
                <a:buNone/>
              </a:pPr>
              <a:r>
                <a:rPr b="1" i="0" lang="en-US" sz="2171" u="none" cap="none" strike="noStrike">
                  <a:solidFill>
                    <a:srgbClr val="54565B"/>
                  </a:solidFill>
                  <a:latin typeface="Avenir"/>
                  <a:ea typeface="Avenir"/>
                  <a:cs typeface="Avenir"/>
                  <a:sym typeface="Avenir"/>
                </a:rPr>
                <a:t>Argentina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g35bee1ce9eb_0_65"/>
            <p:cNvSpPr txBox="1"/>
            <p:nvPr/>
          </p:nvSpPr>
          <p:spPr>
            <a:xfrm>
              <a:off x="1797024" y="740245"/>
              <a:ext cx="1250400" cy="44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4002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71"/>
                <a:buFont typeface="Arial"/>
                <a:buNone/>
              </a:pPr>
              <a:r>
                <a:rPr b="1" i="0" lang="en-US" sz="2171" u="none" cap="none" strike="noStrike">
                  <a:solidFill>
                    <a:srgbClr val="54565B"/>
                  </a:solidFill>
                  <a:latin typeface="Avenir"/>
                  <a:ea typeface="Avenir"/>
                  <a:cs typeface="Avenir"/>
                  <a:sym typeface="Avenir"/>
                </a:rPr>
                <a:t>Chile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g35bee1ce9eb_0_65"/>
            <p:cNvSpPr txBox="1"/>
            <p:nvPr/>
          </p:nvSpPr>
          <p:spPr>
            <a:xfrm>
              <a:off x="1196853" y="1568394"/>
              <a:ext cx="1785600" cy="44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4002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71"/>
                <a:buFont typeface="Arial"/>
                <a:buNone/>
              </a:pPr>
              <a:r>
                <a:rPr b="1" i="0" lang="en-US" sz="2171" u="none" cap="none" strike="noStrike">
                  <a:solidFill>
                    <a:srgbClr val="54565B"/>
                  </a:solidFill>
                  <a:latin typeface="Avenir"/>
                  <a:ea typeface="Avenir"/>
                  <a:cs typeface="Avenir"/>
                  <a:sym typeface="Avenir"/>
                </a:rPr>
                <a:t>México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g35bee1ce9eb_0_65"/>
            <p:cNvSpPr txBox="1"/>
            <p:nvPr/>
          </p:nvSpPr>
          <p:spPr>
            <a:xfrm>
              <a:off x="0" y="2396543"/>
              <a:ext cx="3047400" cy="44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4002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71"/>
                <a:buFont typeface="Arial"/>
                <a:buNone/>
              </a:pPr>
              <a:r>
                <a:rPr b="1" i="0" lang="en-US" sz="2171" u="none" cap="none" strike="noStrike">
                  <a:solidFill>
                    <a:srgbClr val="54565B"/>
                  </a:solidFill>
                  <a:latin typeface="Avenir"/>
                  <a:ea typeface="Avenir"/>
                  <a:cs typeface="Avenir"/>
                  <a:sym typeface="Avenir"/>
                </a:rPr>
                <a:t>Otros países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2" name="Google Shape;202;g35bee1ce9eb_0_65"/>
          <p:cNvGrpSpPr/>
          <p:nvPr/>
        </p:nvGrpSpPr>
        <p:grpSpPr>
          <a:xfrm>
            <a:off x="5830925" y="2944102"/>
            <a:ext cx="2733901" cy="3871792"/>
            <a:chOff x="0" y="0"/>
            <a:chExt cx="720035" cy="1662998"/>
          </a:xfrm>
        </p:grpSpPr>
        <p:sp>
          <p:nvSpPr>
            <p:cNvPr id="203" name="Google Shape;203;g35bee1ce9eb_0_65"/>
            <p:cNvSpPr/>
            <p:nvPr/>
          </p:nvSpPr>
          <p:spPr>
            <a:xfrm>
              <a:off x="0" y="0"/>
              <a:ext cx="720035" cy="1662998"/>
            </a:xfrm>
            <a:custGeom>
              <a:rect b="b" l="l" r="r" t="t"/>
              <a:pathLst>
                <a:path extrusionOk="0" h="1662998" w="720035">
                  <a:moveTo>
                    <a:pt x="99114" y="0"/>
                  </a:moveTo>
                  <a:lnTo>
                    <a:pt x="620920" y="0"/>
                  </a:lnTo>
                  <a:cubicBezTo>
                    <a:pt x="675659" y="0"/>
                    <a:pt x="720035" y="44375"/>
                    <a:pt x="720035" y="99114"/>
                  </a:cubicBezTo>
                  <a:lnTo>
                    <a:pt x="720035" y="1563883"/>
                  </a:lnTo>
                  <a:cubicBezTo>
                    <a:pt x="720035" y="1618622"/>
                    <a:pt x="675659" y="1662998"/>
                    <a:pt x="620920" y="1662998"/>
                  </a:cubicBezTo>
                  <a:lnTo>
                    <a:pt x="99114" y="1662998"/>
                  </a:lnTo>
                  <a:cubicBezTo>
                    <a:pt x="44375" y="1662998"/>
                    <a:pt x="0" y="1618622"/>
                    <a:pt x="0" y="1563883"/>
                  </a:cubicBezTo>
                  <a:lnTo>
                    <a:pt x="0" y="99114"/>
                  </a:lnTo>
                  <a:cubicBezTo>
                    <a:pt x="0" y="44375"/>
                    <a:pt x="44375" y="0"/>
                    <a:pt x="99114" y="0"/>
                  </a:cubicBezTo>
                  <a:close/>
                </a:path>
              </a:pathLst>
            </a:custGeom>
            <a:solidFill>
              <a:srgbClr val="E5E5E4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4941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g35bee1ce9eb_0_65"/>
            <p:cNvSpPr txBox="1"/>
            <p:nvPr/>
          </p:nvSpPr>
          <p:spPr>
            <a:xfrm>
              <a:off x="0" y="0"/>
              <a:ext cx="720000" cy="16629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410"/>
                </a:srgbClr>
              </a:outerShdw>
              <a:reflection blurRad="0" dir="5400000" dist="38100" endA="0" fadeDir="5400012" kx="0" rotWithShape="0" algn="bl" stPos="0" sy="-100000" ky="0"/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5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g35bee1ce9eb_0_65"/>
          <p:cNvSpPr txBox="1"/>
          <p:nvPr/>
        </p:nvSpPr>
        <p:spPr>
          <a:xfrm>
            <a:off x="6145450" y="4333175"/>
            <a:ext cx="19995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AR$ 2.200.000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5bee1ce9eb_0_65"/>
          <p:cNvSpPr txBox="1"/>
          <p:nvPr/>
        </p:nvSpPr>
        <p:spPr>
          <a:xfrm>
            <a:off x="6145450" y="4953052"/>
            <a:ext cx="21456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CLP$ 2.000.000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5bee1ce9eb_0_65"/>
          <p:cNvSpPr txBox="1"/>
          <p:nvPr/>
        </p:nvSpPr>
        <p:spPr>
          <a:xfrm>
            <a:off x="6145450" y="5574963"/>
            <a:ext cx="21456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MXN$ 40.000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5bee1ce9eb_0_65"/>
          <p:cNvSpPr txBox="1"/>
          <p:nvPr/>
        </p:nvSpPr>
        <p:spPr>
          <a:xfrm>
            <a:off x="6145450" y="6196075"/>
            <a:ext cx="21456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USD 2.000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5bee1ce9eb_0_65"/>
          <p:cNvSpPr txBox="1"/>
          <p:nvPr/>
        </p:nvSpPr>
        <p:spPr>
          <a:xfrm>
            <a:off x="6202369" y="3396761"/>
            <a:ext cx="200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EXECUTIVE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5bee1ce9eb_0_65"/>
          <p:cNvSpPr txBox="1"/>
          <p:nvPr/>
        </p:nvSpPr>
        <p:spPr>
          <a:xfrm>
            <a:off x="9184221" y="7282432"/>
            <a:ext cx="20097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99"/>
              <a:buFont typeface="Arial"/>
              <a:buNone/>
            </a:pPr>
            <a:r>
              <a:rPr b="1" i="0" lang="en-US" sz="3899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5bee1ce9eb_0_65"/>
          <p:cNvSpPr txBox="1"/>
          <p:nvPr/>
        </p:nvSpPr>
        <p:spPr>
          <a:xfrm>
            <a:off x="3132113" y="7282432"/>
            <a:ext cx="20097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99"/>
              <a:buFont typeface="Arial"/>
              <a:buNone/>
            </a:pPr>
            <a:r>
              <a:rPr b="1" i="0" lang="en-US" sz="3899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2</a:t>
            </a:r>
            <a:endParaRPr b="0" i="0" sz="1400" u="none" cap="none" strike="noStrike">
              <a:solidFill>
                <a:srgbClr val="5456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5bee1ce9eb_0_65"/>
          <p:cNvSpPr txBox="1"/>
          <p:nvPr/>
        </p:nvSpPr>
        <p:spPr>
          <a:xfrm>
            <a:off x="6164320" y="7282432"/>
            <a:ext cx="20097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99"/>
              <a:buFont typeface="Arial"/>
              <a:buNone/>
            </a:pPr>
            <a:r>
              <a:rPr b="1" i="0" lang="en-US" sz="3899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5bee1ce9eb_0_65"/>
          <p:cNvSpPr txBox="1"/>
          <p:nvPr/>
        </p:nvSpPr>
        <p:spPr>
          <a:xfrm>
            <a:off x="724567" y="7480163"/>
            <a:ext cx="176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# de SESIONES: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5bee1ce9eb_0_65"/>
          <p:cNvSpPr txBox="1"/>
          <p:nvPr/>
        </p:nvSpPr>
        <p:spPr>
          <a:xfrm>
            <a:off x="156429" y="8434578"/>
            <a:ext cx="23457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TEST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DIAGNÓSTICO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5bee1ce9eb_0_65"/>
          <p:cNvSpPr txBox="1"/>
          <p:nvPr/>
        </p:nvSpPr>
        <p:spPr>
          <a:xfrm>
            <a:off x="9252980" y="8326673"/>
            <a:ext cx="1952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0"/>
              <a:buFont typeface="Arial"/>
              <a:buNone/>
            </a:pPr>
            <a:r>
              <a:rPr b="0" i="0" lang="en-US" sz="1970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PDA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5bee1ce9eb_0_65"/>
          <p:cNvSpPr txBox="1"/>
          <p:nvPr/>
        </p:nvSpPr>
        <p:spPr>
          <a:xfrm>
            <a:off x="6192984" y="8326673"/>
            <a:ext cx="1952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0"/>
              <a:buFont typeface="Arial"/>
              <a:buNone/>
            </a:pPr>
            <a:r>
              <a:rPr b="0" i="0" lang="en-US" sz="1970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PDA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5bee1ce9eb_0_65"/>
          <p:cNvSpPr txBox="1"/>
          <p:nvPr/>
        </p:nvSpPr>
        <p:spPr>
          <a:xfrm>
            <a:off x="3093949" y="4255575"/>
            <a:ext cx="19995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AR$ 720.000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5bee1ce9eb_0_65"/>
          <p:cNvSpPr txBox="1"/>
          <p:nvPr/>
        </p:nvSpPr>
        <p:spPr>
          <a:xfrm>
            <a:off x="3093949" y="4875452"/>
            <a:ext cx="21456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CLP$ 800.000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5bee1ce9eb_0_65"/>
          <p:cNvSpPr txBox="1"/>
          <p:nvPr/>
        </p:nvSpPr>
        <p:spPr>
          <a:xfrm>
            <a:off x="3093949" y="5497364"/>
            <a:ext cx="21456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MXN$ 16.000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5bee1ce9eb_0_65"/>
          <p:cNvSpPr txBox="1"/>
          <p:nvPr/>
        </p:nvSpPr>
        <p:spPr>
          <a:xfrm>
            <a:off x="3093949" y="6118475"/>
            <a:ext cx="21456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1"/>
              <a:buFont typeface="Arial"/>
              <a:buNone/>
            </a:pPr>
            <a:r>
              <a:rPr b="0" i="0" lang="en-US" sz="2171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USD 800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5bee1ce9eb_0_65"/>
          <p:cNvSpPr txBox="1"/>
          <p:nvPr/>
        </p:nvSpPr>
        <p:spPr>
          <a:xfrm>
            <a:off x="3170161" y="3195611"/>
            <a:ext cx="20097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PERSONAL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54565B"/>
                </a:solidFill>
                <a:latin typeface="Garamond"/>
                <a:ea typeface="Garamond"/>
                <a:cs typeface="Garamond"/>
                <a:sym typeface="Garamond"/>
              </a:rPr>
              <a:t>BOOTCAMP*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5bee1ce9eb_0_65"/>
          <p:cNvSpPr txBox="1"/>
          <p:nvPr/>
        </p:nvSpPr>
        <p:spPr>
          <a:xfrm>
            <a:off x="3313306" y="7784208"/>
            <a:ext cx="1666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3"/>
              <a:buFont typeface="Arial"/>
              <a:buNone/>
            </a:pPr>
            <a:r>
              <a:rPr b="0" i="0" lang="en-US" sz="1853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(+2 llamadas)</a:t>
            </a:r>
            <a:endParaRPr b="0" i="0" sz="1400" u="none" cap="none" strike="noStrike">
              <a:solidFill>
                <a:srgbClr val="5456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5bee1ce9eb_0_65"/>
          <p:cNvSpPr txBox="1"/>
          <p:nvPr/>
        </p:nvSpPr>
        <p:spPr>
          <a:xfrm>
            <a:off x="3313306" y="8692904"/>
            <a:ext cx="16662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3"/>
              <a:buFont typeface="Arial"/>
              <a:buNone/>
            </a:pPr>
            <a:r>
              <a:rPr b="1" i="0" lang="en-US" sz="1153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+COSTO ADICIONAL</a:t>
            </a:r>
            <a:endParaRPr b="1" i="0" sz="1400" u="none" cap="none" strike="noStrike">
              <a:solidFill>
                <a:srgbClr val="54565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3"/>
              <a:buFont typeface="Arial"/>
              <a:buNone/>
            </a:pPr>
            <a:r>
              <a:rPr b="1" i="0" lang="en-US" sz="1153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(50USD) </a:t>
            </a:r>
            <a:endParaRPr b="1" i="0" sz="1400" u="none" cap="none" strike="noStrike">
              <a:solidFill>
                <a:srgbClr val="5456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5bee1ce9eb_0_65"/>
          <p:cNvSpPr txBox="1"/>
          <p:nvPr/>
        </p:nvSpPr>
        <p:spPr>
          <a:xfrm>
            <a:off x="3160777" y="8338493"/>
            <a:ext cx="1952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0"/>
              <a:buFont typeface="Arial"/>
              <a:buNone/>
            </a:pPr>
            <a:r>
              <a:rPr b="1" i="0" lang="en-US" sz="1970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PDA</a:t>
            </a:r>
            <a:endParaRPr b="1" i="0" sz="1200" u="none" cap="none" strike="noStrike">
              <a:solidFill>
                <a:srgbClr val="54565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5faeb03101_0_3"/>
          <p:cNvSpPr txBox="1"/>
          <p:nvPr/>
        </p:nvSpPr>
        <p:spPr>
          <a:xfrm>
            <a:off x="1295773" y="4133450"/>
            <a:ext cx="9116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9000" u="none" cap="none" strike="noStrike">
                <a:solidFill>
                  <a:srgbClr val="F8BF00"/>
                </a:solidFill>
                <a:latin typeface="Garamond"/>
                <a:ea typeface="Garamond"/>
                <a:cs typeface="Garamond"/>
                <a:sym typeface="Garamond"/>
              </a:rPr>
              <a:t>Soluciones</a:t>
            </a:r>
            <a:endParaRPr b="0" i="0" sz="9000" u="none" cap="none" strike="noStrik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30" name="Google Shape;230;g35faeb03101_0_3"/>
          <p:cNvSpPr txBox="1"/>
          <p:nvPr/>
        </p:nvSpPr>
        <p:spPr>
          <a:xfrm>
            <a:off x="1258625" y="3152125"/>
            <a:ext cx="4356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Nuestras</a:t>
            </a:r>
            <a:endParaRPr b="0" i="0" sz="8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5faeb03101_0_3"/>
          <p:cNvSpPr txBox="1"/>
          <p:nvPr/>
        </p:nvSpPr>
        <p:spPr>
          <a:xfrm>
            <a:off x="1310100" y="5381150"/>
            <a:ext cx="5207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64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Conoce nuestras soluciones para incorporar y potenciar tu talento.</a:t>
            </a:r>
            <a:endParaRPr b="0" i="0" sz="2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32" name="Google Shape;232;g35faeb03101_0_3"/>
          <p:cNvSpPr txBox="1"/>
          <p:nvPr/>
        </p:nvSpPr>
        <p:spPr>
          <a:xfrm>
            <a:off x="10411882" y="19465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Executive Search 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5faeb03101_0_3"/>
          <p:cNvSpPr txBox="1"/>
          <p:nvPr/>
        </p:nvSpPr>
        <p:spPr>
          <a:xfrm>
            <a:off x="10411882" y="60460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Self Placement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g35faeb03101_0_3"/>
          <p:cNvCxnSpPr/>
          <p:nvPr/>
        </p:nvCxnSpPr>
        <p:spPr>
          <a:xfrm>
            <a:off x="10411875" y="2824650"/>
            <a:ext cx="446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g35faeb03101_0_3"/>
          <p:cNvSpPr txBox="1"/>
          <p:nvPr/>
        </p:nvSpPr>
        <p:spPr>
          <a:xfrm>
            <a:off x="10419757" y="30336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Assessment 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6" name="Google Shape;236;g35faeb03101_0_3"/>
          <p:cNvCxnSpPr/>
          <p:nvPr/>
        </p:nvCxnSpPr>
        <p:spPr>
          <a:xfrm>
            <a:off x="10411875" y="3767875"/>
            <a:ext cx="446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g35faeb03101_0_3"/>
          <p:cNvSpPr txBox="1"/>
          <p:nvPr/>
        </p:nvSpPr>
        <p:spPr>
          <a:xfrm>
            <a:off x="10419757" y="40242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Market Insights 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g35faeb03101_0_3"/>
          <p:cNvCxnSpPr/>
          <p:nvPr/>
        </p:nvCxnSpPr>
        <p:spPr>
          <a:xfrm>
            <a:off x="10411875" y="4758475"/>
            <a:ext cx="446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g35faeb03101_0_3"/>
          <p:cNvSpPr txBox="1"/>
          <p:nvPr/>
        </p:nvSpPr>
        <p:spPr>
          <a:xfrm>
            <a:off x="10419757" y="5035125"/>
            <a:ext cx="384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6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Coaching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0" name="Google Shape;240;g35faeb03101_0_3"/>
          <p:cNvCxnSpPr/>
          <p:nvPr/>
        </p:nvCxnSpPr>
        <p:spPr>
          <a:xfrm>
            <a:off x="10411875" y="5769375"/>
            <a:ext cx="4466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41" name="Google Shape;241;g35faeb03101_0_3" title="VDH Logo_2025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12925" y="9058425"/>
            <a:ext cx="3559228" cy="5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4565B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/>
          <p:nvPr/>
        </p:nvSpPr>
        <p:spPr>
          <a:xfrm>
            <a:off x="0" y="5660700"/>
            <a:ext cx="18320353" cy="4592300"/>
          </a:xfrm>
          <a:custGeom>
            <a:rect b="b" l="l" r="r" t="t"/>
            <a:pathLst>
              <a:path extrusionOk="0" h="1554078" w="6428194">
                <a:moveTo>
                  <a:pt x="0" y="0"/>
                </a:moveTo>
                <a:lnTo>
                  <a:pt x="6428194" y="0"/>
                </a:lnTo>
                <a:lnTo>
                  <a:pt x="6428194" y="1554078"/>
                </a:lnTo>
                <a:lnTo>
                  <a:pt x="0" y="155407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7469472" y="6178207"/>
            <a:ext cx="5188934" cy="202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Website: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LinkedIn: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Correo: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t/>
            </a:r>
            <a:endParaRPr b="0" i="0" sz="2799" u="none" cap="none" strike="noStrike">
              <a:solidFill>
                <a:srgbClr val="54565B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12951650" y="6283097"/>
            <a:ext cx="4631629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WWW.VONDERHEIDE.COM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7"/>
          <p:cNvSpPr txBox="1"/>
          <p:nvPr/>
        </p:nvSpPr>
        <p:spPr>
          <a:xfrm>
            <a:off x="12951650" y="6848913"/>
            <a:ext cx="463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VON DER HEIDE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7"/>
          <p:cNvSpPr txBox="1"/>
          <p:nvPr/>
        </p:nvSpPr>
        <p:spPr>
          <a:xfrm>
            <a:off x="12951650" y="7414738"/>
            <a:ext cx="463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54565B"/>
                </a:solidFill>
                <a:latin typeface="Avenir"/>
                <a:ea typeface="Avenir"/>
                <a:cs typeface="Avenir"/>
                <a:sym typeface="Avenir"/>
              </a:rPr>
              <a:t>CONTACTO@VDH.JOBS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1" name="Google Shape;251;p37"/>
          <p:cNvGrpSpPr/>
          <p:nvPr/>
        </p:nvGrpSpPr>
        <p:grpSpPr>
          <a:xfrm>
            <a:off x="-523800" y="2286026"/>
            <a:ext cx="8703799" cy="2272849"/>
            <a:chOff x="-523800" y="2286026"/>
            <a:chExt cx="8703799" cy="2272849"/>
          </a:xfrm>
        </p:grpSpPr>
        <p:pic>
          <p:nvPicPr>
            <p:cNvPr id="252" name="Google Shape;252;p37" title="people to business.png"/>
            <p:cNvPicPr preferRelativeResize="0"/>
            <p:nvPr/>
          </p:nvPicPr>
          <p:blipFill rotWithShape="1">
            <a:blip r:embed="rId3">
              <a:alphaModFix/>
            </a:blip>
            <a:srcRect b="33238" l="35240" r="35609" t="51646"/>
            <a:stretch/>
          </p:blipFill>
          <p:spPr>
            <a:xfrm>
              <a:off x="1303875" y="3119500"/>
              <a:ext cx="4935000" cy="1439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37"/>
            <p:cNvSpPr/>
            <p:nvPr/>
          </p:nvSpPr>
          <p:spPr>
            <a:xfrm>
              <a:off x="-523800" y="2286026"/>
              <a:ext cx="8703799" cy="1336045"/>
            </a:xfrm>
            <a:custGeom>
              <a:rect b="b" l="l" r="r" t="t"/>
              <a:pathLst>
                <a:path extrusionOk="0" h="1659683" w="10812173">
                  <a:moveTo>
                    <a:pt x="0" y="0"/>
                  </a:moveTo>
                  <a:lnTo>
                    <a:pt x="10812174" y="0"/>
                  </a:lnTo>
                  <a:lnTo>
                    <a:pt x="10812174" y="1659683"/>
                  </a:lnTo>
                  <a:lnTo>
                    <a:pt x="0" y="165968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376822" l="0" r="0" t="-36599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