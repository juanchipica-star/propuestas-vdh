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Garamond"/>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iQWJD2pS8i1FkRQvxuS1ppW97B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Garamond-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italic.fntdata"/><Relationship Id="rId14" Type="http://schemas.openxmlformats.org/officeDocument/2006/relationships/font" Target="fonts/Garamond-bold.fntdata"/><Relationship Id="rId17" Type="http://customschemas.google.com/relationships/presentationmetadata" Target="metadata"/><Relationship Id="rId16" Type="http://schemas.openxmlformats.org/officeDocument/2006/relationships/font" Target="fonts/Garamon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bed67c57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g35bed67c57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bed67c570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5bed67c570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e4278f290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de4278f290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bed67c570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5bed67c570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e6aafcd5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5e6aafcd5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e6aafcd5d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5e6aafcd5d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5"/>
          <p:cNvSpPr/>
          <p:nvPr>
            <p:ph idx="2" type="pic"/>
          </p:nvPr>
        </p:nvSpPr>
        <p:spPr>
          <a:xfrm>
            <a:off x="1792288" y="612775"/>
            <a:ext cx="5486400" cy="4114800"/>
          </a:xfrm>
          <a:prstGeom prst="rect">
            <a:avLst/>
          </a:prstGeom>
          <a:noFill/>
          <a:ln>
            <a:noFill/>
          </a:ln>
        </p:spPr>
      </p:sp>
      <p:sp>
        <p:nvSpPr>
          <p:cNvPr id="64" name="Google Shape;64;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4.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17.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p:nvPr/>
        </p:nvSpPr>
        <p:spPr>
          <a:xfrm>
            <a:off x="0" y="5143500"/>
            <a:ext cx="18288000" cy="5143500"/>
          </a:xfrm>
          <a:custGeom>
            <a:rect b="b" l="l" r="r" t="t"/>
            <a:pathLst>
              <a:path extrusionOk="0" h="1739900" w="6186311">
                <a:moveTo>
                  <a:pt x="0" y="0"/>
                </a:moveTo>
                <a:lnTo>
                  <a:pt x="6186311" y="0"/>
                </a:lnTo>
                <a:lnTo>
                  <a:pt x="6186311" y="1739900"/>
                </a:lnTo>
                <a:lnTo>
                  <a:pt x="0" y="1739900"/>
                </a:lnTo>
                <a:close/>
              </a:path>
            </a:pathLst>
          </a:custGeom>
          <a:solidFill>
            <a:srgbClr val="5456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17"/>
          <p:cNvGrpSpPr/>
          <p:nvPr/>
        </p:nvGrpSpPr>
        <p:grpSpPr>
          <a:xfrm>
            <a:off x="16437562" y="6099761"/>
            <a:ext cx="821738" cy="410869"/>
            <a:chOff x="0" y="0"/>
            <a:chExt cx="1095650" cy="547825"/>
          </a:xfrm>
        </p:grpSpPr>
        <p:sp>
          <p:nvSpPr>
            <p:cNvPr id="86" name="Google Shape;86;p17"/>
            <p:cNvSpPr/>
            <p:nvPr/>
          </p:nvSpPr>
          <p:spPr>
            <a:xfrm>
              <a:off x="0" y="0"/>
              <a:ext cx="1095650" cy="547825"/>
            </a:xfrm>
            <a:custGeom>
              <a:rect b="b" l="l" r="r" t="t"/>
              <a:pathLst>
                <a:path extrusionOk="0" h="547825" w="1095650">
                  <a:moveTo>
                    <a:pt x="0" y="0"/>
                  </a:moveTo>
                  <a:lnTo>
                    <a:pt x="1095650" y="0"/>
                  </a:lnTo>
                  <a:lnTo>
                    <a:pt x="1095650" y="547825"/>
                  </a:lnTo>
                  <a:lnTo>
                    <a:pt x="0" y="54782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7"/>
            <p:cNvSpPr/>
            <p:nvPr/>
          </p:nvSpPr>
          <p:spPr>
            <a:xfrm>
              <a:off x="129026" y="142407"/>
              <a:ext cx="346638" cy="263012"/>
            </a:xfrm>
            <a:custGeom>
              <a:rect b="b" l="l" r="r" t="t"/>
              <a:pathLst>
                <a:path extrusionOk="0" h="263012" w="346638">
                  <a:moveTo>
                    <a:pt x="0" y="0"/>
                  </a:moveTo>
                  <a:lnTo>
                    <a:pt x="346638" y="0"/>
                  </a:lnTo>
                  <a:lnTo>
                    <a:pt x="346638" y="263011"/>
                  </a:lnTo>
                  <a:lnTo>
                    <a:pt x="0" y="26301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 name="Google Shape;88;p17"/>
          <p:cNvGrpSpPr/>
          <p:nvPr/>
        </p:nvGrpSpPr>
        <p:grpSpPr>
          <a:xfrm>
            <a:off x="16437562" y="6773706"/>
            <a:ext cx="821738" cy="410869"/>
            <a:chOff x="0" y="0"/>
            <a:chExt cx="1095650" cy="547825"/>
          </a:xfrm>
        </p:grpSpPr>
        <p:sp>
          <p:nvSpPr>
            <p:cNvPr id="89" name="Google Shape;89;p17"/>
            <p:cNvSpPr/>
            <p:nvPr/>
          </p:nvSpPr>
          <p:spPr>
            <a:xfrm>
              <a:off x="0" y="0"/>
              <a:ext cx="1095650" cy="547825"/>
            </a:xfrm>
            <a:custGeom>
              <a:rect b="b" l="l" r="r" t="t"/>
              <a:pathLst>
                <a:path extrusionOk="0" h="547825" w="1095650">
                  <a:moveTo>
                    <a:pt x="0" y="0"/>
                  </a:moveTo>
                  <a:lnTo>
                    <a:pt x="1095650" y="0"/>
                  </a:lnTo>
                  <a:lnTo>
                    <a:pt x="1095650" y="547825"/>
                  </a:lnTo>
                  <a:lnTo>
                    <a:pt x="0" y="54782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7"/>
            <p:cNvSpPr/>
            <p:nvPr/>
          </p:nvSpPr>
          <p:spPr>
            <a:xfrm>
              <a:off x="129026" y="142407"/>
              <a:ext cx="346638" cy="263012"/>
            </a:xfrm>
            <a:custGeom>
              <a:rect b="b" l="l" r="r" t="t"/>
              <a:pathLst>
                <a:path extrusionOk="0" h="263012" w="346638">
                  <a:moveTo>
                    <a:pt x="0" y="0"/>
                  </a:moveTo>
                  <a:lnTo>
                    <a:pt x="346638" y="0"/>
                  </a:lnTo>
                  <a:lnTo>
                    <a:pt x="346638" y="263011"/>
                  </a:lnTo>
                  <a:lnTo>
                    <a:pt x="0" y="26301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91" name="Google Shape;91;p17"/>
          <p:cNvPicPr preferRelativeResize="0"/>
          <p:nvPr/>
        </p:nvPicPr>
        <p:blipFill rotWithShape="1">
          <a:blip r:embed="rId5">
            <a:alphaModFix/>
          </a:blip>
          <a:srcRect b="28893" l="0" r="0" t="28892"/>
          <a:stretch/>
        </p:blipFill>
        <p:spPr>
          <a:xfrm>
            <a:off x="0" y="0"/>
            <a:ext cx="18288000" cy="5143500"/>
          </a:xfrm>
          <a:prstGeom prst="rect">
            <a:avLst/>
          </a:prstGeom>
          <a:noFill/>
          <a:ln>
            <a:noFill/>
          </a:ln>
        </p:spPr>
      </p:pic>
      <p:sp>
        <p:nvSpPr>
          <p:cNvPr id="92" name="Google Shape;92;p17"/>
          <p:cNvSpPr/>
          <p:nvPr/>
        </p:nvSpPr>
        <p:spPr>
          <a:xfrm rot="10800000">
            <a:off x="487973" y="5143500"/>
            <a:ext cx="9673049" cy="2873913"/>
          </a:xfrm>
          <a:custGeom>
            <a:rect b="b" l="l" r="r" t="t"/>
            <a:pathLst>
              <a:path extrusionOk="0" h="2873913" w="9673049">
                <a:moveTo>
                  <a:pt x="0" y="0"/>
                </a:moveTo>
                <a:lnTo>
                  <a:pt x="9673049" y="0"/>
                </a:lnTo>
                <a:lnTo>
                  <a:pt x="9673049" y="2873913"/>
                </a:lnTo>
                <a:lnTo>
                  <a:pt x="0" y="2873913"/>
                </a:lnTo>
                <a:lnTo>
                  <a:pt x="0" y="0"/>
                </a:lnTo>
                <a:close/>
              </a:path>
            </a:pathLst>
          </a:custGeom>
          <a:blipFill rotWithShape="1">
            <a:blip r:embed="rId6">
              <a:alphaModFix amt="1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3" name="Google Shape;93;p17"/>
          <p:cNvGrpSpPr/>
          <p:nvPr/>
        </p:nvGrpSpPr>
        <p:grpSpPr>
          <a:xfrm>
            <a:off x="16437562" y="7521101"/>
            <a:ext cx="821738" cy="410869"/>
            <a:chOff x="0" y="0"/>
            <a:chExt cx="1095650" cy="547825"/>
          </a:xfrm>
        </p:grpSpPr>
        <p:sp>
          <p:nvSpPr>
            <p:cNvPr id="94" name="Google Shape;94;p17"/>
            <p:cNvSpPr/>
            <p:nvPr/>
          </p:nvSpPr>
          <p:spPr>
            <a:xfrm>
              <a:off x="0" y="0"/>
              <a:ext cx="1095650" cy="547825"/>
            </a:xfrm>
            <a:custGeom>
              <a:rect b="b" l="l" r="r" t="t"/>
              <a:pathLst>
                <a:path extrusionOk="0" h="547825" w="1095650">
                  <a:moveTo>
                    <a:pt x="0" y="0"/>
                  </a:moveTo>
                  <a:lnTo>
                    <a:pt x="1095650" y="0"/>
                  </a:lnTo>
                  <a:lnTo>
                    <a:pt x="1095650" y="547825"/>
                  </a:lnTo>
                  <a:lnTo>
                    <a:pt x="0" y="54782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7"/>
            <p:cNvSpPr/>
            <p:nvPr/>
          </p:nvSpPr>
          <p:spPr>
            <a:xfrm>
              <a:off x="129026" y="142407"/>
              <a:ext cx="346638" cy="263012"/>
            </a:xfrm>
            <a:custGeom>
              <a:rect b="b" l="l" r="r" t="t"/>
              <a:pathLst>
                <a:path extrusionOk="0" h="263012" w="346638">
                  <a:moveTo>
                    <a:pt x="0" y="0"/>
                  </a:moveTo>
                  <a:lnTo>
                    <a:pt x="346638" y="0"/>
                  </a:lnTo>
                  <a:lnTo>
                    <a:pt x="346638" y="263011"/>
                  </a:lnTo>
                  <a:lnTo>
                    <a:pt x="0" y="26301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17"/>
          <p:cNvSpPr txBox="1"/>
          <p:nvPr/>
        </p:nvSpPr>
        <p:spPr>
          <a:xfrm>
            <a:off x="13217986" y="7544486"/>
            <a:ext cx="22833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200"/>
              <a:buFont typeface="Arial"/>
              <a:buNone/>
            </a:pPr>
            <a:r>
              <a:rPr b="1" i="0" lang="en-US" sz="3200" u="none" cap="none" strike="noStrike">
                <a:solidFill>
                  <a:srgbClr val="E5E5E4"/>
                </a:solidFill>
                <a:latin typeface="Avenir"/>
                <a:ea typeface="Avenir"/>
                <a:cs typeface="Avenir"/>
                <a:sym typeface="Avenir"/>
              </a:rPr>
              <a:t>PREMIUM</a:t>
            </a:r>
            <a:endParaRPr b="0" i="0" sz="1400" u="none" cap="none" strike="noStrike">
              <a:solidFill>
                <a:srgbClr val="000000"/>
              </a:solidFill>
              <a:latin typeface="Arial"/>
              <a:ea typeface="Arial"/>
              <a:cs typeface="Arial"/>
              <a:sym typeface="Arial"/>
            </a:endParaRPr>
          </a:p>
        </p:txBody>
      </p:sp>
      <p:sp>
        <p:nvSpPr>
          <p:cNvPr id="97" name="Google Shape;97;p17"/>
          <p:cNvSpPr txBox="1"/>
          <p:nvPr/>
        </p:nvSpPr>
        <p:spPr>
          <a:xfrm>
            <a:off x="13217986" y="6773693"/>
            <a:ext cx="25878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200"/>
              <a:buFont typeface="Arial"/>
              <a:buNone/>
            </a:pPr>
            <a:r>
              <a:rPr b="1" i="0" lang="en-US" sz="3200" u="none" cap="none" strike="noStrike">
                <a:solidFill>
                  <a:srgbClr val="E5E5E4"/>
                </a:solidFill>
                <a:latin typeface="Avenir"/>
                <a:ea typeface="Avenir"/>
                <a:cs typeface="Avenir"/>
                <a:sym typeface="Avenir"/>
              </a:rPr>
              <a:t>EXECUTIVE</a:t>
            </a:r>
            <a:endParaRPr b="0" i="0" sz="1400" u="none" cap="none" strike="noStrike">
              <a:solidFill>
                <a:srgbClr val="000000"/>
              </a:solidFill>
              <a:latin typeface="Arial"/>
              <a:ea typeface="Arial"/>
              <a:cs typeface="Arial"/>
              <a:sym typeface="Arial"/>
            </a:endParaRPr>
          </a:p>
        </p:txBody>
      </p:sp>
      <p:sp>
        <p:nvSpPr>
          <p:cNvPr id="98" name="Google Shape;98;p17"/>
          <p:cNvSpPr txBox="1"/>
          <p:nvPr/>
        </p:nvSpPr>
        <p:spPr>
          <a:xfrm>
            <a:off x="13217986" y="6002926"/>
            <a:ext cx="22833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200"/>
              <a:buFont typeface="Arial"/>
              <a:buNone/>
            </a:pPr>
            <a:r>
              <a:rPr b="1" i="0" lang="en-US" sz="3200" u="none" cap="none" strike="noStrike">
                <a:solidFill>
                  <a:srgbClr val="E5E5E4"/>
                </a:solidFill>
                <a:latin typeface="Avenir"/>
                <a:ea typeface="Avenir"/>
                <a:cs typeface="Avenir"/>
                <a:sym typeface="Avenir"/>
              </a:rPr>
              <a:t>ESSENTIAL</a:t>
            </a:r>
            <a:endParaRPr b="0" i="0" sz="1400" u="none" cap="none" strike="noStrike">
              <a:solidFill>
                <a:srgbClr val="000000"/>
              </a:solidFill>
              <a:latin typeface="Arial"/>
              <a:ea typeface="Arial"/>
              <a:cs typeface="Arial"/>
              <a:sym typeface="Arial"/>
            </a:endParaRPr>
          </a:p>
        </p:txBody>
      </p:sp>
      <p:sp>
        <p:nvSpPr>
          <p:cNvPr id="99" name="Google Shape;99;p17"/>
          <p:cNvSpPr/>
          <p:nvPr/>
        </p:nvSpPr>
        <p:spPr>
          <a:xfrm>
            <a:off x="7821179" y="9258300"/>
            <a:ext cx="3133615" cy="822737"/>
          </a:xfrm>
          <a:custGeom>
            <a:rect b="b" l="l" r="r" t="t"/>
            <a:pathLst>
              <a:path extrusionOk="0" h="822737" w="3133615">
                <a:moveTo>
                  <a:pt x="0" y="0"/>
                </a:moveTo>
                <a:lnTo>
                  <a:pt x="3133615" y="0"/>
                </a:lnTo>
                <a:lnTo>
                  <a:pt x="3133615" y="822737"/>
                </a:lnTo>
                <a:lnTo>
                  <a:pt x="0" y="822737"/>
                </a:lnTo>
                <a:lnTo>
                  <a:pt x="0" y="0"/>
                </a:lnTo>
                <a:close/>
              </a:path>
            </a:pathLst>
          </a:custGeom>
          <a:blipFill rotWithShape="1">
            <a:blip r:embed="rId7">
              <a:alphaModFix/>
            </a:blip>
            <a:stretch>
              <a:fillRect b="-285245" l="-17415" r="-16833" t="-27639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7"/>
          <p:cNvSpPr txBox="1"/>
          <p:nvPr/>
        </p:nvSpPr>
        <p:spPr>
          <a:xfrm>
            <a:off x="824900" y="7424897"/>
            <a:ext cx="11031401" cy="183340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86"/>
              <a:buFont typeface="Arial"/>
              <a:buNone/>
            </a:pPr>
            <a:r>
              <a:rPr b="1" i="0" lang="en-US" sz="12086" u="none" cap="none" strike="noStrike">
                <a:solidFill>
                  <a:srgbClr val="E5E5E4"/>
                </a:solidFill>
                <a:latin typeface="Avenir"/>
                <a:ea typeface="Avenir"/>
                <a:cs typeface="Avenir"/>
                <a:sym typeface="Avenir"/>
              </a:rPr>
              <a:t>ASSESSMENT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grpSp>
        <p:nvGrpSpPr>
          <p:cNvPr id="105" name="Google Shape;105;g35bed67c570_0_0"/>
          <p:cNvGrpSpPr/>
          <p:nvPr/>
        </p:nvGrpSpPr>
        <p:grpSpPr>
          <a:xfrm>
            <a:off x="12175208" y="-144662"/>
            <a:ext cx="6087228" cy="10431728"/>
            <a:chOff x="0" y="-38100"/>
            <a:chExt cx="1603210" cy="2747433"/>
          </a:xfrm>
        </p:grpSpPr>
        <p:sp>
          <p:nvSpPr>
            <p:cNvPr id="106" name="Google Shape;106;g35bed67c570_0_0"/>
            <p:cNvSpPr/>
            <p:nvPr/>
          </p:nvSpPr>
          <p:spPr>
            <a:xfrm>
              <a:off x="0" y="0"/>
              <a:ext cx="1603210" cy="2709333"/>
            </a:xfrm>
            <a:custGeom>
              <a:rect b="b" l="l" r="r" t="t"/>
              <a:pathLst>
                <a:path extrusionOk="0" h="2709333" w="1603210">
                  <a:moveTo>
                    <a:pt x="0" y="0"/>
                  </a:moveTo>
                  <a:lnTo>
                    <a:pt x="1603210" y="0"/>
                  </a:lnTo>
                  <a:lnTo>
                    <a:pt x="1603210" y="2709333"/>
                  </a:lnTo>
                  <a:lnTo>
                    <a:pt x="0" y="2709333"/>
                  </a:lnTo>
                  <a:close/>
                </a:path>
              </a:pathLst>
            </a:custGeom>
            <a:solidFill>
              <a:srgbClr val="5456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35bed67c570_0_0"/>
            <p:cNvSpPr txBox="1"/>
            <p:nvPr/>
          </p:nvSpPr>
          <p:spPr>
            <a:xfrm>
              <a:off x="0" y="-38100"/>
              <a:ext cx="1603200" cy="2747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g35bed67c570_0_0"/>
          <p:cNvGrpSpPr/>
          <p:nvPr/>
        </p:nvGrpSpPr>
        <p:grpSpPr>
          <a:xfrm>
            <a:off x="10254275" y="1757040"/>
            <a:ext cx="6192398" cy="8529983"/>
            <a:chOff x="0" y="-38100"/>
            <a:chExt cx="812800" cy="1119626"/>
          </a:xfrm>
        </p:grpSpPr>
        <p:sp>
          <p:nvSpPr>
            <p:cNvPr id="109" name="Google Shape;109;g35bed67c570_0_0"/>
            <p:cNvSpPr/>
            <p:nvPr/>
          </p:nvSpPr>
          <p:spPr>
            <a:xfrm>
              <a:off x="0" y="0"/>
              <a:ext cx="812800" cy="1081526"/>
            </a:xfrm>
            <a:custGeom>
              <a:rect b="b" l="l" r="r" t="t"/>
              <a:pathLst>
                <a:path extrusionOk="0" h="1081526" w="812800">
                  <a:moveTo>
                    <a:pt x="0" y="0"/>
                  </a:moveTo>
                  <a:lnTo>
                    <a:pt x="812800" y="0"/>
                  </a:lnTo>
                  <a:lnTo>
                    <a:pt x="812800" y="1081526"/>
                  </a:lnTo>
                  <a:lnTo>
                    <a:pt x="0" y="108152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5bed67c570_0_0"/>
            <p:cNvSpPr txBox="1"/>
            <p:nvPr/>
          </p:nvSpPr>
          <p:spPr>
            <a:xfrm>
              <a:off x="0" y="-38100"/>
              <a:ext cx="812700" cy="111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111" name="Google Shape;111;g35bed67c570_0_0"/>
          <p:cNvPicPr preferRelativeResize="0"/>
          <p:nvPr/>
        </p:nvPicPr>
        <p:blipFill rotWithShape="1">
          <a:blip r:embed="rId3">
            <a:alphaModFix/>
          </a:blip>
          <a:srcRect b="0" l="26316" r="26316" t="0"/>
          <a:stretch/>
        </p:blipFill>
        <p:spPr>
          <a:xfrm>
            <a:off x="10527156" y="2320528"/>
            <a:ext cx="5663553" cy="7966473"/>
          </a:xfrm>
          <a:prstGeom prst="rect">
            <a:avLst/>
          </a:prstGeom>
          <a:noFill/>
          <a:ln>
            <a:noFill/>
          </a:ln>
        </p:spPr>
      </p:pic>
      <p:grpSp>
        <p:nvGrpSpPr>
          <p:cNvPr id="112" name="Google Shape;112;g35bed67c570_0_0"/>
          <p:cNvGrpSpPr/>
          <p:nvPr/>
        </p:nvGrpSpPr>
        <p:grpSpPr>
          <a:xfrm>
            <a:off x="10213525" y="1892878"/>
            <a:ext cx="1210363" cy="1169636"/>
            <a:chOff x="19045" y="19050"/>
            <a:chExt cx="1613817" cy="1559514"/>
          </a:xfrm>
        </p:grpSpPr>
        <p:cxnSp>
          <p:nvCxnSpPr>
            <p:cNvPr id="113" name="Google Shape;113;g35bed67c570_0_0"/>
            <p:cNvCxnSpPr/>
            <p:nvPr/>
          </p:nvCxnSpPr>
          <p:spPr>
            <a:xfrm rot="10800000">
              <a:off x="73462" y="19050"/>
              <a:ext cx="1559400" cy="0"/>
            </a:xfrm>
            <a:prstGeom prst="straightConnector1">
              <a:avLst/>
            </a:prstGeom>
            <a:noFill/>
            <a:ln cap="flat" cmpd="sng" w="38100">
              <a:solidFill>
                <a:srgbClr val="F8BF00"/>
              </a:solidFill>
              <a:prstDash val="solid"/>
              <a:round/>
              <a:headEnd len="sm" w="sm" type="none"/>
              <a:tailEnd len="sm" w="sm" type="none"/>
            </a:ln>
          </p:spPr>
        </p:cxnSp>
        <p:cxnSp>
          <p:nvCxnSpPr>
            <p:cNvPr id="114" name="Google Shape;114;g35bed67c570_0_0"/>
            <p:cNvCxnSpPr/>
            <p:nvPr/>
          </p:nvCxnSpPr>
          <p:spPr>
            <a:xfrm flipH="1" rot="10800000">
              <a:off x="19045" y="19464"/>
              <a:ext cx="35400" cy="1559100"/>
            </a:xfrm>
            <a:prstGeom prst="straightConnector1">
              <a:avLst/>
            </a:prstGeom>
            <a:noFill/>
            <a:ln cap="flat" cmpd="sng" w="38100">
              <a:solidFill>
                <a:srgbClr val="F8BF00"/>
              </a:solidFill>
              <a:prstDash val="solid"/>
              <a:round/>
              <a:headEnd len="sm" w="sm" type="none"/>
              <a:tailEnd len="sm" w="sm" type="none"/>
            </a:ln>
          </p:spPr>
        </p:cxnSp>
      </p:grpSp>
      <p:sp>
        <p:nvSpPr>
          <p:cNvPr id="115" name="Google Shape;115;g35bed67c570_0_0"/>
          <p:cNvSpPr/>
          <p:nvPr/>
        </p:nvSpPr>
        <p:spPr>
          <a:xfrm>
            <a:off x="11423887" y="713919"/>
            <a:ext cx="1889833" cy="769118"/>
          </a:xfrm>
          <a:custGeom>
            <a:rect b="b" l="l" r="r" t="t"/>
            <a:pathLst>
              <a:path extrusionOk="0" h="769118" w="1889833">
                <a:moveTo>
                  <a:pt x="0" y="0"/>
                </a:moveTo>
                <a:lnTo>
                  <a:pt x="1889833" y="0"/>
                </a:lnTo>
                <a:lnTo>
                  <a:pt x="1889833" y="769118"/>
                </a:lnTo>
                <a:lnTo>
                  <a:pt x="0" y="76911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5bed67c570_0_0"/>
          <p:cNvSpPr txBox="1"/>
          <p:nvPr/>
        </p:nvSpPr>
        <p:spPr>
          <a:xfrm>
            <a:off x="2544451" y="6137950"/>
            <a:ext cx="7407600" cy="4202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100"/>
              <a:buFont typeface="Arial"/>
              <a:buNone/>
            </a:pPr>
            <a:r>
              <a:rPr b="0" i="0" lang="en-US" sz="2100" u="none" cap="none" strike="noStrike">
                <a:solidFill>
                  <a:srgbClr val="3D3E40"/>
                </a:solidFill>
                <a:latin typeface="Avenir"/>
                <a:ea typeface="Avenir"/>
                <a:cs typeface="Avenir"/>
                <a:sym typeface="Avenir"/>
              </a:rPr>
              <a:t>Se utiliza para acompañar desafíos </a:t>
            </a:r>
            <a:r>
              <a:rPr b="0" i="0" lang="en-US" sz="2100" u="none" cap="none" strike="noStrike">
                <a:solidFill>
                  <a:srgbClr val="3D3E40"/>
                </a:solidFill>
                <a:latin typeface="Avenir"/>
                <a:ea typeface="Avenir"/>
                <a:cs typeface="Avenir"/>
                <a:sym typeface="Avenir"/>
                <a:extLst>
                  <a:ext uri="http://customooxmlschemas.google.com/">
                    <go:slidesCustomData xmlns:go="http://customooxmlschemas.google.com/" textRoundtripDataId="0"/>
                  </a:ext>
                </a:extLst>
              </a:rPr>
              <a:t>como</a:t>
            </a:r>
            <a:r>
              <a:rPr b="0" i="0" lang="en-US" sz="2100" u="none" cap="none" strike="noStrike">
                <a:solidFill>
                  <a:srgbClr val="3D3E40"/>
                </a:solidFill>
                <a:latin typeface="Avenir"/>
                <a:ea typeface="Avenir"/>
                <a:cs typeface="Avenir"/>
                <a:sym typeface="Avenir"/>
              </a:rPr>
              <a:t>: </a:t>
            </a:r>
            <a:endParaRPr b="0" i="0" sz="1400" u="none" cap="none" strike="noStrike">
              <a:solidFill>
                <a:srgbClr val="000000"/>
              </a:solidFill>
              <a:latin typeface="Avenir"/>
              <a:ea typeface="Avenir"/>
              <a:cs typeface="Avenir"/>
              <a:sym typeface="Avenir"/>
            </a:endParaRPr>
          </a:p>
          <a:p>
            <a:pPr indent="-226696" lvl="1" marL="453395" marR="0" rtl="0" algn="l">
              <a:lnSpc>
                <a:spcPct val="150000"/>
              </a:lnSpc>
              <a:spcBef>
                <a:spcPts val="0"/>
              </a:spcBef>
              <a:spcAft>
                <a:spcPts val="0"/>
              </a:spcAft>
              <a:buClr>
                <a:srgbClr val="3D3E40"/>
              </a:buClr>
              <a:buSzPts val="2100"/>
              <a:buFont typeface="Avenir"/>
              <a:buChar char="•"/>
            </a:pPr>
            <a:r>
              <a:rPr b="0" i="0" lang="en-US" sz="2100" u="none" cap="none" strike="noStrike">
                <a:solidFill>
                  <a:srgbClr val="3D3E40"/>
                </a:solidFill>
                <a:latin typeface="Avenir"/>
                <a:ea typeface="Avenir"/>
                <a:cs typeface="Avenir"/>
                <a:sym typeface="Avenir"/>
              </a:rPr>
              <a:t>Desarrollo de líderes</a:t>
            </a:r>
            <a:endParaRPr b="0" i="0" sz="1400" u="none" cap="none" strike="noStrike">
              <a:solidFill>
                <a:srgbClr val="000000"/>
              </a:solidFill>
              <a:latin typeface="Avenir"/>
              <a:ea typeface="Avenir"/>
              <a:cs typeface="Avenir"/>
              <a:sym typeface="Avenir"/>
            </a:endParaRPr>
          </a:p>
          <a:p>
            <a:pPr indent="-226696" lvl="1" marL="453395" marR="0" rtl="0" algn="l">
              <a:lnSpc>
                <a:spcPct val="150000"/>
              </a:lnSpc>
              <a:spcBef>
                <a:spcPts val="0"/>
              </a:spcBef>
              <a:spcAft>
                <a:spcPts val="0"/>
              </a:spcAft>
              <a:buClr>
                <a:srgbClr val="3D3E40"/>
              </a:buClr>
              <a:buSzPts val="2100"/>
              <a:buFont typeface="Avenir"/>
              <a:buChar char="•"/>
            </a:pPr>
            <a:r>
              <a:rPr b="0" i="0" lang="en-US" sz="2100" u="none" cap="none" strike="noStrike">
                <a:solidFill>
                  <a:srgbClr val="3D3E40"/>
                </a:solidFill>
                <a:latin typeface="Avenir"/>
                <a:ea typeface="Avenir"/>
                <a:cs typeface="Avenir"/>
                <a:sym typeface="Avenir"/>
                <a:extLst>
                  <a:ext uri="http://customooxmlschemas.google.com/">
                    <go:slidesCustomData xmlns:go="http://customooxmlschemas.google.com/" textRoundtripDataId="1"/>
                  </a:ext>
                </a:extLst>
              </a:rPr>
              <a:t>Promociones i</a:t>
            </a:r>
            <a:r>
              <a:rPr b="0" i="0" lang="en-US" sz="2100" u="none" cap="none" strike="noStrike">
                <a:solidFill>
                  <a:srgbClr val="3D3E40"/>
                </a:solidFill>
                <a:latin typeface="Avenir"/>
                <a:ea typeface="Avenir"/>
                <a:cs typeface="Avenir"/>
                <a:sym typeface="Avenir"/>
              </a:rPr>
              <a:t>nternas</a:t>
            </a:r>
            <a:endParaRPr b="0" i="0" sz="1400" u="none" cap="none" strike="noStrike">
              <a:solidFill>
                <a:srgbClr val="000000"/>
              </a:solidFill>
              <a:latin typeface="Avenir"/>
              <a:ea typeface="Avenir"/>
              <a:cs typeface="Avenir"/>
              <a:sym typeface="Avenir"/>
            </a:endParaRPr>
          </a:p>
          <a:p>
            <a:pPr indent="-226696" lvl="1" marL="453395" marR="0" rtl="0" algn="l">
              <a:lnSpc>
                <a:spcPct val="150000"/>
              </a:lnSpc>
              <a:spcBef>
                <a:spcPts val="0"/>
              </a:spcBef>
              <a:spcAft>
                <a:spcPts val="0"/>
              </a:spcAft>
              <a:buClr>
                <a:srgbClr val="3D3E40"/>
              </a:buClr>
              <a:buSzPts val="2100"/>
              <a:buFont typeface="Avenir"/>
              <a:buChar char="•"/>
            </a:pPr>
            <a:r>
              <a:rPr b="0" i="0" lang="en-US" sz="2100" u="none" cap="none" strike="noStrike">
                <a:solidFill>
                  <a:srgbClr val="3D3E40"/>
                </a:solidFill>
                <a:latin typeface="Avenir"/>
                <a:ea typeface="Avenir"/>
                <a:cs typeface="Avenir"/>
                <a:sym typeface="Avenir"/>
              </a:rPr>
              <a:t>Cuadros de sucesión</a:t>
            </a:r>
            <a:endParaRPr b="0" i="0" sz="1400" u="none" cap="none" strike="noStrike">
              <a:solidFill>
                <a:srgbClr val="000000"/>
              </a:solidFill>
              <a:latin typeface="Avenir"/>
              <a:ea typeface="Avenir"/>
              <a:cs typeface="Avenir"/>
              <a:sym typeface="Avenir"/>
            </a:endParaRPr>
          </a:p>
          <a:p>
            <a:pPr indent="-226696" lvl="1" marL="453395" marR="0" rtl="0" algn="l">
              <a:lnSpc>
                <a:spcPct val="150000"/>
              </a:lnSpc>
              <a:spcBef>
                <a:spcPts val="0"/>
              </a:spcBef>
              <a:spcAft>
                <a:spcPts val="0"/>
              </a:spcAft>
              <a:buClr>
                <a:srgbClr val="3D3E40"/>
              </a:buClr>
              <a:buSzPts val="2100"/>
              <a:buFont typeface="Avenir"/>
              <a:buChar char="•"/>
            </a:pPr>
            <a:r>
              <a:rPr b="0" i="0" lang="en-US" sz="2100" u="none" cap="none" strike="noStrike">
                <a:solidFill>
                  <a:srgbClr val="3D3E40"/>
                </a:solidFill>
                <a:latin typeface="Avenir"/>
                <a:ea typeface="Avenir"/>
                <a:cs typeface="Avenir"/>
                <a:sym typeface="Avenir"/>
              </a:rPr>
              <a:t>Procesos de talent acquisition internos y externos</a:t>
            </a:r>
            <a:endParaRPr b="0" i="0" sz="1400" u="none" cap="none" strike="noStrike">
              <a:solidFill>
                <a:srgbClr val="000000"/>
              </a:solidFill>
              <a:latin typeface="Avenir"/>
              <a:ea typeface="Avenir"/>
              <a:cs typeface="Avenir"/>
              <a:sym typeface="Avenir"/>
            </a:endParaRPr>
          </a:p>
          <a:p>
            <a:pPr indent="-226696" lvl="1" marL="453395" marR="0" rtl="0" algn="l">
              <a:lnSpc>
                <a:spcPct val="150000"/>
              </a:lnSpc>
              <a:spcBef>
                <a:spcPts val="0"/>
              </a:spcBef>
              <a:spcAft>
                <a:spcPts val="0"/>
              </a:spcAft>
              <a:buClr>
                <a:srgbClr val="3D3E40"/>
              </a:buClr>
              <a:buSzPts val="2100"/>
              <a:buFont typeface="Avenir"/>
              <a:buChar char="•"/>
            </a:pPr>
            <a:r>
              <a:rPr b="0" i="0" lang="en-US" sz="2100" u="none" cap="none" strike="noStrike">
                <a:solidFill>
                  <a:srgbClr val="3D3E40"/>
                </a:solidFill>
                <a:latin typeface="Avenir"/>
                <a:ea typeface="Avenir"/>
                <a:cs typeface="Avenir"/>
                <a:sym typeface="Avenir"/>
              </a:rPr>
              <a:t>Planes de desarrollo </a:t>
            </a:r>
            <a:endParaRPr b="0" i="0" sz="1400" u="none" cap="none" strike="noStrike">
              <a:solidFill>
                <a:srgbClr val="000000"/>
              </a:solidFill>
              <a:latin typeface="Avenir"/>
              <a:ea typeface="Avenir"/>
              <a:cs typeface="Avenir"/>
              <a:sym typeface="Avenir"/>
            </a:endParaRPr>
          </a:p>
          <a:p>
            <a:pPr indent="-226696" lvl="1" marL="453395" marR="0" rtl="0" algn="l">
              <a:lnSpc>
                <a:spcPct val="150000"/>
              </a:lnSpc>
              <a:spcBef>
                <a:spcPts val="0"/>
              </a:spcBef>
              <a:spcAft>
                <a:spcPts val="0"/>
              </a:spcAft>
              <a:buClr>
                <a:srgbClr val="3D3E40"/>
              </a:buClr>
              <a:buSzPts val="2100"/>
              <a:buFont typeface="Avenir"/>
              <a:buChar char="•"/>
            </a:pPr>
            <a:r>
              <a:rPr b="0" i="0" lang="en-US" sz="2100" u="none" cap="none" strike="noStrike">
                <a:solidFill>
                  <a:srgbClr val="3D3E40"/>
                </a:solidFill>
                <a:latin typeface="Avenir"/>
                <a:ea typeface="Avenir"/>
                <a:cs typeface="Avenir"/>
                <a:sym typeface="Avenir"/>
                <a:extLst>
                  <a:ext uri="http://customooxmlschemas.google.com/">
                    <go:slidesCustomData xmlns:go="http://customooxmlschemas.google.com/" textRoundtripDataId="2"/>
                  </a:ext>
                </a:extLst>
              </a:rPr>
              <a:t>Diagnósticos de capacidades </a:t>
            </a:r>
            <a:r>
              <a:rPr b="0" i="0" lang="en-US" sz="2100" u="none" cap="none" strike="noStrike">
                <a:solidFill>
                  <a:srgbClr val="3D3E40"/>
                </a:solidFill>
                <a:latin typeface="Avenir"/>
                <a:ea typeface="Avenir"/>
                <a:cs typeface="Avenir"/>
                <a:sym typeface="Avenir"/>
              </a:rPr>
              <a:t>de un área / equipo de trabajo</a:t>
            </a:r>
            <a:endParaRPr b="0" i="0" sz="1400" u="none" cap="none" strike="noStrike">
              <a:solidFill>
                <a:srgbClr val="000000"/>
              </a:solidFill>
              <a:latin typeface="Avenir"/>
              <a:ea typeface="Avenir"/>
              <a:cs typeface="Avenir"/>
              <a:sym typeface="Avenir"/>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rgbClr val="3D3E40"/>
              </a:solidFill>
              <a:latin typeface="Avenir"/>
              <a:ea typeface="Avenir"/>
              <a:cs typeface="Avenir"/>
              <a:sym typeface="Avenir"/>
            </a:endParaRPr>
          </a:p>
        </p:txBody>
      </p:sp>
      <p:sp>
        <p:nvSpPr>
          <p:cNvPr id="117" name="Google Shape;117;g35bed67c570_0_0"/>
          <p:cNvSpPr txBox="1"/>
          <p:nvPr/>
        </p:nvSpPr>
        <p:spPr>
          <a:xfrm>
            <a:off x="1065850" y="3024900"/>
            <a:ext cx="8629800" cy="900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100"/>
              <a:buFont typeface="Arial"/>
              <a:buNone/>
            </a:pPr>
            <a:r>
              <a:rPr b="1" i="0" lang="en-US" sz="2500" u="none" cap="none" strike="noStrike">
                <a:solidFill>
                  <a:schemeClr val="lt1"/>
                </a:solidFill>
                <a:highlight>
                  <a:srgbClr val="8CA8BA"/>
                </a:highlight>
                <a:latin typeface="Avenir"/>
                <a:ea typeface="Avenir"/>
                <a:cs typeface="Avenir"/>
                <a:sym typeface="Avenir"/>
                <a:extLst>
                  <a:ext uri="http://customooxmlschemas.google.com/">
                    <go:slidesCustomData xmlns:go="http://customooxmlschemas.google.com/" textRoundtripDataId="3"/>
                  </a:ext>
                </a:extLst>
              </a:rPr>
              <a:t>A mapear sus talentos,</a:t>
            </a:r>
            <a:r>
              <a:rPr b="1" i="0" lang="en-US" sz="2100" u="none" cap="none" strike="noStrike">
                <a:solidFill>
                  <a:srgbClr val="54565B"/>
                </a:solidFill>
                <a:latin typeface="Avenir"/>
                <a:ea typeface="Avenir"/>
                <a:cs typeface="Avenir"/>
                <a:sym typeface="Avenir"/>
              </a:rPr>
              <a:t> profundizando en el conocimiento de sus competencias y potencial.</a:t>
            </a:r>
            <a:endParaRPr b="1" i="0" sz="1400" u="none" cap="none" strike="noStrike">
              <a:solidFill>
                <a:srgbClr val="54565B"/>
              </a:solidFill>
              <a:latin typeface="Avenir"/>
              <a:ea typeface="Avenir"/>
              <a:cs typeface="Avenir"/>
              <a:sym typeface="Avenir"/>
            </a:endParaRPr>
          </a:p>
        </p:txBody>
      </p:sp>
      <p:sp>
        <p:nvSpPr>
          <p:cNvPr id="118" name="Google Shape;118;g35bed67c570_0_0"/>
          <p:cNvSpPr/>
          <p:nvPr/>
        </p:nvSpPr>
        <p:spPr>
          <a:xfrm>
            <a:off x="1233363" y="4884963"/>
            <a:ext cx="989464" cy="989464"/>
          </a:xfrm>
          <a:custGeom>
            <a:rect b="b" l="l" r="r" t="t"/>
            <a:pathLst>
              <a:path extrusionOk="0" h="989464" w="989464">
                <a:moveTo>
                  <a:pt x="0" y="0"/>
                </a:moveTo>
                <a:lnTo>
                  <a:pt x="989463" y="0"/>
                </a:lnTo>
                <a:lnTo>
                  <a:pt x="989463" y="989463"/>
                </a:lnTo>
                <a:lnTo>
                  <a:pt x="0" y="98946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35bed67c570_0_0"/>
          <p:cNvSpPr txBox="1"/>
          <p:nvPr/>
        </p:nvSpPr>
        <p:spPr>
          <a:xfrm>
            <a:off x="21070950" y="-728875"/>
            <a:ext cx="12722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20" name="Google Shape;120;g35bed67c570_0_0"/>
          <p:cNvSpPr txBox="1"/>
          <p:nvPr/>
        </p:nvSpPr>
        <p:spPr>
          <a:xfrm>
            <a:off x="2544450" y="4884975"/>
            <a:ext cx="7151400" cy="808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100"/>
              <a:buFont typeface="Arial"/>
              <a:buNone/>
            </a:pPr>
            <a:r>
              <a:rPr b="0" i="0" lang="en-US" sz="2100" u="none" cap="none" strike="noStrike">
                <a:solidFill>
                  <a:srgbClr val="54565B"/>
                </a:solidFill>
                <a:latin typeface="Avenir"/>
                <a:ea typeface="Avenir"/>
                <a:cs typeface="Avenir"/>
                <a:sym typeface="Avenir"/>
              </a:rPr>
              <a:t>Este enfoque busca maximizar el self-awareness para lograr un impacto positivo en las personas.</a:t>
            </a:r>
            <a:endParaRPr b="0" i="0" sz="1400" u="none" cap="none" strike="noStrike">
              <a:solidFill>
                <a:srgbClr val="54565B"/>
              </a:solidFill>
              <a:latin typeface="Avenir"/>
              <a:ea typeface="Avenir"/>
              <a:cs typeface="Avenir"/>
              <a:sym typeface="Avenir"/>
            </a:endParaRPr>
          </a:p>
        </p:txBody>
      </p:sp>
      <p:sp>
        <p:nvSpPr>
          <p:cNvPr id="121" name="Google Shape;121;g35bed67c570_0_0"/>
          <p:cNvSpPr txBox="1"/>
          <p:nvPr/>
        </p:nvSpPr>
        <p:spPr>
          <a:xfrm>
            <a:off x="1065853" y="1867150"/>
            <a:ext cx="7677900" cy="8166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5306" u="none" cap="none" strike="noStrike">
                <a:solidFill>
                  <a:srgbClr val="F8BF00"/>
                </a:solidFill>
                <a:latin typeface="Garamond"/>
                <a:ea typeface="Garamond"/>
                <a:cs typeface="Garamond"/>
                <a:sym typeface="Garamond"/>
              </a:rPr>
              <a:t>ORGANIZACIONES:</a:t>
            </a:r>
            <a:endParaRPr b="0" i="0" sz="1400" u="none" cap="none" strike="noStrike">
              <a:solidFill>
                <a:srgbClr val="000000"/>
              </a:solidFill>
              <a:latin typeface="Arial"/>
              <a:ea typeface="Arial"/>
              <a:cs typeface="Arial"/>
              <a:sym typeface="Arial"/>
            </a:endParaRPr>
          </a:p>
        </p:txBody>
      </p:sp>
      <p:sp>
        <p:nvSpPr>
          <p:cNvPr id="122" name="Google Shape;122;g35bed67c570_0_0"/>
          <p:cNvSpPr txBox="1"/>
          <p:nvPr/>
        </p:nvSpPr>
        <p:spPr>
          <a:xfrm>
            <a:off x="1028700" y="885825"/>
            <a:ext cx="8331900" cy="10872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7064"/>
              <a:buFont typeface="Arial"/>
              <a:buNone/>
            </a:pPr>
            <a:r>
              <a:rPr b="1" i="0" lang="en-US" sz="7064" u="none" cap="none" strike="noStrike">
                <a:solidFill>
                  <a:srgbClr val="54565B"/>
                </a:solidFill>
                <a:latin typeface="Garamond"/>
                <a:ea typeface="Garamond"/>
                <a:cs typeface="Garamond"/>
                <a:sym typeface="Garamond"/>
              </a:rPr>
              <a:t>Acompañamos a las</a:t>
            </a:r>
            <a:endParaRPr b="0" i="0" sz="1400" u="none" cap="none" strike="noStrike">
              <a:solidFill>
                <a:srgbClr val="54565B"/>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65B"/>
        </a:solidFill>
      </p:bgPr>
    </p:bg>
    <p:spTree>
      <p:nvGrpSpPr>
        <p:cNvPr id="126" name="Shape 126"/>
        <p:cNvGrpSpPr/>
        <p:nvPr/>
      </p:nvGrpSpPr>
      <p:grpSpPr>
        <a:xfrm>
          <a:off x="0" y="0"/>
          <a:ext cx="0" cy="0"/>
          <a:chOff x="0" y="0"/>
          <a:chExt cx="0" cy="0"/>
        </a:xfrm>
      </p:grpSpPr>
      <p:cxnSp>
        <p:nvCxnSpPr>
          <p:cNvPr id="127" name="Google Shape;127;g35bed67c570_0_21"/>
          <p:cNvCxnSpPr/>
          <p:nvPr/>
        </p:nvCxnSpPr>
        <p:spPr>
          <a:xfrm>
            <a:off x="8995382" y="5061659"/>
            <a:ext cx="7351800" cy="0"/>
          </a:xfrm>
          <a:prstGeom prst="straightConnector1">
            <a:avLst/>
          </a:prstGeom>
          <a:noFill/>
          <a:ln cap="rnd" cmpd="sng" w="28575">
            <a:solidFill>
              <a:srgbClr val="FFFFFF"/>
            </a:solidFill>
            <a:prstDash val="dot"/>
            <a:round/>
            <a:headEnd len="sm" w="sm" type="none"/>
            <a:tailEnd len="sm" w="sm" type="none"/>
          </a:ln>
        </p:spPr>
      </p:cxnSp>
      <p:cxnSp>
        <p:nvCxnSpPr>
          <p:cNvPr id="128" name="Google Shape;128;g35bed67c570_0_21"/>
          <p:cNvCxnSpPr/>
          <p:nvPr/>
        </p:nvCxnSpPr>
        <p:spPr>
          <a:xfrm>
            <a:off x="8995382" y="7245289"/>
            <a:ext cx="7351800" cy="0"/>
          </a:xfrm>
          <a:prstGeom prst="straightConnector1">
            <a:avLst/>
          </a:prstGeom>
          <a:noFill/>
          <a:ln cap="rnd" cmpd="sng" w="28575">
            <a:solidFill>
              <a:srgbClr val="FFFFFF"/>
            </a:solidFill>
            <a:prstDash val="dot"/>
            <a:round/>
            <a:headEnd len="sm" w="sm" type="none"/>
            <a:tailEnd len="sm" w="sm" type="none"/>
          </a:ln>
        </p:spPr>
      </p:cxnSp>
      <p:cxnSp>
        <p:nvCxnSpPr>
          <p:cNvPr id="129" name="Google Shape;129;g35bed67c570_0_21"/>
          <p:cNvCxnSpPr/>
          <p:nvPr/>
        </p:nvCxnSpPr>
        <p:spPr>
          <a:xfrm>
            <a:off x="8995382" y="2879747"/>
            <a:ext cx="7351800" cy="0"/>
          </a:xfrm>
          <a:prstGeom prst="straightConnector1">
            <a:avLst/>
          </a:prstGeom>
          <a:noFill/>
          <a:ln cap="rnd" cmpd="sng" w="28575">
            <a:solidFill>
              <a:srgbClr val="FFFFFF"/>
            </a:solidFill>
            <a:prstDash val="dot"/>
            <a:round/>
            <a:headEnd len="sm" w="sm" type="none"/>
            <a:tailEnd len="sm" w="sm" type="none"/>
          </a:ln>
        </p:spPr>
      </p:cxnSp>
      <p:sp>
        <p:nvSpPr>
          <p:cNvPr id="130" name="Google Shape;130;g35bed67c570_0_21"/>
          <p:cNvSpPr txBox="1"/>
          <p:nvPr/>
        </p:nvSpPr>
        <p:spPr>
          <a:xfrm>
            <a:off x="10826106" y="3407177"/>
            <a:ext cx="5176800" cy="1089300"/>
          </a:xfrm>
          <a:prstGeom prst="rect">
            <a:avLst/>
          </a:prstGeom>
          <a:noFill/>
          <a:ln>
            <a:noFill/>
          </a:ln>
        </p:spPr>
        <p:txBody>
          <a:bodyPr anchorCtr="0" anchor="t" bIns="0" lIns="0" spcFirstLastPara="1" rIns="0" wrap="square" tIns="0">
            <a:spAutoFit/>
          </a:bodyPr>
          <a:lstStyle/>
          <a:p>
            <a:pPr indent="0" lvl="0" marL="0" marR="0" rtl="0" algn="l">
              <a:lnSpc>
                <a:spcPct val="127013"/>
              </a:lnSpc>
              <a:spcBef>
                <a:spcPts val="0"/>
              </a:spcBef>
              <a:spcAft>
                <a:spcPts val="0"/>
              </a:spcAft>
              <a:buClr>
                <a:srgbClr val="000000"/>
              </a:buClr>
              <a:buSzPts val="1999"/>
              <a:buFont typeface="Arial"/>
              <a:buNone/>
            </a:pPr>
            <a:r>
              <a:rPr b="0" i="0" lang="en-US" sz="1999" u="none" cap="none" strike="noStrike">
                <a:solidFill>
                  <a:srgbClr val="E5E5E4"/>
                </a:solidFill>
                <a:latin typeface="Avenir"/>
                <a:ea typeface="Avenir"/>
                <a:cs typeface="Avenir"/>
                <a:sym typeface="Avenir"/>
              </a:rPr>
              <a:t>                            candidatos internos y externos para roles específicos basándose en información objetiva y detallada.</a:t>
            </a:r>
            <a:endParaRPr b="0" i="0" sz="1400" u="none" cap="none" strike="noStrike">
              <a:solidFill>
                <a:srgbClr val="000000"/>
              </a:solidFill>
              <a:latin typeface="Arial"/>
              <a:ea typeface="Arial"/>
              <a:cs typeface="Arial"/>
              <a:sym typeface="Arial"/>
            </a:endParaRPr>
          </a:p>
        </p:txBody>
      </p:sp>
      <p:sp>
        <p:nvSpPr>
          <p:cNvPr id="131" name="Google Shape;131;g35bed67c570_0_21"/>
          <p:cNvSpPr txBox="1"/>
          <p:nvPr/>
        </p:nvSpPr>
        <p:spPr>
          <a:xfrm>
            <a:off x="10826106" y="1247394"/>
            <a:ext cx="5774400" cy="1480200"/>
          </a:xfrm>
          <a:prstGeom prst="rect">
            <a:avLst/>
          </a:prstGeom>
          <a:noFill/>
          <a:ln>
            <a:noFill/>
          </a:ln>
        </p:spPr>
        <p:txBody>
          <a:bodyPr anchorCtr="0" anchor="t" bIns="0" lIns="0" spcFirstLastPara="1" rIns="0" wrap="square" tIns="0">
            <a:spAutoFit/>
          </a:bodyPr>
          <a:lstStyle/>
          <a:p>
            <a:pPr indent="0" lvl="0" marL="0" marR="0" rtl="0" algn="l">
              <a:lnSpc>
                <a:spcPct val="127013"/>
              </a:lnSpc>
              <a:spcBef>
                <a:spcPts val="0"/>
              </a:spcBef>
              <a:spcAft>
                <a:spcPts val="0"/>
              </a:spcAft>
              <a:buClr>
                <a:srgbClr val="000000"/>
              </a:buClr>
              <a:buSzPts val="1999"/>
              <a:buFont typeface="Arial"/>
              <a:buNone/>
            </a:pPr>
            <a:r>
              <a:rPr b="0" i="0" lang="en-US" sz="1999" u="none" cap="none" strike="noStrike">
                <a:solidFill>
                  <a:srgbClr val="E5E5E4"/>
                </a:solidFill>
                <a:latin typeface="Avenir"/>
                <a:ea typeface="Avenir"/>
                <a:cs typeface="Avenir"/>
                <a:sym typeface="Avenir"/>
              </a:rPr>
              <a:t>                       planes de desarrollo personalizados utilizando información detallada sobre el potencial, las competencias y el mindset de los colaboradores.</a:t>
            </a:r>
            <a:endParaRPr b="0" i="0" sz="1400" u="none" cap="none" strike="noStrike">
              <a:solidFill>
                <a:srgbClr val="000000"/>
              </a:solidFill>
              <a:latin typeface="Arial"/>
              <a:ea typeface="Arial"/>
              <a:cs typeface="Arial"/>
              <a:sym typeface="Arial"/>
            </a:endParaRPr>
          </a:p>
        </p:txBody>
      </p:sp>
      <p:sp>
        <p:nvSpPr>
          <p:cNvPr id="132" name="Google Shape;132;g35bed67c570_0_21"/>
          <p:cNvSpPr txBox="1"/>
          <p:nvPr/>
        </p:nvSpPr>
        <p:spPr>
          <a:xfrm>
            <a:off x="10826106" y="5472369"/>
            <a:ext cx="5723100" cy="1480200"/>
          </a:xfrm>
          <a:prstGeom prst="rect">
            <a:avLst/>
          </a:prstGeom>
          <a:noFill/>
          <a:ln>
            <a:noFill/>
          </a:ln>
        </p:spPr>
        <p:txBody>
          <a:bodyPr anchorCtr="0" anchor="t" bIns="0" lIns="0" spcFirstLastPara="1" rIns="0" wrap="square" tIns="0">
            <a:spAutoFit/>
          </a:bodyPr>
          <a:lstStyle/>
          <a:p>
            <a:pPr indent="0" lvl="0" marL="0" marR="0" rtl="0" algn="l">
              <a:lnSpc>
                <a:spcPct val="127013"/>
              </a:lnSpc>
              <a:spcBef>
                <a:spcPts val="0"/>
              </a:spcBef>
              <a:spcAft>
                <a:spcPts val="0"/>
              </a:spcAft>
              <a:buClr>
                <a:srgbClr val="000000"/>
              </a:buClr>
              <a:buSzPts val="1999"/>
              <a:buFont typeface="Arial"/>
              <a:buNone/>
            </a:pPr>
            <a:r>
              <a:rPr b="0" i="0" lang="en-US" sz="1999" u="none" cap="none" strike="noStrike">
                <a:solidFill>
                  <a:srgbClr val="E5E5E4"/>
                </a:solidFill>
                <a:latin typeface="Avenir"/>
                <a:ea typeface="Avenir"/>
                <a:cs typeface="Avenir"/>
                <a:sym typeface="Avenir"/>
              </a:rPr>
              <a:t>                        la experiencia del colaborador al crear conciencia sobre sus áreas de oportunidad y fortalezas, lo que puede aumentar la motivación y el compromiso.</a:t>
            </a:r>
            <a:endParaRPr b="0" i="0" sz="1400" u="none" cap="none" strike="noStrike">
              <a:solidFill>
                <a:srgbClr val="000000"/>
              </a:solidFill>
              <a:latin typeface="Arial"/>
              <a:ea typeface="Arial"/>
              <a:cs typeface="Arial"/>
              <a:sym typeface="Arial"/>
            </a:endParaRPr>
          </a:p>
        </p:txBody>
      </p:sp>
      <p:sp>
        <p:nvSpPr>
          <p:cNvPr id="133" name="Google Shape;133;g35bed67c570_0_21"/>
          <p:cNvSpPr txBox="1"/>
          <p:nvPr/>
        </p:nvSpPr>
        <p:spPr>
          <a:xfrm>
            <a:off x="10826106" y="7769164"/>
            <a:ext cx="5774400" cy="1480200"/>
          </a:xfrm>
          <a:prstGeom prst="rect">
            <a:avLst/>
          </a:prstGeom>
          <a:noFill/>
          <a:ln>
            <a:noFill/>
          </a:ln>
        </p:spPr>
        <p:txBody>
          <a:bodyPr anchorCtr="0" anchor="t" bIns="0" lIns="0" spcFirstLastPara="1" rIns="0" wrap="square" tIns="0">
            <a:spAutoFit/>
          </a:bodyPr>
          <a:lstStyle/>
          <a:p>
            <a:pPr indent="0" lvl="0" marL="0" marR="0" rtl="0" algn="l">
              <a:lnSpc>
                <a:spcPct val="127013"/>
              </a:lnSpc>
              <a:spcBef>
                <a:spcPts val="0"/>
              </a:spcBef>
              <a:spcAft>
                <a:spcPts val="0"/>
              </a:spcAft>
              <a:buClr>
                <a:srgbClr val="000000"/>
              </a:buClr>
              <a:buSzPts val="1999"/>
              <a:buFont typeface="Arial"/>
              <a:buNone/>
            </a:pPr>
            <a:r>
              <a:rPr b="0" i="0" lang="en-US" sz="1999" u="none" cap="none" strike="noStrike">
                <a:solidFill>
                  <a:srgbClr val="E5E5E4"/>
                </a:solidFill>
                <a:latin typeface="Avenir"/>
                <a:ea typeface="Avenir"/>
                <a:cs typeface="Avenir"/>
                <a:sym typeface="Avenir"/>
              </a:rPr>
              <a:t>                                con la Marca Empleadora, mostrando interés por  el conocimiento profundo de la persona e impactando en la percepción de la empresa como un contexto deseable e inspirador.</a:t>
            </a:r>
            <a:endParaRPr b="0" i="0" sz="1999" u="none" cap="none" strike="noStrike">
              <a:solidFill>
                <a:srgbClr val="E5E5E4"/>
              </a:solidFill>
              <a:latin typeface="Avenir"/>
              <a:ea typeface="Avenir"/>
              <a:cs typeface="Avenir"/>
              <a:sym typeface="Avenir"/>
            </a:endParaRPr>
          </a:p>
        </p:txBody>
      </p:sp>
      <p:sp>
        <p:nvSpPr>
          <p:cNvPr id="134" name="Google Shape;134;g35bed67c570_0_21"/>
          <p:cNvSpPr txBox="1"/>
          <p:nvPr/>
        </p:nvSpPr>
        <p:spPr>
          <a:xfrm>
            <a:off x="1065851" y="1867150"/>
            <a:ext cx="6291300" cy="8166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5306" u="none" cap="none" strike="noStrike">
                <a:solidFill>
                  <a:srgbClr val="F8BF00"/>
                </a:solidFill>
                <a:latin typeface="Garamond"/>
                <a:ea typeface="Garamond"/>
                <a:cs typeface="Garamond"/>
                <a:sym typeface="Garamond"/>
              </a:rPr>
              <a:t>DEL ASSESSMENT:</a:t>
            </a:r>
            <a:endParaRPr b="0" i="0" sz="1400" u="none" cap="none" strike="noStrike">
              <a:solidFill>
                <a:srgbClr val="000000"/>
              </a:solidFill>
              <a:latin typeface="Arial"/>
              <a:ea typeface="Arial"/>
              <a:cs typeface="Arial"/>
              <a:sym typeface="Arial"/>
            </a:endParaRPr>
          </a:p>
        </p:txBody>
      </p:sp>
      <p:sp>
        <p:nvSpPr>
          <p:cNvPr id="135" name="Google Shape;135;g35bed67c570_0_21"/>
          <p:cNvSpPr txBox="1"/>
          <p:nvPr/>
        </p:nvSpPr>
        <p:spPr>
          <a:xfrm>
            <a:off x="1028700" y="885825"/>
            <a:ext cx="5599500" cy="10872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7064"/>
              <a:buFont typeface="Arial"/>
              <a:buNone/>
            </a:pPr>
            <a:r>
              <a:rPr b="1" i="0" lang="en-US" sz="7064" u="none" cap="none" strike="noStrike">
                <a:solidFill>
                  <a:srgbClr val="FFFFFF"/>
                </a:solidFill>
                <a:latin typeface="Garamond"/>
                <a:ea typeface="Garamond"/>
                <a:cs typeface="Garamond"/>
                <a:sym typeface="Garamond"/>
              </a:rPr>
              <a:t>Beneficios</a:t>
            </a:r>
            <a:endParaRPr b="0" i="0" sz="1400" u="none" cap="none" strike="noStrike">
              <a:solidFill>
                <a:srgbClr val="000000"/>
              </a:solidFill>
              <a:latin typeface="Arial"/>
              <a:ea typeface="Arial"/>
              <a:cs typeface="Arial"/>
              <a:sym typeface="Arial"/>
            </a:endParaRPr>
          </a:p>
        </p:txBody>
      </p:sp>
      <p:sp>
        <p:nvSpPr>
          <p:cNvPr id="136" name="Google Shape;136;g35bed67c570_0_21"/>
          <p:cNvSpPr/>
          <p:nvPr/>
        </p:nvSpPr>
        <p:spPr>
          <a:xfrm>
            <a:off x="9638573" y="1168908"/>
            <a:ext cx="434489" cy="434489"/>
          </a:xfrm>
          <a:custGeom>
            <a:rect b="b" l="l" r="r" t="t"/>
            <a:pathLst>
              <a:path extrusionOk="0" h="434489" w="434489">
                <a:moveTo>
                  <a:pt x="0" y="0"/>
                </a:moveTo>
                <a:lnTo>
                  <a:pt x="434489" y="0"/>
                </a:lnTo>
                <a:lnTo>
                  <a:pt x="434489" y="434489"/>
                </a:lnTo>
                <a:lnTo>
                  <a:pt x="0" y="4344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5bed67c570_0_21"/>
          <p:cNvSpPr txBox="1"/>
          <p:nvPr/>
        </p:nvSpPr>
        <p:spPr>
          <a:xfrm>
            <a:off x="10826106" y="1130808"/>
            <a:ext cx="1804800" cy="388500"/>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524"/>
              <a:buFont typeface="Arial"/>
              <a:buNone/>
            </a:pPr>
            <a:r>
              <a:rPr b="1" i="0" lang="en-US" sz="2524" u="none" cap="none" strike="noStrike">
                <a:solidFill>
                  <a:srgbClr val="F8BF00"/>
                </a:solidFill>
                <a:latin typeface="Garamond"/>
                <a:ea typeface="Garamond"/>
                <a:cs typeface="Garamond"/>
                <a:sym typeface="Garamond"/>
              </a:rPr>
              <a:t>DISEÑAR</a:t>
            </a:r>
            <a:endParaRPr b="0" i="0" sz="1400" u="none" cap="none" strike="noStrike">
              <a:solidFill>
                <a:srgbClr val="000000"/>
              </a:solidFill>
              <a:latin typeface="Arial"/>
              <a:ea typeface="Arial"/>
              <a:cs typeface="Arial"/>
              <a:sym typeface="Arial"/>
            </a:endParaRPr>
          </a:p>
        </p:txBody>
      </p:sp>
      <p:sp>
        <p:nvSpPr>
          <p:cNvPr id="138" name="Google Shape;138;g35bed67c570_0_21"/>
          <p:cNvSpPr/>
          <p:nvPr/>
        </p:nvSpPr>
        <p:spPr>
          <a:xfrm>
            <a:off x="203171" y="3464327"/>
            <a:ext cx="6612025" cy="6364266"/>
          </a:xfrm>
          <a:custGeom>
            <a:rect b="b" l="l" r="r" t="t"/>
            <a:pathLst>
              <a:path extrusionOk="0" h="6364266" w="6612025">
                <a:moveTo>
                  <a:pt x="0" y="0"/>
                </a:moveTo>
                <a:lnTo>
                  <a:pt x="6612025" y="0"/>
                </a:lnTo>
                <a:lnTo>
                  <a:pt x="6612025" y="6364266"/>
                </a:lnTo>
                <a:lnTo>
                  <a:pt x="0" y="6364266"/>
                </a:lnTo>
                <a:lnTo>
                  <a:pt x="0" y="0"/>
                </a:lnTo>
                <a:close/>
              </a:path>
            </a:pathLst>
          </a:custGeom>
          <a:blipFill rotWithShape="1">
            <a:blip r:embed="rId4">
              <a:alphaModFix/>
            </a:blip>
            <a:stretch>
              <a:fillRect b="0" l="-99033" r="0" t="-5022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35bed67c570_0_21"/>
          <p:cNvSpPr/>
          <p:nvPr/>
        </p:nvSpPr>
        <p:spPr>
          <a:xfrm>
            <a:off x="9638573" y="3359552"/>
            <a:ext cx="434489" cy="434489"/>
          </a:xfrm>
          <a:custGeom>
            <a:rect b="b" l="l" r="r" t="t"/>
            <a:pathLst>
              <a:path extrusionOk="0" h="434489" w="434489">
                <a:moveTo>
                  <a:pt x="0" y="0"/>
                </a:moveTo>
                <a:lnTo>
                  <a:pt x="434489" y="0"/>
                </a:lnTo>
                <a:lnTo>
                  <a:pt x="434489" y="434489"/>
                </a:lnTo>
                <a:lnTo>
                  <a:pt x="0" y="4344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5bed67c570_0_21"/>
          <p:cNvSpPr txBox="1"/>
          <p:nvPr/>
        </p:nvSpPr>
        <p:spPr>
          <a:xfrm>
            <a:off x="10826106" y="3321452"/>
            <a:ext cx="2287500" cy="388500"/>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524"/>
              <a:buFont typeface="Arial"/>
              <a:buNone/>
            </a:pPr>
            <a:r>
              <a:rPr b="1" i="0" lang="en-US" sz="2524" u="none" cap="none" strike="noStrike">
                <a:solidFill>
                  <a:srgbClr val="F8BF00"/>
                </a:solidFill>
                <a:latin typeface="Garamond"/>
                <a:ea typeface="Garamond"/>
                <a:cs typeface="Garamond"/>
                <a:sym typeface="Garamond"/>
              </a:rPr>
              <a:t>COMPARAR</a:t>
            </a:r>
            <a:endParaRPr b="0" i="0" sz="1400" u="none" cap="none" strike="noStrike">
              <a:solidFill>
                <a:srgbClr val="000000"/>
              </a:solidFill>
              <a:latin typeface="Arial"/>
              <a:ea typeface="Arial"/>
              <a:cs typeface="Arial"/>
              <a:sym typeface="Arial"/>
            </a:endParaRPr>
          </a:p>
        </p:txBody>
      </p:sp>
      <p:sp>
        <p:nvSpPr>
          <p:cNvPr id="141" name="Google Shape;141;g35bed67c570_0_21"/>
          <p:cNvSpPr/>
          <p:nvPr/>
        </p:nvSpPr>
        <p:spPr>
          <a:xfrm>
            <a:off x="9638573" y="5423609"/>
            <a:ext cx="434489" cy="434489"/>
          </a:xfrm>
          <a:custGeom>
            <a:rect b="b" l="l" r="r" t="t"/>
            <a:pathLst>
              <a:path extrusionOk="0" h="434489" w="434489">
                <a:moveTo>
                  <a:pt x="0" y="0"/>
                </a:moveTo>
                <a:lnTo>
                  <a:pt x="434489" y="0"/>
                </a:lnTo>
                <a:lnTo>
                  <a:pt x="434489" y="434489"/>
                </a:lnTo>
                <a:lnTo>
                  <a:pt x="0" y="4344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5bed67c570_0_21"/>
          <p:cNvSpPr txBox="1"/>
          <p:nvPr/>
        </p:nvSpPr>
        <p:spPr>
          <a:xfrm>
            <a:off x="10826106" y="5385509"/>
            <a:ext cx="1957200" cy="388500"/>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524"/>
              <a:buFont typeface="Arial"/>
              <a:buNone/>
            </a:pPr>
            <a:r>
              <a:rPr b="1" i="0" lang="en-US" sz="2524" u="none" cap="none" strike="noStrike">
                <a:solidFill>
                  <a:srgbClr val="F8BF00"/>
                </a:solidFill>
                <a:latin typeface="Garamond"/>
                <a:ea typeface="Garamond"/>
                <a:cs typeface="Garamond"/>
                <a:sym typeface="Garamond"/>
              </a:rPr>
              <a:t>MEJORAR</a:t>
            </a:r>
            <a:endParaRPr b="0" i="0" sz="1400" u="none" cap="none" strike="noStrike">
              <a:solidFill>
                <a:srgbClr val="000000"/>
              </a:solidFill>
              <a:latin typeface="Arial"/>
              <a:ea typeface="Arial"/>
              <a:cs typeface="Arial"/>
              <a:sym typeface="Arial"/>
            </a:endParaRPr>
          </a:p>
        </p:txBody>
      </p:sp>
      <p:sp>
        <p:nvSpPr>
          <p:cNvPr id="143" name="Google Shape;143;g35bed67c570_0_21"/>
          <p:cNvSpPr/>
          <p:nvPr/>
        </p:nvSpPr>
        <p:spPr>
          <a:xfrm>
            <a:off x="9638573" y="7745861"/>
            <a:ext cx="434489" cy="434489"/>
          </a:xfrm>
          <a:custGeom>
            <a:rect b="b" l="l" r="r" t="t"/>
            <a:pathLst>
              <a:path extrusionOk="0" h="434489" w="434489">
                <a:moveTo>
                  <a:pt x="0" y="0"/>
                </a:moveTo>
                <a:lnTo>
                  <a:pt x="434489" y="0"/>
                </a:lnTo>
                <a:lnTo>
                  <a:pt x="434489" y="434489"/>
                </a:lnTo>
                <a:lnTo>
                  <a:pt x="0" y="4344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5bed67c570_0_21"/>
          <p:cNvSpPr txBox="1"/>
          <p:nvPr/>
        </p:nvSpPr>
        <p:spPr>
          <a:xfrm>
            <a:off x="10826106" y="7707761"/>
            <a:ext cx="2588400" cy="388500"/>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524"/>
              <a:buFont typeface="Arial"/>
              <a:buNone/>
            </a:pPr>
            <a:r>
              <a:rPr b="1" i="0" lang="en-US" sz="2524" u="none" cap="none" strike="noStrike">
                <a:solidFill>
                  <a:srgbClr val="F8BF00"/>
                </a:solidFill>
                <a:latin typeface="Garamond"/>
                <a:ea typeface="Garamond"/>
                <a:cs typeface="Garamond"/>
                <a:sym typeface="Garamond"/>
              </a:rPr>
              <a:t>CONTRIBUIR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65B"/>
        </a:solidFill>
      </p:bgPr>
    </p:bg>
    <p:spTree>
      <p:nvGrpSpPr>
        <p:cNvPr id="148" name="Shape 148"/>
        <p:cNvGrpSpPr/>
        <p:nvPr/>
      </p:nvGrpSpPr>
      <p:grpSpPr>
        <a:xfrm>
          <a:off x="0" y="0"/>
          <a:ext cx="0" cy="0"/>
          <a:chOff x="0" y="0"/>
          <a:chExt cx="0" cy="0"/>
        </a:xfrm>
      </p:grpSpPr>
      <p:grpSp>
        <p:nvGrpSpPr>
          <p:cNvPr id="149" name="Google Shape;149;g3de4278f290_0_22"/>
          <p:cNvGrpSpPr/>
          <p:nvPr/>
        </p:nvGrpSpPr>
        <p:grpSpPr>
          <a:xfrm rot="5400000">
            <a:off x="3163475" y="-3027932"/>
            <a:ext cx="767733" cy="7846127"/>
            <a:chOff x="0" y="-123825"/>
            <a:chExt cx="202200" cy="2066456"/>
          </a:xfrm>
        </p:grpSpPr>
        <p:sp>
          <p:nvSpPr>
            <p:cNvPr id="150" name="Google Shape;150;g3de4278f290_0_22"/>
            <p:cNvSpPr/>
            <p:nvPr/>
          </p:nvSpPr>
          <p:spPr>
            <a:xfrm>
              <a:off x="0" y="0"/>
              <a:ext cx="202089" cy="1942631"/>
            </a:xfrm>
            <a:custGeom>
              <a:rect b="b" l="l" r="r" t="t"/>
              <a:pathLst>
                <a:path extrusionOk="0" h="1942631" w="202089">
                  <a:moveTo>
                    <a:pt x="101045" y="0"/>
                  </a:moveTo>
                  <a:lnTo>
                    <a:pt x="101045" y="0"/>
                  </a:lnTo>
                  <a:cubicBezTo>
                    <a:pt x="127843" y="0"/>
                    <a:pt x="153544" y="10646"/>
                    <a:pt x="172494" y="29595"/>
                  </a:cubicBezTo>
                  <a:cubicBezTo>
                    <a:pt x="191443" y="48545"/>
                    <a:pt x="202089" y="74246"/>
                    <a:pt x="202089" y="101045"/>
                  </a:cubicBezTo>
                  <a:lnTo>
                    <a:pt x="202089" y="1841587"/>
                  </a:lnTo>
                  <a:cubicBezTo>
                    <a:pt x="202089" y="1868385"/>
                    <a:pt x="191443" y="1894086"/>
                    <a:pt x="172494" y="1913036"/>
                  </a:cubicBezTo>
                  <a:cubicBezTo>
                    <a:pt x="153544" y="1931985"/>
                    <a:pt x="127843" y="1942631"/>
                    <a:pt x="101045" y="1942631"/>
                  </a:cubicBezTo>
                  <a:lnTo>
                    <a:pt x="101045" y="1942631"/>
                  </a:lnTo>
                  <a:cubicBezTo>
                    <a:pt x="74246" y="1942631"/>
                    <a:pt x="48545" y="1931985"/>
                    <a:pt x="29595" y="1913036"/>
                  </a:cubicBezTo>
                  <a:cubicBezTo>
                    <a:pt x="10646" y="1894086"/>
                    <a:pt x="0" y="1868385"/>
                    <a:pt x="0" y="1841587"/>
                  </a:cubicBezTo>
                  <a:lnTo>
                    <a:pt x="0" y="101045"/>
                  </a:lnTo>
                  <a:cubicBezTo>
                    <a:pt x="0" y="74246"/>
                    <a:pt x="10646" y="48545"/>
                    <a:pt x="29595" y="29595"/>
                  </a:cubicBezTo>
                  <a:cubicBezTo>
                    <a:pt x="48545" y="10646"/>
                    <a:pt x="74246" y="0"/>
                    <a:pt x="101045" y="0"/>
                  </a:cubicBezTo>
                  <a:close/>
                </a:path>
              </a:pathLst>
            </a:custGeom>
            <a:solidFill>
              <a:srgbClr val="8CA8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de4278f290_0_22"/>
            <p:cNvSpPr txBox="1"/>
            <p:nvPr/>
          </p:nvSpPr>
          <p:spPr>
            <a:xfrm>
              <a:off x="0" y="-123825"/>
              <a:ext cx="202200" cy="20664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2" name="Google Shape;152;g3de4278f290_0_22"/>
          <p:cNvSpPr/>
          <p:nvPr/>
        </p:nvSpPr>
        <p:spPr>
          <a:xfrm>
            <a:off x="10657759" y="1787637"/>
            <a:ext cx="30000" cy="7894500"/>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de4278f290_0_22"/>
          <p:cNvSpPr/>
          <p:nvPr/>
        </p:nvSpPr>
        <p:spPr>
          <a:xfrm>
            <a:off x="11567768" y="1406618"/>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de4278f290_0_22"/>
          <p:cNvSpPr txBox="1"/>
          <p:nvPr/>
        </p:nvSpPr>
        <p:spPr>
          <a:xfrm>
            <a:off x="492929" y="594825"/>
            <a:ext cx="5719800" cy="492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3200"/>
              <a:buFont typeface="Arial"/>
              <a:buNone/>
            </a:pPr>
            <a:r>
              <a:rPr b="0" i="0" lang="en-US" sz="3200" u="none" cap="none" strike="noStrike">
                <a:solidFill>
                  <a:srgbClr val="FFFFFF"/>
                </a:solidFill>
                <a:latin typeface="Arial"/>
                <a:ea typeface="Arial"/>
                <a:cs typeface="Arial"/>
                <a:sym typeface="Arial"/>
              </a:rPr>
              <a:t>Tipos de ASSESSMENT</a:t>
            </a:r>
            <a:endParaRPr b="0" i="0" sz="1400" u="none" cap="none" strike="noStrike">
              <a:solidFill>
                <a:srgbClr val="000000"/>
              </a:solidFill>
              <a:latin typeface="Arial"/>
              <a:ea typeface="Arial"/>
              <a:cs typeface="Arial"/>
              <a:sym typeface="Arial"/>
            </a:endParaRPr>
          </a:p>
        </p:txBody>
      </p:sp>
      <p:sp>
        <p:nvSpPr>
          <p:cNvPr id="155" name="Google Shape;155;g3de4278f290_0_22"/>
          <p:cNvSpPr txBox="1"/>
          <p:nvPr/>
        </p:nvSpPr>
        <p:spPr>
          <a:xfrm>
            <a:off x="15950725" y="899876"/>
            <a:ext cx="1968900" cy="369300"/>
          </a:xfrm>
          <a:prstGeom prst="rect">
            <a:avLst/>
          </a:prstGeom>
          <a:noFill/>
          <a:ln>
            <a:noFill/>
          </a:ln>
        </p:spPr>
        <p:txBody>
          <a:bodyPr anchorCtr="0" anchor="t" bIns="0" lIns="0" spcFirstLastPara="1" rIns="0" wrap="square" tIns="0">
            <a:spAutoFit/>
          </a:bodyPr>
          <a:lstStyle/>
          <a:p>
            <a:pPr indent="0" lvl="0" marL="0" marR="0" rtl="0" algn="just">
              <a:lnSpc>
                <a:spcPct val="111000"/>
              </a:lnSpc>
              <a:spcBef>
                <a:spcPts val="0"/>
              </a:spcBef>
              <a:spcAft>
                <a:spcPts val="0"/>
              </a:spcAft>
              <a:buClr>
                <a:srgbClr val="000000"/>
              </a:buClr>
              <a:buSzPts val="2400"/>
              <a:buFont typeface="Arial"/>
              <a:buNone/>
            </a:pPr>
            <a:r>
              <a:rPr b="1" i="0" lang="en-US" sz="2400" u="none" cap="none" strike="noStrike">
                <a:solidFill>
                  <a:srgbClr val="E5E5E4"/>
                </a:solidFill>
                <a:latin typeface="Garamond"/>
                <a:ea typeface="Garamond"/>
                <a:cs typeface="Garamond"/>
                <a:sym typeface="Garamond"/>
              </a:rPr>
              <a:t>ESSENTIAL</a:t>
            </a:r>
            <a:endParaRPr b="0" i="0" sz="1400" u="none" cap="none" strike="noStrike">
              <a:solidFill>
                <a:srgbClr val="000000"/>
              </a:solidFill>
              <a:latin typeface="Arial"/>
              <a:ea typeface="Arial"/>
              <a:cs typeface="Arial"/>
              <a:sym typeface="Arial"/>
            </a:endParaRPr>
          </a:p>
        </p:txBody>
      </p:sp>
      <p:sp>
        <p:nvSpPr>
          <p:cNvPr id="156" name="Google Shape;156;g3de4278f290_0_22"/>
          <p:cNvSpPr txBox="1"/>
          <p:nvPr/>
        </p:nvSpPr>
        <p:spPr>
          <a:xfrm>
            <a:off x="13468734" y="899876"/>
            <a:ext cx="1859400" cy="369300"/>
          </a:xfrm>
          <a:prstGeom prst="rect">
            <a:avLst/>
          </a:prstGeom>
          <a:noFill/>
          <a:ln>
            <a:noFill/>
          </a:ln>
        </p:spPr>
        <p:txBody>
          <a:bodyPr anchorCtr="0" anchor="t" bIns="0" lIns="0" spcFirstLastPara="1" rIns="0" wrap="square" tIns="0">
            <a:spAutoFit/>
          </a:bodyPr>
          <a:lstStyle/>
          <a:p>
            <a:pPr indent="0" lvl="0" marL="0" marR="0" rtl="0" algn="just">
              <a:lnSpc>
                <a:spcPct val="111000"/>
              </a:lnSpc>
              <a:spcBef>
                <a:spcPts val="0"/>
              </a:spcBef>
              <a:spcAft>
                <a:spcPts val="0"/>
              </a:spcAft>
              <a:buClr>
                <a:srgbClr val="000000"/>
              </a:buClr>
              <a:buSzPts val="2400"/>
              <a:buFont typeface="Arial"/>
              <a:buNone/>
            </a:pPr>
            <a:r>
              <a:rPr b="1" i="0" lang="en-US" sz="2400" u="none" cap="none" strike="noStrike">
                <a:solidFill>
                  <a:srgbClr val="E5E5E4"/>
                </a:solidFill>
                <a:latin typeface="Garamond"/>
                <a:ea typeface="Garamond"/>
                <a:cs typeface="Garamond"/>
                <a:sym typeface="Garamond"/>
              </a:rPr>
              <a:t>EXECUTIVE</a:t>
            </a:r>
            <a:endParaRPr b="0" i="0" sz="1400" u="none" cap="none" strike="noStrike">
              <a:solidFill>
                <a:srgbClr val="000000"/>
              </a:solidFill>
              <a:latin typeface="Arial"/>
              <a:ea typeface="Arial"/>
              <a:cs typeface="Arial"/>
              <a:sym typeface="Arial"/>
            </a:endParaRPr>
          </a:p>
        </p:txBody>
      </p:sp>
      <p:sp>
        <p:nvSpPr>
          <p:cNvPr id="157" name="Google Shape;157;g3de4278f290_0_22"/>
          <p:cNvSpPr txBox="1"/>
          <p:nvPr/>
        </p:nvSpPr>
        <p:spPr>
          <a:xfrm>
            <a:off x="10836572" y="899876"/>
            <a:ext cx="2009700" cy="369300"/>
          </a:xfrm>
          <a:prstGeom prst="rect">
            <a:avLst/>
          </a:prstGeom>
          <a:noFill/>
          <a:ln>
            <a:noFill/>
          </a:ln>
        </p:spPr>
        <p:txBody>
          <a:bodyPr anchorCtr="0" anchor="t" bIns="0" lIns="0" spcFirstLastPara="1" rIns="0" wrap="square" tIns="0">
            <a:spAutoFit/>
          </a:bodyPr>
          <a:lstStyle/>
          <a:p>
            <a:pPr indent="0" lvl="0" marL="0" marR="0" rtl="0" algn="just">
              <a:lnSpc>
                <a:spcPct val="111000"/>
              </a:lnSpc>
              <a:spcBef>
                <a:spcPts val="0"/>
              </a:spcBef>
              <a:spcAft>
                <a:spcPts val="0"/>
              </a:spcAft>
              <a:buClr>
                <a:srgbClr val="000000"/>
              </a:buClr>
              <a:buSzPts val="2400"/>
              <a:buFont typeface="Arial"/>
              <a:buNone/>
            </a:pPr>
            <a:r>
              <a:rPr b="1" i="0" lang="en-US" sz="2400" u="none" cap="none" strike="noStrike">
                <a:solidFill>
                  <a:srgbClr val="E5E5E4"/>
                </a:solidFill>
                <a:latin typeface="Garamond"/>
                <a:ea typeface="Garamond"/>
                <a:cs typeface="Garamond"/>
                <a:sym typeface="Garamond"/>
              </a:rPr>
              <a:t>PREMIUM</a:t>
            </a:r>
            <a:endParaRPr b="0" i="0" sz="1400" u="none" cap="none" strike="noStrike">
              <a:solidFill>
                <a:srgbClr val="000000"/>
              </a:solidFill>
              <a:latin typeface="Arial"/>
              <a:ea typeface="Arial"/>
              <a:cs typeface="Arial"/>
              <a:sym typeface="Arial"/>
            </a:endParaRPr>
          </a:p>
        </p:txBody>
      </p:sp>
      <p:sp>
        <p:nvSpPr>
          <p:cNvPr id="158" name="Google Shape;158;g3de4278f290_0_22"/>
          <p:cNvSpPr/>
          <p:nvPr/>
        </p:nvSpPr>
        <p:spPr>
          <a:xfrm>
            <a:off x="11567768" y="2583374"/>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de4278f290_0_22"/>
          <p:cNvSpPr/>
          <p:nvPr/>
        </p:nvSpPr>
        <p:spPr>
          <a:xfrm>
            <a:off x="11567768" y="3797442"/>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de4278f290_0_22"/>
          <p:cNvSpPr/>
          <p:nvPr/>
        </p:nvSpPr>
        <p:spPr>
          <a:xfrm>
            <a:off x="11567768" y="5042393"/>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de4278f290_0_22"/>
          <p:cNvSpPr/>
          <p:nvPr/>
        </p:nvSpPr>
        <p:spPr>
          <a:xfrm>
            <a:off x="11567768" y="6202827"/>
            <a:ext cx="547370" cy="547370"/>
          </a:xfrm>
          <a:custGeom>
            <a:rect b="b" l="l" r="r" t="t"/>
            <a:pathLst>
              <a:path extrusionOk="0" h="547370" w="547370">
                <a:moveTo>
                  <a:pt x="0" y="0"/>
                </a:moveTo>
                <a:lnTo>
                  <a:pt x="547370" y="0"/>
                </a:lnTo>
                <a:lnTo>
                  <a:pt x="547370" y="547369"/>
                </a:lnTo>
                <a:lnTo>
                  <a:pt x="0" y="54736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de4278f290_0_22"/>
          <p:cNvSpPr/>
          <p:nvPr/>
        </p:nvSpPr>
        <p:spPr>
          <a:xfrm>
            <a:off x="11567768" y="7510465"/>
            <a:ext cx="547370" cy="547370"/>
          </a:xfrm>
          <a:custGeom>
            <a:rect b="b" l="l" r="r" t="t"/>
            <a:pathLst>
              <a:path extrusionOk="0" h="547370" w="547370">
                <a:moveTo>
                  <a:pt x="0" y="0"/>
                </a:moveTo>
                <a:lnTo>
                  <a:pt x="547370" y="0"/>
                </a:lnTo>
                <a:lnTo>
                  <a:pt x="547370" y="547369"/>
                </a:lnTo>
                <a:lnTo>
                  <a:pt x="0" y="54736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de4278f290_0_22"/>
          <p:cNvSpPr/>
          <p:nvPr/>
        </p:nvSpPr>
        <p:spPr>
          <a:xfrm>
            <a:off x="11567768" y="8624888"/>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de4278f290_0_22"/>
          <p:cNvSpPr/>
          <p:nvPr/>
        </p:nvSpPr>
        <p:spPr>
          <a:xfrm>
            <a:off x="16681545" y="5071388"/>
            <a:ext cx="489381" cy="489381"/>
          </a:xfrm>
          <a:custGeom>
            <a:rect b="b" l="l" r="r" t="t"/>
            <a:pathLst>
              <a:path extrusionOk="0" h="489381" w="489381">
                <a:moveTo>
                  <a:pt x="0" y="0"/>
                </a:moveTo>
                <a:lnTo>
                  <a:pt x="489381" y="0"/>
                </a:lnTo>
                <a:lnTo>
                  <a:pt x="489381" y="489380"/>
                </a:lnTo>
                <a:lnTo>
                  <a:pt x="0" y="48938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3de4278f290_0_22"/>
          <p:cNvSpPr/>
          <p:nvPr/>
        </p:nvSpPr>
        <p:spPr>
          <a:xfrm>
            <a:off x="16681545" y="6231821"/>
            <a:ext cx="489381" cy="489381"/>
          </a:xfrm>
          <a:custGeom>
            <a:rect b="b" l="l" r="r" t="t"/>
            <a:pathLst>
              <a:path extrusionOk="0" h="489381" w="489381">
                <a:moveTo>
                  <a:pt x="0" y="0"/>
                </a:moveTo>
                <a:lnTo>
                  <a:pt x="489381" y="0"/>
                </a:lnTo>
                <a:lnTo>
                  <a:pt x="489381" y="489381"/>
                </a:lnTo>
                <a:lnTo>
                  <a:pt x="0" y="48938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de4278f290_0_22"/>
          <p:cNvSpPr/>
          <p:nvPr/>
        </p:nvSpPr>
        <p:spPr>
          <a:xfrm>
            <a:off x="14124820" y="1406618"/>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3de4278f290_0_22"/>
          <p:cNvSpPr/>
          <p:nvPr/>
        </p:nvSpPr>
        <p:spPr>
          <a:xfrm>
            <a:off x="14124820" y="2583374"/>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de4278f290_0_22"/>
          <p:cNvSpPr/>
          <p:nvPr/>
        </p:nvSpPr>
        <p:spPr>
          <a:xfrm>
            <a:off x="14124820" y="3797442"/>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de4278f290_0_22"/>
          <p:cNvSpPr/>
          <p:nvPr/>
        </p:nvSpPr>
        <p:spPr>
          <a:xfrm>
            <a:off x="16652551" y="1406618"/>
            <a:ext cx="547370" cy="547370"/>
          </a:xfrm>
          <a:custGeom>
            <a:rect b="b" l="l" r="r" t="t"/>
            <a:pathLst>
              <a:path extrusionOk="0" h="547370" w="547370">
                <a:moveTo>
                  <a:pt x="0" y="0"/>
                </a:moveTo>
                <a:lnTo>
                  <a:pt x="547369" y="0"/>
                </a:lnTo>
                <a:lnTo>
                  <a:pt x="547369"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de4278f290_0_22"/>
          <p:cNvSpPr/>
          <p:nvPr/>
        </p:nvSpPr>
        <p:spPr>
          <a:xfrm>
            <a:off x="16652551" y="2583374"/>
            <a:ext cx="547370" cy="547370"/>
          </a:xfrm>
          <a:custGeom>
            <a:rect b="b" l="l" r="r" t="t"/>
            <a:pathLst>
              <a:path extrusionOk="0" h="547370" w="547370">
                <a:moveTo>
                  <a:pt x="0" y="0"/>
                </a:moveTo>
                <a:lnTo>
                  <a:pt x="547369" y="0"/>
                </a:lnTo>
                <a:lnTo>
                  <a:pt x="547369"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de4278f290_0_22"/>
          <p:cNvSpPr/>
          <p:nvPr/>
        </p:nvSpPr>
        <p:spPr>
          <a:xfrm>
            <a:off x="14095826" y="8624888"/>
            <a:ext cx="547370" cy="547370"/>
          </a:xfrm>
          <a:custGeom>
            <a:rect b="b" l="l" r="r" t="t"/>
            <a:pathLst>
              <a:path extrusionOk="0" h="547370" w="547370">
                <a:moveTo>
                  <a:pt x="0" y="0"/>
                </a:moveTo>
                <a:lnTo>
                  <a:pt x="547369" y="0"/>
                </a:lnTo>
                <a:lnTo>
                  <a:pt x="547369"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de4278f290_0_22"/>
          <p:cNvSpPr/>
          <p:nvPr/>
        </p:nvSpPr>
        <p:spPr>
          <a:xfrm>
            <a:off x="16652551" y="8624888"/>
            <a:ext cx="547370" cy="547370"/>
          </a:xfrm>
          <a:custGeom>
            <a:rect b="b" l="l" r="r" t="t"/>
            <a:pathLst>
              <a:path extrusionOk="0" h="547370" w="547370">
                <a:moveTo>
                  <a:pt x="0" y="0"/>
                </a:moveTo>
                <a:lnTo>
                  <a:pt x="547369" y="0"/>
                </a:lnTo>
                <a:lnTo>
                  <a:pt x="547369"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3de4278f290_0_22"/>
          <p:cNvSpPr/>
          <p:nvPr/>
        </p:nvSpPr>
        <p:spPr>
          <a:xfrm>
            <a:off x="14113066" y="5018595"/>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3de4278f290_0_22"/>
          <p:cNvSpPr txBox="1"/>
          <p:nvPr/>
        </p:nvSpPr>
        <p:spPr>
          <a:xfrm>
            <a:off x="578108" y="1622552"/>
            <a:ext cx="2011200" cy="3078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01. KICK OFF</a:t>
            </a:r>
            <a:endParaRPr b="0" i="0" sz="1200" u="none" cap="none" strike="noStrike">
              <a:solidFill>
                <a:srgbClr val="000000"/>
              </a:solidFill>
              <a:latin typeface="Arial"/>
              <a:ea typeface="Arial"/>
              <a:cs typeface="Arial"/>
              <a:sym typeface="Arial"/>
            </a:endParaRPr>
          </a:p>
        </p:txBody>
      </p:sp>
      <p:sp>
        <p:nvSpPr>
          <p:cNvPr id="175" name="Google Shape;175;g3de4278f290_0_22"/>
          <p:cNvSpPr txBox="1"/>
          <p:nvPr/>
        </p:nvSpPr>
        <p:spPr>
          <a:xfrm>
            <a:off x="3005675" y="1494575"/>
            <a:ext cx="7653300" cy="62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Entendimiento de las necesidades del cliente. Análisis de los desafíos y responsabilidades del rol y de las capacidades a observar y medir. </a:t>
            </a:r>
            <a:endParaRPr b="0" i="0" sz="1400" u="none" cap="none" strike="noStrike">
              <a:solidFill>
                <a:srgbClr val="000000"/>
              </a:solidFill>
              <a:latin typeface="Arial"/>
              <a:ea typeface="Arial"/>
              <a:cs typeface="Arial"/>
              <a:sym typeface="Arial"/>
            </a:endParaRPr>
          </a:p>
        </p:txBody>
      </p:sp>
      <p:sp>
        <p:nvSpPr>
          <p:cNvPr id="176" name="Google Shape;176;g3de4278f290_0_22"/>
          <p:cNvSpPr txBox="1"/>
          <p:nvPr/>
        </p:nvSpPr>
        <p:spPr>
          <a:xfrm>
            <a:off x="57298" y="3903575"/>
            <a:ext cx="2474700" cy="3078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03. JOB CRAFTING</a:t>
            </a:r>
            <a:endParaRPr b="0" i="0" sz="1200" u="none" cap="none" strike="noStrike">
              <a:solidFill>
                <a:srgbClr val="000000"/>
              </a:solidFill>
              <a:latin typeface="Arial"/>
              <a:ea typeface="Arial"/>
              <a:cs typeface="Arial"/>
              <a:sym typeface="Arial"/>
            </a:endParaRPr>
          </a:p>
        </p:txBody>
      </p:sp>
      <p:sp>
        <p:nvSpPr>
          <p:cNvPr id="177" name="Google Shape;177;g3de4278f290_0_22"/>
          <p:cNvSpPr txBox="1"/>
          <p:nvPr/>
        </p:nvSpPr>
        <p:spPr>
          <a:xfrm>
            <a:off x="3035625" y="3686016"/>
            <a:ext cx="7653300" cy="994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Diálogo con el participante utilizando una herramienta para profundizar en su experiencia y desafíos, con especial foco sobre sus motivaciones, propósito e intereses futuros.</a:t>
            </a:r>
            <a:endParaRPr b="0" i="0" sz="1700" u="none" cap="none" strike="noStrike">
              <a:solidFill>
                <a:srgbClr val="FFFFFF"/>
              </a:solidFill>
              <a:latin typeface="Avenir"/>
              <a:ea typeface="Avenir"/>
              <a:cs typeface="Avenir"/>
              <a:sym typeface="Avenir"/>
            </a:endParaRPr>
          </a:p>
        </p:txBody>
      </p:sp>
      <p:sp>
        <p:nvSpPr>
          <p:cNvPr id="178" name="Google Shape;178;g3de4278f290_0_22"/>
          <p:cNvSpPr txBox="1"/>
          <p:nvPr/>
        </p:nvSpPr>
        <p:spPr>
          <a:xfrm>
            <a:off x="57288" y="5208870"/>
            <a:ext cx="2532000" cy="3078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04. SIMULADOR</a:t>
            </a:r>
            <a:endParaRPr b="0" i="0" sz="1200" u="none" cap="none" strike="noStrike">
              <a:solidFill>
                <a:srgbClr val="000000"/>
              </a:solidFill>
              <a:latin typeface="Arial"/>
              <a:ea typeface="Arial"/>
              <a:cs typeface="Arial"/>
              <a:sym typeface="Arial"/>
            </a:endParaRPr>
          </a:p>
        </p:txBody>
      </p:sp>
      <p:sp>
        <p:nvSpPr>
          <p:cNvPr id="179" name="Google Shape;179;g3de4278f290_0_22"/>
          <p:cNvSpPr txBox="1"/>
          <p:nvPr/>
        </p:nvSpPr>
        <p:spPr>
          <a:xfrm>
            <a:off x="3004475" y="5053011"/>
            <a:ext cx="7653300" cy="62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Simulador digital que permite observar el comportamiento real de los participantes frente a escenarios recreados.</a:t>
            </a:r>
            <a:endParaRPr b="0" i="0" sz="1400" u="none" cap="none" strike="noStrike">
              <a:solidFill>
                <a:srgbClr val="F8BF00"/>
              </a:solidFill>
              <a:latin typeface="Arial"/>
              <a:ea typeface="Arial"/>
              <a:cs typeface="Arial"/>
              <a:sym typeface="Arial"/>
            </a:endParaRPr>
          </a:p>
        </p:txBody>
      </p:sp>
      <p:sp>
        <p:nvSpPr>
          <p:cNvPr id="180" name="Google Shape;180;g3de4278f290_0_22"/>
          <p:cNvSpPr txBox="1"/>
          <p:nvPr/>
        </p:nvSpPr>
        <p:spPr>
          <a:xfrm>
            <a:off x="57288" y="6251541"/>
            <a:ext cx="2532000" cy="6495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05. DIÁLOGO DE LIDERAZGO</a:t>
            </a:r>
            <a:endParaRPr b="0" i="0" sz="1200" u="none" cap="none" strike="noStrike">
              <a:solidFill>
                <a:srgbClr val="000000"/>
              </a:solidFill>
              <a:latin typeface="Arial"/>
              <a:ea typeface="Arial"/>
              <a:cs typeface="Arial"/>
              <a:sym typeface="Arial"/>
            </a:endParaRPr>
          </a:p>
        </p:txBody>
      </p:sp>
      <p:sp>
        <p:nvSpPr>
          <p:cNvPr id="181" name="Google Shape;181;g3de4278f290_0_22"/>
          <p:cNvSpPr txBox="1"/>
          <p:nvPr/>
        </p:nvSpPr>
        <p:spPr>
          <a:xfrm>
            <a:off x="3004500" y="5990875"/>
            <a:ext cx="7653300" cy="994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Avenir"/>
                <a:ea typeface="Avenir"/>
                <a:cs typeface="Avenir"/>
                <a:sym typeface="Avenir"/>
              </a:rPr>
              <a:t>Role Playing con IA: simulación de diálogo realizada con inteligencia artificial, donde el participante asume un rol de liderazgo e interactúa con un colaborador del mismo entorno simulado.</a:t>
            </a:r>
            <a:endParaRPr b="1" i="0" sz="1700" u="none" cap="none" strike="noStrike">
              <a:solidFill>
                <a:srgbClr val="FFFFFF"/>
              </a:solidFill>
              <a:latin typeface="Avenir"/>
              <a:ea typeface="Avenir"/>
              <a:cs typeface="Avenir"/>
              <a:sym typeface="Avenir"/>
            </a:endParaRPr>
          </a:p>
        </p:txBody>
      </p:sp>
      <p:sp>
        <p:nvSpPr>
          <p:cNvPr id="182" name="Google Shape;182;g3de4278f290_0_22"/>
          <p:cNvSpPr txBox="1"/>
          <p:nvPr/>
        </p:nvSpPr>
        <p:spPr>
          <a:xfrm>
            <a:off x="57288" y="7295038"/>
            <a:ext cx="2532000" cy="6495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06. CASO DE NEGOCIO</a:t>
            </a:r>
            <a:endParaRPr b="0" i="0" sz="1200" u="none" cap="none" strike="noStrike">
              <a:solidFill>
                <a:srgbClr val="000000"/>
              </a:solidFill>
              <a:latin typeface="Arial"/>
              <a:ea typeface="Arial"/>
              <a:cs typeface="Arial"/>
              <a:sym typeface="Arial"/>
            </a:endParaRPr>
          </a:p>
        </p:txBody>
      </p:sp>
      <p:sp>
        <p:nvSpPr>
          <p:cNvPr id="183" name="Google Shape;183;g3de4278f290_0_22"/>
          <p:cNvSpPr txBox="1"/>
          <p:nvPr/>
        </p:nvSpPr>
        <p:spPr>
          <a:xfrm>
            <a:off x="3004474" y="7295050"/>
            <a:ext cx="7653300" cy="994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Ejercicio de análisis y resolución de un desafío profesional. Permite ponderar habilidades de ejecución, diseño de acciones concretas y elaboración de estrategias que luego expondrá a los evaluadores.</a:t>
            </a:r>
            <a:endParaRPr b="0" i="0" sz="1400" u="none" cap="none" strike="noStrike">
              <a:solidFill>
                <a:srgbClr val="000000"/>
              </a:solidFill>
              <a:latin typeface="Arial"/>
              <a:ea typeface="Arial"/>
              <a:cs typeface="Arial"/>
              <a:sym typeface="Arial"/>
            </a:endParaRPr>
          </a:p>
        </p:txBody>
      </p:sp>
      <p:sp>
        <p:nvSpPr>
          <p:cNvPr id="184" name="Google Shape;184;g3de4278f290_0_22"/>
          <p:cNvSpPr txBox="1"/>
          <p:nvPr/>
        </p:nvSpPr>
        <p:spPr>
          <a:xfrm>
            <a:off x="57294" y="2701950"/>
            <a:ext cx="2532000" cy="6495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02. TEST DE EVALUACIÓN</a:t>
            </a:r>
            <a:endParaRPr b="0" i="0" sz="1200" u="none" cap="none" strike="noStrike">
              <a:solidFill>
                <a:srgbClr val="000000"/>
              </a:solidFill>
              <a:latin typeface="Arial"/>
              <a:ea typeface="Arial"/>
              <a:cs typeface="Arial"/>
              <a:sym typeface="Arial"/>
            </a:endParaRPr>
          </a:p>
        </p:txBody>
      </p:sp>
      <p:sp>
        <p:nvSpPr>
          <p:cNvPr id="185" name="Google Shape;185;g3de4278f290_0_22"/>
          <p:cNvSpPr txBox="1"/>
          <p:nvPr/>
        </p:nvSpPr>
        <p:spPr>
          <a:xfrm>
            <a:off x="3004475" y="2529600"/>
            <a:ext cx="7653300" cy="62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Test para </a:t>
            </a:r>
            <a:r>
              <a:rPr b="0" i="0" lang="en-US" sz="1700" u="none" cap="none" strike="noStrike">
                <a:solidFill>
                  <a:srgbClr val="FFFFFF"/>
                </a:solidFill>
                <a:latin typeface="Avenir"/>
                <a:ea typeface="Avenir"/>
                <a:cs typeface="Avenir"/>
                <a:sym typeface="Avenir"/>
                <a:extLst>
                  <a:ext uri="http://customooxmlschemas.google.com/">
                    <go:slidesCustomData xmlns:go="http://customooxmlschemas.google.com/" textRoundtripDataId="4"/>
                  </a:ext>
                </a:extLst>
              </a:rPr>
              <a:t> </a:t>
            </a:r>
            <a:r>
              <a:rPr b="0" i="0" lang="en-US" sz="1700" u="none" cap="none" strike="noStrike">
                <a:solidFill>
                  <a:srgbClr val="FFFFFF"/>
                </a:solidFill>
                <a:latin typeface="Avenir"/>
                <a:ea typeface="Avenir"/>
                <a:cs typeface="Avenir"/>
                <a:sym typeface="Avenir"/>
              </a:rPr>
              <a:t>conocer motivadores, capacidades destacadas y los contextos que promueven el mejor desempeño, así como los descarriladores. (Hogan ó PDA)</a:t>
            </a:r>
            <a:endParaRPr b="0" i="0" sz="1400" u="none" cap="none" strike="noStrike">
              <a:solidFill>
                <a:srgbClr val="000000"/>
              </a:solidFill>
              <a:latin typeface="Arial"/>
              <a:ea typeface="Arial"/>
              <a:cs typeface="Arial"/>
              <a:sym typeface="Arial"/>
            </a:endParaRPr>
          </a:p>
        </p:txBody>
      </p:sp>
      <p:sp>
        <p:nvSpPr>
          <p:cNvPr id="186" name="Google Shape;186;g3de4278f290_0_22"/>
          <p:cNvSpPr txBox="1"/>
          <p:nvPr/>
        </p:nvSpPr>
        <p:spPr>
          <a:xfrm>
            <a:off x="39563" y="8612981"/>
            <a:ext cx="2532000" cy="649500"/>
          </a:xfrm>
          <a:prstGeom prst="rect">
            <a:avLst/>
          </a:prstGeom>
          <a:noFill/>
          <a:ln>
            <a:noFill/>
          </a:ln>
        </p:spPr>
        <p:txBody>
          <a:bodyPr anchorCtr="0" anchor="t" bIns="0" lIns="0" spcFirstLastPara="1" rIns="0" wrap="square" tIns="0">
            <a:spAutoFit/>
          </a:bodyPr>
          <a:lstStyle/>
          <a:p>
            <a:pPr indent="0" lvl="0" marL="0" marR="0" rtl="0" algn="r">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07. ENTREGABLES  + FEEDBACK </a:t>
            </a:r>
            <a:endParaRPr b="0" i="0" sz="1200" u="none" cap="none" strike="noStrike">
              <a:solidFill>
                <a:srgbClr val="000000"/>
              </a:solidFill>
              <a:latin typeface="Arial"/>
              <a:ea typeface="Arial"/>
              <a:cs typeface="Arial"/>
              <a:sym typeface="Arial"/>
            </a:endParaRPr>
          </a:p>
        </p:txBody>
      </p:sp>
      <p:sp>
        <p:nvSpPr>
          <p:cNvPr id="187" name="Google Shape;187;g3de4278f290_0_22"/>
          <p:cNvSpPr txBox="1"/>
          <p:nvPr/>
        </p:nvSpPr>
        <p:spPr>
          <a:xfrm>
            <a:off x="3004500" y="8526400"/>
            <a:ext cx="7653300" cy="172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Se entregará un reporte individual de resultados por participante en todos los casos. En instancias de Assessment Grupal, se adicionará un informe de integración, que consolida los principales hallazgos del grupo. Asimismo, todos los participantes recibirán feedback al cierre de las actividades, como instancia formal de devolución y aprendizaje </a:t>
            </a:r>
            <a:endParaRPr b="0" i="0" sz="1700" u="none" cap="none" strike="noStrike">
              <a:solidFill>
                <a:srgbClr val="FFFFFF"/>
              </a:solidFill>
              <a:latin typeface="Avenir"/>
              <a:ea typeface="Avenir"/>
              <a:cs typeface="Avenir"/>
              <a:sym typeface="Avenir"/>
            </a:endParaRPr>
          </a:p>
        </p:txBody>
      </p:sp>
      <p:sp>
        <p:nvSpPr>
          <p:cNvPr id="188" name="Google Shape;188;g3de4278f290_0_22"/>
          <p:cNvSpPr/>
          <p:nvPr/>
        </p:nvSpPr>
        <p:spPr>
          <a:xfrm>
            <a:off x="16681876" y="3792747"/>
            <a:ext cx="547370" cy="547370"/>
          </a:xfrm>
          <a:custGeom>
            <a:rect b="b" l="l" r="r" t="t"/>
            <a:pathLst>
              <a:path extrusionOk="0" h="547370" w="547370">
                <a:moveTo>
                  <a:pt x="0" y="0"/>
                </a:moveTo>
                <a:lnTo>
                  <a:pt x="547369" y="0"/>
                </a:lnTo>
                <a:lnTo>
                  <a:pt x="547369"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3de4278f290_0_22"/>
          <p:cNvSpPr/>
          <p:nvPr/>
        </p:nvSpPr>
        <p:spPr>
          <a:xfrm>
            <a:off x="14124814" y="7439014"/>
            <a:ext cx="489381" cy="489381"/>
          </a:xfrm>
          <a:custGeom>
            <a:rect b="b" l="l" r="r" t="t"/>
            <a:pathLst>
              <a:path extrusionOk="0" h="489381" w="489381">
                <a:moveTo>
                  <a:pt x="0" y="0"/>
                </a:moveTo>
                <a:lnTo>
                  <a:pt x="489381" y="0"/>
                </a:lnTo>
                <a:lnTo>
                  <a:pt x="489381" y="489381"/>
                </a:lnTo>
                <a:lnTo>
                  <a:pt x="0" y="48938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de4278f290_0_22"/>
          <p:cNvSpPr/>
          <p:nvPr/>
        </p:nvSpPr>
        <p:spPr>
          <a:xfrm>
            <a:off x="16710870" y="7444214"/>
            <a:ext cx="489381" cy="489381"/>
          </a:xfrm>
          <a:custGeom>
            <a:rect b="b" l="l" r="r" t="t"/>
            <a:pathLst>
              <a:path extrusionOk="0" h="489381" w="489381">
                <a:moveTo>
                  <a:pt x="0" y="0"/>
                </a:moveTo>
                <a:lnTo>
                  <a:pt x="489381" y="0"/>
                </a:lnTo>
                <a:lnTo>
                  <a:pt x="489381" y="489381"/>
                </a:lnTo>
                <a:lnTo>
                  <a:pt x="0" y="48938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de4278f290_0_22"/>
          <p:cNvSpPr/>
          <p:nvPr/>
        </p:nvSpPr>
        <p:spPr>
          <a:xfrm>
            <a:off x="14066841" y="6228820"/>
            <a:ext cx="547370" cy="547370"/>
          </a:xfrm>
          <a:custGeom>
            <a:rect b="b" l="l" r="r" t="t"/>
            <a:pathLst>
              <a:path extrusionOk="0" h="547370" w="547370">
                <a:moveTo>
                  <a:pt x="0" y="0"/>
                </a:moveTo>
                <a:lnTo>
                  <a:pt x="547370" y="0"/>
                </a:lnTo>
                <a:lnTo>
                  <a:pt x="547370" y="547370"/>
                </a:lnTo>
                <a:lnTo>
                  <a:pt x="0" y="5473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g35bed67c570_0_88"/>
          <p:cNvSpPr txBox="1"/>
          <p:nvPr/>
        </p:nvSpPr>
        <p:spPr>
          <a:xfrm>
            <a:off x="8796300" y="6455207"/>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MXN$ 25,000</a:t>
            </a:r>
            <a:endParaRPr b="0" i="0" sz="1400" u="none" cap="none" strike="noStrike">
              <a:solidFill>
                <a:srgbClr val="000000"/>
              </a:solidFill>
              <a:latin typeface="Arial"/>
              <a:ea typeface="Arial"/>
              <a:cs typeface="Arial"/>
              <a:sym typeface="Arial"/>
            </a:endParaRPr>
          </a:p>
        </p:txBody>
      </p:sp>
      <p:sp>
        <p:nvSpPr>
          <p:cNvPr id="197" name="Google Shape;197;g35bed67c570_0_88"/>
          <p:cNvSpPr txBox="1"/>
          <p:nvPr/>
        </p:nvSpPr>
        <p:spPr>
          <a:xfrm>
            <a:off x="8796300" y="5213425"/>
            <a:ext cx="2013600" cy="4677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AR$ 1.800.000</a:t>
            </a:r>
            <a:endParaRPr b="0" i="0" sz="1400" u="none" cap="none" strike="noStrike">
              <a:solidFill>
                <a:srgbClr val="000000"/>
              </a:solidFill>
              <a:latin typeface="Arial"/>
              <a:ea typeface="Arial"/>
              <a:cs typeface="Arial"/>
              <a:sym typeface="Arial"/>
            </a:endParaRPr>
          </a:p>
        </p:txBody>
      </p:sp>
      <p:sp>
        <p:nvSpPr>
          <p:cNvPr id="198" name="Google Shape;198;g35bed67c570_0_88"/>
          <p:cNvSpPr txBox="1"/>
          <p:nvPr/>
        </p:nvSpPr>
        <p:spPr>
          <a:xfrm>
            <a:off x="8853221" y="4206624"/>
            <a:ext cx="2009700" cy="369300"/>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Clr>
                <a:srgbClr val="000000"/>
              </a:buClr>
              <a:buSzPts val="2400"/>
              <a:buFont typeface="Arial"/>
              <a:buNone/>
            </a:pPr>
            <a:r>
              <a:rPr b="1" i="0" lang="en-US" sz="2400" u="none" cap="none" strike="noStrike">
                <a:solidFill>
                  <a:srgbClr val="54565B"/>
                </a:solidFill>
                <a:latin typeface="Garamond"/>
                <a:ea typeface="Garamond"/>
                <a:cs typeface="Garamond"/>
                <a:sym typeface="Garamond"/>
              </a:rPr>
              <a:t>PREMIUM</a:t>
            </a:r>
            <a:endParaRPr b="0" i="0" sz="1400" u="none" cap="none" strike="noStrike">
              <a:solidFill>
                <a:srgbClr val="000000"/>
              </a:solidFill>
              <a:latin typeface="Arial"/>
              <a:ea typeface="Arial"/>
              <a:cs typeface="Arial"/>
              <a:sym typeface="Arial"/>
            </a:endParaRPr>
          </a:p>
        </p:txBody>
      </p:sp>
      <p:grpSp>
        <p:nvGrpSpPr>
          <p:cNvPr id="199" name="Google Shape;199;g35bed67c570_0_88"/>
          <p:cNvGrpSpPr/>
          <p:nvPr/>
        </p:nvGrpSpPr>
        <p:grpSpPr>
          <a:xfrm>
            <a:off x="8500567" y="3432020"/>
            <a:ext cx="2719203" cy="4897124"/>
            <a:chOff x="0" y="0"/>
            <a:chExt cx="716164" cy="1289769"/>
          </a:xfrm>
        </p:grpSpPr>
        <p:sp>
          <p:nvSpPr>
            <p:cNvPr id="200" name="Google Shape;200;g35bed67c570_0_88"/>
            <p:cNvSpPr/>
            <p:nvPr/>
          </p:nvSpPr>
          <p:spPr>
            <a:xfrm>
              <a:off x="0" y="0"/>
              <a:ext cx="716164" cy="1289769"/>
            </a:xfrm>
            <a:custGeom>
              <a:rect b="b" l="l" r="r" t="t"/>
              <a:pathLst>
                <a:path extrusionOk="0" h="1289769" w="716164">
                  <a:moveTo>
                    <a:pt x="153746" y="0"/>
                  </a:moveTo>
                  <a:lnTo>
                    <a:pt x="562418" y="0"/>
                  </a:lnTo>
                  <a:cubicBezTo>
                    <a:pt x="647329" y="0"/>
                    <a:pt x="716164" y="68834"/>
                    <a:pt x="716164" y="153746"/>
                  </a:cubicBezTo>
                  <a:lnTo>
                    <a:pt x="716164" y="1136023"/>
                  </a:lnTo>
                  <a:cubicBezTo>
                    <a:pt x="716164" y="1220934"/>
                    <a:pt x="647329" y="1289769"/>
                    <a:pt x="562418" y="1289769"/>
                  </a:cubicBezTo>
                  <a:lnTo>
                    <a:pt x="153746" y="1289769"/>
                  </a:lnTo>
                  <a:cubicBezTo>
                    <a:pt x="68834" y="1289769"/>
                    <a:pt x="0" y="1220934"/>
                    <a:pt x="0" y="1136023"/>
                  </a:cubicBezTo>
                  <a:lnTo>
                    <a:pt x="0" y="153746"/>
                  </a:lnTo>
                  <a:cubicBezTo>
                    <a:pt x="0" y="68834"/>
                    <a:pt x="68834" y="0"/>
                    <a:pt x="153746" y="0"/>
                  </a:cubicBezTo>
                  <a:close/>
                </a:path>
              </a:pathLst>
            </a:custGeom>
            <a:solidFill>
              <a:srgbClr val="E5E5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5bed67c570_0_88"/>
            <p:cNvSpPr txBox="1"/>
            <p:nvPr/>
          </p:nvSpPr>
          <p:spPr>
            <a:xfrm>
              <a:off x="0" y="0"/>
              <a:ext cx="716100" cy="1289700"/>
            </a:xfrm>
            <a:prstGeom prst="rect">
              <a:avLst/>
            </a:prstGeom>
            <a:noFill/>
            <a:ln>
              <a:noFill/>
            </a:ln>
          </p:spPr>
          <p:txBody>
            <a:bodyPr anchorCtr="0" anchor="ctr" bIns="50800" lIns="50800" spcFirstLastPara="1" rIns="50800" wrap="square" tIns="50800">
              <a:noAutofit/>
            </a:bodyPr>
            <a:lstStyle/>
            <a:p>
              <a:pPr indent="0" lvl="0" marL="0" marR="0" rtl="0" algn="ctr">
                <a:lnSpc>
                  <a:spcPct val="135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g35bed67c570_0_88"/>
          <p:cNvGrpSpPr/>
          <p:nvPr/>
        </p:nvGrpSpPr>
        <p:grpSpPr>
          <a:xfrm>
            <a:off x="2428505" y="3432020"/>
            <a:ext cx="2725795" cy="4897124"/>
            <a:chOff x="0" y="0"/>
            <a:chExt cx="717900" cy="1289769"/>
          </a:xfrm>
        </p:grpSpPr>
        <p:sp>
          <p:nvSpPr>
            <p:cNvPr id="203" name="Google Shape;203;g35bed67c570_0_88"/>
            <p:cNvSpPr/>
            <p:nvPr/>
          </p:nvSpPr>
          <p:spPr>
            <a:xfrm>
              <a:off x="0" y="0"/>
              <a:ext cx="717771" cy="1289769"/>
            </a:xfrm>
            <a:custGeom>
              <a:rect b="b" l="l" r="r" t="t"/>
              <a:pathLst>
                <a:path extrusionOk="0" h="1289769" w="717771">
                  <a:moveTo>
                    <a:pt x="153402" y="0"/>
                  </a:moveTo>
                  <a:lnTo>
                    <a:pt x="564369" y="0"/>
                  </a:lnTo>
                  <a:cubicBezTo>
                    <a:pt x="605054" y="0"/>
                    <a:pt x="644072" y="16162"/>
                    <a:pt x="672841" y="44930"/>
                  </a:cubicBezTo>
                  <a:cubicBezTo>
                    <a:pt x="701609" y="73699"/>
                    <a:pt x="717771" y="112717"/>
                    <a:pt x="717771" y="153402"/>
                  </a:cubicBezTo>
                  <a:lnTo>
                    <a:pt x="717771" y="1136367"/>
                  </a:lnTo>
                  <a:cubicBezTo>
                    <a:pt x="717771" y="1177052"/>
                    <a:pt x="701609" y="1216070"/>
                    <a:pt x="672841" y="1244838"/>
                  </a:cubicBezTo>
                  <a:cubicBezTo>
                    <a:pt x="644072" y="1273607"/>
                    <a:pt x="605054" y="1289769"/>
                    <a:pt x="564369" y="1289769"/>
                  </a:cubicBezTo>
                  <a:lnTo>
                    <a:pt x="153402" y="1289769"/>
                  </a:lnTo>
                  <a:cubicBezTo>
                    <a:pt x="112717" y="1289769"/>
                    <a:pt x="73699" y="1273607"/>
                    <a:pt x="44930" y="1244838"/>
                  </a:cubicBezTo>
                  <a:cubicBezTo>
                    <a:pt x="16162" y="1216070"/>
                    <a:pt x="0" y="1177052"/>
                    <a:pt x="0" y="1136367"/>
                  </a:cubicBezTo>
                  <a:lnTo>
                    <a:pt x="0" y="153402"/>
                  </a:lnTo>
                  <a:cubicBezTo>
                    <a:pt x="0" y="112717"/>
                    <a:pt x="16162" y="73699"/>
                    <a:pt x="44930" y="44930"/>
                  </a:cubicBezTo>
                  <a:cubicBezTo>
                    <a:pt x="73699" y="16162"/>
                    <a:pt x="112717" y="0"/>
                    <a:pt x="153402" y="0"/>
                  </a:cubicBezTo>
                  <a:close/>
                </a:path>
              </a:pathLst>
            </a:custGeom>
            <a:solidFill>
              <a:srgbClr val="E5E5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35bed67c570_0_88"/>
            <p:cNvSpPr txBox="1"/>
            <p:nvPr/>
          </p:nvSpPr>
          <p:spPr>
            <a:xfrm>
              <a:off x="0" y="0"/>
              <a:ext cx="717900" cy="1289700"/>
            </a:xfrm>
            <a:prstGeom prst="rect">
              <a:avLst/>
            </a:prstGeom>
            <a:noFill/>
            <a:ln>
              <a:noFill/>
            </a:ln>
          </p:spPr>
          <p:txBody>
            <a:bodyPr anchorCtr="0" anchor="ctr" bIns="50800" lIns="50800" spcFirstLastPara="1" rIns="50800" wrap="square" tIns="50800">
              <a:noAutofit/>
            </a:bodyPr>
            <a:lstStyle/>
            <a:p>
              <a:pPr indent="0" lvl="0" marL="0" marR="0" rtl="0" algn="ctr">
                <a:lnSpc>
                  <a:spcPct val="135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g35bed67c570_0_88"/>
          <p:cNvSpPr txBox="1"/>
          <p:nvPr/>
        </p:nvSpPr>
        <p:spPr>
          <a:xfrm>
            <a:off x="2794650" y="4211450"/>
            <a:ext cx="2009700" cy="369300"/>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Clr>
                <a:srgbClr val="000000"/>
              </a:buClr>
              <a:buSzPts val="2400"/>
              <a:buFont typeface="Arial"/>
              <a:buNone/>
            </a:pPr>
            <a:r>
              <a:rPr b="1" i="0" lang="en-US" sz="2400" u="none" cap="none" strike="noStrike">
                <a:solidFill>
                  <a:srgbClr val="54565B"/>
                </a:solidFill>
                <a:latin typeface="Garamond"/>
                <a:ea typeface="Garamond"/>
                <a:cs typeface="Garamond"/>
                <a:sym typeface="Garamond"/>
              </a:rPr>
              <a:t>ESSENTIAL</a:t>
            </a:r>
            <a:endParaRPr b="0" i="0" sz="1400" u="none" cap="none" strike="noStrike">
              <a:solidFill>
                <a:srgbClr val="000000"/>
              </a:solidFill>
              <a:latin typeface="Arial"/>
              <a:ea typeface="Arial"/>
              <a:cs typeface="Arial"/>
              <a:sym typeface="Arial"/>
            </a:endParaRPr>
          </a:p>
        </p:txBody>
      </p:sp>
      <p:sp>
        <p:nvSpPr>
          <p:cNvPr id="206" name="Google Shape;206;g35bed67c570_0_88"/>
          <p:cNvSpPr txBox="1"/>
          <p:nvPr/>
        </p:nvSpPr>
        <p:spPr>
          <a:xfrm>
            <a:off x="2724926" y="6990991"/>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USD 700</a:t>
            </a:r>
            <a:endParaRPr b="0" i="0" sz="1400" u="none" cap="none" strike="noStrike">
              <a:solidFill>
                <a:srgbClr val="000000"/>
              </a:solidFill>
              <a:latin typeface="Arial"/>
              <a:ea typeface="Arial"/>
              <a:cs typeface="Arial"/>
              <a:sym typeface="Arial"/>
            </a:endParaRPr>
          </a:p>
        </p:txBody>
      </p:sp>
      <p:sp>
        <p:nvSpPr>
          <p:cNvPr id="207" name="Google Shape;207;g35bed67c570_0_88"/>
          <p:cNvSpPr txBox="1"/>
          <p:nvPr/>
        </p:nvSpPr>
        <p:spPr>
          <a:xfrm>
            <a:off x="5776400" y="6447489"/>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MXN$ 17,000</a:t>
            </a:r>
            <a:endParaRPr b="0" i="0" sz="1400" u="none" cap="none" strike="noStrike">
              <a:solidFill>
                <a:srgbClr val="000000"/>
              </a:solidFill>
              <a:latin typeface="Arial"/>
              <a:ea typeface="Arial"/>
              <a:cs typeface="Arial"/>
              <a:sym typeface="Arial"/>
            </a:endParaRPr>
          </a:p>
        </p:txBody>
      </p:sp>
      <p:sp>
        <p:nvSpPr>
          <p:cNvPr id="208" name="Google Shape;208;g35bed67c570_0_88"/>
          <p:cNvSpPr txBox="1"/>
          <p:nvPr/>
        </p:nvSpPr>
        <p:spPr>
          <a:xfrm>
            <a:off x="5776400" y="5205700"/>
            <a:ext cx="2013600" cy="4677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AR$ 1.200.000</a:t>
            </a:r>
            <a:endParaRPr b="0" i="0" sz="1400" u="none" cap="none" strike="noStrike">
              <a:solidFill>
                <a:srgbClr val="000000"/>
              </a:solidFill>
              <a:latin typeface="Arial"/>
              <a:ea typeface="Arial"/>
              <a:cs typeface="Arial"/>
              <a:sym typeface="Arial"/>
            </a:endParaRPr>
          </a:p>
        </p:txBody>
      </p:sp>
      <p:sp>
        <p:nvSpPr>
          <p:cNvPr id="209" name="Google Shape;209;g35bed67c570_0_88"/>
          <p:cNvSpPr txBox="1"/>
          <p:nvPr/>
        </p:nvSpPr>
        <p:spPr>
          <a:xfrm>
            <a:off x="2724926" y="6369882"/>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MXN$ 12,000</a:t>
            </a:r>
            <a:endParaRPr b="0" i="0" sz="1400" u="none" cap="none" strike="noStrike">
              <a:solidFill>
                <a:srgbClr val="000000"/>
              </a:solidFill>
              <a:latin typeface="Arial"/>
              <a:ea typeface="Arial"/>
              <a:cs typeface="Arial"/>
              <a:sym typeface="Arial"/>
            </a:endParaRPr>
          </a:p>
        </p:txBody>
      </p:sp>
      <p:sp>
        <p:nvSpPr>
          <p:cNvPr id="210" name="Google Shape;210;g35bed67c570_0_88"/>
          <p:cNvSpPr txBox="1"/>
          <p:nvPr/>
        </p:nvSpPr>
        <p:spPr>
          <a:xfrm>
            <a:off x="2724926" y="5128100"/>
            <a:ext cx="2013600" cy="4677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AR$ 840.000</a:t>
            </a:r>
            <a:endParaRPr b="0" i="0" sz="1400" u="none" cap="none" strike="noStrike">
              <a:solidFill>
                <a:srgbClr val="000000"/>
              </a:solidFill>
              <a:latin typeface="Arial"/>
              <a:ea typeface="Arial"/>
              <a:cs typeface="Arial"/>
              <a:sym typeface="Arial"/>
            </a:endParaRPr>
          </a:p>
        </p:txBody>
      </p:sp>
      <p:sp>
        <p:nvSpPr>
          <p:cNvPr id="211" name="Google Shape;211;g35bed67c570_0_88"/>
          <p:cNvSpPr txBox="1"/>
          <p:nvPr/>
        </p:nvSpPr>
        <p:spPr>
          <a:xfrm>
            <a:off x="2724926" y="5747974"/>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CLP$ 700.000</a:t>
            </a:r>
            <a:endParaRPr b="0" i="0" sz="1400" u="none" cap="none" strike="noStrike">
              <a:solidFill>
                <a:srgbClr val="000000"/>
              </a:solidFill>
              <a:latin typeface="Arial"/>
              <a:ea typeface="Arial"/>
              <a:cs typeface="Arial"/>
              <a:sym typeface="Arial"/>
            </a:endParaRPr>
          </a:p>
        </p:txBody>
      </p:sp>
      <p:sp>
        <p:nvSpPr>
          <p:cNvPr id="212" name="Google Shape;212;g35bed67c570_0_88"/>
          <p:cNvSpPr txBox="1"/>
          <p:nvPr/>
        </p:nvSpPr>
        <p:spPr>
          <a:xfrm>
            <a:off x="5776400" y="5825577"/>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CLP$ 1.000.000</a:t>
            </a:r>
            <a:endParaRPr b="0" i="0" sz="1400" u="none" cap="none" strike="noStrike">
              <a:solidFill>
                <a:srgbClr val="000000"/>
              </a:solidFill>
              <a:latin typeface="Arial"/>
              <a:ea typeface="Arial"/>
              <a:cs typeface="Arial"/>
              <a:sym typeface="Arial"/>
            </a:endParaRPr>
          </a:p>
        </p:txBody>
      </p:sp>
      <p:sp>
        <p:nvSpPr>
          <p:cNvPr id="213" name="Google Shape;213;g35bed67c570_0_88"/>
          <p:cNvSpPr txBox="1"/>
          <p:nvPr/>
        </p:nvSpPr>
        <p:spPr>
          <a:xfrm>
            <a:off x="5833321" y="4206624"/>
            <a:ext cx="2009700" cy="369300"/>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Clr>
                <a:srgbClr val="000000"/>
              </a:buClr>
              <a:buSzPts val="2400"/>
              <a:buFont typeface="Arial"/>
              <a:buNone/>
            </a:pPr>
            <a:r>
              <a:rPr b="1" i="0" lang="en-US" sz="2400" u="none" cap="none" strike="noStrike">
                <a:solidFill>
                  <a:srgbClr val="54565B"/>
                </a:solidFill>
                <a:latin typeface="Garamond"/>
                <a:ea typeface="Garamond"/>
                <a:cs typeface="Garamond"/>
                <a:sym typeface="Garamond"/>
              </a:rPr>
              <a:t>EXECUTIVE</a:t>
            </a:r>
            <a:endParaRPr b="0" i="0" sz="1400" u="none" cap="none" strike="noStrike">
              <a:solidFill>
                <a:srgbClr val="000000"/>
              </a:solidFill>
              <a:latin typeface="Arial"/>
              <a:ea typeface="Arial"/>
              <a:cs typeface="Arial"/>
              <a:sym typeface="Arial"/>
            </a:endParaRPr>
          </a:p>
        </p:txBody>
      </p:sp>
      <p:sp>
        <p:nvSpPr>
          <p:cNvPr id="214" name="Google Shape;214;g35bed67c570_0_88"/>
          <p:cNvSpPr txBox="1"/>
          <p:nvPr/>
        </p:nvSpPr>
        <p:spPr>
          <a:xfrm>
            <a:off x="5776400" y="7068600"/>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USD 1.000</a:t>
            </a:r>
            <a:endParaRPr b="0" i="0" sz="1400" u="none" cap="none" strike="noStrike">
              <a:solidFill>
                <a:srgbClr val="000000"/>
              </a:solidFill>
              <a:latin typeface="Arial"/>
              <a:ea typeface="Arial"/>
              <a:cs typeface="Arial"/>
              <a:sym typeface="Arial"/>
            </a:endParaRPr>
          </a:p>
        </p:txBody>
      </p:sp>
      <p:grpSp>
        <p:nvGrpSpPr>
          <p:cNvPr id="215" name="Google Shape;215;g35bed67c570_0_88"/>
          <p:cNvGrpSpPr/>
          <p:nvPr/>
        </p:nvGrpSpPr>
        <p:grpSpPr>
          <a:xfrm>
            <a:off x="5461886" y="3432020"/>
            <a:ext cx="2733901" cy="4897124"/>
            <a:chOff x="0" y="0"/>
            <a:chExt cx="720035" cy="1289769"/>
          </a:xfrm>
        </p:grpSpPr>
        <p:sp>
          <p:nvSpPr>
            <p:cNvPr id="216" name="Google Shape;216;g35bed67c570_0_88"/>
            <p:cNvSpPr/>
            <p:nvPr/>
          </p:nvSpPr>
          <p:spPr>
            <a:xfrm>
              <a:off x="0" y="0"/>
              <a:ext cx="720035" cy="1289769"/>
            </a:xfrm>
            <a:custGeom>
              <a:rect b="b" l="l" r="r" t="t"/>
              <a:pathLst>
                <a:path extrusionOk="0" h="1289769" w="720035">
                  <a:moveTo>
                    <a:pt x="152919" y="0"/>
                  </a:moveTo>
                  <a:lnTo>
                    <a:pt x="567115" y="0"/>
                  </a:lnTo>
                  <a:cubicBezTo>
                    <a:pt x="651570" y="0"/>
                    <a:pt x="720035" y="68464"/>
                    <a:pt x="720035" y="152919"/>
                  </a:cubicBezTo>
                  <a:lnTo>
                    <a:pt x="720035" y="1136849"/>
                  </a:lnTo>
                  <a:cubicBezTo>
                    <a:pt x="720035" y="1177406"/>
                    <a:pt x="703923" y="1216302"/>
                    <a:pt x="675245" y="1244980"/>
                  </a:cubicBezTo>
                  <a:cubicBezTo>
                    <a:pt x="646568" y="1273657"/>
                    <a:pt x="607672" y="1289769"/>
                    <a:pt x="567115" y="1289769"/>
                  </a:cubicBezTo>
                  <a:lnTo>
                    <a:pt x="152919" y="1289769"/>
                  </a:lnTo>
                  <a:cubicBezTo>
                    <a:pt x="68464" y="1289769"/>
                    <a:pt x="0" y="1221304"/>
                    <a:pt x="0" y="1136849"/>
                  </a:cubicBezTo>
                  <a:lnTo>
                    <a:pt x="0" y="152919"/>
                  </a:lnTo>
                  <a:cubicBezTo>
                    <a:pt x="0" y="68464"/>
                    <a:pt x="68464" y="0"/>
                    <a:pt x="152919" y="0"/>
                  </a:cubicBezTo>
                  <a:close/>
                </a:path>
              </a:pathLst>
            </a:custGeom>
            <a:solidFill>
              <a:srgbClr val="E5E5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35bed67c570_0_88"/>
            <p:cNvSpPr txBox="1"/>
            <p:nvPr/>
          </p:nvSpPr>
          <p:spPr>
            <a:xfrm>
              <a:off x="0" y="0"/>
              <a:ext cx="720000" cy="1289700"/>
            </a:xfrm>
            <a:prstGeom prst="rect">
              <a:avLst/>
            </a:prstGeom>
            <a:noFill/>
            <a:ln>
              <a:noFill/>
            </a:ln>
          </p:spPr>
          <p:txBody>
            <a:bodyPr anchorCtr="0" anchor="ctr" bIns="50800" lIns="50800" spcFirstLastPara="1" rIns="50800" wrap="square" tIns="50800">
              <a:noAutofit/>
            </a:bodyPr>
            <a:lstStyle/>
            <a:p>
              <a:pPr indent="0" lvl="0" marL="0" marR="0" rtl="0" algn="ctr">
                <a:lnSpc>
                  <a:spcPct val="135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8" name="Google Shape;218;g35bed67c570_0_88"/>
          <p:cNvSpPr/>
          <p:nvPr/>
        </p:nvSpPr>
        <p:spPr>
          <a:xfrm>
            <a:off x="867367" y="1319031"/>
            <a:ext cx="920318" cy="374548"/>
          </a:xfrm>
          <a:custGeom>
            <a:rect b="b" l="l" r="r" t="t"/>
            <a:pathLst>
              <a:path extrusionOk="0" h="374548" w="920318">
                <a:moveTo>
                  <a:pt x="0" y="0"/>
                </a:moveTo>
                <a:lnTo>
                  <a:pt x="920318" y="0"/>
                </a:lnTo>
                <a:lnTo>
                  <a:pt x="920318" y="374548"/>
                </a:lnTo>
                <a:lnTo>
                  <a:pt x="0" y="37454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35bed67c570_0_88"/>
          <p:cNvSpPr/>
          <p:nvPr/>
        </p:nvSpPr>
        <p:spPr>
          <a:xfrm>
            <a:off x="12199476" y="3721249"/>
            <a:ext cx="215121" cy="246091"/>
          </a:xfrm>
          <a:custGeom>
            <a:rect b="b" l="l" r="r" t="t"/>
            <a:pathLst>
              <a:path extrusionOk="0" h="246091" w="215121">
                <a:moveTo>
                  <a:pt x="0" y="0"/>
                </a:moveTo>
                <a:lnTo>
                  <a:pt x="215121" y="0"/>
                </a:lnTo>
                <a:lnTo>
                  <a:pt x="215121" y="246091"/>
                </a:lnTo>
                <a:lnTo>
                  <a:pt x="0" y="246091"/>
                </a:lnTo>
                <a:lnTo>
                  <a:pt x="0" y="0"/>
                </a:lnTo>
                <a:close/>
              </a:path>
            </a:pathLst>
          </a:custGeom>
          <a:blipFill rotWithShape="1">
            <a:blip r:embed="rId5">
              <a:alphaModFix/>
            </a:blip>
            <a:stretch>
              <a:fillRect b="0" l="-7198" r="-71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35bed67c570_0_88"/>
          <p:cNvSpPr txBox="1"/>
          <p:nvPr/>
        </p:nvSpPr>
        <p:spPr>
          <a:xfrm>
            <a:off x="12619626" y="3654574"/>
            <a:ext cx="5249700" cy="3087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CONDICIONES COMERCIALES:</a:t>
            </a:r>
            <a:endParaRPr b="1" i="0" sz="1700" u="none" cap="none" strike="noStrike">
              <a:solidFill>
                <a:srgbClr val="000000"/>
              </a:solidFill>
              <a:latin typeface="Avenir"/>
              <a:ea typeface="Avenir"/>
              <a:cs typeface="Avenir"/>
              <a:sym typeface="Avenir"/>
            </a:endParaRPr>
          </a:p>
          <a:p>
            <a:pPr indent="0" lvl="0" marL="0" marR="0" rtl="0" algn="l">
              <a:lnSpc>
                <a:spcPct val="140000"/>
              </a:lnSpc>
              <a:spcBef>
                <a:spcPts val="0"/>
              </a:spcBef>
              <a:spcAft>
                <a:spcPts val="0"/>
              </a:spcAft>
              <a:buClr>
                <a:srgbClr val="000000"/>
              </a:buClr>
              <a:buSzPts val="1700"/>
              <a:buFont typeface="Arial"/>
              <a:buNone/>
            </a:pPr>
            <a:r>
              <a:t/>
            </a:r>
            <a:endParaRPr b="1" i="0" sz="1700" u="none" cap="none" strike="noStrike">
              <a:solidFill>
                <a:srgbClr val="000000"/>
              </a:solidFill>
              <a:latin typeface="Avenir"/>
              <a:ea typeface="Avenir"/>
              <a:cs typeface="Avenir"/>
              <a:sym typeface="Avenir"/>
            </a:endParaRPr>
          </a:p>
          <a:p>
            <a:pPr indent="-183516" lvl="1" marL="367033" marR="0" rtl="0" algn="l">
              <a:lnSpc>
                <a:spcPct val="200000"/>
              </a:lnSpc>
              <a:spcBef>
                <a:spcPts val="0"/>
              </a:spcBef>
              <a:spcAft>
                <a:spcPts val="0"/>
              </a:spcAft>
              <a:buClr>
                <a:srgbClr val="000000"/>
              </a:buClr>
              <a:buSzPts val="1700"/>
              <a:buFont typeface="Arial"/>
              <a:buChar char="•"/>
            </a:pPr>
            <a:r>
              <a:rPr b="0" i="0" lang="en-US" sz="1700" u="none" cap="none" strike="noStrike">
                <a:solidFill>
                  <a:srgbClr val="000000"/>
                </a:solidFill>
                <a:latin typeface="Avenir"/>
                <a:ea typeface="Avenir"/>
                <a:cs typeface="Avenir"/>
                <a:sym typeface="Avenir"/>
              </a:rPr>
              <a:t>Facturación: 100% al solicitar el servicio.</a:t>
            </a:r>
            <a:endParaRPr b="0" i="0" sz="1400" u="none" cap="none" strike="noStrike">
              <a:solidFill>
                <a:srgbClr val="000000"/>
              </a:solidFill>
              <a:latin typeface="Arial"/>
              <a:ea typeface="Arial"/>
              <a:cs typeface="Arial"/>
              <a:sym typeface="Arial"/>
            </a:endParaRPr>
          </a:p>
          <a:p>
            <a:pPr indent="-183516" lvl="1" marL="367033" marR="0" rtl="0" algn="l">
              <a:lnSpc>
                <a:spcPct val="200000"/>
              </a:lnSpc>
              <a:spcBef>
                <a:spcPts val="0"/>
              </a:spcBef>
              <a:spcAft>
                <a:spcPts val="0"/>
              </a:spcAft>
              <a:buClr>
                <a:srgbClr val="000000"/>
              </a:buClr>
              <a:buSzPts val="1700"/>
              <a:buFont typeface="Arial"/>
              <a:buChar char="•"/>
            </a:pPr>
            <a:r>
              <a:rPr b="0" i="0" lang="en-US" sz="1700" u="none" cap="none" strike="noStrike">
                <a:solidFill>
                  <a:srgbClr val="000000"/>
                </a:solidFill>
                <a:latin typeface="Avenir"/>
                <a:ea typeface="Avenir"/>
                <a:cs typeface="Avenir"/>
                <a:sym typeface="Avenir"/>
              </a:rPr>
              <a:t>Plazo de pago: 30 días de fecha de factura.</a:t>
            </a:r>
            <a:endParaRPr b="0" i="0" sz="1400" u="none" cap="none" strike="noStrike">
              <a:solidFill>
                <a:srgbClr val="000000"/>
              </a:solidFill>
              <a:latin typeface="Arial"/>
              <a:ea typeface="Arial"/>
              <a:cs typeface="Arial"/>
              <a:sym typeface="Arial"/>
            </a:endParaRPr>
          </a:p>
          <a:p>
            <a:pPr indent="-183516" lvl="1" marL="367033" marR="0" rtl="0" algn="l">
              <a:lnSpc>
                <a:spcPct val="200000"/>
              </a:lnSpc>
              <a:spcBef>
                <a:spcPts val="0"/>
              </a:spcBef>
              <a:spcAft>
                <a:spcPts val="0"/>
              </a:spcAft>
              <a:buClr>
                <a:srgbClr val="000000"/>
              </a:buClr>
              <a:buSzPts val="1700"/>
              <a:buFont typeface="Arial"/>
              <a:buChar char="•"/>
            </a:pPr>
            <a:r>
              <a:rPr b="0" i="0" lang="en-US" sz="1700" u="none" cap="none" strike="noStrike">
                <a:solidFill>
                  <a:srgbClr val="000000"/>
                </a:solidFill>
                <a:latin typeface="Avenir"/>
                <a:ea typeface="Avenir"/>
                <a:cs typeface="Avenir"/>
                <a:sym typeface="Avenir"/>
              </a:rPr>
              <a:t>Impuestos: Los valores cotizados no incluyen IVA.</a:t>
            </a:r>
            <a:endParaRPr b="0" i="0" sz="1400" u="none" cap="none" strike="noStrike">
              <a:solidFill>
                <a:srgbClr val="000000"/>
              </a:solidFill>
              <a:latin typeface="Arial"/>
              <a:ea typeface="Arial"/>
              <a:cs typeface="Arial"/>
              <a:sym typeface="Arial"/>
            </a:endParaRPr>
          </a:p>
          <a:p>
            <a:pPr indent="-183516" lvl="1" marL="367033" marR="0" rtl="0" algn="l">
              <a:lnSpc>
                <a:spcPct val="200000"/>
              </a:lnSpc>
              <a:spcBef>
                <a:spcPts val="0"/>
              </a:spcBef>
              <a:spcAft>
                <a:spcPts val="0"/>
              </a:spcAft>
              <a:buClr>
                <a:srgbClr val="000000"/>
              </a:buClr>
              <a:buSzPts val="1700"/>
              <a:buFont typeface="Arial"/>
              <a:buChar char="•"/>
            </a:pPr>
            <a:r>
              <a:rPr b="0" i="0" lang="en-US" sz="1700" u="none" cap="none" strike="noStrike">
                <a:solidFill>
                  <a:srgbClr val="000000"/>
                </a:solidFill>
                <a:latin typeface="Avenir"/>
                <a:ea typeface="Avenir"/>
                <a:cs typeface="Avenir"/>
                <a:sym typeface="Avenir"/>
              </a:rPr>
              <a:t>Validez de propuesta: 30 días desde su fecha de envío.</a:t>
            </a:r>
            <a:endParaRPr b="0" i="0" sz="1700" u="none" cap="none" strike="noStrike">
              <a:solidFill>
                <a:srgbClr val="000000"/>
              </a:solidFill>
              <a:latin typeface="Avenir"/>
              <a:ea typeface="Avenir"/>
              <a:cs typeface="Avenir"/>
              <a:sym typeface="Avenir"/>
            </a:endParaRPr>
          </a:p>
        </p:txBody>
      </p:sp>
      <p:sp>
        <p:nvSpPr>
          <p:cNvPr id="221" name="Google Shape;221;g35bed67c570_0_88"/>
          <p:cNvSpPr txBox="1"/>
          <p:nvPr/>
        </p:nvSpPr>
        <p:spPr>
          <a:xfrm>
            <a:off x="2230101" y="1785675"/>
            <a:ext cx="4135800" cy="8166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5306" u="none" cap="none" strike="noStrike">
                <a:solidFill>
                  <a:srgbClr val="F8BF00"/>
                </a:solidFill>
                <a:latin typeface="Garamond"/>
                <a:ea typeface="Garamond"/>
                <a:cs typeface="Garamond"/>
                <a:sym typeface="Garamond"/>
              </a:rPr>
              <a:t>SOLUCIÓN:</a:t>
            </a:r>
            <a:endParaRPr b="0" i="0" sz="1400" u="none" cap="none" strike="noStrike">
              <a:solidFill>
                <a:srgbClr val="000000"/>
              </a:solidFill>
              <a:latin typeface="Arial"/>
              <a:ea typeface="Arial"/>
              <a:cs typeface="Arial"/>
              <a:sym typeface="Arial"/>
            </a:endParaRPr>
          </a:p>
        </p:txBody>
      </p:sp>
      <p:sp>
        <p:nvSpPr>
          <p:cNvPr id="222" name="Google Shape;222;g35bed67c570_0_88"/>
          <p:cNvSpPr txBox="1"/>
          <p:nvPr/>
        </p:nvSpPr>
        <p:spPr>
          <a:xfrm>
            <a:off x="2192972" y="804350"/>
            <a:ext cx="4135800" cy="10872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7064"/>
              <a:buFont typeface="Arial"/>
              <a:buNone/>
            </a:pPr>
            <a:r>
              <a:rPr b="1" i="0" lang="en-US" sz="7064" u="none" cap="none" strike="noStrike">
                <a:solidFill>
                  <a:srgbClr val="54565B"/>
                </a:solidFill>
                <a:latin typeface="Garamond"/>
                <a:ea typeface="Garamond"/>
                <a:cs typeface="Garamond"/>
                <a:sym typeface="Garamond"/>
              </a:rPr>
              <a:t>Valor de la</a:t>
            </a:r>
            <a:endParaRPr b="0" i="0" sz="1400" u="none" cap="none" strike="noStrike">
              <a:solidFill>
                <a:srgbClr val="54565B"/>
              </a:solidFill>
              <a:latin typeface="Arial"/>
              <a:ea typeface="Arial"/>
              <a:cs typeface="Arial"/>
              <a:sym typeface="Arial"/>
            </a:endParaRPr>
          </a:p>
        </p:txBody>
      </p:sp>
      <p:sp>
        <p:nvSpPr>
          <p:cNvPr id="223" name="Google Shape;223;g35bed67c570_0_88"/>
          <p:cNvSpPr txBox="1"/>
          <p:nvPr/>
        </p:nvSpPr>
        <p:spPr>
          <a:xfrm>
            <a:off x="5753934" y="6987054"/>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USD 1000</a:t>
            </a:r>
            <a:endParaRPr b="0" i="0" sz="1400" u="none" cap="none" strike="noStrike">
              <a:solidFill>
                <a:srgbClr val="000000"/>
              </a:solidFill>
              <a:latin typeface="Arial"/>
              <a:ea typeface="Arial"/>
              <a:cs typeface="Arial"/>
              <a:sym typeface="Arial"/>
            </a:endParaRPr>
          </a:p>
        </p:txBody>
      </p:sp>
      <p:sp>
        <p:nvSpPr>
          <p:cNvPr id="224" name="Google Shape;224;g35bed67c570_0_88"/>
          <p:cNvSpPr txBox="1"/>
          <p:nvPr/>
        </p:nvSpPr>
        <p:spPr>
          <a:xfrm>
            <a:off x="8814209" y="6983116"/>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USD 1,500</a:t>
            </a:r>
            <a:endParaRPr b="0" i="0" sz="1400" u="none" cap="none" strike="noStrike">
              <a:solidFill>
                <a:srgbClr val="000000"/>
              </a:solidFill>
              <a:latin typeface="Arial"/>
              <a:ea typeface="Arial"/>
              <a:cs typeface="Arial"/>
              <a:sym typeface="Arial"/>
            </a:endParaRPr>
          </a:p>
        </p:txBody>
      </p:sp>
      <p:sp>
        <p:nvSpPr>
          <p:cNvPr id="225" name="Google Shape;225;g35bed67c570_0_88"/>
          <p:cNvSpPr txBox="1"/>
          <p:nvPr/>
        </p:nvSpPr>
        <p:spPr>
          <a:xfrm>
            <a:off x="5886193" y="4238780"/>
            <a:ext cx="2009700" cy="369300"/>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Clr>
                <a:srgbClr val="000000"/>
              </a:buClr>
              <a:buSzPts val="2400"/>
              <a:buFont typeface="Arial"/>
              <a:buNone/>
            </a:pPr>
            <a:r>
              <a:rPr b="1" i="0" lang="en-US" sz="2400" u="none" cap="none" strike="noStrike">
                <a:solidFill>
                  <a:srgbClr val="54565B"/>
                </a:solidFill>
                <a:latin typeface="Garamond"/>
                <a:ea typeface="Garamond"/>
                <a:cs typeface="Garamond"/>
                <a:sym typeface="Garamond"/>
              </a:rPr>
              <a:t>EXECUTIVE</a:t>
            </a:r>
            <a:endParaRPr b="0" i="0" sz="1400" u="none" cap="none" strike="noStrike">
              <a:solidFill>
                <a:srgbClr val="000000"/>
              </a:solidFill>
              <a:latin typeface="Arial"/>
              <a:ea typeface="Arial"/>
              <a:cs typeface="Arial"/>
              <a:sym typeface="Arial"/>
            </a:endParaRPr>
          </a:p>
        </p:txBody>
      </p:sp>
      <p:sp>
        <p:nvSpPr>
          <p:cNvPr id="226" name="Google Shape;226;g35bed67c570_0_88"/>
          <p:cNvSpPr txBox="1"/>
          <p:nvPr/>
        </p:nvSpPr>
        <p:spPr>
          <a:xfrm>
            <a:off x="9102806" y="4234843"/>
            <a:ext cx="2009700" cy="369300"/>
          </a:xfrm>
          <a:prstGeom prst="rect">
            <a:avLst/>
          </a:prstGeom>
          <a:noFill/>
          <a:ln>
            <a:noFill/>
          </a:ln>
        </p:spPr>
        <p:txBody>
          <a:bodyPr anchorCtr="0" anchor="t" bIns="0" lIns="0" spcFirstLastPara="1" rIns="0" wrap="square" tIns="0">
            <a:spAutoFit/>
          </a:bodyPr>
          <a:lstStyle/>
          <a:p>
            <a:pPr indent="0" lvl="0" marL="0" marR="0" rtl="0" algn="l">
              <a:lnSpc>
                <a:spcPct val="111000"/>
              </a:lnSpc>
              <a:spcBef>
                <a:spcPts val="0"/>
              </a:spcBef>
              <a:spcAft>
                <a:spcPts val="0"/>
              </a:spcAft>
              <a:buClr>
                <a:srgbClr val="000000"/>
              </a:buClr>
              <a:buSzPts val="2400"/>
              <a:buFont typeface="Arial"/>
              <a:buNone/>
            </a:pPr>
            <a:r>
              <a:rPr b="1" i="0" lang="en-US" sz="2400" u="none" cap="none" strike="noStrike">
                <a:solidFill>
                  <a:srgbClr val="54565B"/>
                </a:solidFill>
                <a:latin typeface="Garamond"/>
                <a:ea typeface="Garamond"/>
                <a:cs typeface="Garamond"/>
                <a:sym typeface="Garamond"/>
              </a:rPr>
              <a:t>PREMIUM</a:t>
            </a:r>
            <a:endParaRPr b="0" i="0" sz="1400" u="none" cap="none" strike="noStrike">
              <a:solidFill>
                <a:srgbClr val="000000"/>
              </a:solidFill>
              <a:latin typeface="Arial"/>
              <a:ea typeface="Arial"/>
              <a:cs typeface="Arial"/>
              <a:sym typeface="Arial"/>
            </a:endParaRPr>
          </a:p>
        </p:txBody>
      </p:sp>
      <p:sp>
        <p:nvSpPr>
          <p:cNvPr id="227" name="Google Shape;227;g35bed67c570_0_88"/>
          <p:cNvSpPr txBox="1"/>
          <p:nvPr/>
        </p:nvSpPr>
        <p:spPr>
          <a:xfrm>
            <a:off x="5753934" y="6365945"/>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MXN$ 17,000</a:t>
            </a:r>
            <a:endParaRPr b="0" i="0" sz="1400" u="none" cap="none" strike="noStrike">
              <a:solidFill>
                <a:srgbClr val="000000"/>
              </a:solidFill>
              <a:latin typeface="Arial"/>
              <a:ea typeface="Arial"/>
              <a:cs typeface="Arial"/>
              <a:sym typeface="Arial"/>
            </a:endParaRPr>
          </a:p>
        </p:txBody>
      </p:sp>
      <p:sp>
        <p:nvSpPr>
          <p:cNvPr id="228" name="Google Shape;228;g35bed67c570_0_88"/>
          <p:cNvSpPr txBox="1"/>
          <p:nvPr/>
        </p:nvSpPr>
        <p:spPr>
          <a:xfrm>
            <a:off x="5753934" y="5124163"/>
            <a:ext cx="2013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AR$ 1,200.000</a:t>
            </a:r>
            <a:endParaRPr b="0" i="0" sz="1400" u="none" cap="none" strike="noStrike">
              <a:solidFill>
                <a:srgbClr val="000000"/>
              </a:solidFill>
              <a:latin typeface="Arial"/>
              <a:ea typeface="Arial"/>
              <a:cs typeface="Arial"/>
              <a:sym typeface="Arial"/>
            </a:endParaRPr>
          </a:p>
        </p:txBody>
      </p:sp>
      <p:sp>
        <p:nvSpPr>
          <p:cNvPr id="229" name="Google Shape;229;g35bed67c570_0_88"/>
          <p:cNvSpPr txBox="1"/>
          <p:nvPr/>
        </p:nvSpPr>
        <p:spPr>
          <a:xfrm>
            <a:off x="5753934" y="5744037"/>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CLP$ 1,000.000</a:t>
            </a:r>
            <a:endParaRPr b="0" i="0" sz="1400" u="none" cap="none" strike="noStrike">
              <a:solidFill>
                <a:srgbClr val="000000"/>
              </a:solidFill>
              <a:latin typeface="Arial"/>
              <a:ea typeface="Arial"/>
              <a:cs typeface="Arial"/>
              <a:sym typeface="Arial"/>
            </a:endParaRPr>
          </a:p>
        </p:txBody>
      </p:sp>
      <p:sp>
        <p:nvSpPr>
          <p:cNvPr id="230" name="Google Shape;230;g35bed67c570_0_88"/>
          <p:cNvSpPr txBox="1"/>
          <p:nvPr/>
        </p:nvSpPr>
        <p:spPr>
          <a:xfrm>
            <a:off x="8814209" y="5120225"/>
            <a:ext cx="2013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AR$ 1,800.000</a:t>
            </a:r>
            <a:endParaRPr b="0" i="0" sz="1400" u="none" cap="none" strike="noStrike">
              <a:solidFill>
                <a:srgbClr val="000000"/>
              </a:solidFill>
              <a:latin typeface="Arial"/>
              <a:ea typeface="Arial"/>
              <a:cs typeface="Arial"/>
              <a:sym typeface="Arial"/>
            </a:endParaRPr>
          </a:p>
        </p:txBody>
      </p:sp>
      <p:sp>
        <p:nvSpPr>
          <p:cNvPr id="231" name="Google Shape;231;g35bed67c570_0_88"/>
          <p:cNvSpPr txBox="1"/>
          <p:nvPr/>
        </p:nvSpPr>
        <p:spPr>
          <a:xfrm>
            <a:off x="8814209" y="5740099"/>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CLP$ 1,500.000</a:t>
            </a:r>
            <a:endParaRPr b="0" i="0" sz="1400" u="none" cap="none" strike="noStrike">
              <a:solidFill>
                <a:srgbClr val="000000"/>
              </a:solidFill>
              <a:latin typeface="Arial"/>
              <a:ea typeface="Arial"/>
              <a:cs typeface="Arial"/>
              <a:sym typeface="Arial"/>
            </a:endParaRPr>
          </a:p>
        </p:txBody>
      </p:sp>
      <p:grpSp>
        <p:nvGrpSpPr>
          <p:cNvPr id="232" name="Google Shape;232;g35bed67c570_0_88"/>
          <p:cNvGrpSpPr/>
          <p:nvPr/>
        </p:nvGrpSpPr>
        <p:grpSpPr>
          <a:xfrm>
            <a:off x="-369048" y="5079069"/>
            <a:ext cx="2285601" cy="2195826"/>
            <a:chOff x="0" y="-85725"/>
            <a:chExt cx="3047468" cy="2927768"/>
          </a:xfrm>
        </p:grpSpPr>
        <p:sp>
          <p:nvSpPr>
            <p:cNvPr id="233" name="Google Shape;233;g35bed67c570_0_88"/>
            <p:cNvSpPr txBox="1"/>
            <p:nvPr/>
          </p:nvSpPr>
          <p:spPr>
            <a:xfrm>
              <a:off x="1797024" y="740245"/>
              <a:ext cx="1250400" cy="4455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1" i="0" lang="en-US" sz="2171" u="none" cap="none" strike="noStrike">
                  <a:solidFill>
                    <a:srgbClr val="54565B"/>
                  </a:solidFill>
                  <a:latin typeface="Avenir"/>
                  <a:ea typeface="Avenir"/>
                  <a:cs typeface="Avenir"/>
                  <a:sym typeface="Avenir"/>
                </a:rPr>
                <a:t>Chile</a:t>
              </a:r>
              <a:endParaRPr b="0" i="0" sz="1400" u="none" cap="none" strike="noStrike">
                <a:solidFill>
                  <a:srgbClr val="000000"/>
                </a:solidFill>
                <a:latin typeface="Arial"/>
                <a:ea typeface="Arial"/>
                <a:cs typeface="Arial"/>
                <a:sym typeface="Arial"/>
              </a:endParaRPr>
            </a:p>
          </p:txBody>
        </p:sp>
        <p:sp>
          <p:nvSpPr>
            <p:cNvPr id="234" name="Google Shape;234;g35bed67c570_0_88"/>
            <p:cNvSpPr txBox="1"/>
            <p:nvPr/>
          </p:nvSpPr>
          <p:spPr>
            <a:xfrm>
              <a:off x="0" y="2396543"/>
              <a:ext cx="3047400" cy="4455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1" i="0" lang="en-US" sz="2171" u="none" cap="none" strike="noStrike">
                  <a:solidFill>
                    <a:srgbClr val="54565B"/>
                  </a:solidFill>
                  <a:latin typeface="Avenir"/>
                  <a:ea typeface="Avenir"/>
                  <a:cs typeface="Avenir"/>
                  <a:sym typeface="Avenir"/>
                </a:rPr>
                <a:t>Otros países</a:t>
              </a:r>
              <a:endParaRPr b="0" i="0" sz="1400" u="none" cap="none" strike="noStrike">
                <a:solidFill>
                  <a:srgbClr val="000000"/>
                </a:solidFill>
                <a:latin typeface="Arial"/>
                <a:ea typeface="Arial"/>
                <a:cs typeface="Arial"/>
                <a:sym typeface="Arial"/>
              </a:endParaRPr>
            </a:p>
          </p:txBody>
        </p:sp>
        <p:sp>
          <p:nvSpPr>
            <p:cNvPr id="235" name="Google Shape;235;g35bed67c570_0_88"/>
            <p:cNvSpPr txBox="1"/>
            <p:nvPr/>
          </p:nvSpPr>
          <p:spPr>
            <a:xfrm>
              <a:off x="1196853" y="1568394"/>
              <a:ext cx="1785600" cy="4455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1" i="0" lang="en-US" sz="2171" u="none" cap="none" strike="noStrike">
                  <a:solidFill>
                    <a:srgbClr val="54565B"/>
                  </a:solidFill>
                  <a:latin typeface="Avenir"/>
                  <a:ea typeface="Avenir"/>
                  <a:cs typeface="Avenir"/>
                  <a:sym typeface="Avenir"/>
                </a:rPr>
                <a:t>México</a:t>
              </a:r>
              <a:endParaRPr b="0" i="0" sz="1400" u="none" cap="none" strike="noStrike">
                <a:solidFill>
                  <a:srgbClr val="000000"/>
                </a:solidFill>
                <a:latin typeface="Arial"/>
                <a:ea typeface="Arial"/>
                <a:cs typeface="Arial"/>
                <a:sym typeface="Arial"/>
              </a:endParaRPr>
            </a:p>
          </p:txBody>
        </p:sp>
        <p:sp>
          <p:nvSpPr>
            <p:cNvPr id="236" name="Google Shape;236;g35bed67c570_0_88"/>
            <p:cNvSpPr txBox="1"/>
            <p:nvPr/>
          </p:nvSpPr>
          <p:spPr>
            <a:xfrm>
              <a:off x="636068" y="-85725"/>
              <a:ext cx="2411400" cy="4455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1" i="0" lang="en-US" sz="2171" u="none" cap="none" strike="noStrike">
                  <a:solidFill>
                    <a:srgbClr val="54565B"/>
                  </a:solidFill>
                  <a:latin typeface="Avenir"/>
                  <a:ea typeface="Avenir"/>
                  <a:cs typeface="Avenir"/>
                  <a:sym typeface="Avenir"/>
                </a:rPr>
                <a:t>Argentina</a:t>
              </a:r>
              <a:endParaRPr b="0" i="0" sz="1400" u="none" cap="none" strike="noStrike">
                <a:solidFill>
                  <a:srgbClr val="000000"/>
                </a:solidFill>
                <a:latin typeface="Arial"/>
                <a:ea typeface="Arial"/>
                <a:cs typeface="Arial"/>
                <a:sym typeface="Arial"/>
              </a:endParaRPr>
            </a:p>
          </p:txBody>
        </p:sp>
      </p:grpSp>
      <p:sp>
        <p:nvSpPr>
          <p:cNvPr id="237" name="Google Shape;237;g35bed67c570_0_88"/>
          <p:cNvSpPr txBox="1"/>
          <p:nvPr/>
        </p:nvSpPr>
        <p:spPr>
          <a:xfrm>
            <a:off x="8814209" y="6362007"/>
            <a:ext cx="2160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54565B"/>
                </a:solidFill>
                <a:latin typeface="Avenir"/>
                <a:ea typeface="Avenir"/>
                <a:cs typeface="Avenir"/>
                <a:sym typeface="Avenir"/>
              </a:rPr>
              <a:t>MXN$ 25,000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1" name="Shape 241"/>
        <p:cNvGrpSpPr/>
        <p:nvPr/>
      </p:nvGrpSpPr>
      <p:grpSpPr>
        <a:xfrm>
          <a:off x="0" y="0"/>
          <a:ext cx="0" cy="0"/>
          <a:chOff x="0" y="0"/>
          <a:chExt cx="0" cy="0"/>
        </a:xfrm>
      </p:grpSpPr>
      <p:sp>
        <p:nvSpPr>
          <p:cNvPr id="242" name="Google Shape;242;g35e6aafcd5d_0_0"/>
          <p:cNvSpPr txBox="1"/>
          <p:nvPr/>
        </p:nvSpPr>
        <p:spPr>
          <a:xfrm>
            <a:off x="1295773" y="4133450"/>
            <a:ext cx="9116100" cy="13854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9000" u="none" cap="none" strike="noStrike">
                <a:solidFill>
                  <a:srgbClr val="F8BF00"/>
                </a:solidFill>
                <a:latin typeface="Garamond"/>
                <a:ea typeface="Garamond"/>
                <a:cs typeface="Garamond"/>
                <a:sym typeface="Garamond"/>
              </a:rPr>
              <a:t>Soluciones</a:t>
            </a:r>
            <a:endParaRPr b="0" i="0" sz="9000" u="none" cap="none" strike="noStrike">
              <a:solidFill>
                <a:srgbClr val="000000"/>
              </a:solidFill>
              <a:latin typeface="Garamond"/>
              <a:ea typeface="Garamond"/>
              <a:cs typeface="Garamond"/>
              <a:sym typeface="Garamond"/>
            </a:endParaRPr>
          </a:p>
        </p:txBody>
      </p:sp>
      <p:sp>
        <p:nvSpPr>
          <p:cNvPr id="243" name="Google Shape;243;g35e6aafcd5d_0_0"/>
          <p:cNvSpPr txBox="1"/>
          <p:nvPr/>
        </p:nvSpPr>
        <p:spPr>
          <a:xfrm>
            <a:off x="1258625" y="3152125"/>
            <a:ext cx="4356300" cy="12315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7064"/>
              <a:buFont typeface="Arial"/>
              <a:buNone/>
            </a:pPr>
            <a:r>
              <a:rPr b="1" i="0" lang="en-US" sz="8000" u="none" cap="none" strike="noStrike">
                <a:solidFill>
                  <a:srgbClr val="FFFFFF"/>
                </a:solidFill>
                <a:latin typeface="Garamond"/>
                <a:ea typeface="Garamond"/>
                <a:cs typeface="Garamond"/>
                <a:sym typeface="Garamond"/>
              </a:rPr>
              <a:t>Nuestras</a:t>
            </a:r>
            <a:endParaRPr b="0" i="0" sz="8000" u="none" cap="none" strike="noStrike">
              <a:solidFill>
                <a:srgbClr val="000000"/>
              </a:solidFill>
              <a:latin typeface="Arial"/>
              <a:ea typeface="Arial"/>
              <a:cs typeface="Arial"/>
              <a:sym typeface="Arial"/>
            </a:endParaRPr>
          </a:p>
        </p:txBody>
      </p:sp>
      <p:sp>
        <p:nvSpPr>
          <p:cNvPr id="244" name="Google Shape;244;g35e6aafcd5d_0_0"/>
          <p:cNvSpPr txBox="1"/>
          <p:nvPr/>
        </p:nvSpPr>
        <p:spPr>
          <a:xfrm>
            <a:off x="1310100" y="5381150"/>
            <a:ext cx="52074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64"/>
              <a:buFont typeface="Arial"/>
              <a:buNone/>
            </a:pPr>
            <a:r>
              <a:rPr b="0" i="0" lang="en-US" sz="2800" u="none" cap="none" strike="noStrike">
                <a:solidFill>
                  <a:schemeClr val="lt1"/>
                </a:solidFill>
                <a:latin typeface="Garamond"/>
                <a:ea typeface="Garamond"/>
                <a:cs typeface="Garamond"/>
                <a:sym typeface="Garamond"/>
              </a:rPr>
              <a:t>Conoce nuestras soluciones para incorporar y potenciar tu talento.</a:t>
            </a:r>
            <a:endParaRPr b="0" i="0" sz="2800" u="none" cap="none" strike="noStrike">
              <a:solidFill>
                <a:schemeClr val="lt1"/>
              </a:solidFill>
              <a:latin typeface="Garamond"/>
              <a:ea typeface="Garamond"/>
              <a:cs typeface="Garamond"/>
              <a:sym typeface="Garamond"/>
            </a:endParaRPr>
          </a:p>
        </p:txBody>
      </p:sp>
      <p:sp>
        <p:nvSpPr>
          <p:cNvPr id="245" name="Google Shape;245;g35e6aafcd5d_0_0"/>
          <p:cNvSpPr txBox="1"/>
          <p:nvPr/>
        </p:nvSpPr>
        <p:spPr>
          <a:xfrm>
            <a:off x="10411882" y="19465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Executive Search </a:t>
            </a:r>
            <a:endParaRPr b="0" i="0" sz="3600" u="none" cap="none" strike="noStrike">
              <a:solidFill>
                <a:schemeClr val="lt1"/>
              </a:solidFill>
              <a:latin typeface="Arial"/>
              <a:ea typeface="Arial"/>
              <a:cs typeface="Arial"/>
              <a:sym typeface="Arial"/>
            </a:endParaRPr>
          </a:p>
        </p:txBody>
      </p:sp>
      <p:sp>
        <p:nvSpPr>
          <p:cNvPr id="246" name="Google Shape;246;g35e6aafcd5d_0_0"/>
          <p:cNvSpPr txBox="1"/>
          <p:nvPr/>
        </p:nvSpPr>
        <p:spPr>
          <a:xfrm>
            <a:off x="10411882" y="60460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Self Placement</a:t>
            </a:r>
            <a:endParaRPr b="0" i="0" sz="3600" u="none" cap="none" strike="noStrike">
              <a:solidFill>
                <a:schemeClr val="lt1"/>
              </a:solidFill>
              <a:latin typeface="Arial"/>
              <a:ea typeface="Arial"/>
              <a:cs typeface="Arial"/>
              <a:sym typeface="Arial"/>
            </a:endParaRPr>
          </a:p>
        </p:txBody>
      </p:sp>
      <p:cxnSp>
        <p:nvCxnSpPr>
          <p:cNvPr id="247" name="Google Shape;247;g35e6aafcd5d_0_0"/>
          <p:cNvCxnSpPr/>
          <p:nvPr/>
        </p:nvCxnSpPr>
        <p:spPr>
          <a:xfrm>
            <a:off x="10411875" y="2824650"/>
            <a:ext cx="4466700" cy="0"/>
          </a:xfrm>
          <a:prstGeom prst="straightConnector1">
            <a:avLst/>
          </a:prstGeom>
          <a:noFill/>
          <a:ln cap="flat" cmpd="sng" w="9525">
            <a:solidFill>
              <a:schemeClr val="lt1"/>
            </a:solidFill>
            <a:prstDash val="solid"/>
            <a:round/>
            <a:headEnd len="sm" w="sm" type="none"/>
            <a:tailEnd len="sm" w="sm" type="none"/>
          </a:ln>
        </p:spPr>
      </p:cxnSp>
      <p:sp>
        <p:nvSpPr>
          <p:cNvPr id="248" name="Google Shape;248;g35e6aafcd5d_0_0"/>
          <p:cNvSpPr txBox="1"/>
          <p:nvPr/>
        </p:nvSpPr>
        <p:spPr>
          <a:xfrm>
            <a:off x="10419757" y="30336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Assessment </a:t>
            </a:r>
            <a:endParaRPr b="0" i="0" sz="3600" u="none" cap="none" strike="noStrike">
              <a:solidFill>
                <a:schemeClr val="lt1"/>
              </a:solidFill>
              <a:latin typeface="Arial"/>
              <a:ea typeface="Arial"/>
              <a:cs typeface="Arial"/>
              <a:sym typeface="Arial"/>
            </a:endParaRPr>
          </a:p>
        </p:txBody>
      </p:sp>
      <p:cxnSp>
        <p:nvCxnSpPr>
          <p:cNvPr id="249" name="Google Shape;249;g35e6aafcd5d_0_0"/>
          <p:cNvCxnSpPr/>
          <p:nvPr/>
        </p:nvCxnSpPr>
        <p:spPr>
          <a:xfrm>
            <a:off x="10411875" y="3767875"/>
            <a:ext cx="4466700" cy="0"/>
          </a:xfrm>
          <a:prstGeom prst="straightConnector1">
            <a:avLst/>
          </a:prstGeom>
          <a:noFill/>
          <a:ln cap="flat" cmpd="sng" w="9525">
            <a:solidFill>
              <a:schemeClr val="lt1"/>
            </a:solidFill>
            <a:prstDash val="solid"/>
            <a:round/>
            <a:headEnd len="sm" w="sm" type="none"/>
            <a:tailEnd len="sm" w="sm" type="none"/>
          </a:ln>
        </p:spPr>
      </p:cxnSp>
      <p:sp>
        <p:nvSpPr>
          <p:cNvPr id="250" name="Google Shape;250;g35e6aafcd5d_0_0"/>
          <p:cNvSpPr txBox="1"/>
          <p:nvPr/>
        </p:nvSpPr>
        <p:spPr>
          <a:xfrm>
            <a:off x="10419757" y="40242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Market Insights </a:t>
            </a:r>
            <a:endParaRPr b="0" i="0" sz="3600" u="none" cap="none" strike="noStrike">
              <a:solidFill>
                <a:schemeClr val="lt1"/>
              </a:solidFill>
              <a:latin typeface="Arial"/>
              <a:ea typeface="Arial"/>
              <a:cs typeface="Arial"/>
              <a:sym typeface="Arial"/>
            </a:endParaRPr>
          </a:p>
        </p:txBody>
      </p:sp>
      <p:cxnSp>
        <p:nvCxnSpPr>
          <p:cNvPr id="251" name="Google Shape;251;g35e6aafcd5d_0_0"/>
          <p:cNvCxnSpPr/>
          <p:nvPr/>
        </p:nvCxnSpPr>
        <p:spPr>
          <a:xfrm>
            <a:off x="10411875" y="4758475"/>
            <a:ext cx="4466700" cy="0"/>
          </a:xfrm>
          <a:prstGeom prst="straightConnector1">
            <a:avLst/>
          </a:prstGeom>
          <a:noFill/>
          <a:ln cap="flat" cmpd="sng" w="9525">
            <a:solidFill>
              <a:schemeClr val="lt1"/>
            </a:solidFill>
            <a:prstDash val="solid"/>
            <a:round/>
            <a:headEnd len="sm" w="sm" type="none"/>
            <a:tailEnd len="sm" w="sm" type="none"/>
          </a:ln>
        </p:spPr>
      </p:cxnSp>
      <p:sp>
        <p:nvSpPr>
          <p:cNvPr id="252" name="Google Shape;252;g35e6aafcd5d_0_0"/>
          <p:cNvSpPr txBox="1"/>
          <p:nvPr/>
        </p:nvSpPr>
        <p:spPr>
          <a:xfrm>
            <a:off x="10419757" y="50351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Coaching</a:t>
            </a:r>
            <a:endParaRPr b="0" i="0" sz="3600" u="none" cap="none" strike="noStrike">
              <a:solidFill>
                <a:schemeClr val="lt1"/>
              </a:solidFill>
              <a:latin typeface="Arial"/>
              <a:ea typeface="Arial"/>
              <a:cs typeface="Arial"/>
              <a:sym typeface="Arial"/>
            </a:endParaRPr>
          </a:p>
        </p:txBody>
      </p:sp>
      <p:cxnSp>
        <p:nvCxnSpPr>
          <p:cNvPr id="253" name="Google Shape;253;g35e6aafcd5d_0_0"/>
          <p:cNvCxnSpPr/>
          <p:nvPr/>
        </p:nvCxnSpPr>
        <p:spPr>
          <a:xfrm>
            <a:off x="10411875" y="5769375"/>
            <a:ext cx="4466700" cy="0"/>
          </a:xfrm>
          <a:prstGeom prst="straightConnector1">
            <a:avLst/>
          </a:prstGeom>
          <a:noFill/>
          <a:ln cap="flat" cmpd="sng" w="9525">
            <a:solidFill>
              <a:schemeClr val="lt1"/>
            </a:solidFill>
            <a:prstDash val="solid"/>
            <a:round/>
            <a:headEnd len="sm" w="sm" type="none"/>
            <a:tailEnd len="sm" w="sm" type="none"/>
          </a:ln>
        </p:spPr>
      </p:cxnSp>
      <p:pic>
        <p:nvPicPr>
          <p:cNvPr id="254" name="Google Shape;254;g35e6aafcd5d_0_0" title="VDH Logo_2025-02.png"/>
          <p:cNvPicPr preferRelativeResize="0"/>
          <p:nvPr/>
        </p:nvPicPr>
        <p:blipFill rotWithShape="1">
          <a:blip r:embed="rId4">
            <a:alphaModFix/>
          </a:blip>
          <a:srcRect b="0" l="0" r="0" t="0"/>
          <a:stretch/>
        </p:blipFill>
        <p:spPr>
          <a:xfrm>
            <a:off x="14012925" y="9058425"/>
            <a:ext cx="3559228" cy="554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65B"/>
        </a:solidFill>
      </p:bgPr>
    </p:bg>
    <p:spTree>
      <p:nvGrpSpPr>
        <p:cNvPr id="258" name="Shape 258"/>
        <p:cNvGrpSpPr/>
        <p:nvPr/>
      </p:nvGrpSpPr>
      <p:grpSpPr>
        <a:xfrm>
          <a:off x="0" y="0"/>
          <a:ext cx="0" cy="0"/>
          <a:chOff x="0" y="0"/>
          <a:chExt cx="0" cy="0"/>
        </a:xfrm>
      </p:grpSpPr>
      <p:sp>
        <p:nvSpPr>
          <p:cNvPr id="259" name="Google Shape;259;g35e6aafcd5d_0_16"/>
          <p:cNvSpPr/>
          <p:nvPr/>
        </p:nvSpPr>
        <p:spPr>
          <a:xfrm>
            <a:off x="0" y="5660700"/>
            <a:ext cx="18320353" cy="4592300"/>
          </a:xfrm>
          <a:custGeom>
            <a:rect b="b" l="l" r="r" t="t"/>
            <a:pathLst>
              <a:path extrusionOk="0" h="1554078" w="6428194">
                <a:moveTo>
                  <a:pt x="0" y="0"/>
                </a:moveTo>
                <a:lnTo>
                  <a:pt x="6428194" y="0"/>
                </a:lnTo>
                <a:lnTo>
                  <a:pt x="6428194" y="1554078"/>
                </a:lnTo>
                <a:lnTo>
                  <a:pt x="0" y="15540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5e6aafcd5d_0_16"/>
          <p:cNvSpPr txBox="1"/>
          <p:nvPr/>
        </p:nvSpPr>
        <p:spPr>
          <a:xfrm>
            <a:off x="7469472" y="6178207"/>
            <a:ext cx="5188800" cy="2240400"/>
          </a:xfrm>
          <a:prstGeom prst="rect">
            <a:avLst/>
          </a:prstGeom>
          <a:noFill/>
          <a:ln>
            <a:noFill/>
          </a:ln>
        </p:spPr>
        <p:txBody>
          <a:bodyPr anchorCtr="0" anchor="t" bIns="0" lIns="0" spcFirstLastPara="1" rIns="0" wrap="square" tIns="0">
            <a:spAutoFit/>
          </a:bodyPr>
          <a:lstStyle/>
          <a:p>
            <a:pPr indent="0" lvl="0" marL="0" marR="0" rtl="0" algn="r">
              <a:lnSpc>
                <a:spcPct val="140014"/>
              </a:lnSpc>
              <a:spcBef>
                <a:spcPts val="0"/>
              </a:spcBef>
              <a:spcAft>
                <a:spcPts val="0"/>
              </a:spcAft>
              <a:buClr>
                <a:srgbClr val="000000"/>
              </a:buClr>
              <a:buSzPts val="2799"/>
              <a:buFont typeface="Arial"/>
              <a:buNone/>
            </a:pPr>
            <a:r>
              <a:rPr b="0" i="0" lang="en-US" sz="2799" u="none" cap="none" strike="noStrike">
                <a:solidFill>
                  <a:srgbClr val="54565B"/>
                </a:solidFill>
                <a:latin typeface="Avenir"/>
                <a:ea typeface="Avenir"/>
                <a:cs typeface="Avenir"/>
                <a:sym typeface="Avenir"/>
              </a:rPr>
              <a:t>Website:</a:t>
            </a:r>
            <a:endParaRPr b="0" i="0" sz="1400" u="none" cap="none" strike="noStrike">
              <a:solidFill>
                <a:srgbClr val="000000"/>
              </a:solidFill>
              <a:latin typeface="Arial"/>
              <a:ea typeface="Arial"/>
              <a:cs typeface="Arial"/>
              <a:sym typeface="Arial"/>
            </a:endParaRPr>
          </a:p>
          <a:p>
            <a:pPr indent="0" lvl="0" marL="0" marR="0" rtl="0" algn="r">
              <a:lnSpc>
                <a:spcPct val="140014"/>
              </a:lnSpc>
              <a:spcBef>
                <a:spcPts val="0"/>
              </a:spcBef>
              <a:spcAft>
                <a:spcPts val="0"/>
              </a:spcAft>
              <a:buClr>
                <a:srgbClr val="000000"/>
              </a:buClr>
              <a:buSzPts val="2799"/>
              <a:buFont typeface="Arial"/>
              <a:buNone/>
            </a:pPr>
            <a:r>
              <a:rPr b="0" i="0" lang="en-US" sz="2799" u="none" cap="none" strike="noStrike">
                <a:solidFill>
                  <a:srgbClr val="54565B"/>
                </a:solidFill>
                <a:latin typeface="Avenir"/>
                <a:ea typeface="Avenir"/>
                <a:cs typeface="Avenir"/>
                <a:sym typeface="Avenir"/>
              </a:rPr>
              <a:t>LinkedIn:</a:t>
            </a:r>
            <a:endParaRPr b="0" i="0" sz="1400" u="none" cap="none" strike="noStrike">
              <a:solidFill>
                <a:srgbClr val="000000"/>
              </a:solidFill>
              <a:latin typeface="Arial"/>
              <a:ea typeface="Arial"/>
              <a:cs typeface="Arial"/>
              <a:sym typeface="Arial"/>
            </a:endParaRPr>
          </a:p>
          <a:p>
            <a:pPr indent="0" lvl="0" marL="0" marR="0" rtl="0" algn="r">
              <a:lnSpc>
                <a:spcPct val="140014"/>
              </a:lnSpc>
              <a:spcBef>
                <a:spcPts val="0"/>
              </a:spcBef>
              <a:spcAft>
                <a:spcPts val="0"/>
              </a:spcAft>
              <a:buClr>
                <a:srgbClr val="000000"/>
              </a:buClr>
              <a:buSzPts val="2799"/>
              <a:buFont typeface="Arial"/>
              <a:buNone/>
            </a:pPr>
            <a:r>
              <a:rPr b="0" i="0" lang="en-US" sz="2799" u="none" cap="none" strike="noStrike">
                <a:solidFill>
                  <a:srgbClr val="54565B"/>
                </a:solidFill>
                <a:latin typeface="Avenir"/>
                <a:ea typeface="Avenir"/>
                <a:cs typeface="Avenir"/>
                <a:sym typeface="Avenir"/>
              </a:rPr>
              <a:t>Correo:</a:t>
            </a:r>
            <a:endParaRPr b="0" i="0" sz="1400" u="none" cap="none" strike="noStrike">
              <a:solidFill>
                <a:srgbClr val="000000"/>
              </a:solidFill>
              <a:latin typeface="Arial"/>
              <a:ea typeface="Arial"/>
              <a:cs typeface="Arial"/>
              <a:sym typeface="Arial"/>
            </a:endParaRPr>
          </a:p>
          <a:p>
            <a:pPr indent="0" lvl="0" marL="0" marR="0" rtl="0" algn="r">
              <a:lnSpc>
                <a:spcPct val="140014"/>
              </a:lnSpc>
              <a:spcBef>
                <a:spcPts val="0"/>
              </a:spcBef>
              <a:spcAft>
                <a:spcPts val="0"/>
              </a:spcAft>
              <a:buClr>
                <a:srgbClr val="000000"/>
              </a:buClr>
              <a:buSzPts val="2799"/>
              <a:buFont typeface="Arial"/>
              <a:buNone/>
            </a:pPr>
            <a:r>
              <a:t/>
            </a:r>
            <a:endParaRPr b="0" i="0" sz="2799" u="none" cap="none" strike="noStrike">
              <a:solidFill>
                <a:srgbClr val="54565B"/>
              </a:solidFill>
              <a:latin typeface="Avenir"/>
              <a:ea typeface="Avenir"/>
              <a:cs typeface="Avenir"/>
              <a:sym typeface="Avenir"/>
            </a:endParaRPr>
          </a:p>
        </p:txBody>
      </p:sp>
      <p:sp>
        <p:nvSpPr>
          <p:cNvPr id="261" name="Google Shape;261;g35e6aafcd5d_0_16"/>
          <p:cNvSpPr txBox="1"/>
          <p:nvPr/>
        </p:nvSpPr>
        <p:spPr>
          <a:xfrm>
            <a:off x="12951650" y="6283097"/>
            <a:ext cx="46317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54565B"/>
                </a:solidFill>
                <a:latin typeface="Avenir"/>
                <a:ea typeface="Avenir"/>
                <a:cs typeface="Avenir"/>
                <a:sym typeface="Avenir"/>
              </a:rPr>
              <a:t>WWW.VONDERHEIDE.COM</a:t>
            </a:r>
            <a:endParaRPr b="0" i="0" sz="1400" u="none" cap="none" strike="noStrike">
              <a:solidFill>
                <a:srgbClr val="000000"/>
              </a:solidFill>
              <a:latin typeface="Arial"/>
              <a:ea typeface="Arial"/>
              <a:cs typeface="Arial"/>
              <a:sym typeface="Arial"/>
            </a:endParaRPr>
          </a:p>
        </p:txBody>
      </p:sp>
      <p:sp>
        <p:nvSpPr>
          <p:cNvPr id="262" name="Google Shape;262;g35e6aafcd5d_0_16"/>
          <p:cNvSpPr txBox="1"/>
          <p:nvPr/>
        </p:nvSpPr>
        <p:spPr>
          <a:xfrm>
            <a:off x="12951650" y="6848913"/>
            <a:ext cx="46317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54565B"/>
                </a:solidFill>
                <a:latin typeface="Avenir"/>
                <a:ea typeface="Avenir"/>
                <a:cs typeface="Avenir"/>
                <a:sym typeface="Avenir"/>
              </a:rPr>
              <a:t>VON DER HEIDE</a:t>
            </a:r>
            <a:endParaRPr b="0" i="0" sz="1400" u="none" cap="none" strike="noStrike">
              <a:solidFill>
                <a:srgbClr val="000000"/>
              </a:solidFill>
              <a:latin typeface="Arial"/>
              <a:ea typeface="Arial"/>
              <a:cs typeface="Arial"/>
              <a:sym typeface="Arial"/>
            </a:endParaRPr>
          </a:p>
        </p:txBody>
      </p:sp>
      <p:sp>
        <p:nvSpPr>
          <p:cNvPr id="263" name="Google Shape;263;g35e6aafcd5d_0_16"/>
          <p:cNvSpPr txBox="1"/>
          <p:nvPr/>
        </p:nvSpPr>
        <p:spPr>
          <a:xfrm>
            <a:off x="12951650" y="7414738"/>
            <a:ext cx="46317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54565B"/>
                </a:solidFill>
                <a:latin typeface="Avenir"/>
                <a:ea typeface="Avenir"/>
                <a:cs typeface="Avenir"/>
                <a:sym typeface="Avenir"/>
              </a:rPr>
              <a:t>CONTACTO@VDH.JOBS</a:t>
            </a:r>
            <a:endParaRPr b="0" i="0" sz="1400" u="none" cap="none" strike="noStrike">
              <a:solidFill>
                <a:srgbClr val="000000"/>
              </a:solidFill>
              <a:latin typeface="Arial"/>
              <a:ea typeface="Arial"/>
              <a:cs typeface="Arial"/>
              <a:sym typeface="Arial"/>
            </a:endParaRPr>
          </a:p>
        </p:txBody>
      </p:sp>
      <p:grpSp>
        <p:nvGrpSpPr>
          <p:cNvPr id="264" name="Google Shape;264;g35e6aafcd5d_0_16"/>
          <p:cNvGrpSpPr/>
          <p:nvPr/>
        </p:nvGrpSpPr>
        <p:grpSpPr>
          <a:xfrm>
            <a:off x="-523800" y="2286026"/>
            <a:ext cx="8703799" cy="2272849"/>
            <a:chOff x="-523800" y="2286026"/>
            <a:chExt cx="8703799" cy="2272849"/>
          </a:xfrm>
        </p:grpSpPr>
        <p:pic>
          <p:nvPicPr>
            <p:cNvPr id="265" name="Google Shape;265;g35e6aafcd5d_0_16" title="people to business.png"/>
            <p:cNvPicPr preferRelativeResize="0"/>
            <p:nvPr/>
          </p:nvPicPr>
          <p:blipFill rotWithShape="1">
            <a:blip r:embed="rId3">
              <a:alphaModFix/>
            </a:blip>
            <a:srcRect b="33238" l="35239" r="35609" t="51645"/>
            <a:stretch/>
          </p:blipFill>
          <p:spPr>
            <a:xfrm>
              <a:off x="1303875" y="3119500"/>
              <a:ext cx="4935000" cy="1439375"/>
            </a:xfrm>
            <a:prstGeom prst="rect">
              <a:avLst/>
            </a:prstGeom>
            <a:noFill/>
            <a:ln>
              <a:noFill/>
            </a:ln>
          </p:spPr>
        </p:pic>
        <p:sp>
          <p:nvSpPr>
            <p:cNvPr id="266" name="Google Shape;266;g35e6aafcd5d_0_16"/>
            <p:cNvSpPr/>
            <p:nvPr/>
          </p:nvSpPr>
          <p:spPr>
            <a:xfrm>
              <a:off x="-523800" y="2286026"/>
              <a:ext cx="8703799" cy="1336045"/>
            </a:xfrm>
            <a:custGeom>
              <a:rect b="b" l="l" r="r" t="t"/>
              <a:pathLst>
                <a:path extrusionOk="0" h="1659683" w="10812173">
                  <a:moveTo>
                    <a:pt x="0" y="0"/>
                  </a:moveTo>
                  <a:lnTo>
                    <a:pt x="10812174" y="0"/>
                  </a:lnTo>
                  <a:lnTo>
                    <a:pt x="10812174" y="1659683"/>
                  </a:lnTo>
                  <a:lnTo>
                    <a:pt x="0" y="1659683"/>
                  </a:lnTo>
                  <a:lnTo>
                    <a:pt x="0" y="0"/>
                  </a:lnTo>
                  <a:close/>
                </a:path>
              </a:pathLst>
            </a:custGeom>
            <a:blipFill rotWithShape="1">
              <a:blip r:embed="rId4">
                <a:alphaModFix/>
              </a:blip>
              <a:stretch>
                <a:fillRect b="-376782" l="0" r="0" t="-365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