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8" r:id="rId12"/>
    <p:sldId id="267" r:id="rId13"/>
  </p:sldIdLst>
  <p:sldSz cx="18288000" cy="10287000"/>
  <p:notesSz cx="6858000" cy="9144000"/>
  <p:embeddedFontLst>
    <p:embeddedFont>
      <p:font typeface="Garamond" panose="02020404030301010803" pitchFamily="18" charset="0"/>
      <p:regular r:id="rId15"/>
      <p:bold r:id="rId16"/>
      <p:italic r:id="rId17"/>
      <p:boldItalic r:id="rId18"/>
    </p:embeddedFont>
    <p:embeddedFont>
      <p:font typeface="Nothing You Could Do" panose="020B0604020202020204" charset="0"/>
      <p:regular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3" roundtripDataSignature="AMtx7mgm3vWP0RfkP7oFyBNKYs4PIF0v2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F1DBB7D-FFE4-4EED-91AF-8657EC78B79F}">
  <a:tblStyle styleId="{3F1DBB7D-FFE4-4EED-91AF-8657EC78B79F}"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0" d="100"/>
          <a:sy n="40" d="100"/>
        </p:scale>
        <p:origin x="1032" y="4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1.fntdata"/><Relationship Id="rId23" Type="http://customschemas.google.com/relationships/presentationmetadata" Target="metadata"/><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8" name="Google Shape;88;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5809203cad_1_10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0" name="Google Shape;100;g35809203cad_1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5809203cad_1_7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4" name="Google Shape;114;g35809203cad_1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5bee174b82_0_9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35" name="Google Shape;135;g35bee174b82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5bee174b82_0_39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g35bee174b82_0_3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5714f9f95a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6" name="Google Shape;186;g35714f9f95a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553af37456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3" name="Google Shape;213;g3553af37456_0_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35ba6ddf0db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0" name="Google Shape;220;g35ba6ddf0db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5ba6ddf0db_0_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4" name="Google Shape;234;g35ba6ddf0db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5fb9f226c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35fb9f226c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35e6a1417f8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78" name="Google Shape;278;g35e6a1417f8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4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4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4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48"/>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48"/>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8" name="Google Shape;18;p4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4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4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4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 name="Google Shape;24;p4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4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4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0"/>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50"/>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5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5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5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1"/>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51"/>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5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5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5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52"/>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52"/>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52"/>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52"/>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5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5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5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5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5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5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5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54"/>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54"/>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57" name="Google Shape;57;p54"/>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58" name="Google Shape;58;p5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5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5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55"/>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55"/>
          <p:cNvSpPr>
            <a:spLocks noGrp="1"/>
          </p:cNvSpPr>
          <p:nvPr>
            <p:ph type="pic" idx="2"/>
          </p:nvPr>
        </p:nvSpPr>
        <p:spPr>
          <a:xfrm>
            <a:off x="1792288" y="612775"/>
            <a:ext cx="5486400" cy="4114800"/>
          </a:xfrm>
          <a:prstGeom prst="rect">
            <a:avLst/>
          </a:prstGeom>
          <a:noFill/>
          <a:ln>
            <a:noFill/>
          </a:ln>
        </p:spPr>
      </p:sp>
      <p:sp>
        <p:nvSpPr>
          <p:cNvPr id="64" name="Google Shape;64;p55"/>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5" name="Google Shape;65;p5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5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5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5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56"/>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1" name="Google Shape;71;p5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5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5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57"/>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57"/>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7" name="Google Shape;77;p5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5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5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4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4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4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4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4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54565B"/>
        </a:solidFill>
        <a:effectLst/>
      </p:bgPr>
    </p:bg>
    <p:spTree>
      <p:nvGrpSpPr>
        <p:cNvPr id="1" name="Shape 83"/>
        <p:cNvGrpSpPr/>
        <p:nvPr/>
      </p:nvGrpSpPr>
      <p:grpSpPr>
        <a:xfrm>
          <a:off x="0" y="0"/>
          <a:ext cx="0" cy="0"/>
          <a:chOff x="0" y="0"/>
          <a:chExt cx="0" cy="0"/>
        </a:xfrm>
      </p:grpSpPr>
      <p:sp>
        <p:nvSpPr>
          <p:cNvPr id="84" name="Google Shape;84;p2"/>
          <p:cNvSpPr/>
          <p:nvPr/>
        </p:nvSpPr>
        <p:spPr>
          <a:xfrm>
            <a:off x="3737913" y="3956892"/>
            <a:ext cx="10812173" cy="1659683"/>
          </a:xfrm>
          <a:custGeom>
            <a:avLst/>
            <a:gdLst/>
            <a:ahLst/>
            <a:cxnLst/>
            <a:rect l="l" t="t" r="r" b="b"/>
            <a:pathLst>
              <a:path w="10812173" h="1659683" extrusionOk="0">
                <a:moveTo>
                  <a:pt x="0" y="0"/>
                </a:moveTo>
                <a:lnTo>
                  <a:pt x="10812174" y="0"/>
                </a:lnTo>
                <a:lnTo>
                  <a:pt x="10812174" y="1659683"/>
                </a:lnTo>
                <a:lnTo>
                  <a:pt x="0" y="1659683"/>
                </a:lnTo>
                <a:lnTo>
                  <a:pt x="0" y="0"/>
                </a:lnTo>
                <a:close/>
              </a:path>
            </a:pathLst>
          </a:custGeom>
          <a:blipFill rotWithShape="1">
            <a:blip r:embed="rId3">
              <a:alphaModFix/>
            </a:blip>
            <a:stretch>
              <a:fillRect t="-365790" b="-376598"/>
            </a:stretch>
          </a:blipFill>
          <a:ln>
            <a:noFill/>
          </a:ln>
        </p:spPr>
      </p:sp>
      <p:pic>
        <p:nvPicPr>
          <p:cNvPr id="85" name="Google Shape;85;p2" title="Presentacion Comercial Soluciones VON DER HEIDE.png"/>
          <p:cNvPicPr preferRelativeResize="0"/>
          <p:nvPr/>
        </p:nvPicPr>
        <p:blipFill rotWithShape="1">
          <a:blip r:embed="rId4">
            <a:alphaModFix/>
          </a:blip>
          <a:srcRect l="36694" t="56581" r="36611" b="31963"/>
          <a:stretch/>
        </p:blipFill>
        <p:spPr>
          <a:xfrm>
            <a:off x="6441276" y="5719901"/>
            <a:ext cx="5405448" cy="13047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0"/>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59882" r="-34901"/>
            </a:stretch>
          </a:blipFill>
          <a:ln>
            <a:noFill/>
          </a:ln>
        </p:spPr>
      </p:sp>
      <p:sp>
        <p:nvSpPr>
          <p:cNvPr id="91" name="Google Shape;91;p10"/>
          <p:cNvSpPr/>
          <p:nvPr/>
        </p:nvSpPr>
        <p:spPr>
          <a:xfrm>
            <a:off x="0" y="5143500"/>
            <a:ext cx="18288000" cy="5143500"/>
          </a:xfrm>
          <a:custGeom>
            <a:avLst/>
            <a:gdLst/>
            <a:ahLst/>
            <a:cxnLst/>
            <a:rect l="l" t="t" r="r" b="b"/>
            <a:pathLst>
              <a:path w="6186311" h="1739900" extrusionOk="0">
                <a:moveTo>
                  <a:pt x="0" y="0"/>
                </a:moveTo>
                <a:lnTo>
                  <a:pt x="6186311" y="0"/>
                </a:lnTo>
                <a:lnTo>
                  <a:pt x="6186311" y="1739900"/>
                </a:lnTo>
                <a:lnTo>
                  <a:pt x="0" y="1739900"/>
                </a:lnTo>
                <a:close/>
              </a:path>
            </a:pathLst>
          </a:custGeom>
          <a:solidFill>
            <a:srgbClr val="54565B"/>
          </a:solidFill>
          <a:ln>
            <a:noFill/>
          </a:ln>
        </p:spPr>
      </p:sp>
      <p:sp>
        <p:nvSpPr>
          <p:cNvPr id="92" name="Google Shape;92;p10"/>
          <p:cNvSpPr/>
          <p:nvPr/>
        </p:nvSpPr>
        <p:spPr>
          <a:xfrm rot="10800000">
            <a:off x="-1158529" y="5143512"/>
            <a:ext cx="19446529" cy="2873913"/>
          </a:xfrm>
          <a:custGeom>
            <a:avLst/>
            <a:gdLst/>
            <a:ahLst/>
            <a:cxnLst/>
            <a:rect l="l" t="t" r="r" b="b"/>
            <a:pathLst>
              <a:path w="17800027" h="2873913" extrusionOk="0">
                <a:moveTo>
                  <a:pt x="0" y="0"/>
                </a:moveTo>
                <a:lnTo>
                  <a:pt x="17800027" y="0"/>
                </a:lnTo>
                <a:lnTo>
                  <a:pt x="17800027" y="2873913"/>
                </a:lnTo>
                <a:lnTo>
                  <a:pt x="0" y="2873913"/>
                </a:lnTo>
                <a:lnTo>
                  <a:pt x="0" y="0"/>
                </a:lnTo>
                <a:close/>
              </a:path>
            </a:pathLst>
          </a:custGeom>
          <a:blipFill rotWithShape="1">
            <a:blip r:embed="rId4">
              <a:alphaModFix amt="14000"/>
            </a:blip>
            <a:stretch>
              <a:fillRect t="-41982" b="-41980"/>
            </a:stretch>
          </a:blipFill>
          <a:ln>
            <a:noFill/>
          </a:ln>
        </p:spPr>
      </p:sp>
      <p:sp>
        <p:nvSpPr>
          <p:cNvPr id="93" name="Google Shape;93;p10"/>
          <p:cNvSpPr/>
          <p:nvPr/>
        </p:nvSpPr>
        <p:spPr>
          <a:xfrm>
            <a:off x="7821179" y="9258300"/>
            <a:ext cx="3133615" cy="822737"/>
          </a:xfrm>
          <a:custGeom>
            <a:avLst/>
            <a:gdLst/>
            <a:ahLst/>
            <a:cxnLst/>
            <a:rect l="l" t="t" r="r" b="b"/>
            <a:pathLst>
              <a:path w="3133615" h="822737" extrusionOk="0">
                <a:moveTo>
                  <a:pt x="0" y="0"/>
                </a:moveTo>
                <a:lnTo>
                  <a:pt x="3133615" y="0"/>
                </a:lnTo>
                <a:lnTo>
                  <a:pt x="3133615" y="822737"/>
                </a:lnTo>
                <a:lnTo>
                  <a:pt x="0" y="822737"/>
                </a:lnTo>
                <a:lnTo>
                  <a:pt x="0" y="0"/>
                </a:lnTo>
                <a:close/>
              </a:path>
            </a:pathLst>
          </a:custGeom>
          <a:blipFill rotWithShape="1">
            <a:blip r:embed="rId5">
              <a:alphaModFix/>
            </a:blip>
            <a:stretch>
              <a:fillRect l="-17410" t="-276318" r="-16828" b="-285188"/>
            </a:stretch>
          </a:blipFill>
          <a:ln>
            <a:noFill/>
          </a:ln>
        </p:spPr>
      </p:sp>
      <p:sp>
        <p:nvSpPr>
          <p:cNvPr id="94" name="Google Shape;94;p10"/>
          <p:cNvSpPr txBox="1"/>
          <p:nvPr/>
        </p:nvSpPr>
        <p:spPr>
          <a:xfrm>
            <a:off x="114603" y="7443105"/>
            <a:ext cx="15723300" cy="1678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1903"/>
              <a:buFont typeface="Arial"/>
              <a:buNone/>
            </a:pPr>
            <a:r>
              <a:rPr lang="en-US" sz="10903" b="1" i="0" u="none" strike="noStrike" cap="none">
                <a:solidFill>
                  <a:srgbClr val="E5E5E4"/>
                </a:solidFill>
                <a:latin typeface="Avenir"/>
                <a:ea typeface="Avenir"/>
                <a:cs typeface="Avenir"/>
                <a:sym typeface="Avenir"/>
              </a:rPr>
              <a:t>TALENT ACQUISITION</a:t>
            </a:r>
            <a:endParaRPr sz="400" b="0" i="0" u="none" strike="noStrike" cap="none">
              <a:solidFill>
                <a:srgbClr val="000000"/>
              </a:solidFill>
              <a:latin typeface="Arial"/>
              <a:ea typeface="Arial"/>
              <a:cs typeface="Arial"/>
              <a:sym typeface="Arial"/>
            </a:endParaRPr>
          </a:p>
        </p:txBody>
      </p:sp>
      <p:grpSp>
        <p:nvGrpSpPr>
          <p:cNvPr id="95" name="Google Shape;95;p10"/>
          <p:cNvGrpSpPr/>
          <p:nvPr/>
        </p:nvGrpSpPr>
        <p:grpSpPr>
          <a:xfrm>
            <a:off x="16079532" y="8005855"/>
            <a:ext cx="1342975" cy="671488"/>
            <a:chOff x="0" y="0"/>
            <a:chExt cx="1790634" cy="895317"/>
          </a:xfrm>
        </p:grpSpPr>
        <p:sp>
          <p:nvSpPr>
            <p:cNvPr id="96" name="Google Shape;96;p10"/>
            <p:cNvSpPr/>
            <p:nvPr/>
          </p:nvSpPr>
          <p:spPr>
            <a:xfrm>
              <a:off x="0" y="0"/>
              <a:ext cx="1790634" cy="895317"/>
            </a:xfrm>
            <a:custGeom>
              <a:avLst/>
              <a:gdLst/>
              <a:ahLst/>
              <a:cxnLst/>
              <a:rect l="l" t="t" r="r" b="b"/>
              <a:pathLst>
                <a:path w="1790634" h="895317" extrusionOk="0">
                  <a:moveTo>
                    <a:pt x="0" y="0"/>
                  </a:moveTo>
                  <a:lnTo>
                    <a:pt x="1790634" y="0"/>
                  </a:lnTo>
                  <a:lnTo>
                    <a:pt x="1790634" y="895317"/>
                  </a:lnTo>
                  <a:lnTo>
                    <a:pt x="0" y="895317"/>
                  </a:lnTo>
                  <a:lnTo>
                    <a:pt x="0" y="0"/>
                  </a:lnTo>
                  <a:close/>
                </a:path>
              </a:pathLst>
            </a:custGeom>
            <a:blipFill rotWithShape="1">
              <a:blip r:embed="rId6">
                <a:alphaModFix/>
              </a:blip>
              <a:stretch>
                <a:fillRect/>
              </a:stretch>
            </a:blipFill>
            <a:ln>
              <a:noFill/>
            </a:ln>
          </p:spPr>
        </p:sp>
        <p:sp>
          <p:nvSpPr>
            <p:cNvPr id="97" name="Google Shape;97;p10"/>
            <p:cNvSpPr/>
            <p:nvPr/>
          </p:nvSpPr>
          <p:spPr>
            <a:xfrm>
              <a:off x="210868" y="232737"/>
              <a:ext cx="566515" cy="429843"/>
            </a:xfrm>
            <a:custGeom>
              <a:avLst/>
              <a:gdLst/>
              <a:ahLst/>
              <a:cxnLst/>
              <a:rect l="l" t="t" r="r" b="b"/>
              <a:pathLst>
                <a:path w="566515" h="429843" extrusionOk="0">
                  <a:moveTo>
                    <a:pt x="0" y="0"/>
                  </a:moveTo>
                  <a:lnTo>
                    <a:pt x="566515" y="0"/>
                  </a:lnTo>
                  <a:lnTo>
                    <a:pt x="566515" y="429843"/>
                  </a:lnTo>
                  <a:lnTo>
                    <a:pt x="0" y="429843"/>
                  </a:lnTo>
                  <a:lnTo>
                    <a:pt x="0" y="0"/>
                  </a:lnTo>
                  <a:close/>
                </a:path>
              </a:pathLst>
            </a:custGeom>
            <a:blipFill rotWithShape="1">
              <a:blip r:embed="rId7">
                <a:alphaModFix/>
              </a:blip>
              <a:stretch>
                <a:fillRect/>
              </a:stretch>
            </a:blipFill>
            <a:ln>
              <a:noFill/>
            </a:ln>
          </p:spPr>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1"/>
        <p:cNvGrpSpPr/>
        <p:nvPr/>
      </p:nvGrpSpPr>
      <p:grpSpPr>
        <a:xfrm>
          <a:off x="0" y="0"/>
          <a:ext cx="0" cy="0"/>
          <a:chOff x="0" y="0"/>
          <a:chExt cx="0" cy="0"/>
        </a:xfrm>
      </p:grpSpPr>
      <p:sp>
        <p:nvSpPr>
          <p:cNvPr id="102" name="Google Shape;102;g35809203cad_1_105"/>
          <p:cNvSpPr/>
          <p:nvPr/>
        </p:nvSpPr>
        <p:spPr>
          <a:xfrm>
            <a:off x="485525" y="3874327"/>
            <a:ext cx="17309894" cy="5199943"/>
          </a:xfrm>
          <a:custGeom>
            <a:avLst/>
            <a:gdLst/>
            <a:ahLst/>
            <a:cxnLst/>
            <a:rect l="l" t="t" r="r" b="b"/>
            <a:pathLst>
              <a:path w="5857832" h="1759710" extrusionOk="0">
                <a:moveTo>
                  <a:pt x="0" y="0"/>
                </a:moveTo>
                <a:lnTo>
                  <a:pt x="5857832" y="0"/>
                </a:lnTo>
                <a:lnTo>
                  <a:pt x="5857832" y="1759710"/>
                </a:lnTo>
                <a:lnTo>
                  <a:pt x="0" y="1759710"/>
                </a:lnTo>
                <a:close/>
              </a:path>
            </a:pathLst>
          </a:custGeom>
          <a:solidFill>
            <a:srgbClr val="54565B"/>
          </a:solidFill>
          <a:ln>
            <a:noFill/>
          </a:ln>
        </p:spPr>
      </p:sp>
      <p:sp>
        <p:nvSpPr>
          <p:cNvPr id="103" name="Google Shape;103;g35809203cad_1_105"/>
          <p:cNvSpPr txBox="1"/>
          <p:nvPr/>
        </p:nvSpPr>
        <p:spPr>
          <a:xfrm>
            <a:off x="2390792" y="2233026"/>
            <a:ext cx="12438300" cy="1051891"/>
          </a:xfrm>
          <a:prstGeom prst="rect">
            <a:avLst/>
          </a:prstGeom>
          <a:noFill/>
          <a:ln>
            <a:noFill/>
          </a:ln>
        </p:spPr>
        <p:txBody>
          <a:bodyPr spcFirstLastPara="1" wrap="square" lIns="0" tIns="0" rIns="0" bIns="0" anchor="t" anchorCtr="0">
            <a:spAutoFit/>
          </a:bodyPr>
          <a:lstStyle/>
          <a:p>
            <a:pPr marL="0" marR="0" lvl="0" indent="0" algn="l" rtl="0">
              <a:lnSpc>
                <a:spcPct val="107995"/>
              </a:lnSpc>
              <a:spcBef>
                <a:spcPts val="0"/>
              </a:spcBef>
              <a:spcAft>
                <a:spcPts val="0"/>
              </a:spcAft>
              <a:buClr>
                <a:srgbClr val="000000"/>
              </a:buClr>
              <a:buSzPts val="6329"/>
              <a:buFont typeface="Arial"/>
              <a:buNone/>
            </a:pPr>
            <a:r>
              <a:rPr lang="en-US" sz="6329" b="1" i="0" u="none" strike="noStrike" cap="none" dirty="0">
                <a:solidFill>
                  <a:srgbClr val="F8BF00"/>
                </a:solidFill>
                <a:latin typeface="Avenir"/>
                <a:ea typeface="Avenir"/>
                <a:cs typeface="Avenir"/>
                <a:sym typeface="Avenir"/>
              </a:rPr>
              <a:t> </a:t>
            </a:r>
            <a:r>
              <a:rPr lang="en-US" sz="6329" b="1" dirty="0">
                <a:solidFill>
                  <a:srgbClr val="F8BF00"/>
                </a:solidFill>
                <a:latin typeface="Avenir"/>
                <a:ea typeface="Avenir"/>
                <a:cs typeface="Avenir"/>
                <a:sym typeface="Avenir"/>
              </a:rPr>
              <a:t>with meaningful opportunities</a:t>
            </a:r>
            <a:r>
              <a:rPr lang="en-US" sz="6329" b="1" i="0" u="none" strike="noStrike" cap="none" dirty="0">
                <a:solidFill>
                  <a:srgbClr val="F8BF00"/>
                </a:solidFill>
                <a:latin typeface="Avenir"/>
                <a:ea typeface="Avenir"/>
                <a:cs typeface="Avenir"/>
                <a:sym typeface="Avenir"/>
              </a:rPr>
              <a:t>.</a:t>
            </a:r>
            <a:endParaRPr sz="1400" b="0" i="0" u="none" strike="noStrike" cap="none" dirty="0">
              <a:solidFill>
                <a:srgbClr val="000000"/>
              </a:solidFill>
              <a:latin typeface="Arial"/>
              <a:ea typeface="Arial"/>
              <a:cs typeface="Arial"/>
              <a:sym typeface="Arial"/>
            </a:endParaRPr>
          </a:p>
        </p:txBody>
      </p:sp>
      <p:sp>
        <p:nvSpPr>
          <p:cNvPr id="104" name="Google Shape;104;g35809203cad_1_105"/>
          <p:cNvSpPr txBox="1"/>
          <p:nvPr/>
        </p:nvSpPr>
        <p:spPr>
          <a:xfrm>
            <a:off x="8698197" y="4500809"/>
            <a:ext cx="8949600" cy="3660297"/>
          </a:xfrm>
          <a:prstGeom prst="rect">
            <a:avLst/>
          </a:prstGeom>
          <a:noFill/>
          <a:ln>
            <a:noFill/>
          </a:ln>
        </p:spPr>
        <p:txBody>
          <a:bodyPr spcFirstLastPara="1" wrap="square" lIns="0" tIns="0" rIns="0" bIns="0" anchor="t" anchorCtr="0">
            <a:spAutoFit/>
          </a:bodyPr>
          <a:lstStyle/>
          <a:p>
            <a:pPr marL="0" marR="0" lvl="0" indent="0" algn="l" rtl="0">
              <a:lnSpc>
                <a:spcPct val="153007"/>
              </a:lnSpc>
              <a:spcBef>
                <a:spcPts val="0"/>
              </a:spcBef>
              <a:spcAft>
                <a:spcPts val="0"/>
              </a:spcAft>
              <a:buClr>
                <a:srgbClr val="000000"/>
              </a:buClr>
              <a:buSzPts val="3109"/>
              <a:buFont typeface="Arial"/>
              <a:buNone/>
            </a:pPr>
            <a:r>
              <a:rPr lang="en-US" sz="3109" b="0" i="0" u="none" strike="noStrike" cap="none" dirty="0">
                <a:solidFill>
                  <a:srgbClr val="FFFFFF"/>
                </a:solidFill>
                <a:latin typeface="Avenir"/>
                <a:ea typeface="Avenir"/>
                <a:cs typeface="Avenir"/>
                <a:sym typeface="Avenir"/>
              </a:rPr>
              <a:t>With our renewed framework, we align talent capabilities with business objectives, enabling meaningful connections where professionals shape their future. </a:t>
            </a:r>
            <a:r>
              <a:rPr lang="en-US" sz="3109" b="1" dirty="0">
                <a:solidFill>
                  <a:srgbClr val="F8BF00"/>
                </a:solidFill>
                <a:latin typeface="Avenir"/>
                <a:sym typeface="Avenir"/>
              </a:rPr>
              <a:t>We are your strategic partner to navigate the challenges of an ever-evolving landscape.</a:t>
            </a:r>
            <a:endParaRPr lang="en-US" sz="3109" dirty="0">
              <a:solidFill>
                <a:srgbClr val="FFFFFF"/>
              </a:solidFill>
              <a:latin typeface="Avenir"/>
              <a:sym typeface="Avenir"/>
            </a:endParaRPr>
          </a:p>
        </p:txBody>
      </p:sp>
      <p:sp>
        <p:nvSpPr>
          <p:cNvPr id="105" name="Google Shape;105;g35809203cad_1_105"/>
          <p:cNvSpPr/>
          <p:nvPr/>
        </p:nvSpPr>
        <p:spPr>
          <a:xfrm>
            <a:off x="7620587" y="9258300"/>
            <a:ext cx="3046827" cy="747466"/>
          </a:xfrm>
          <a:custGeom>
            <a:avLst/>
            <a:gdLst/>
            <a:ahLst/>
            <a:cxnLst/>
            <a:rect l="l" t="t" r="r" b="b"/>
            <a:pathLst>
              <a:path w="3046827" h="747466" extrusionOk="0">
                <a:moveTo>
                  <a:pt x="0" y="0"/>
                </a:moveTo>
                <a:lnTo>
                  <a:pt x="3046826" y="0"/>
                </a:lnTo>
                <a:lnTo>
                  <a:pt x="3046826" y="747466"/>
                </a:lnTo>
                <a:lnTo>
                  <a:pt x="0" y="747466"/>
                </a:lnTo>
                <a:lnTo>
                  <a:pt x="0" y="0"/>
                </a:lnTo>
                <a:close/>
              </a:path>
            </a:pathLst>
          </a:custGeom>
          <a:blipFill rotWithShape="1">
            <a:blip r:embed="rId4">
              <a:alphaModFix/>
            </a:blip>
            <a:stretch>
              <a:fillRect l="-17755" t="-308940" r="-15533" b="-293899"/>
            </a:stretch>
          </a:blipFill>
          <a:ln>
            <a:noFill/>
          </a:ln>
        </p:spPr>
      </p:sp>
      <p:sp>
        <p:nvSpPr>
          <p:cNvPr id="106" name="Google Shape;106;g35809203cad_1_105"/>
          <p:cNvSpPr txBox="1"/>
          <p:nvPr/>
        </p:nvSpPr>
        <p:spPr>
          <a:xfrm>
            <a:off x="2679227" y="1174078"/>
            <a:ext cx="13635593" cy="1330557"/>
          </a:xfrm>
          <a:prstGeom prst="rect">
            <a:avLst/>
          </a:prstGeom>
          <a:noFill/>
          <a:ln>
            <a:noFill/>
          </a:ln>
        </p:spPr>
        <p:txBody>
          <a:bodyPr spcFirstLastPara="1" wrap="square" lIns="0" tIns="0" rIns="0" bIns="0" anchor="t" anchorCtr="0">
            <a:spAutoFit/>
          </a:bodyPr>
          <a:lstStyle/>
          <a:p>
            <a:pPr marL="0" marR="0" lvl="0" indent="0" algn="l" rtl="0">
              <a:lnSpc>
                <a:spcPct val="108006"/>
              </a:lnSpc>
              <a:spcBef>
                <a:spcPts val="0"/>
              </a:spcBef>
              <a:spcAft>
                <a:spcPts val="0"/>
              </a:spcAft>
              <a:buClr>
                <a:srgbClr val="000000"/>
              </a:buClr>
              <a:buSzPts val="8006"/>
              <a:buFont typeface="Arial"/>
              <a:buNone/>
            </a:pPr>
            <a:r>
              <a:rPr lang="en-US" sz="8006" b="1" dirty="0">
                <a:solidFill>
                  <a:srgbClr val="54565B"/>
                </a:solidFill>
                <a:latin typeface="Avenir"/>
                <a:sym typeface="Avenir"/>
              </a:rPr>
              <a:t>Connecting exceptional talent</a:t>
            </a:r>
            <a:endParaRPr sz="1400" b="0" i="0" u="none" strike="noStrike" cap="none" dirty="0">
              <a:solidFill>
                <a:srgbClr val="000000"/>
              </a:solidFill>
              <a:latin typeface="Arial"/>
              <a:ea typeface="Arial"/>
              <a:cs typeface="Arial"/>
              <a:sym typeface="Arial"/>
            </a:endParaRPr>
          </a:p>
        </p:txBody>
      </p:sp>
      <p:grpSp>
        <p:nvGrpSpPr>
          <p:cNvPr id="107" name="Google Shape;107;g35809203cad_1_105"/>
          <p:cNvGrpSpPr/>
          <p:nvPr/>
        </p:nvGrpSpPr>
        <p:grpSpPr>
          <a:xfrm rot="5400000">
            <a:off x="636330" y="3636704"/>
            <a:ext cx="1533728" cy="766864"/>
            <a:chOff x="0" y="0"/>
            <a:chExt cx="2044970" cy="1022485"/>
          </a:xfrm>
        </p:grpSpPr>
        <p:sp>
          <p:nvSpPr>
            <p:cNvPr id="108" name="Google Shape;108;g35809203cad_1_105"/>
            <p:cNvSpPr/>
            <p:nvPr/>
          </p:nvSpPr>
          <p:spPr>
            <a:xfrm>
              <a:off x="0" y="0"/>
              <a:ext cx="2044970" cy="1022485"/>
            </a:xfrm>
            <a:custGeom>
              <a:avLst/>
              <a:gdLst/>
              <a:ahLst/>
              <a:cxnLst/>
              <a:rect l="l" t="t" r="r" b="b"/>
              <a:pathLst>
                <a:path w="2044970" h="1022485" extrusionOk="0">
                  <a:moveTo>
                    <a:pt x="0" y="0"/>
                  </a:moveTo>
                  <a:lnTo>
                    <a:pt x="2044970" y="0"/>
                  </a:lnTo>
                  <a:lnTo>
                    <a:pt x="2044970" y="1022485"/>
                  </a:lnTo>
                  <a:lnTo>
                    <a:pt x="0" y="1022485"/>
                  </a:lnTo>
                  <a:lnTo>
                    <a:pt x="0" y="0"/>
                  </a:lnTo>
                  <a:close/>
                </a:path>
              </a:pathLst>
            </a:custGeom>
            <a:blipFill rotWithShape="1">
              <a:blip r:embed="rId5">
                <a:alphaModFix/>
              </a:blip>
              <a:stretch>
                <a:fillRect/>
              </a:stretch>
            </a:blipFill>
            <a:ln>
              <a:noFill/>
            </a:ln>
          </p:spPr>
        </p:sp>
        <p:sp>
          <p:nvSpPr>
            <p:cNvPr id="109" name="Google Shape;109;g35809203cad_1_105"/>
            <p:cNvSpPr/>
            <p:nvPr/>
          </p:nvSpPr>
          <p:spPr>
            <a:xfrm>
              <a:off x="240819" y="265794"/>
              <a:ext cx="646981" cy="490897"/>
            </a:xfrm>
            <a:custGeom>
              <a:avLst/>
              <a:gdLst/>
              <a:ahLst/>
              <a:cxnLst/>
              <a:rect l="l" t="t" r="r" b="b"/>
              <a:pathLst>
                <a:path w="646981" h="490897" extrusionOk="0">
                  <a:moveTo>
                    <a:pt x="0" y="0"/>
                  </a:moveTo>
                  <a:lnTo>
                    <a:pt x="646981" y="0"/>
                  </a:lnTo>
                  <a:lnTo>
                    <a:pt x="646981" y="490897"/>
                  </a:lnTo>
                  <a:lnTo>
                    <a:pt x="0" y="490897"/>
                  </a:lnTo>
                  <a:lnTo>
                    <a:pt x="0" y="0"/>
                  </a:lnTo>
                  <a:close/>
                </a:path>
              </a:pathLst>
            </a:custGeom>
            <a:blipFill rotWithShape="1">
              <a:blip r:embed="rId6">
                <a:alphaModFix/>
              </a:blip>
              <a:stretch>
                <a:fillRect/>
              </a:stretch>
            </a:blipFill>
            <a:ln>
              <a:noFill/>
            </a:ln>
          </p:spPr>
        </p:sp>
      </p:grpSp>
      <p:sp>
        <p:nvSpPr>
          <p:cNvPr id="110" name="Google Shape;110;g35809203cad_1_105"/>
          <p:cNvSpPr/>
          <p:nvPr/>
        </p:nvSpPr>
        <p:spPr>
          <a:xfrm>
            <a:off x="8011511" y="4281734"/>
            <a:ext cx="26700" cy="4307100"/>
          </a:xfrm>
          <a:prstGeom prst="rect">
            <a:avLst/>
          </a:prstGeom>
          <a:solidFill>
            <a:srgbClr val="FFFFFF">
              <a:alpha val="4313"/>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 name="Google Shape;112;g359cfaf0fd3_0_11">
            <a:extLst>
              <a:ext uri="{FF2B5EF4-FFF2-40B4-BE49-F238E27FC236}">
                <a16:creationId xmlns:a16="http://schemas.microsoft.com/office/drawing/2014/main" id="{D332F166-A5FF-63ED-40CD-193A427A7E8E}"/>
              </a:ext>
            </a:extLst>
          </p:cNvPr>
          <p:cNvSpPr txBox="1"/>
          <p:nvPr/>
        </p:nvSpPr>
        <p:spPr>
          <a:xfrm>
            <a:off x="1343550" y="4989950"/>
            <a:ext cx="6456900" cy="1667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US" sz="9600" noProof="0" dirty="0">
                <a:solidFill>
                  <a:srgbClr val="F8BF00"/>
                </a:solidFill>
                <a:latin typeface="Nothing You Could Do" panose="020B0604020202020204" charset="0"/>
                <a:ea typeface="Nothing You Could Do"/>
                <a:cs typeface="Nothing You Could Do"/>
                <a:sym typeface="Nothing You Could Do"/>
              </a:rPr>
              <a:t>Mutual </a:t>
            </a:r>
            <a:br>
              <a:rPr lang="en-US" sz="9600" noProof="0" dirty="0">
                <a:solidFill>
                  <a:srgbClr val="F8BF00"/>
                </a:solidFill>
                <a:latin typeface="Nothing You Could Do" panose="020B0604020202020204" charset="0"/>
                <a:ea typeface="Nothing You Could Do"/>
                <a:cs typeface="Nothing You Could Do"/>
                <a:sym typeface="Nothing You Could Do"/>
              </a:rPr>
            </a:br>
            <a:r>
              <a:rPr lang="en-US" sz="9600" noProof="0" dirty="0">
                <a:solidFill>
                  <a:srgbClr val="F8BF00"/>
                </a:solidFill>
                <a:latin typeface="Nothing You Could Do" panose="020B0604020202020204" charset="0"/>
                <a:ea typeface="Nothing You Could Do"/>
                <a:cs typeface="Nothing You Could Do"/>
                <a:sym typeface="Nothing You Could Do"/>
              </a:rPr>
              <a:t>  Choice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5"/>
        <p:cNvGrpSpPr/>
        <p:nvPr/>
      </p:nvGrpSpPr>
      <p:grpSpPr>
        <a:xfrm>
          <a:off x="0" y="0"/>
          <a:ext cx="0" cy="0"/>
          <a:chOff x="0" y="0"/>
          <a:chExt cx="0" cy="0"/>
        </a:xfrm>
      </p:grpSpPr>
      <p:sp>
        <p:nvSpPr>
          <p:cNvPr id="116" name="Google Shape;116;g35809203cad_1_75"/>
          <p:cNvSpPr/>
          <p:nvPr/>
        </p:nvSpPr>
        <p:spPr>
          <a:xfrm>
            <a:off x="489050" y="2713288"/>
            <a:ext cx="17309894" cy="6277765"/>
          </a:xfrm>
          <a:custGeom>
            <a:avLst/>
            <a:gdLst/>
            <a:ahLst/>
            <a:cxnLst/>
            <a:rect l="l" t="t" r="r" b="b"/>
            <a:pathLst>
              <a:path w="5857832" h="1759710" extrusionOk="0">
                <a:moveTo>
                  <a:pt x="0" y="0"/>
                </a:moveTo>
                <a:lnTo>
                  <a:pt x="5857832" y="0"/>
                </a:lnTo>
                <a:lnTo>
                  <a:pt x="5857832" y="1759710"/>
                </a:lnTo>
                <a:lnTo>
                  <a:pt x="0" y="1759710"/>
                </a:lnTo>
                <a:close/>
              </a:path>
            </a:pathLst>
          </a:custGeom>
          <a:solidFill>
            <a:srgbClr val="54565B"/>
          </a:solidFill>
          <a:ln>
            <a:noFill/>
          </a:ln>
        </p:spPr>
      </p:sp>
      <p:sp>
        <p:nvSpPr>
          <p:cNvPr id="117" name="Google Shape;117;g35809203cad_1_75"/>
          <p:cNvSpPr/>
          <p:nvPr/>
        </p:nvSpPr>
        <p:spPr>
          <a:xfrm>
            <a:off x="7620587" y="9258300"/>
            <a:ext cx="3046827" cy="747466"/>
          </a:xfrm>
          <a:custGeom>
            <a:avLst/>
            <a:gdLst/>
            <a:ahLst/>
            <a:cxnLst/>
            <a:rect l="l" t="t" r="r" b="b"/>
            <a:pathLst>
              <a:path w="3046827" h="747466" extrusionOk="0">
                <a:moveTo>
                  <a:pt x="0" y="0"/>
                </a:moveTo>
                <a:lnTo>
                  <a:pt x="3046826" y="0"/>
                </a:lnTo>
                <a:lnTo>
                  <a:pt x="3046826" y="747466"/>
                </a:lnTo>
                <a:lnTo>
                  <a:pt x="0" y="747466"/>
                </a:lnTo>
                <a:lnTo>
                  <a:pt x="0" y="0"/>
                </a:lnTo>
                <a:close/>
              </a:path>
            </a:pathLst>
          </a:custGeom>
          <a:blipFill rotWithShape="1">
            <a:blip r:embed="rId4">
              <a:alphaModFix/>
            </a:blip>
            <a:stretch>
              <a:fillRect l="-17755" t="-308896" r="-15533" b="-293844"/>
            </a:stretch>
          </a:blipFill>
          <a:ln>
            <a:noFill/>
          </a:ln>
        </p:spPr>
      </p:sp>
      <p:grpSp>
        <p:nvGrpSpPr>
          <p:cNvPr id="118" name="Google Shape;118;g35809203cad_1_75"/>
          <p:cNvGrpSpPr/>
          <p:nvPr/>
        </p:nvGrpSpPr>
        <p:grpSpPr>
          <a:xfrm rot="5400000">
            <a:off x="636330" y="2664567"/>
            <a:ext cx="1533728" cy="766864"/>
            <a:chOff x="0" y="0"/>
            <a:chExt cx="2044970" cy="1022485"/>
          </a:xfrm>
        </p:grpSpPr>
        <p:sp>
          <p:nvSpPr>
            <p:cNvPr id="119" name="Google Shape;119;g35809203cad_1_75"/>
            <p:cNvSpPr/>
            <p:nvPr/>
          </p:nvSpPr>
          <p:spPr>
            <a:xfrm>
              <a:off x="0" y="0"/>
              <a:ext cx="2044970" cy="1022485"/>
            </a:xfrm>
            <a:custGeom>
              <a:avLst/>
              <a:gdLst/>
              <a:ahLst/>
              <a:cxnLst/>
              <a:rect l="l" t="t" r="r" b="b"/>
              <a:pathLst>
                <a:path w="2044970" h="1022485" extrusionOk="0">
                  <a:moveTo>
                    <a:pt x="0" y="0"/>
                  </a:moveTo>
                  <a:lnTo>
                    <a:pt x="2044970" y="0"/>
                  </a:lnTo>
                  <a:lnTo>
                    <a:pt x="2044970" y="1022485"/>
                  </a:lnTo>
                  <a:lnTo>
                    <a:pt x="0" y="1022485"/>
                  </a:lnTo>
                  <a:lnTo>
                    <a:pt x="0" y="0"/>
                  </a:lnTo>
                  <a:close/>
                </a:path>
              </a:pathLst>
            </a:custGeom>
            <a:blipFill rotWithShape="1">
              <a:blip r:embed="rId5">
                <a:alphaModFix/>
              </a:blip>
              <a:stretch>
                <a:fillRect/>
              </a:stretch>
            </a:blipFill>
            <a:ln>
              <a:noFill/>
            </a:ln>
          </p:spPr>
        </p:sp>
        <p:sp>
          <p:nvSpPr>
            <p:cNvPr id="120" name="Google Shape;120;g35809203cad_1_75"/>
            <p:cNvSpPr/>
            <p:nvPr/>
          </p:nvSpPr>
          <p:spPr>
            <a:xfrm>
              <a:off x="240819" y="265794"/>
              <a:ext cx="646981" cy="490897"/>
            </a:xfrm>
            <a:custGeom>
              <a:avLst/>
              <a:gdLst/>
              <a:ahLst/>
              <a:cxnLst/>
              <a:rect l="l" t="t" r="r" b="b"/>
              <a:pathLst>
                <a:path w="646981" h="490897" extrusionOk="0">
                  <a:moveTo>
                    <a:pt x="0" y="0"/>
                  </a:moveTo>
                  <a:lnTo>
                    <a:pt x="646981" y="0"/>
                  </a:lnTo>
                  <a:lnTo>
                    <a:pt x="646981" y="490897"/>
                  </a:lnTo>
                  <a:lnTo>
                    <a:pt x="0" y="490897"/>
                  </a:lnTo>
                  <a:lnTo>
                    <a:pt x="0" y="0"/>
                  </a:lnTo>
                  <a:close/>
                </a:path>
              </a:pathLst>
            </a:custGeom>
            <a:blipFill rotWithShape="1">
              <a:blip r:embed="rId6">
                <a:alphaModFix/>
              </a:blip>
              <a:stretch>
                <a:fillRect/>
              </a:stretch>
            </a:blipFill>
            <a:ln>
              <a:noFill/>
            </a:ln>
          </p:spPr>
        </p:sp>
      </p:grpSp>
      <p:sp>
        <p:nvSpPr>
          <p:cNvPr id="121" name="Google Shape;121;g35809203cad_1_75"/>
          <p:cNvSpPr txBox="1"/>
          <p:nvPr/>
        </p:nvSpPr>
        <p:spPr>
          <a:xfrm>
            <a:off x="2705100" y="3211725"/>
            <a:ext cx="13050000" cy="830966"/>
          </a:xfrm>
          <a:prstGeom prst="rect">
            <a:avLst/>
          </a:prstGeom>
          <a:noFill/>
          <a:ln>
            <a:noFill/>
          </a:ln>
        </p:spPr>
        <p:txBody>
          <a:bodyPr spcFirstLastPara="1" wrap="square" lIns="91425" tIns="91425" rIns="91425" bIns="91425" anchor="t" anchorCtr="0">
            <a:spAutoFit/>
          </a:bodyPr>
          <a:lstStyle/>
          <a:p>
            <a:pPr marL="0" marR="0" lvl="0" indent="0" algn="ctr" rtl="0">
              <a:lnSpc>
                <a:spcPct val="140000"/>
              </a:lnSpc>
              <a:spcBef>
                <a:spcPts val="0"/>
              </a:spcBef>
              <a:spcAft>
                <a:spcPts val="0"/>
              </a:spcAft>
              <a:buClr>
                <a:srgbClr val="000000"/>
              </a:buClr>
              <a:buSzPts val="3000"/>
              <a:buFont typeface="Arial"/>
              <a:buNone/>
            </a:pPr>
            <a:r>
              <a:rPr lang="en-US" sz="3000" b="0" i="1" u="none" strike="noStrike" cap="none" dirty="0">
                <a:solidFill>
                  <a:srgbClr val="F8BF00"/>
                </a:solidFill>
                <a:latin typeface="Avenir"/>
                <a:ea typeface="Avenir"/>
                <a:cs typeface="Avenir"/>
                <a:sym typeface="Avenir"/>
              </a:rPr>
              <a:t>Solution type is defined according to the compensation level.</a:t>
            </a:r>
          </a:p>
        </p:txBody>
      </p:sp>
      <p:sp>
        <p:nvSpPr>
          <p:cNvPr id="122" name="Google Shape;122;g35809203cad_1_75"/>
          <p:cNvSpPr txBox="1"/>
          <p:nvPr/>
        </p:nvSpPr>
        <p:spPr>
          <a:xfrm>
            <a:off x="3266918" y="4973562"/>
            <a:ext cx="3881400" cy="360420"/>
          </a:xfrm>
          <a:prstGeom prst="rect">
            <a:avLst/>
          </a:prstGeom>
          <a:noFill/>
          <a:ln>
            <a:noFill/>
          </a:ln>
        </p:spPr>
        <p:txBody>
          <a:bodyPr spcFirstLastPara="1" wrap="square" lIns="0" tIns="0" rIns="0" bIns="0" anchor="t" anchorCtr="0">
            <a:spAutoFit/>
          </a:bodyPr>
          <a:lstStyle/>
          <a:p>
            <a:pPr marL="0" marR="0" lvl="0" indent="0" algn="l" rtl="0">
              <a:lnSpc>
                <a:spcPct val="110995"/>
              </a:lnSpc>
              <a:spcBef>
                <a:spcPts val="0"/>
              </a:spcBef>
              <a:spcAft>
                <a:spcPts val="0"/>
              </a:spcAft>
              <a:buClr>
                <a:srgbClr val="000000"/>
              </a:buClr>
              <a:buSzPts val="2110"/>
              <a:buFont typeface="Arial"/>
              <a:buNone/>
            </a:pPr>
            <a:r>
              <a:rPr lang="en-US" sz="2110" b="1" dirty="0">
                <a:solidFill>
                  <a:srgbClr val="E5E5E4"/>
                </a:solidFill>
                <a:latin typeface="Garamond"/>
                <a:sym typeface="Garamond"/>
              </a:rPr>
              <a:t>GROSS MONTHLY SALARY</a:t>
            </a:r>
            <a:endParaRPr sz="1400" b="0" i="0" u="none" strike="noStrike" cap="none" dirty="0">
              <a:solidFill>
                <a:srgbClr val="000000"/>
              </a:solidFill>
              <a:latin typeface="Arial"/>
              <a:ea typeface="Arial"/>
              <a:cs typeface="Arial"/>
              <a:sym typeface="Arial"/>
            </a:endParaRPr>
          </a:p>
        </p:txBody>
      </p:sp>
      <p:sp>
        <p:nvSpPr>
          <p:cNvPr id="123" name="Google Shape;123;g35809203cad_1_75"/>
          <p:cNvSpPr txBox="1"/>
          <p:nvPr/>
        </p:nvSpPr>
        <p:spPr>
          <a:xfrm>
            <a:off x="3266917" y="5290831"/>
            <a:ext cx="2872625" cy="360420"/>
          </a:xfrm>
          <a:prstGeom prst="rect">
            <a:avLst/>
          </a:prstGeom>
          <a:noFill/>
          <a:ln>
            <a:noFill/>
          </a:ln>
        </p:spPr>
        <p:txBody>
          <a:bodyPr spcFirstLastPara="1" wrap="square" lIns="0" tIns="0" rIns="0" bIns="0" anchor="t" anchorCtr="0">
            <a:spAutoFit/>
          </a:bodyPr>
          <a:lstStyle/>
          <a:p>
            <a:pPr marL="0" marR="0" lvl="0" indent="0" algn="l" rtl="0">
              <a:lnSpc>
                <a:spcPct val="110995"/>
              </a:lnSpc>
              <a:spcBef>
                <a:spcPts val="0"/>
              </a:spcBef>
              <a:spcAft>
                <a:spcPts val="0"/>
              </a:spcAft>
              <a:buClr>
                <a:srgbClr val="000000"/>
              </a:buClr>
              <a:buSzPts val="2110"/>
              <a:buFont typeface="Arial"/>
              <a:buNone/>
            </a:pPr>
            <a:r>
              <a:rPr lang="en-US" sz="2110" b="1" dirty="0">
                <a:solidFill>
                  <a:srgbClr val="F8BF00"/>
                </a:solidFill>
                <a:latin typeface="Garamond"/>
                <a:ea typeface="Garamond"/>
                <a:cs typeface="Garamond"/>
                <a:sym typeface="Garamond"/>
              </a:rPr>
              <a:t>STARTING FROM</a:t>
            </a:r>
            <a:r>
              <a:rPr lang="en-US" sz="2110" b="1" i="0" u="none" strike="noStrike" cap="none" dirty="0">
                <a:solidFill>
                  <a:srgbClr val="F8BF00"/>
                </a:solidFill>
                <a:latin typeface="Garamond"/>
                <a:ea typeface="Garamond"/>
                <a:cs typeface="Garamond"/>
                <a:sym typeface="Garamond"/>
              </a:rPr>
              <a:t>:</a:t>
            </a:r>
            <a:endParaRPr sz="1400" b="0" i="0" u="none" strike="noStrike" cap="none" dirty="0">
              <a:solidFill>
                <a:srgbClr val="000000"/>
              </a:solidFill>
              <a:latin typeface="Arial"/>
              <a:ea typeface="Arial"/>
              <a:cs typeface="Arial"/>
              <a:sym typeface="Arial"/>
            </a:endParaRPr>
          </a:p>
        </p:txBody>
      </p:sp>
      <p:sp>
        <p:nvSpPr>
          <p:cNvPr id="124" name="Google Shape;124;g35809203cad_1_75"/>
          <p:cNvSpPr txBox="1"/>
          <p:nvPr/>
        </p:nvSpPr>
        <p:spPr>
          <a:xfrm>
            <a:off x="3255499" y="5968750"/>
            <a:ext cx="6803475" cy="2672526"/>
          </a:xfrm>
          <a:prstGeom prst="rect">
            <a:avLst/>
          </a:prstGeom>
          <a:noFill/>
          <a:ln>
            <a:noFill/>
          </a:ln>
        </p:spPr>
        <p:txBody>
          <a:bodyPr spcFirstLastPara="1" wrap="square" lIns="0" tIns="0" rIns="0" bIns="0" anchor="t" anchorCtr="0">
            <a:spAutoFit/>
          </a:bodyPr>
          <a:lstStyle/>
          <a:p>
            <a:pPr marL="0" marR="0" lvl="0" indent="0" algn="l" rtl="0">
              <a:lnSpc>
                <a:spcPct val="200000"/>
              </a:lnSpc>
              <a:spcBef>
                <a:spcPts val="0"/>
              </a:spcBef>
              <a:spcAft>
                <a:spcPts val="0"/>
              </a:spcAft>
              <a:buClr>
                <a:srgbClr val="000000"/>
              </a:buClr>
              <a:buSzPts val="2171"/>
              <a:buFont typeface="Arial"/>
              <a:buNone/>
            </a:pPr>
            <a:r>
              <a:rPr lang="en-US" sz="2171" b="0" i="0" u="none" strike="noStrike" cap="none" dirty="0">
                <a:solidFill>
                  <a:srgbClr val="FFFFFF"/>
                </a:solidFill>
                <a:latin typeface="Avenir"/>
                <a:ea typeface="Avenir"/>
                <a:cs typeface="Avenir"/>
                <a:sym typeface="Avenir"/>
              </a:rPr>
              <a:t>Argentina		</a:t>
            </a:r>
            <a:r>
              <a:rPr lang="en-US" sz="2171" b="0" i="0" u="none" strike="noStrike" cap="none" dirty="0">
                <a:solidFill>
                  <a:schemeClr val="lt1"/>
                </a:solidFill>
                <a:latin typeface="Avenir"/>
                <a:ea typeface="Avenir"/>
                <a:cs typeface="Avenir"/>
                <a:sym typeface="Avenir"/>
              </a:rPr>
              <a:t>AR$ 6.000.000</a:t>
            </a:r>
            <a:endParaRPr sz="2171" b="0" i="0" u="none" strike="noStrike" cap="none" dirty="0">
              <a:solidFill>
                <a:schemeClr val="lt1"/>
              </a:solidFill>
              <a:latin typeface="Avenir"/>
              <a:ea typeface="Avenir"/>
              <a:cs typeface="Avenir"/>
              <a:sym typeface="Avenir"/>
            </a:endParaRPr>
          </a:p>
          <a:p>
            <a:pPr marL="0" marR="0" lvl="0" indent="0" algn="l" rtl="0">
              <a:lnSpc>
                <a:spcPct val="200000"/>
              </a:lnSpc>
              <a:spcBef>
                <a:spcPts val="0"/>
              </a:spcBef>
              <a:spcAft>
                <a:spcPts val="0"/>
              </a:spcAft>
              <a:buClr>
                <a:srgbClr val="000000"/>
              </a:buClr>
              <a:buSzPts val="2171"/>
              <a:buFont typeface="Arial"/>
              <a:buNone/>
            </a:pPr>
            <a:r>
              <a:rPr lang="en-US" sz="2171" b="0" i="0" u="none" strike="noStrike" cap="none" dirty="0">
                <a:solidFill>
                  <a:srgbClr val="FFFFFF"/>
                </a:solidFill>
                <a:latin typeface="Avenir"/>
                <a:ea typeface="Avenir"/>
                <a:cs typeface="Avenir"/>
                <a:sym typeface="Avenir"/>
              </a:rPr>
              <a:t>Chile			</a:t>
            </a:r>
            <a:r>
              <a:rPr lang="en-US" sz="2171" b="0" i="0" u="none" strike="noStrike" cap="none" dirty="0">
                <a:solidFill>
                  <a:schemeClr val="lt1"/>
                </a:solidFill>
                <a:latin typeface="Avenir"/>
                <a:ea typeface="Avenir"/>
                <a:cs typeface="Avenir"/>
                <a:sym typeface="Avenir"/>
              </a:rPr>
              <a:t>CLP$ 5.000.00</a:t>
            </a:r>
            <a:endParaRPr sz="2171" b="0" i="0" u="none" strike="noStrike" cap="none" dirty="0">
              <a:solidFill>
                <a:schemeClr val="lt1"/>
              </a:solidFill>
              <a:latin typeface="Avenir"/>
              <a:ea typeface="Avenir"/>
              <a:cs typeface="Avenir"/>
              <a:sym typeface="Avenir"/>
            </a:endParaRPr>
          </a:p>
          <a:p>
            <a:pPr marL="0" marR="0" lvl="0" indent="0" algn="l" rtl="0">
              <a:lnSpc>
                <a:spcPct val="200000"/>
              </a:lnSpc>
              <a:spcBef>
                <a:spcPts val="0"/>
              </a:spcBef>
              <a:spcAft>
                <a:spcPts val="0"/>
              </a:spcAft>
              <a:buClr>
                <a:schemeClr val="dk1"/>
              </a:buClr>
              <a:buSzPts val="2171"/>
              <a:buFont typeface="Arial"/>
              <a:buNone/>
            </a:pPr>
            <a:r>
              <a:rPr lang="en-US" sz="2171" b="0" i="0" u="none" strike="noStrike" cap="none" dirty="0">
                <a:solidFill>
                  <a:schemeClr val="lt1"/>
                </a:solidFill>
                <a:latin typeface="Avenir"/>
                <a:ea typeface="Avenir"/>
                <a:cs typeface="Avenir"/>
                <a:sym typeface="Avenir"/>
              </a:rPr>
              <a:t>México			MXN$ 100.000</a:t>
            </a:r>
            <a:endParaRPr sz="1400" b="0" i="0" u="none" strike="noStrike" cap="none" dirty="0">
              <a:solidFill>
                <a:schemeClr val="dk1"/>
              </a:solidFill>
              <a:latin typeface="Arial"/>
              <a:ea typeface="Arial"/>
              <a:cs typeface="Arial"/>
              <a:sym typeface="Arial"/>
            </a:endParaRPr>
          </a:p>
          <a:p>
            <a:pPr marL="0" marR="0" lvl="0" indent="0" algn="l" rtl="0">
              <a:lnSpc>
                <a:spcPct val="200000"/>
              </a:lnSpc>
              <a:spcBef>
                <a:spcPts val="0"/>
              </a:spcBef>
              <a:spcAft>
                <a:spcPts val="0"/>
              </a:spcAft>
              <a:buClr>
                <a:schemeClr val="dk1"/>
              </a:buClr>
              <a:buSzPts val="2171"/>
              <a:buFont typeface="Arial"/>
              <a:buNone/>
            </a:pPr>
            <a:r>
              <a:rPr lang="en-US" sz="2171" b="0" i="0" u="none" strike="noStrike" cap="none" dirty="0">
                <a:solidFill>
                  <a:schemeClr val="lt1"/>
                </a:solidFill>
                <a:latin typeface="Avenir"/>
                <a:ea typeface="Avenir"/>
                <a:cs typeface="Avenir"/>
                <a:sym typeface="Avenir"/>
              </a:rPr>
              <a:t>Other Countries		</a:t>
            </a:r>
            <a:r>
              <a:rPr lang="en-US" sz="1800" b="0" i="0" u="none" strike="noStrike" cap="none" dirty="0">
                <a:solidFill>
                  <a:schemeClr val="lt1"/>
                </a:solidFill>
                <a:latin typeface="Avenir"/>
                <a:ea typeface="Avenir"/>
                <a:cs typeface="Avenir"/>
                <a:sym typeface="Avenir"/>
              </a:rPr>
              <a:t>Calculated based on the country</a:t>
            </a:r>
            <a:r>
              <a:rPr lang="en-US" sz="1800" b="0" i="0" u="none" strike="noStrike" cap="none" dirty="0">
                <a:solidFill>
                  <a:srgbClr val="FFFFFF"/>
                </a:solidFill>
                <a:latin typeface="Avenir"/>
                <a:ea typeface="Avenir"/>
                <a:cs typeface="Avenir"/>
                <a:sym typeface="Avenir"/>
              </a:rPr>
              <a:t>	</a:t>
            </a:r>
            <a:endParaRPr sz="1800" b="0" i="0" u="none" strike="noStrike" cap="none" dirty="0">
              <a:solidFill>
                <a:srgbClr val="000000"/>
              </a:solidFill>
              <a:latin typeface="Arial"/>
              <a:ea typeface="Arial"/>
              <a:cs typeface="Arial"/>
              <a:sym typeface="Arial"/>
            </a:endParaRPr>
          </a:p>
        </p:txBody>
      </p:sp>
      <p:sp>
        <p:nvSpPr>
          <p:cNvPr id="125" name="Google Shape;125;g35809203cad_1_75"/>
          <p:cNvSpPr txBox="1"/>
          <p:nvPr/>
        </p:nvSpPr>
        <p:spPr>
          <a:xfrm>
            <a:off x="10389093" y="4973562"/>
            <a:ext cx="3881400" cy="360420"/>
          </a:xfrm>
          <a:prstGeom prst="rect">
            <a:avLst/>
          </a:prstGeom>
          <a:noFill/>
          <a:ln>
            <a:noFill/>
          </a:ln>
        </p:spPr>
        <p:txBody>
          <a:bodyPr spcFirstLastPara="1" wrap="square" lIns="0" tIns="0" rIns="0" bIns="0" anchor="t" anchorCtr="0">
            <a:spAutoFit/>
          </a:bodyPr>
          <a:lstStyle/>
          <a:p>
            <a:pPr marL="0" marR="0" lvl="0" indent="0" algn="r" rtl="0">
              <a:lnSpc>
                <a:spcPct val="110995"/>
              </a:lnSpc>
              <a:spcBef>
                <a:spcPts val="0"/>
              </a:spcBef>
              <a:spcAft>
                <a:spcPts val="0"/>
              </a:spcAft>
              <a:buClr>
                <a:srgbClr val="000000"/>
              </a:buClr>
              <a:buSzPts val="2110"/>
              <a:buFont typeface="Arial"/>
              <a:buNone/>
            </a:pPr>
            <a:r>
              <a:rPr lang="en-US" sz="2110" b="1" i="0" u="none" strike="noStrike" cap="none" dirty="0">
                <a:solidFill>
                  <a:srgbClr val="E5E5E4"/>
                </a:solidFill>
                <a:latin typeface="Garamond"/>
                <a:ea typeface="Garamond"/>
                <a:cs typeface="Garamond"/>
                <a:sym typeface="Garamond"/>
              </a:rPr>
              <a:t>GROSS MONTHLY SALARY</a:t>
            </a:r>
            <a:endParaRPr sz="1400" b="0" i="0" u="none" strike="noStrike" cap="none" dirty="0">
              <a:solidFill>
                <a:srgbClr val="000000"/>
              </a:solidFill>
              <a:latin typeface="Arial"/>
              <a:ea typeface="Arial"/>
              <a:cs typeface="Arial"/>
              <a:sym typeface="Arial"/>
            </a:endParaRPr>
          </a:p>
        </p:txBody>
      </p:sp>
      <p:sp>
        <p:nvSpPr>
          <p:cNvPr id="126" name="Google Shape;126;g35809203cad_1_75"/>
          <p:cNvSpPr txBox="1"/>
          <p:nvPr/>
        </p:nvSpPr>
        <p:spPr>
          <a:xfrm>
            <a:off x="11382588" y="5290831"/>
            <a:ext cx="2888041" cy="360420"/>
          </a:xfrm>
          <a:prstGeom prst="rect">
            <a:avLst/>
          </a:prstGeom>
          <a:noFill/>
          <a:ln>
            <a:noFill/>
          </a:ln>
        </p:spPr>
        <p:txBody>
          <a:bodyPr spcFirstLastPara="1" wrap="square" lIns="0" tIns="0" rIns="0" bIns="0" anchor="t" anchorCtr="0">
            <a:spAutoFit/>
          </a:bodyPr>
          <a:lstStyle/>
          <a:p>
            <a:pPr marL="0" marR="0" lvl="0" indent="0" algn="r" rtl="0">
              <a:lnSpc>
                <a:spcPct val="110995"/>
              </a:lnSpc>
              <a:spcBef>
                <a:spcPts val="0"/>
              </a:spcBef>
              <a:spcAft>
                <a:spcPts val="0"/>
              </a:spcAft>
              <a:buClr>
                <a:srgbClr val="000000"/>
              </a:buClr>
              <a:buSzPts val="2110"/>
              <a:buFont typeface="Arial"/>
              <a:buNone/>
            </a:pPr>
            <a:r>
              <a:rPr lang="en-US" sz="2110" b="1" dirty="0">
                <a:solidFill>
                  <a:srgbClr val="F8BF00"/>
                </a:solidFill>
                <a:latin typeface="Garamond"/>
                <a:sym typeface="Garamond"/>
              </a:rPr>
              <a:t>STARTING FROM</a:t>
            </a:r>
            <a:endParaRPr sz="1400" b="0" i="0" u="none" strike="noStrike" cap="none" dirty="0">
              <a:solidFill>
                <a:srgbClr val="000000"/>
              </a:solidFill>
              <a:latin typeface="Arial"/>
              <a:ea typeface="Arial"/>
              <a:cs typeface="Arial"/>
              <a:sym typeface="Arial"/>
            </a:endParaRPr>
          </a:p>
        </p:txBody>
      </p:sp>
      <p:sp>
        <p:nvSpPr>
          <p:cNvPr id="127" name="Google Shape;127;g35809203cad_1_75"/>
          <p:cNvSpPr txBox="1"/>
          <p:nvPr/>
        </p:nvSpPr>
        <p:spPr>
          <a:xfrm>
            <a:off x="10693900" y="5968750"/>
            <a:ext cx="5276100" cy="2672526"/>
          </a:xfrm>
          <a:prstGeom prst="rect">
            <a:avLst/>
          </a:prstGeom>
          <a:noFill/>
          <a:ln>
            <a:noFill/>
          </a:ln>
        </p:spPr>
        <p:txBody>
          <a:bodyPr spcFirstLastPara="1" wrap="square" lIns="0" tIns="0" rIns="0" bIns="0" anchor="t" anchorCtr="0">
            <a:spAutoFit/>
          </a:bodyPr>
          <a:lstStyle/>
          <a:p>
            <a:pPr marL="0" marR="0" lvl="0" indent="0" algn="l" rtl="0">
              <a:lnSpc>
                <a:spcPct val="200000"/>
              </a:lnSpc>
              <a:spcBef>
                <a:spcPts val="0"/>
              </a:spcBef>
              <a:spcAft>
                <a:spcPts val="0"/>
              </a:spcAft>
              <a:buClr>
                <a:srgbClr val="000000"/>
              </a:buClr>
              <a:buSzPts val="2171"/>
              <a:buFont typeface="Arial"/>
              <a:buNone/>
            </a:pPr>
            <a:r>
              <a:rPr lang="en-US" sz="2171" b="0" i="0" u="none" strike="noStrike" cap="none" dirty="0">
                <a:solidFill>
                  <a:srgbClr val="FFFFFF"/>
                </a:solidFill>
                <a:latin typeface="Avenir"/>
                <a:ea typeface="Avenir"/>
                <a:cs typeface="Avenir"/>
                <a:sym typeface="Avenir"/>
              </a:rPr>
              <a:t>Argentina		</a:t>
            </a:r>
            <a:r>
              <a:rPr lang="en-US" sz="2171" b="0" i="0" u="none" strike="noStrike" cap="none" dirty="0">
                <a:solidFill>
                  <a:schemeClr val="lt1"/>
                </a:solidFill>
                <a:latin typeface="Avenir"/>
                <a:ea typeface="Avenir"/>
                <a:cs typeface="Avenir"/>
                <a:sym typeface="Avenir"/>
              </a:rPr>
              <a:t>AR$ 3.000.000</a:t>
            </a:r>
            <a:endParaRPr sz="2171" b="0" i="0" u="none" strike="noStrike" cap="none" dirty="0">
              <a:solidFill>
                <a:schemeClr val="lt1"/>
              </a:solidFill>
              <a:latin typeface="Avenir"/>
              <a:ea typeface="Avenir"/>
              <a:cs typeface="Avenir"/>
              <a:sym typeface="Avenir"/>
            </a:endParaRPr>
          </a:p>
          <a:p>
            <a:pPr marL="0" marR="0" lvl="0" indent="0" algn="l" rtl="0">
              <a:lnSpc>
                <a:spcPct val="200000"/>
              </a:lnSpc>
              <a:spcBef>
                <a:spcPts val="0"/>
              </a:spcBef>
              <a:spcAft>
                <a:spcPts val="0"/>
              </a:spcAft>
              <a:buClr>
                <a:srgbClr val="000000"/>
              </a:buClr>
              <a:buSzPts val="2171"/>
              <a:buFont typeface="Arial"/>
              <a:buNone/>
            </a:pPr>
            <a:r>
              <a:rPr lang="en-US" sz="2171" b="0" i="0" u="none" strike="noStrike" cap="none" dirty="0">
                <a:solidFill>
                  <a:srgbClr val="FFFFFF"/>
                </a:solidFill>
                <a:latin typeface="Avenir"/>
                <a:ea typeface="Avenir"/>
                <a:cs typeface="Avenir"/>
                <a:sym typeface="Avenir"/>
              </a:rPr>
              <a:t>Chile			</a:t>
            </a:r>
            <a:r>
              <a:rPr lang="en-US" sz="2171" b="0" i="0" u="none" strike="noStrike" cap="none" dirty="0">
                <a:solidFill>
                  <a:schemeClr val="lt1"/>
                </a:solidFill>
                <a:latin typeface="Avenir"/>
                <a:ea typeface="Avenir"/>
                <a:cs typeface="Avenir"/>
                <a:sym typeface="Avenir"/>
              </a:rPr>
              <a:t>CLP$ 2.000.00</a:t>
            </a:r>
            <a:endParaRPr sz="2171" b="0" i="0" u="none" strike="noStrike" cap="none" dirty="0">
              <a:solidFill>
                <a:schemeClr val="lt1"/>
              </a:solidFill>
              <a:latin typeface="Avenir"/>
              <a:ea typeface="Avenir"/>
              <a:cs typeface="Avenir"/>
              <a:sym typeface="Avenir"/>
            </a:endParaRPr>
          </a:p>
          <a:p>
            <a:pPr marL="0" marR="0" lvl="0" indent="0" algn="l" rtl="0">
              <a:lnSpc>
                <a:spcPct val="200000"/>
              </a:lnSpc>
              <a:spcBef>
                <a:spcPts val="0"/>
              </a:spcBef>
              <a:spcAft>
                <a:spcPts val="0"/>
              </a:spcAft>
              <a:buClr>
                <a:schemeClr val="dk1"/>
              </a:buClr>
              <a:buSzPts val="2171"/>
              <a:buFont typeface="Arial"/>
              <a:buNone/>
            </a:pPr>
            <a:r>
              <a:rPr lang="en-US" sz="2171" b="0" i="0" u="none" strike="noStrike" cap="none" dirty="0">
                <a:solidFill>
                  <a:schemeClr val="lt1"/>
                </a:solidFill>
                <a:latin typeface="Avenir"/>
                <a:ea typeface="Avenir"/>
                <a:cs typeface="Avenir"/>
                <a:sym typeface="Avenir"/>
              </a:rPr>
              <a:t>México			MXN$ 35.000</a:t>
            </a:r>
            <a:endParaRPr sz="1400" b="0" i="0" u="none" strike="noStrike" cap="none" dirty="0">
              <a:solidFill>
                <a:schemeClr val="dk1"/>
              </a:solidFill>
              <a:latin typeface="Arial"/>
              <a:ea typeface="Arial"/>
              <a:cs typeface="Arial"/>
              <a:sym typeface="Arial"/>
            </a:endParaRPr>
          </a:p>
          <a:p>
            <a:pPr marL="0" marR="0" lvl="0" indent="0" algn="l" rtl="0">
              <a:lnSpc>
                <a:spcPct val="200000"/>
              </a:lnSpc>
              <a:spcBef>
                <a:spcPts val="0"/>
              </a:spcBef>
              <a:spcAft>
                <a:spcPts val="0"/>
              </a:spcAft>
              <a:buClr>
                <a:schemeClr val="dk1"/>
              </a:buClr>
              <a:buSzPts val="2171"/>
              <a:buFont typeface="Arial"/>
              <a:buNone/>
            </a:pPr>
            <a:r>
              <a:rPr lang="en-US" sz="2171" b="0" i="0" u="none" strike="noStrike" cap="none" dirty="0">
                <a:solidFill>
                  <a:schemeClr val="lt1"/>
                </a:solidFill>
                <a:latin typeface="Avenir"/>
                <a:ea typeface="Avenir"/>
                <a:cs typeface="Avenir"/>
                <a:sym typeface="Avenir"/>
              </a:rPr>
              <a:t>Other Countries		USD 2.000</a:t>
            </a:r>
            <a:endParaRPr sz="1400" b="0" i="0" u="none" strike="noStrike" cap="none" dirty="0">
              <a:solidFill>
                <a:srgbClr val="000000"/>
              </a:solidFill>
              <a:latin typeface="Arial"/>
              <a:ea typeface="Arial"/>
              <a:cs typeface="Arial"/>
              <a:sym typeface="Arial"/>
            </a:endParaRPr>
          </a:p>
        </p:txBody>
      </p:sp>
      <p:sp>
        <p:nvSpPr>
          <p:cNvPr id="128" name="Google Shape;128;g35809203cad_1_75"/>
          <p:cNvSpPr txBox="1"/>
          <p:nvPr/>
        </p:nvSpPr>
        <p:spPr>
          <a:xfrm>
            <a:off x="3282375" y="4410725"/>
            <a:ext cx="4287000" cy="462900"/>
          </a:xfrm>
          <a:prstGeom prst="rect">
            <a:avLst/>
          </a:prstGeom>
          <a:noFill/>
          <a:ln>
            <a:noFill/>
          </a:ln>
        </p:spPr>
        <p:txBody>
          <a:bodyPr spcFirstLastPara="1" wrap="square" lIns="0" tIns="0" rIns="0" bIns="0" anchor="t" anchorCtr="0">
            <a:spAutoFit/>
          </a:bodyPr>
          <a:lstStyle/>
          <a:p>
            <a:pPr marL="0" marR="0" lvl="0" indent="0" algn="l" rtl="0">
              <a:lnSpc>
                <a:spcPct val="97019"/>
              </a:lnSpc>
              <a:spcBef>
                <a:spcPts val="0"/>
              </a:spcBef>
              <a:spcAft>
                <a:spcPts val="0"/>
              </a:spcAft>
              <a:buClr>
                <a:srgbClr val="000000"/>
              </a:buClr>
              <a:buSzPts val="3100"/>
              <a:buFont typeface="Arial"/>
              <a:buNone/>
            </a:pPr>
            <a:r>
              <a:rPr lang="en-US" sz="3100" b="1" i="0" u="none" strike="noStrike" cap="none" dirty="0">
                <a:solidFill>
                  <a:schemeClr val="lt1"/>
                </a:solidFill>
                <a:latin typeface="Garamond"/>
                <a:ea typeface="Garamond"/>
                <a:cs typeface="Garamond"/>
                <a:sym typeface="Garamond"/>
              </a:rPr>
              <a:t>EXECUTIVE SEARCH</a:t>
            </a:r>
            <a:endParaRPr sz="3100" b="1" i="0" u="none" strike="noStrike" cap="none" dirty="0">
              <a:solidFill>
                <a:schemeClr val="lt1"/>
              </a:solidFill>
              <a:latin typeface="Garamond"/>
              <a:ea typeface="Garamond"/>
              <a:cs typeface="Garamond"/>
              <a:sym typeface="Garamond"/>
            </a:endParaRPr>
          </a:p>
        </p:txBody>
      </p:sp>
      <p:sp>
        <p:nvSpPr>
          <p:cNvPr id="129" name="Google Shape;129;g35809203cad_1_75"/>
          <p:cNvSpPr txBox="1"/>
          <p:nvPr/>
        </p:nvSpPr>
        <p:spPr>
          <a:xfrm>
            <a:off x="10058975" y="4410725"/>
            <a:ext cx="4287000" cy="462900"/>
          </a:xfrm>
          <a:prstGeom prst="rect">
            <a:avLst/>
          </a:prstGeom>
          <a:noFill/>
          <a:ln>
            <a:noFill/>
          </a:ln>
        </p:spPr>
        <p:txBody>
          <a:bodyPr spcFirstLastPara="1" wrap="square" lIns="0" tIns="0" rIns="0" bIns="0" anchor="t" anchorCtr="0">
            <a:spAutoFit/>
          </a:bodyPr>
          <a:lstStyle/>
          <a:p>
            <a:pPr marL="0" marR="0" lvl="0" indent="0" algn="r" rtl="0">
              <a:lnSpc>
                <a:spcPct val="97019"/>
              </a:lnSpc>
              <a:spcBef>
                <a:spcPts val="0"/>
              </a:spcBef>
              <a:spcAft>
                <a:spcPts val="0"/>
              </a:spcAft>
              <a:buClr>
                <a:srgbClr val="000000"/>
              </a:buClr>
              <a:buSzPts val="3100"/>
              <a:buFont typeface="Arial"/>
              <a:buNone/>
            </a:pPr>
            <a:r>
              <a:rPr lang="en-US" sz="3100" b="1" i="0" u="none" strike="noStrike" cap="none">
                <a:solidFill>
                  <a:schemeClr val="lt1"/>
                </a:solidFill>
                <a:latin typeface="Garamond"/>
                <a:ea typeface="Garamond"/>
                <a:cs typeface="Garamond"/>
                <a:sym typeface="Garamond"/>
              </a:rPr>
              <a:t>TALENT  SEARCH</a:t>
            </a:r>
            <a:endParaRPr sz="3100" b="1" i="0" u="none" strike="noStrike" cap="none">
              <a:solidFill>
                <a:schemeClr val="lt1"/>
              </a:solidFill>
              <a:latin typeface="Garamond"/>
              <a:ea typeface="Garamond"/>
              <a:cs typeface="Garamond"/>
              <a:sym typeface="Garamond"/>
            </a:endParaRPr>
          </a:p>
        </p:txBody>
      </p:sp>
      <p:sp>
        <p:nvSpPr>
          <p:cNvPr id="130" name="Google Shape;130;g35809203cad_1_75"/>
          <p:cNvSpPr txBox="1"/>
          <p:nvPr/>
        </p:nvSpPr>
        <p:spPr>
          <a:xfrm>
            <a:off x="2334999" y="380075"/>
            <a:ext cx="9742029" cy="1268937"/>
          </a:xfrm>
          <a:prstGeom prst="rect">
            <a:avLst/>
          </a:prstGeom>
          <a:noFill/>
          <a:ln>
            <a:noFill/>
          </a:ln>
        </p:spPr>
        <p:txBody>
          <a:bodyPr spcFirstLastPara="1" wrap="square" lIns="0" tIns="0" rIns="0" bIns="0" anchor="t" anchorCtr="0">
            <a:spAutoFit/>
          </a:bodyPr>
          <a:lstStyle/>
          <a:p>
            <a:pPr marL="0" marR="0" lvl="0" indent="0" algn="l" rtl="0">
              <a:lnSpc>
                <a:spcPct val="97000"/>
              </a:lnSpc>
              <a:spcBef>
                <a:spcPts val="0"/>
              </a:spcBef>
              <a:spcAft>
                <a:spcPts val="0"/>
              </a:spcAft>
              <a:buClr>
                <a:srgbClr val="000000"/>
              </a:buClr>
              <a:buSzPts val="8501"/>
              <a:buFont typeface="Arial"/>
              <a:buNone/>
            </a:pPr>
            <a:r>
              <a:rPr lang="en-US" sz="8501" b="1" dirty="0">
                <a:solidFill>
                  <a:srgbClr val="54565B"/>
                </a:solidFill>
                <a:latin typeface="Garamond"/>
                <a:ea typeface="Garamond"/>
                <a:cs typeface="Garamond"/>
                <a:sym typeface="Garamond"/>
              </a:rPr>
              <a:t>OUR SOLUTION</a:t>
            </a:r>
            <a:endParaRPr sz="1400" b="0" i="0" u="none" strike="noStrike" cap="none" dirty="0">
              <a:solidFill>
                <a:srgbClr val="54565B"/>
              </a:solidFill>
              <a:latin typeface="Garamond"/>
              <a:ea typeface="Garamond"/>
              <a:cs typeface="Garamond"/>
              <a:sym typeface="Garamond"/>
            </a:endParaRPr>
          </a:p>
        </p:txBody>
      </p:sp>
      <p:sp>
        <p:nvSpPr>
          <p:cNvPr id="131" name="Google Shape;131;g35809203cad_1_75"/>
          <p:cNvSpPr txBox="1"/>
          <p:nvPr/>
        </p:nvSpPr>
        <p:spPr>
          <a:xfrm>
            <a:off x="2447037" y="1433250"/>
            <a:ext cx="7519500" cy="1012521"/>
          </a:xfrm>
          <a:prstGeom prst="rect">
            <a:avLst/>
          </a:prstGeom>
          <a:noFill/>
          <a:ln>
            <a:noFill/>
          </a:ln>
        </p:spPr>
        <p:txBody>
          <a:bodyPr spcFirstLastPara="1" wrap="square" lIns="0" tIns="0" rIns="0" bIns="0" anchor="t" anchorCtr="0">
            <a:spAutoFit/>
          </a:bodyPr>
          <a:lstStyle/>
          <a:p>
            <a:pPr marL="0" marR="0" lvl="0" indent="0" algn="l" rtl="0">
              <a:lnSpc>
                <a:spcPct val="97019"/>
              </a:lnSpc>
              <a:spcBef>
                <a:spcPts val="0"/>
              </a:spcBef>
              <a:spcAft>
                <a:spcPts val="0"/>
              </a:spcAft>
              <a:buClr>
                <a:srgbClr val="000000"/>
              </a:buClr>
              <a:buSzPts val="7783"/>
              <a:buFont typeface="Arial"/>
              <a:buNone/>
            </a:pPr>
            <a:r>
              <a:rPr lang="en-US" sz="6783" b="1" dirty="0">
                <a:solidFill>
                  <a:srgbClr val="F8BF00"/>
                </a:solidFill>
                <a:latin typeface="Garamond"/>
                <a:ea typeface="Garamond"/>
                <a:cs typeface="Garamond"/>
                <a:sym typeface="Garamond"/>
              </a:rPr>
              <a:t>PORTFOLIO</a:t>
            </a:r>
            <a:endParaRPr sz="400" b="0" i="0" u="none" strike="noStrike" cap="none" dirty="0">
              <a:solidFill>
                <a:srgbClr val="000000"/>
              </a:solidFill>
              <a:latin typeface="Garamond"/>
              <a:ea typeface="Garamond"/>
              <a:cs typeface="Garamond"/>
              <a:sym typeface="Garamond"/>
            </a:endParaRPr>
          </a:p>
        </p:txBody>
      </p:sp>
      <p:cxnSp>
        <p:nvCxnSpPr>
          <p:cNvPr id="132" name="Google Shape;132;g35809203cad_1_75"/>
          <p:cNvCxnSpPr/>
          <p:nvPr/>
        </p:nvCxnSpPr>
        <p:spPr>
          <a:xfrm flipH="1">
            <a:off x="9195388" y="4410725"/>
            <a:ext cx="24900" cy="3754500"/>
          </a:xfrm>
          <a:prstGeom prst="straightConnector1">
            <a:avLst/>
          </a:prstGeom>
          <a:noFill/>
          <a:ln w="9525" cap="flat" cmpd="sng">
            <a:solidFill>
              <a:srgbClr val="F8BF00"/>
            </a:solidFill>
            <a:prstDash val="solid"/>
            <a:round/>
            <a:headEnd type="none" w="sm" len="sm"/>
            <a:tailEnd type="none" w="sm" len="sm"/>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6"/>
        <p:cNvGrpSpPr/>
        <p:nvPr/>
      </p:nvGrpSpPr>
      <p:grpSpPr>
        <a:xfrm>
          <a:off x="0" y="0"/>
          <a:ext cx="0" cy="0"/>
          <a:chOff x="0" y="0"/>
          <a:chExt cx="0" cy="0"/>
        </a:xfrm>
      </p:grpSpPr>
      <p:sp>
        <p:nvSpPr>
          <p:cNvPr id="137" name="Google Shape;137;g35bee174b82_0_99"/>
          <p:cNvSpPr txBox="1"/>
          <p:nvPr/>
        </p:nvSpPr>
        <p:spPr>
          <a:xfrm>
            <a:off x="1420600" y="580650"/>
            <a:ext cx="6536700" cy="970500"/>
          </a:xfrm>
          <a:prstGeom prst="rect">
            <a:avLst/>
          </a:prstGeom>
          <a:noFill/>
          <a:ln>
            <a:noFill/>
          </a:ln>
        </p:spPr>
        <p:txBody>
          <a:bodyPr spcFirstLastPara="1" wrap="square" lIns="0" tIns="0" rIns="0" bIns="0" anchor="t" anchorCtr="0">
            <a:spAutoFit/>
          </a:bodyPr>
          <a:lstStyle/>
          <a:p>
            <a:pPr marL="0" marR="0" lvl="0" indent="0" algn="l" rtl="0">
              <a:lnSpc>
                <a:spcPct val="97000"/>
              </a:lnSpc>
              <a:spcBef>
                <a:spcPts val="0"/>
              </a:spcBef>
              <a:spcAft>
                <a:spcPts val="0"/>
              </a:spcAft>
              <a:buClr>
                <a:srgbClr val="000000"/>
              </a:buClr>
              <a:buSzPts val="8501"/>
              <a:buFont typeface="Arial"/>
              <a:buNone/>
            </a:pPr>
            <a:r>
              <a:rPr lang="en-US" sz="6501" b="1" i="0" u="none" strike="noStrike" cap="none">
                <a:solidFill>
                  <a:srgbClr val="FFFFFF"/>
                </a:solidFill>
                <a:latin typeface="Avenir"/>
                <a:ea typeface="Avenir"/>
                <a:cs typeface="Avenir"/>
                <a:sym typeface="Avenir"/>
              </a:rPr>
              <a:t>Executive Search</a:t>
            </a:r>
            <a:endParaRPr sz="100" b="0" i="0" u="none" strike="noStrike" cap="none">
              <a:solidFill>
                <a:srgbClr val="000000"/>
              </a:solidFill>
              <a:latin typeface="Arial"/>
              <a:ea typeface="Arial"/>
              <a:cs typeface="Arial"/>
              <a:sym typeface="Arial"/>
            </a:endParaRPr>
          </a:p>
        </p:txBody>
      </p:sp>
      <p:sp>
        <p:nvSpPr>
          <p:cNvPr id="138" name="Google Shape;138;g35bee174b82_0_99"/>
          <p:cNvSpPr txBox="1"/>
          <p:nvPr/>
        </p:nvSpPr>
        <p:spPr>
          <a:xfrm>
            <a:off x="960178" y="1474945"/>
            <a:ext cx="6220200" cy="1042800"/>
          </a:xfrm>
          <a:prstGeom prst="rect">
            <a:avLst/>
          </a:prstGeom>
          <a:noFill/>
          <a:ln>
            <a:noFill/>
          </a:ln>
        </p:spPr>
        <p:txBody>
          <a:bodyPr spcFirstLastPara="1" wrap="square" lIns="0" tIns="0" rIns="0" bIns="0" anchor="t" anchorCtr="0">
            <a:spAutoFit/>
          </a:bodyPr>
          <a:lstStyle/>
          <a:p>
            <a:pPr marL="0" marR="0" lvl="0" indent="0" algn="ctr" rtl="0">
              <a:lnSpc>
                <a:spcPct val="97019"/>
              </a:lnSpc>
              <a:spcBef>
                <a:spcPts val="0"/>
              </a:spcBef>
              <a:spcAft>
                <a:spcPts val="0"/>
              </a:spcAft>
              <a:buClr>
                <a:srgbClr val="000000"/>
              </a:buClr>
              <a:buSzPts val="7783"/>
              <a:buFont typeface="Arial"/>
              <a:buNone/>
            </a:pPr>
            <a:r>
              <a:rPr lang="en-US" sz="6983" b="1" i="0" u="none" strike="noStrike" cap="none" dirty="0">
                <a:solidFill>
                  <a:srgbClr val="F8BF00"/>
                </a:solidFill>
                <a:latin typeface="Avenir"/>
                <a:ea typeface="Avenir"/>
                <a:cs typeface="Avenir"/>
                <a:sym typeface="Avenir"/>
              </a:rPr>
              <a:t>Methodology</a:t>
            </a:r>
            <a:endParaRPr sz="600" b="0" i="0" u="none" strike="noStrike" cap="none" dirty="0">
              <a:solidFill>
                <a:srgbClr val="000000"/>
              </a:solidFill>
              <a:latin typeface="Arial"/>
              <a:ea typeface="Arial"/>
              <a:cs typeface="Arial"/>
              <a:sym typeface="Arial"/>
            </a:endParaRPr>
          </a:p>
        </p:txBody>
      </p:sp>
      <p:sp>
        <p:nvSpPr>
          <p:cNvPr id="139" name="Google Shape;139;g35bee174b82_0_99"/>
          <p:cNvSpPr txBox="1"/>
          <p:nvPr/>
        </p:nvSpPr>
        <p:spPr>
          <a:xfrm>
            <a:off x="1188781" y="5505530"/>
            <a:ext cx="2460600" cy="387798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2000"/>
              <a:buFont typeface="Arial"/>
              <a:buNone/>
            </a:pPr>
            <a:r>
              <a:rPr lang="en-US" sz="2000" b="0" i="0" u="none" strike="noStrike" cap="none" dirty="0">
                <a:solidFill>
                  <a:srgbClr val="E5E5E4"/>
                </a:solidFill>
                <a:latin typeface="Avenir"/>
                <a:ea typeface="Avenir"/>
                <a:cs typeface="Avenir"/>
                <a:sym typeface="Avenir"/>
              </a:rPr>
              <a:t>A co-creation session with the client to identify both current and future challenges, aligned with the business context of the role, leveraging </a:t>
            </a:r>
            <a:r>
              <a:rPr lang="en-US" sz="2000" dirty="0">
                <a:solidFill>
                  <a:srgbClr val="E5E5E4"/>
                </a:solidFill>
                <a:latin typeface="Avenir"/>
                <a:sym typeface="Avenir"/>
              </a:rPr>
              <a:t>our </a:t>
            </a:r>
            <a:r>
              <a:rPr lang="en-US" sz="2000" dirty="0">
                <a:solidFill>
                  <a:srgbClr val="F8BF00"/>
                </a:solidFill>
                <a:latin typeface="Avenir"/>
                <a:sym typeface="Avenir"/>
              </a:rPr>
              <a:t>Job &amp; Profile Design </a:t>
            </a:r>
            <a:r>
              <a:rPr lang="en-US" sz="2000" b="0" i="0" u="none" strike="noStrike" cap="none" dirty="0">
                <a:solidFill>
                  <a:srgbClr val="E5E5E4"/>
                </a:solidFill>
                <a:latin typeface="Avenir"/>
                <a:ea typeface="Avenir"/>
                <a:cs typeface="Avenir"/>
                <a:sym typeface="Avenir"/>
              </a:rPr>
              <a:t>methodology.</a:t>
            </a:r>
          </a:p>
        </p:txBody>
      </p:sp>
      <p:sp>
        <p:nvSpPr>
          <p:cNvPr id="140" name="Google Shape;140;g35bee174b82_0_99"/>
          <p:cNvSpPr txBox="1"/>
          <p:nvPr/>
        </p:nvSpPr>
        <p:spPr>
          <a:xfrm>
            <a:off x="7017325" y="5513638"/>
            <a:ext cx="3235200" cy="2585323"/>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2000"/>
              <a:buFont typeface="Arial"/>
              <a:buNone/>
            </a:pPr>
            <a:r>
              <a:rPr lang="en-US" sz="2000" dirty="0">
                <a:solidFill>
                  <a:srgbClr val="F8BF00"/>
                </a:solidFill>
                <a:latin typeface="Avenir"/>
                <a:sym typeface="Avenir"/>
              </a:rPr>
              <a:t>Dialogic interviews </a:t>
            </a:r>
            <a:r>
              <a:rPr lang="en-US" sz="2000" dirty="0">
                <a:solidFill>
                  <a:srgbClr val="E5E5E4"/>
                </a:solidFill>
                <a:latin typeface="Avenir"/>
                <a:ea typeface="Avenir"/>
                <a:cs typeface="Avenir"/>
                <a:sym typeface="Avenir"/>
              </a:rPr>
              <a:t>using a  </a:t>
            </a:r>
          </a:p>
          <a:p>
            <a:pPr marL="0" marR="0" lvl="0" indent="0" algn="l" rtl="0">
              <a:lnSpc>
                <a:spcPct val="140000"/>
              </a:lnSpc>
              <a:spcBef>
                <a:spcPts val="0"/>
              </a:spcBef>
              <a:spcAft>
                <a:spcPts val="0"/>
              </a:spcAft>
              <a:buClr>
                <a:srgbClr val="000000"/>
              </a:buClr>
              <a:buSzPts val="2000"/>
              <a:buFont typeface="Arial"/>
              <a:buNone/>
            </a:pPr>
            <a:r>
              <a:rPr lang="en-US" sz="2000" dirty="0">
                <a:solidFill>
                  <a:srgbClr val="F8BF00"/>
                </a:solidFill>
                <a:latin typeface="Avenir"/>
                <a:sym typeface="Avenir"/>
              </a:rPr>
              <a:t>Job Crafting </a:t>
            </a:r>
            <a:r>
              <a:rPr lang="en-US" sz="2000" dirty="0">
                <a:solidFill>
                  <a:srgbClr val="E5E5E4"/>
                </a:solidFill>
                <a:latin typeface="Avenir"/>
                <a:ea typeface="Avenir"/>
                <a:cs typeface="Avenir"/>
                <a:sym typeface="Avenir"/>
              </a:rPr>
              <a:t>framework, our innovative tool designed to map individual skills, motivations, experiences, and core values</a:t>
            </a:r>
          </a:p>
        </p:txBody>
      </p:sp>
      <p:sp>
        <p:nvSpPr>
          <p:cNvPr id="141" name="Google Shape;141;g35bee174b82_0_99"/>
          <p:cNvSpPr txBox="1"/>
          <p:nvPr/>
        </p:nvSpPr>
        <p:spPr>
          <a:xfrm>
            <a:off x="10899275" y="5505525"/>
            <a:ext cx="3235200" cy="3447098"/>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2000"/>
              <a:buFont typeface="Arial"/>
              <a:buNone/>
            </a:pPr>
            <a:r>
              <a:rPr lang="en-US" sz="2000" b="0" i="0" u="none" strike="noStrike" cap="none" dirty="0">
                <a:solidFill>
                  <a:srgbClr val="E5E5E4"/>
                </a:solidFill>
                <a:latin typeface="Avenir"/>
                <a:ea typeface="Avenir"/>
                <a:cs typeface="Avenir"/>
                <a:sym typeface="Avenir"/>
              </a:rPr>
              <a:t>Client interview stage and execution of an </a:t>
            </a:r>
            <a:r>
              <a:rPr lang="en-US" sz="2000" b="0" i="0" u="none" strike="noStrike" cap="none" dirty="0">
                <a:solidFill>
                  <a:srgbClr val="F8BF00"/>
                </a:solidFill>
                <a:latin typeface="Avenir"/>
                <a:ea typeface="Avenir"/>
                <a:cs typeface="Avenir"/>
                <a:sym typeface="Avenir"/>
              </a:rPr>
              <a:t>A</a:t>
            </a:r>
            <a:r>
              <a:rPr lang="en-US" sz="2000" dirty="0">
                <a:solidFill>
                  <a:srgbClr val="F8BF00"/>
                </a:solidFill>
                <a:latin typeface="Avenir"/>
                <a:sym typeface="Avenir"/>
              </a:rPr>
              <a:t>ssessment* process for the two final candidates</a:t>
            </a:r>
            <a:r>
              <a:rPr lang="en-US" sz="2000" b="0" i="0" u="none" strike="noStrike" cap="none" dirty="0">
                <a:solidFill>
                  <a:srgbClr val="E5E5E4"/>
                </a:solidFill>
                <a:latin typeface="Avenir"/>
                <a:ea typeface="Avenir"/>
                <a:cs typeface="Avenir"/>
                <a:sym typeface="Avenir"/>
              </a:rPr>
              <a:t>, focused on identifying strengths, development needs, key competencies, and leadership potential.</a:t>
            </a:r>
          </a:p>
        </p:txBody>
      </p:sp>
      <p:sp>
        <p:nvSpPr>
          <p:cNvPr id="142" name="Google Shape;142;g35bee174b82_0_99"/>
          <p:cNvSpPr txBox="1"/>
          <p:nvPr/>
        </p:nvSpPr>
        <p:spPr>
          <a:xfrm>
            <a:off x="14881480" y="5505530"/>
            <a:ext cx="2575500" cy="301621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2000"/>
              <a:buFont typeface="Arial"/>
              <a:buNone/>
            </a:pPr>
            <a:r>
              <a:rPr lang="en-US" sz="2000" b="0" i="0" u="none" strike="noStrike" cap="none" dirty="0">
                <a:solidFill>
                  <a:srgbClr val="E5E5E4"/>
                </a:solidFill>
                <a:latin typeface="Avenir"/>
                <a:ea typeface="Avenir"/>
                <a:cs typeface="Avenir"/>
                <a:sym typeface="Avenir"/>
              </a:rPr>
              <a:t>Advisory support during the offer and negotiation stage. </a:t>
            </a:r>
            <a:endParaRPr lang="en-US" sz="2000" dirty="0">
              <a:solidFill>
                <a:srgbClr val="E5E5E4"/>
              </a:solidFill>
              <a:latin typeface="Avenir"/>
              <a:ea typeface="Avenir"/>
              <a:cs typeface="Avenir"/>
              <a:sym typeface="Avenir"/>
            </a:endParaRPr>
          </a:p>
          <a:p>
            <a:pPr marL="0" marR="0" lvl="0" indent="0" algn="l" rtl="0">
              <a:lnSpc>
                <a:spcPct val="140000"/>
              </a:lnSpc>
              <a:spcBef>
                <a:spcPts val="0"/>
              </a:spcBef>
              <a:spcAft>
                <a:spcPts val="0"/>
              </a:spcAft>
              <a:buClr>
                <a:srgbClr val="000000"/>
              </a:buClr>
              <a:buSzPts val="2000"/>
              <a:buFont typeface="Arial"/>
              <a:buNone/>
            </a:pPr>
            <a:r>
              <a:rPr lang="en-US" sz="2000" dirty="0">
                <a:solidFill>
                  <a:srgbClr val="E5E5E4"/>
                </a:solidFill>
                <a:latin typeface="Avenir"/>
                <a:ea typeface="Avenir"/>
                <a:cs typeface="Avenir"/>
                <a:sym typeface="Avenir"/>
              </a:rPr>
              <a:t>P</a:t>
            </a:r>
            <a:r>
              <a:rPr lang="en-US" sz="2000" b="0" i="0" u="none" strike="noStrike" cap="none" dirty="0">
                <a:solidFill>
                  <a:srgbClr val="E5E5E4"/>
                </a:solidFill>
                <a:latin typeface="Avenir"/>
                <a:ea typeface="Avenir"/>
                <a:cs typeface="Avenir"/>
                <a:sym typeface="Avenir"/>
              </a:rPr>
              <a:t>ost-placement integration follow-up with the selected candidate.</a:t>
            </a:r>
          </a:p>
        </p:txBody>
      </p:sp>
      <p:sp>
        <p:nvSpPr>
          <p:cNvPr id="143" name="Google Shape;143;g35bee174b82_0_99"/>
          <p:cNvSpPr txBox="1"/>
          <p:nvPr/>
        </p:nvSpPr>
        <p:spPr>
          <a:xfrm>
            <a:off x="1188781" y="4484324"/>
            <a:ext cx="1968900" cy="779400"/>
          </a:xfrm>
          <a:prstGeom prst="rect">
            <a:avLst/>
          </a:prstGeom>
          <a:noFill/>
          <a:ln>
            <a:noFill/>
          </a:ln>
        </p:spPr>
        <p:txBody>
          <a:bodyPr spcFirstLastPara="1" wrap="square" lIns="0" tIns="0" rIns="0" bIns="0" anchor="t" anchorCtr="0">
            <a:spAutoFit/>
          </a:bodyPr>
          <a:lstStyle/>
          <a:p>
            <a:pPr marL="0" marR="0" lvl="0" indent="0" algn="just" rtl="0">
              <a:lnSpc>
                <a:spcPct val="111000"/>
              </a:lnSpc>
              <a:spcBef>
                <a:spcPts val="0"/>
              </a:spcBef>
              <a:spcAft>
                <a:spcPts val="0"/>
              </a:spcAft>
              <a:buClr>
                <a:srgbClr val="000000"/>
              </a:buClr>
              <a:buSzPts val="2400"/>
              <a:buFont typeface="Arial"/>
              <a:buNone/>
            </a:pPr>
            <a:r>
              <a:rPr lang="en-US" sz="2400" b="1" i="0" u="none" strike="noStrike" cap="none">
                <a:solidFill>
                  <a:srgbClr val="E5E5E4"/>
                </a:solidFill>
                <a:latin typeface="Garamond"/>
                <a:ea typeface="Garamond"/>
                <a:cs typeface="Garamond"/>
                <a:sym typeface="Garamond"/>
              </a:rPr>
              <a:t>KICK </a:t>
            </a:r>
            <a:endParaRPr sz="1400" b="0" i="0" u="none" strike="noStrike" cap="none">
              <a:solidFill>
                <a:srgbClr val="000000"/>
              </a:solidFill>
              <a:latin typeface="Arial"/>
              <a:ea typeface="Arial"/>
              <a:cs typeface="Arial"/>
              <a:sym typeface="Arial"/>
            </a:endParaRPr>
          </a:p>
          <a:p>
            <a:pPr marL="0" marR="0" lvl="0" indent="0" algn="just" rtl="0">
              <a:lnSpc>
                <a:spcPct val="111000"/>
              </a:lnSpc>
              <a:spcBef>
                <a:spcPts val="0"/>
              </a:spcBef>
              <a:spcAft>
                <a:spcPts val="0"/>
              </a:spcAft>
              <a:buClr>
                <a:srgbClr val="000000"/>
              </a:buClr>
              <a:buSzPts val="2400"/>
              <a:buFont typeface="Arial"/>
              <a:buNone/>
            </a:pPr>
            <a:r>
              <a:rPr lang="en-US" sz="2400" b="1" i="0" u="none" strike="noStrike" cap="none">
                <a:solidFill>
                  <a:srgbClr val="E5E5E4"/>
                </a:solidFill>
                <a:latin typeface="Garamond"/>
                <a:ea typeface="Garamond"/>
                <a:cs typeface="Garamond"/>
                <a:sym typeface="Garamond"/>
              </a:rPr>
              <a:t>OFF</a:t>
            </a:r>
            <a:endParaRPr sz="1400" b="0" i="0" u="none" strike="noStrike" cap="none">
              <a:solidFill>
                <a:srgbClr val="000000"/>
              </a:solidFill>
              <a:latin typeface="Arial"/>
              <a:ea typeface="Arial"/>
              <a:cs typeface="Arial"/>
              <a:sym typeface="Arial"/>
            </a:endParaRPr>
          </a:p>
        </p:txBody>
      </p:sp>
      <p:sp>
        <p:nvSpPr>
          <p:cNvPr id="144" name="Google Shape;144;g35bee174b82_0_99"/>
          <p:cNvSpPr txBox="1"/>
          <p:nvPr/>
        </p:nvSpPr>
        <p:spPr>
          <a:xfrm>
            <a:off x="4033456" y="4484324"/>
            <a:ext cx="1859400" cy="779400"/>
          </a:xfrm>
          <a:prstGeom prst="rect">
            <a:avLst/>
          </a:prstGeom>
          <a:noFill/>
          <a:ln>
            <a:noFill/>
          </a:ln>
        </p:spPr>
        <p:txBody>
          <a:bodyPr spcFirstLastPara="1" wrap="square" lIns="0" tIns="0" rIns="0" bIns="0" anchor="t" anchorCtr="0">
            <a:spAutoFit/>
          </a:bodyPr>
          <a:lstStyle/>
          <a:p>
            <a:pPr marL="0" marR="0" lvl="0" indent="0" algn="just" rtl="0">
              <a:lnSpc>
                <a:spcPct val="111000"/>
              </a:lnSpc>
              <a:spcBef>
                <a:spcPts val="0"/>
              </a:spcBef>
              <a:spcAft>
                <a:spcPts val="0"/>
              </a:spcAft>
              <a:buClr>
                <a:srgbClr val="000000"/>
              </a:buClr>
              <a:buSzPts val="2400"/>
              <a:buFont typeface="Arial"/>
              <a:buNone/>
            </a:pPr>
            <a:r>
              <a:rPr lang="en-US" sz="2400" b="1" i="0" u="none" strike="noStrike" cap="none">
                <a:solidFill>
                  <a:srgbClr val="E5E5E4"/>
                </a:solidFill>
                <a:latin typeface="Garamond"/>
                <a:ea typeface="Garamond"/>
                <a:cs typeface="Garamond"/>
                <a:sym typeface="Garamond"/>
              </a:rPr>
              <a:t>MARKET RESEARCH</a:t>
            </a:r>
            <a:endParaRPr sz="1400" b="0" i="0" u="none" strike="noStrike" cap="none">
              <a:solidFill>
                <a:srgbClr val="000000"/>
              </a:solidFill>
              <a:latin typeface="Arial"/>
              <a:ea typeface="Arial"/>
              <a:cs typeface="Arial"/>
              <a:sym typeface="Arial"/>
            </a:endParaRPr>
          </a:p>
        </p:txBody>
      </p:sp>
      <p:sp>
        <p:nvSpPr>
          <p:cNvPr id="145" name="Google Shape;145;g35bee174b82_0_99"/>
          <p:cNvSpPr txBox="1"/>
          <p:nvPr/>
        </p:nvSpPr>
        <p:spPr>
          <a:xfrm>
            <a:off x="7145949" y="4484325"/>
            <a:ext cx="2292000" cy="779400"/>
          </a:xfrm>
          <a:prstGeom prst="rect">
            <a:avLst/>
          </a:prstGeom>
          <a:noFill/>
          <a:ln>
            <a:noFill/>
          </a:ln>
        </p:spPr>
        <p:txBody>
          <a:bodyPr spcFirstLastPara="1" wrap="square" lIns="0" tIns="0" rIns="0" bIns="0" anchor="t" anchorCtr="0">
            <a:spAutoFit/>
          </a:bodyPr>
          <a:lstStyle/>
          <a:p>
            <a:pPr marL="0" marR="0" lvl="0" indent="0" algn="just" rtl="0">
              <a:lnSpc>
                <a:spcPct val="111000"/>
              </a:lnSpc>
              <a:spcBef>
                <a:spcPts val="0"/>
              </a:spcBef>
              <a:spcAft>
                <a:spcPts val="0"/>
              </a:spcAft>
              <a:buClr>
                <a:srgbClr val="000000"/>
              </a:buClr>
              <a:buSzPts val="2400"/>
              <a:buFont typeface="Arial"/>
              <a:buNone/>
            </a:pPr>
            <a:r>
              <a:rPr lang="en-US" sz="2400" b="1" i="0" u="none" strike="noStrike" cap="none">
                <a:solidFill>
                  <a:srgbClr val="E5E5E4"/>
                </a:solidFill>
                <a:latin typeface="Garamond"/>
                <a:ea typeface="Garamond"/>
                <a:cs typeface="Garamond"/>
                <a:sym typeface="Garamond"/>
              </a:rPr>
              <a:t>JOB </a:t>
            </a:r>
            <a:endParaRPr sz="2400" b="1" i="0" u="none" strike="noStrike" cap="none">
              <a:solidFill>
                <a:srgbClr val="E5E5E4"/>
              </a:solidFill>
              <a:latin typeface="Garamond"/>
              <a:ea typeface="Garamond"/>
              <a:cs typeface="Garamond"/>
              <a:sym typeface="Garamond"/>
            </a:endParaRPr>
          </a:p>
          <a:p>
            <a:pPr marL="0" marR="0" lvl="0" indent="0" algn="just" rtl="0">
              <a:lnSpc>
                <a:spcPct val="111000"/>
              </a:lnSpc>
              <a:spcBef>
                <a:spcPts val="0"/>
              </a:spcBef>
              <a:spcAft>
                <a:spcPts val="0"/>
              </a:spcAft>
              <a:buClr>
                <a:srgbClr val="000000"/>
              </a:buClr>
              <a:buSzPts val="2400"/>
              <a:buFont typeface="Arial"/>
              <a:buNone/>
            </a:pPr>
            <a:r>
              <a:rPr lang="en-US" sz="2400" b="1" i="0" u="none" strike="noStrike" cap="none">
                <a:solidFill>
                  <a:srgbClr val="E5E5E4"/>
                </a:solidFill>
                <a:latin typeface="Garamond"/>
                <a:ea typeface="Garamond"/>
                <a:cs typeface="Garamond"/>
                <a:sym typeface="Garamond"/>
              </a:rPr>
              <a:t>CRAFTING</a:t>
            </a:r>
            <a:endParaRPr sz="1400" b="0" i="0" u="none" strike="noStrike" cap="none">
              <a:solidFill>
                <a:srgbClr val="000000"/>
              </a:solidFill>
              <a:latin typeface="Arial"/>
              <a:ea typeface="Arial"/>
              <a:cs typeface="Arial"/>
              <a:sym typeface="Arial"/>
            </a:endParaRPr>
          </a:p>
        </p:txBody>
      </p:sp>
      <p:sp>
        <p:nvSpPr>
          <p:cNvPr id="146" name="Google Shape;146;g35bee174b82_0_99"/>
          <p:cNvSpPr txBox="1"/>
          <p:nvPr/>
        </p:nvSpPr>
        <p:spPr>
          <a:xfrm>
            <a:off x="10899279" y="4484324"/>
            <a:ext cx="2137800" cy="779400"/>
          </a:xfrm>
          <a:prstGeom prst="rect">
            <a:avLst/>
          </a:prstGeom>
          <a:noFill/>
          <a:ln>
            <a:noFill/>
          </a:ln>
        </p:spPr>
        <p:txBody>
          <a:bodyPr spcFirstLastPara="1" wrap="square" lIns="0" tIns="0" rIns="0" bIns="0" anchor="t" anchorCtr="0">
            <a:spAutoFit/>
          </a:bodyPr>
          <a:lstStyle/>
          <a:p>
            <a:pPr marL="0" marR="0" lvl="0" indent="0" algn="just" rtl="0">
              <a:lnSpc>
                <a:spcPct val="111000"/>
              </a:lnSpc>
              <a:spcBef>
                <a:spcPts val="0"/>
              </a:spcBef>
              <a:spcAft>
                <a:spcPts val="0"/>
              </a:spcAft>
              <a:buClr>
                <a:srgbClr val="000000"/>
              </a:buClr>
              <a:buSzPts val="2400"/>
              <a:buFont typeface="Arial"/>
              <a:buNone/>
            </a:pPr>
            <a:r>
              <a:rPr lang="en-US" sz="2400" b="1" i="0" u="none" strike="noStrike" cap="none">
                <a:solidFill>
                  <a:srgbClr val="E5E5E4"/>
                </a:solidFill>
                <a:latin typeface="Garamond"/>
                <a:ea typeface="Garamond"/>
                <a:cs typeface="Garamond"/>
                <a:sym typeface="Garamond"/>
              </a:rPr>
              <a:t>TALENT </a:t>
            </a:r>
            <a:endParaRPr sz="1400" b="0" i="0" u="none" strike="noStrike" cap="none">
              <a:solidFill>
                <a:srgbClr val="000000"/>
              </a:solidFill>
              <a:latin typeface="Arial"/>
              <a:ea typeface="Arial"/>
              <a:cs typeface="Arial"/>
              <a:sym typeface="Arial"/>
            </a:endParaRPr>
          </a:p>
          <a:p>
            <a:pPr marL="0" marR="0" lvl="0" indent="0" algn="just" rtl="0">
              <a:lnSpc>
                <a:spcPct val="111000"/>
              </a:lnSpc>
              <a:spcBef>
                <a:spcPts val="0"/>
              </a:spcBef>
              <a:spcAft>
                <a:spcPts val="0"/>
              </a:spcAft>
              <a:buClr>
                <a:srgbClr val="000000"/>
              </a:buClr>
              <a:buSzPts val="2400"/>
              <a:buFont typeface="Arial"/>
              <a:buNone/>
            </a:pPr>
            <a:r>
              <a:rPr lang="en-US" sz="2400" b="1" i="0" u="none" strike="noStrike" cap="none">
                <a:solidFill>
                  <a:srgbClr val="E5E5E4"/>
                </a:solidFill>
                <a:latin typeface="Garamond"/>
                <a:ea typeface="Garamond"/>
                <a:cs typeface="Garamond"/>
                <a:sym typeface="Garamond"/>
              </a:rPr>
              <a:t>DISCOVERY</a:t>
            </a:r>
            <a:endParaRPr sz="1400" b="0" i="0" u="none" strike="noStrike" cap="none">
              <a:solidFill>
                <a:srgbClr val="000000"/>
              </a:solidFill>
              <a:latin typeface="Arial"/>
              <a:ea typeface="Arial"/>
              <a:cs typeface="Arial"/>
              <a:sym typeface="Arial"/>
            </a:endParaRPr>
          </a:p>
        </p:txBody>
      </p:sp>
      <p:sp>
        <p:nvSpPr>
          <p:cNvPr id="147" name="Google Shape;147;g35bee174b82_0_99"/>
          <p:cNvSpPr txBox="1"/>
          <p:nvPr/>
        </p:nvSpPr>
        <p:spPr>
          <a:xfrm>
            <a:off x="14991721" y="4484324"/>
            <a:ext cx="2178000" cy="779400"/>
          </a:xfrm>
          <a:prstGeom prst="rect">
            <a:avLst/>
          </a:prstGeom>
          <a:noFill/>
          <a:ln>
            <a:noFill/>
          </a:ln>
        </p:spPr>
        <p:txBody>
          <a:bodyPr spcFirstLastPara="1" wrap="square" lIns="0" tIns="0" rIns="0" bIns="0" anchor="t" anchorCtr="0">
            <a:spAutoFit/>
          </a:bodyPr>
          <a:lstStyle/>
          <a:p>
            <a:pPr marL="0" marR="0" lvl="0" indent="0" algn="just" rtl="0">
              <a:lnSpc>
                <a:spcPct val="111000"/>
              </a:lnSpc>
              <a:spcBef>
                <a:spcPts val="0"/>
              </a:spcBef>
              <a:spcAft>
                <a:spcPts val="0"/>
              </a:spcAft>
              <a:buClr>
                <a:srgbClr val="000000"/>
              </a:buClr>
              <a:buSzPts val="2400"/>
              <a:buFont typeface="Arial"/>
              <a:buNone/>
            </a:pPr>
            <a:r>
              <a:rPr lang="en-US" sz="2400" b="1" i="0" u="none" strike="noStrike" cap="none">
                <a:solidFill>
                  <a:srgbClr val="E5E5E4"/>
                </a:solidFill>
                <a:latin typeface="Garamond"/>
                <a:ea typeface="Garamond"/>
                <a:cs typeface="Garamond"/>
                <a:sym typeface="Garamond"/>
              </a:rPr>
              <a:t>TRANSITION </a:t>
            </a:r>
            <a:endParaRPr sz="1400" b="0" i="0" u="none" strike="noStrike" cap="none">
              <a:solidFill>
                <a:srgbClr val="000000"/>
              </a:solidFill>
              <a:latin typeface="Arial"/>
              <a:ea typeface="Arial"/>
              <a:cs typeface="Arial"/>
              <a:sym typeface="Arial"/>
            </a:endParaRPr>
          </a:p>
          <a:p>
            <a:pPr marL="0" marR="0" lvl="0" indent="0" algn="just" rtl="0">
              <a:lnSpc>
                <a:spcPct val="111000"/>
              </a:lnSpc>
              <a:spcBef>
                <a:spcPts val="0"/>
              </a:spcBef>
              <a:spcAft>
                <a:spcPts val="0"/>
              </a:spcAft>
              <a:buClr>
                <a:srgbClr val="000000"/>
              </a:buClr>
              <a:buSzPts val="2400"/>
              <a:buFont typeface="Arial"/>
              <a:buNone/>
            </a:pPr>
            <a:r>
              <a:rPr lang="en-US" sz="2400" b="1" i="0" u="none" strike="noStrike" cap="none">
                <a:solidFill>
                  <a:srgbClr val="E5E5E4"/>
                </a:solidFill>
                <a:latin typeface="Garamond"/>
                <a:ea typeface="Garamond"/>
                <a:cs typeface="Garamond"/>
                <a:sym typeface="Garamond"/>
              </a:rPr>
              <a:t>OFFER</a:t>
            </a:r>
            <a:endParaRPr sz="1400" b="0" i="0" u="none" strike="noStrike" cap="none">
              <a:solidFill>
                <a:srgbClr val="000000"/>
              </a:solidFill>
              <a:latin typeface="Arial"/>
              <a:ea typeface="Arial"/>
              <a:cs typeface="Arial"/>
              <a:sym typeface="Arial"/>
            </a:endParaRPr>
          </a:p>
        </p:txBody>
      </p:sp>
      <p:sp>
        <p:nvSpPr>
          <p:cNvPr id="148" name="Google Shape;148;g35bee174b82_0_99"/>
          <p:cNvSpPr/>
          <p:nvPr/>
        </p:nvSpPr>
        <p:spPr>
          <a:xfrm>
            <a:off x="14515475" y="4283325"/>
            <a:ext cx="61200" cy="4974900"/>
          </a:xfrm>
          <a:prstGeom prst="rect">
            <a:avLst/>
          </a:prstGeom>
          <a:solidFill>
            <a:srgbClr val="FFFFFF">
              <a:alpha val="352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 name="Google Shape;149;g35bee174b82_0_99"/>
          <p:cNvSpPr/>
          <p:nvPr/>
        </p:nvSpPr>
        <p:spPr>
          <a:xfrm>
            <a:off x="10505651" y="3825001"/>
            <a:ext cx="61200" cy="5433300"/>
          </a:xfrm>
          <a:prstGeom prst="rect">
            <a:avLst/>
          </a:prstGeom>
          <a:solidFill>
            <a:srgbClr val="FFFFFF">
              <a:alpha val="352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 name="Google Shape;150;g35bee174b82_0_99"/>
          <p:cNvSpPr/>
          <p:nvPr/>
        </p:nvSpPr>
        <p:spPr>
          <a:xfrm>
            <a:off x="6644415" y="3825001"/>
            <a:ext cx="61200" cy="5433300"/>
          </a:xfrm>
          <a:prstGeom prst="rect">
            <a:avLst/>
          </a:prstGeom>
          <a:solidFill>
            <a:srgbClr val="FFFFFF">
              <a:alpha val="352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 name="Google Shape;151;g35bee174b82_0_99"/>
          <p:cNvSpPr/>
          <p:nvPr/>
        </p:nvSpPr>
        <p:spPr>
          <a:xfrm>
            <a:off x="3716028" y="3825001"/>
            <a:ext cx="61200" cy="5433300"/>
          </a:xfrm>
          <a:prstGeom prst="rect">
            <a:avLst/>
          </a:prstGeom>
          <a:solidFill>
            <a:srgbClr val="FFFFFF">
              <a:alpha val="352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 name="Google Shape;152;g35bee174b82_0_99"/>
          <p:cNvSpPr txBox="1"/>
          <p:nvPr/>
        </p:nvSpPr>
        <p:spPr>
          <a:xfrm>
            <a:off x="1188781" y="3720226"/>
            <a:ext cx="2155800" cy="59093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Clr>
                <a:srgbClr val="000000"/>
              </a:buClr>
              <a:buSzPts val="2400"/>
              <a:buFont typeface="Arial"/>
              <a:buNone/>
            </a:pPr>
            <a:r>
              <a:rPr lang="en-US" sz="2400" b="1" i="0" u="none" strike="noStrike" cap="none" dirty="0">
                <a:solidFill>
                  <a:srgbClr val="8CA8BA"/>
                </a:solidFill>
                <a:latin typeface="Garamond"/>
                <a:ea typeface="Garamond"/>
                <a:cs typeface="Garamond"/>
                <a:sym typeface="Garamond"/>
              </a:rPr>
              <a:t>DAY 1</a:t>
            </a:r>
            <a:endParaRPr sz="1400" b="0" i="0" u="none" strike="noStrike" cap="none" dirty="0">
              <a:solidFill>
                <a:srgbClr val="000000"/>
              </a:solidFill>
              <a:latin typeface="Arial"/>
              <a:ea typeface="Arial"/>
              <a:cs typeface="Arial"/>
              <a:sym typeface="Arial"/>
            </a:endParaRPr>
          </a:p>
        </p:txBody>
      </p:sp>
      <p:sp>
        <p:nvSpPr>
          <p:cNvPr id="153" name="Google Shape;153;g35bee174b82_0_99"/>
          <p:cNvSpPr txBox="1"/>
          <p:nvPr/>
        </p:nvSpPr>
        <p:spPr>
          <a:xfrm>
            <a:off x="7114242" y="3720226"/>
            <a:ext cx="2155800" cy="59093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Clr>
                <a:srgbClr val="000000"/>
              </a:buClr>
              <a:buSzPts val="2400"/>
              <a:buFont typeface="Arial"/>
              <a:buNone/>
            </a:pPr>
            <a:r>
              <a:rPr lang="en-US" sz="2400" b="1" i="0" u="none" strike="noStrike" cap="none" dirty="0">
                <a:solidFill>
                  <a:srgbClr val="8CA8BA"/>
                </a:solidFill>
                <a:latin typeface="Garamond"/>
                <a:ea typeface="Garamond"/>
                <a:cs typeface="Garamond"/>
                <a:sym typeface="Garamond"/>
              </a:rPr>
              <a:t>DAY 15 - 20</a:t>
            </a:r>
            <a:endParaRPr sz="1400" b="0" i="0" u="none" strike="noStrike" cap="none" dirty="0">
              <a:solidFill>
                <a:srgbClr val="000000"/>
              </a:solidFill>
              <a:latin typeface="Arial"/>
              <a:ea typeface="Arial"/>
              <a:cs typeface="Arial"/>
              <a:sym typeface="Arial"/>
            </a:endParaRPr>
          </a:p>
        </p:txBody>
      </p:sp>
      <p:sp>
        <p:nvSpPr>
          <p:cNvPr id="154" name="Google Shape;154;g35bee174b82_0_99"/>
          <p:cNvSpPr txBox="1"/>
          <p:nvPr/>
        </p:nvSpPr>
        <p:spPr>
          <a:xfrm>
            <a:off x="4033456" y="3720226"/>
            <a:ext cx="2155800" cy="59093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Clr>
                <a:srgbClr val="000000"/>
              </a:buClr>
              <a:buSzPts val="2400"/>
              <a:buFont typeface="Arial"/>
              <a:buNone/>
            </a:pPr>
            <a:r>
              <a:rPr lang="en-US" sz="2400" b="1" i="0" u="none" strike="noStrike" cap="none" dirty="0">
                <a:solidFill>
                  <a:srgbClr val="8CA8BA"/>
                </a:solidFill>
                <a:latin typeface="Garamond"/>
                <a:ea typeface="Garamond"/>
                <a:cs typeface="Garamond"/>
                <a:sym typeface="Garamond"/>
              </a:rPr>
              <a:t>DAY 10</a:t>
            </a:r>
            <a:endParaRPr sz="1400" b="0" i="0" u="none" strike="noStrike" cap="none" dirty="0">
              <a:solidFill>
                <a:srgbClr val="000000"/>
              </a:solidFill>
              <a:latin typeface="Arial"/>
              <a:ea typeface="Arial"/>
              <a:cs typeface="Arial"/>
              <a:sym typeface="Arial"/>
            </a:endParaRPr>
          </a:p>
        </p:txBody>
      </p:sp>
      <p:sp>
        <p:nvSpPr>
          <p:cNvPr id="155" name="Google Shape;155;g35bee174b82_0_99"/>
          <p:cNvSpPr txBox="1"/>
          <p:nvPr/>
        </p:nvSpPr>
        <p:spPr>
          <a:xfrm>
            <a:off x="10892956" y="3720225"/>
            <a:ext cx="3679016" cy="59375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929"/>
              <a:buFont typeface="Arial"/>
              <a:buNone/>
            </a:pPr>
            <a:r>
              <a:rPr lang="en-US" sz="1929" b="1" i="0" u="none" strike="noStrike" cap="none" dirty="0">
                <a:solidFill>
                  <a:srgbClr val="8CA8BA"/>
                </a:solidFill>
                <a:latin typeface="Garamond"/>
                <a:ea typeface="Garamond"/>
                <a:cs typeface="Garamond"/>
                <a:sym typeface="Garamond"/>
              </a:rPr>
              <a:t>TIMELINES MAY VARY</a:t>
            </a:r>
          </a:p>
          <a:p>
            <a:pPr marL="0" marR="0" lvl="0" indent="0" algn="l" rtl="0">
              <a:lnSpc>
                <a:spcPct val="100000"/>
              </a:lnSpc>
              <a:spcBef>
                <a:spcPts val="0"/>
              </a:spcBef>
              <a:spcAft>
                <a:spcPts val="0"/>
              </a:spcAft>
              <a:buClr>
                <a:srgbClr val="000000"/>
              </a:buClr>
              <a:buSzPts val="1929"/>
              <a:buFont typeface="Arial"/>
              <a:buNone/>
            </a:pPr>
            <a:r>
              <a:rPr lang="en-US" sz="1929" b="1" i="0" u="none" strike="noStrike" cap="none" dirty="0">
                <a:solidFill>
                  <a:srgbClr val="8CA8BA"/>
                </a:solidFill>
                <a:latin typeface="Garamond"/>
                <a:ea typeface="Garamond"/>
                <a:cs typeface="Garamond"/>
                <a:sym typeface="Garamond"/>
              </a:rPr>
              <a:t> depending on client scheduling</a:t>
            </a:r>
          </a:p>
        </p:txBody>
      </p:sp>
      <p:sp>
        <p:nvSpPr>
          <p:cNvPr id="156" name="Google Shape;156;g35bee174b82_0_99"/>
          <p:cNvSpPr txBox="1"/>
          <p:nvPr/>
        </p:nvSpPr>
        <p:spPr>
          <a:xfrm>
            <a:off x="2812760" y="9412444"/>
            <a:ext cx="13796519" cy="593978"/>
          </a:xfrm>
          <a:prstGeom prst="rect">
            <a:avLst/>
          </a:prstGeom>
          <a:noFill/>
          <a:ln>
            <a:noFill/>
          </a:ln>
        </p:spPr>
        <p:txBody>
          <a:bodyPr spcFirstLastPara="1" wrap="square" lIns="91425" tIns="91425" rIns="91425" bIns="91425" anchor="t" anchorCtr="0">
            <a:spAutoFit/>
          </a:bodyPr>
          <a:lstStyle/>
          <a:p>
            <a:pPr marL="0" marR="0" lvl="0" indent="0" algn="l" rtl="0">
              <a:lnSpc>
                <a:spcPct val="140000"/>
              </a:lnSpc>
              <a:spcBef>
                <a:spcPts val="0"/>
              </a:spcBef>
              <a:spcAft>
                <a:spcPts val="0"/>
              </a:spcAft>
              <a:buClr>
                <a:srgbClr val="000000"/>
              </a:buClr>
              <a:buSzPts val="1900"/>
              <a:buFont typeface="Arial"/>
              <a:buNone/>
            </a:pPr>
            <a:r>
              <a:rPr lang="en-US" sz="1900" b="0" i="1" u="none" strike="noStrike" cap="none" dirty="0">
                <a:solidFill>
                  <a:srgbClr val="F8BF00"/>
                </a:solidFill>
                <a:latin typeface="Avenir"/>
                <a:ea typeface="Avenir"/>
                <a:cs typeface="Avenir"/>
                <a:sym typeface="Avenir"/>
              </a:rPr>
              <a:t>*This phase includes a simulation and a behavioral assessment (PDA, Hogan, or TTI Success Insights), tailored to the role’s requirements.    </a:t>
            </a:r>
            <a:endParaRPr sz="1300" b="0" i="1" u="none" strike="noStrike" cap="none" dirty="0">
              <a:solidFill>
                <a:srgbClr val="000000"/>
              </a:solidFill>
              <a:latin typeface="Arial"/>
              <a:ea typeface="Arial"/>
              <a:cs typeface="Arial"/>
              <a:sym typeface="Arial"/>
            </a:endParaRPr>
          </a:p>
        </p:txBody>
      </p:sp>
      <p:sp>
        <p:nvSpPr>
          <p:cNvPr id="157" name="Google Shape;157;g35bee174b82_0_99"/>
          <p:cNvSpPr txBox="1"/>
          <p:nvPr/>
        </p:nvSpPr>
        <p:spPr>
          <a:xfrm>
            <a:off x="3996312" y="5505530"/>
            <a:ext cx="2575500" cy="1723549"/>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2000"/>
              <a:buFont typeface="Arial"/>
              <a:buNone/>
            </a:pPr>
            <a:r>
              <a:rPr lang="en-US" sz="2000" b="0" i="0" u="none" strike="noStrike" cap="none" dirty="0">
                <a:solidFill>
                  <a:srgbClr val="E5E5E4"/>
                </a:solidFill>
                <a:latin typeface="Avenir"/>
                <a:ea typeface="Avenir"/>
                <a:cs typeface="Avenir"/>
                <a:sym typeface="Avenir"/>
              </a:rPr>
              <a:t>Presentation of progress in the identification of professionals, along with key market insights. </a:t>
            </a:r>
            <a:endParaRPr sz="1400" b="0" i="0" u="none" strike="noStrike" cap="none" dirty="0">
              <a:solidFill>
                <a:srgbClr val="000000"/>
              </a:solidFill>
              <a:latin typeface="Arial"/>
              <a:ea typeface="Arial"/>
              <a:cs typeface="Arial"/>
              <a:sym typeface="Arial"/>
            </a:endParaRPr>
          </a:p>
        </p:txBody>
      </p:sp>
      <p:sp>
        <p:nvSpPr>
          <p:cNvPr id="158" name="Google Shape;158;g35bee174b82_0_99"/>
          <p:cNvSpPr txBox="1"/>
          <p:nvPr/>
        </p:nvSpPr>
        <p:spPr>
          <a:xfrm>
            <a:off x="390700" y="355050"/>
            <a:ext cx="1029900" cy="1269300"/>
          </a:xfrm>
          <a:prstGeom prst="rect">
            <a:avLst/>
          </a:prstGeom>
          <a:noFill/>
          <a:ln>
            <a:noFill/>
          </a:ln>
        </p:spPr>
        <p:txBody>
          <a:bodyPr spcFirstLastPara="1" wrap="square" lIns="0" tIns="0" rIns="0" bIns="0" anchor="t" anchorCtr="0">
            <a:spAutoFit/>
          </a:bodyPr>
          <a:lstStyle/>
          <a:p>
            <a:pPr marL="0" marR="0" lvl="0" indent="0" algn="l" rtl="0">
              <a:lnSpc>
                <a:spcPct val="97000"/>
              </a:lnSpc>
              <a:spcBef>
                <a:spcPts val="0"/>
              </a:spcBef>
              <a:spcAft>
                <a:spcPts val="0"/>
              </a:spcAft>
              <a:buClr>
                <a:srgbClr val="000000"/>
              </a:buClr>
              <a:buSzPts val="8501"/>
              <a:buFont typeface="Arial"/>
              <a:buNone/>
            </a:pPr>
            <a:r>
              <a:rPr lang="en-US" sz="8501" b="1" i="0" u="none" strike="noStrike" cap="none">
                <a:solidFill>
                  <a:srgbClr val="FFFFFF"/>
                </a:solidFill>
                <a:latin typeface="Avenir"/>
                <a:ea typeface="Avenir"/>
                <a:cs typeface="Avenir"/>
                <a:sym typeface="Avenir"/>
              </a:rPr>
              <a:t>1.</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2"/>
        <p:cNvGrpSpPr/>
        <p:nvPr/>
      </p:nvGrpSpPr>
      <p:grpSpPr>
        <a:xfrm>
          <a:off x="0" y="0"/>
          <a:ext cx="0" cy="0"/>
          <a:chOff x="0" y="0"/>
          <a:chExt cx="0" cy="0"/>
        </a:xfrm>
      </p:grpSpPr>
      <p:sp>
        <p:nvSpPr>
          <p:cNvPr id="164" name="Google Shape;164;g35bee174b82_0_396"/>
          <p:cNvSpPr txBox="1"/>
          <p:nvPr/>
        </p:nvSpPr>
        <p:spPr>
          <a:xfrm>
            <a:off x="7518382" y="5505530"/>
            <a:ext cx="2575500" cy="202517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2000"/>
              <a:buFont typeface="Arial"/>
              <a:buNone/>
            </a:pPr>
            <a:r>
              <a:rPr lang="en-US" sz="2000" dirty="0">
                <a:solidFill>
                  <a:srgbClr val="F8BF00"/>
                </a:solidFill>
                <a:latin typeface="Avenir"/>
                <a:sym typeface="Avenir"/>
              </a:rPr>
              <a:t>Dialogic interview </a:t>
            </a:r>
            <a:r>
              <a:rPr lang="en-US" sz="2000" b="0" i="0" u="none" strike="noStrike" cap="none" dirty="0">
                <a:solidFill>
                  <a:srgbClr val="E5E5E4"/>
                </a:solidFill>
                <a:latin typeface="Avenir"/>
                <a:ea typeface="Avenir"/>
                <a:cs typeface="Avenir"/>
                <a:sym typeface="Avenir"/>
              </a:rPr>
              <a:t>sessions with each of the candidates.</a:t>
            </a:r>
          </a:p>
          <a:p>
            <a:pPr marL="0" marR="0" lvl="0" indent="0" algn="l" rtl="0">
              <a:lnSpc>
                <a:spcPct val="140000"/>
              </a:lnSpc>
              <a:spcBef>
                <a:spcPts val="0"/>
              </a:spcBef>
              <a:spcAft>
                <a:spcPts val="0"/>
              </a:spcAft>
              <a:buClr>
                <a:srgbClr val="000000"/>
              </a:buClr>
              <a:buSzPts val="2000"/>
              <a:buFont typeface="Arial"/>
              <a:buNone/>
            </a:pPr>
            <a:endParaRPr lang="en-US" sz="2000" dirty="0">
              <a:solidFill>
                <a:srgbClr val="E5E5E4"/>
              </a:solidFill>
              <a:latin typeface="Avenir"/>
              <a:ea typeface="Avenir"/>
              <a:cs typeface="Avenir"/>
              <a:sym typeface="Avenir"/>
            </a:endParaRPr>
          </a:p>
          <a:p>
            <a:pPr marL="0" marR="0" lvl="0" indent="0" algn="l" rtl="0">
              <a:lnSpc>
                <a:spcPct val="140000"/>
              </a:lnSpc>
              <a:spcBef>
                <a:spcPts val="0"/>
              </a:spcBef>
              <a:spcAft>
                <a:spcPts val="0"/>
              </a:spcAft>
              <a:buClr>
                <a:srgbClr val="000000"/>
              </a:buClr>
              <a:buSzPts val="2000"/>
              <a:buFont typeface="Arial"/>
              <a:buNone/>
            </a:pPr>
            <a:endParaRPr sz="1400" b="0" i="0" u="none" strike="noStrike" cap="none" dirty="0">
              <a:solidFill>
                <a:srgbClr val="000000"/>
              </a:solidFill>
              <a:latin typeface="Arial"/>
              <a:ea typeface="Arial"/>
              <a:cs typeface="Arial"/>
              <a:sym typeface="Arial"/>
            </a:endParaRPr>
          </a:p>
        </p:txBody>
      </p:sp>
      <p:sp>
        <p:nvSpPr>
          <p:cNvPr id="165" name="Google Shape;165;g35bee174b82_0_396"/>
          <p:cNvSpPr txBox="1"/>
          <p:nvPr/>
        </p:nvSpPr>
        <p:spPr>
          <a:xfrm>
            <a:off x="10823075" y="5505525"/>
            <a:ext cx="3235200" cy="3447098"/>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2000"/>
              <a:buFont typeface="Arial"/>
              <a:buNone/>
            </a:pPr>
            <a:r>
              <a:rPr lang="en-US" sz="2000" b="0" i="0" u="none" strike="noStrike" cap="none" dirty="0">
                <a:solidFill>
                  <a:srgbClr val="E5E5E4"/>
                </a:solidFill>
                <a:latin typeface="Avenir"/>
                <a:ea typeface="Avenir"/>
                <a:cs typeface="Avenir"/>
                <a:sym typeface="Avenir"/>
              </a:rPr>
              <a:t>Client interview stage and implementation of an </a:t>
            </a:r>
            <a:r>
              <a:rPr lang="en-US" sz="2000" dirty="0">
                <a:solidFill>
                  <a:srgbClr val="F8BF00"/>
                </a:solidFill>
                <a:latin typeface="Avenir"/>
                <a:sym typeface="Avenir"/>
              </a:rPr>
              <a:t>online assessment for the two final candidates (may be PDA or TTI Success Insights)</a:t>
            </a:r>
            <a:r>
              <a:rPr lang="en-US" sz="2000" b="0" i="0" u="none" strike="noStrike" cap="none" dirty="0">
                <a:solidFill>
                  <a:srgbClr val="E5E5E4"/>
                </a:solidFill>
                <a:latin typeface="Avenir"/>
                <a:ea typeface="Avenir"/>
                <a:cs typeface="Avenir"/>
                <a:sym typeface="Avenir"/>
              </a:rPr>
              <a:t>, as part of the evaluation process to identify strengths, weaknesses, skills, competencies, and potential.</a:t>
            </a:r>
          </a:p>
        </p:txBody>
      </p:sp>
      <p:sp>
        <p:nvSpPr>
          <p:cNvPr id="167" name="Google Shape;167;g35bee174b82_0_396"/>
          <p:cNvSpPr txBox="1"/>
          <p:nvPr/>
        </p:nvSpPr>
        <p:spPr>
          <a:xfrm>
            <a:off x="1188781" y="4484324"/>
            <a:ext cx="1968900" cy="779400"/>
          </a:xfrm>
          <a:prstGeom prst="rect">
            <a:avLst/>
          </a:prstGeom>
          <a:noFill/>
          <a:ln>
            <a:noFill/>
          </a:ln>
        </p:spPr>
        <p:txBody>
          <a:bodyPr spcFirstLastPara="1" wrap="square" lIns="0" tIns="0" rIns="0" bIns="0" anchor="t" anchorCtr="0">
            <a:spAutoFit/>
          </a:bodyPr>
          <a:lstStyle/>
          <a:p>
            <a:pPr marL="0" marR="0" lvl="0" indent="0" algn="just" rtl="0">
              <a:lnSpc>
                <a:spcPct val="111000"/>
              </a:lnSpc>
              <a:spcBef>
                <a:spcPts val="0"/>
              </a:spcBef>
              <a:spcAft>
                <a:spcPts val="0"/>
              </a:spcAft>
              <a:buClr>
                <a:srgbClr val="000000"/>
              </a:buClr>
              <a:buSzPts val="2400"/>
              <a:buFont typeface="Arial"/>
              <a:buNone/>
            </a:pPr>
            <a:r>
              <a:rPr lang="en-US" sz="2400" b="1" i="0" u="none" strike="noStrike" cap="none">
                <a:solidFill>
                  <a:srgbClr val="E5E5E4"/>
                </a:solidFill>
                <a:latin typeface="Garamond"/>
                <a:ea typeface="Garamond"/>
                <a:cs typeface="Garamond"/>
                <a:sym typeface="Garamond"/>
              </a:rPr>
              <a:t>KICK </a:t>
            </a:r>
            <a:endParaRPr sz="1400" b="0" i="0" u="none" strike="noStrike" cap="none">
              <a:solidFill>
                <a:srgbClr val="000000"/>
              </a:solidFill>
              <a:latin typeface="Arial"/>
              <a:ea typeface="Arial"/>
              <a:cs typeface="Arial"/>
              <a:sym typeface="Arial"/>
            </a:endParaRPr>
          </a:p>
          <a:p>
            <a:pPr marL="0" marR="0" lvl="0" indent="0" algn="just" rtl="0">
              <a:lnSpc>
                <a:spcPct val="111000"/>
              </a:lnSpc>
              <a:spcBef>
                <a:spcPts val="0"/>
              </a:spcBef>
              <a:spcAft>
                <a:spcPts val="0"/>
              </a:spcAft>
              <a:buClr>
                <a:srgbClr val="000000"/>
              </a:buClr>
              <a:buSzPts val="2400"/>
              <a:buFont typeface="Arial"/>
              <a:buNone/>
            </a:pPr>
            <a:r>
              <a:rPr lang="en-US" sz="2400" b="1" i="0" u="none" strike="noStrike" cap="none">
                <a:solidFill>
                  <a:srgbClr val="E5E5E4"/>
                </a:solidFill>
                <a:latin typeface="Garamond"/>
                <a:ea typeface="Garamond"/>
                <a:cs typeface="Garamond"/>
                <a:sym typeface="Garamond"/>
              </a:rPr>
              <a:t>OFF</a:t>
            </a:r>
            <a:endParaRPr sz="1400" b="0" i="0" u="none" strike="noStrike" cap="none">
              <a:solidFill>
                <a:srgbClr val="000000"/>
              </a:solidFill>
              <a:latin typeface="Arial"/>
              <a:ea typeface="Arial"/>
              <a:cs typeface="Arial"/>
              <a:sym typeface="Arial"/>
            </a:endParaRPr>
          </a:p>
        </p:txBody>
      </p:sp>
      <p:sp>
        <p:nvSpPr>
          <p:cNvPr id="168" name="Google Shape;168;g35bee174b82_0_396"/>
          <p:cNvSpPr txBox="1"/>
          <p:nvPr/>
        </p:nvSpPr>
        <p:spPr>
          <a:xfrm>
            <a:off x="4185856" y="4484324"/>
            <a:ext cx="1859400" cy="779400"/>
          </a:xfrm>
          <a:prstGeom prst="rect">
            <a:avLst/>
          </a:prstGeom>
          <a:noFill/>
          <a:ln>
            <a:noFill/>
          </a:ln>
        </p:spPr>
        <p:txBody>
          <a:bodyPr spcFirstLastPara="1" wrap="square" lIns="0" tIns="0" rIns="0" bIns="0" anchor="t" anchorCtr="0">
            <a:spAutoFit/>
          </a:bodyPr>
          <a:lstStyle/>
          <a:p>
            <a:pPr marL="0" marR="0" lvl="0" indent="0" algn="just" rtl="0">
              <a:lnSpc>
                <a:spcPct val="111000"/>
              </a:lnSpc>
              <a:spcBef>
                <a:spcPts val="0"/>
              </a:spcBef>
              <a:spcAft>
                <a:spcPts val="0"/>
              </a:spcAft>
              <a:buClr>
                <a:srgbClr val="000000"/>
              </a:buClr>
              <a:buSzPts val="2400"/>
              <a:buFont typeface="Arial"/>
              <a:buNone/>
            </a:pPr>
            <a:r>
              <a:rPr lang="en-US" sz="2400" b="1" i="0" u="none" strike="noStrike" cap="none">
                <a:solidFill>
                  <a:srgbClr val="E5E5E4"/>
                </a:solidFill>
                <a:latin typeface="Garamond"/>
                <a:ea typeface="Garamond"/>
                <a:cs typeface="Garamond"/>
                <a:sym typeface="Garamond"/>
              </a:rPr>
              <a:t>MARKET RESEARCH</a:t>
            </a:r>
            <a:endParaRPr sz="1400" b="0" i="0" u="none" strike="noStrike" cap="none">
              <a:solidFill>
                <a:srgbClr val="000000"/>
              </a:solidFill>
              <a:latin typeface="Arial"/>
              <a:ea typeface="Arial"/>
              <a:cs typeface="Arial"/>
              <a:sym typeface="Arial"/>
            </a:endParaRPr>
          </a:p>
        </p:txBody>
      </p:sp>
      <p:sp>
        <p:nvSpPr>
          <p:cNvPr id="169" name="Google Shape;169;g35bee174b82_0_396"/>
          <p:cNvSpPr txBox="1"/>
          <p:nvPr/>
        </p:nvSpPr>
        <p:spPr>
          <a:xfrm>
            <a:off x="7603149" y="4484325"/>
            <a:ext cx="2460600" cy="819968"/>
          </a:xfrm>
          <a:prstGeom prst="rect">
            <a:avLst/>
          </a:prstGeom>
          <a:noFill/>
          <a:ln>
            <a:noFill/>
          </a:ln>
        </p:spPr>
        <p:txBody>
          <a:bodyPr spcFirstLastPara="1" wrap="square" lIns="0" tIns="0" rIns="0" bIns="0" anchor="t" anchorCtr="0">
            <a:spAutoFit/>
          </a:bodyPr>
          <a:lstStyle/>
          <a:p>
            <a:pPr marL="0" marR="0" lvl="0" indent="0" algn="just" rtl="0">
              <a:lnSpc>
                <a:spcPct val="111000"/>
              </a:lnSpc>
              <a:spcBef>
                <a:spcPts val="0"/>
              </a:spcBef>
              <a:spcAft>
                <a:spcPts val="0"/>
              </a:spcAft>
              <a:buClr>
                <a:srgbClr val="000000"/>
              </a:buClr>
              <a:buSzPts val="2400"/>
              <a:buFont typeface="Arial"/>
              <a:buNone/>
            </a:pPr>
            <a:r>
              <a:rPr lang="en-US" sz="2400" b="1" dirty="0">
                <a:solidFill>
                  <a:srgbClr val="E5E5E4"/>
                </a:solidFill>
                <a:latin typeface="Garamond"/>
                <a:ea typeface="Garamond"/>
                <a:cs typeface="Garamond"/>
                <a:sym typeface="Garamond"/>
              </a:rPr>
              <a:t>DIALOGIC INTERVIEW</a:t>
            </a:r>
            <a:endParaRPr sz="2400" b="1" i="0" u="none" strike="noStrike" cap="none" dirty="0">
              <a:solidFill>
                <a:srgbClr val="E5E5E4"/>
              </a:solidFill>
              <a:latin typeface="Garamond"/>
              <a:ea typeface="Garamond"/>
              <a:cs typeface="Garamond"/>
              <a:sym typeface="Garamond"/>
            </a:endParaRPr>
          </a:p>
        </p:txBody>
      </p:sp>
      <p:sp>
        <p:nvSpPr>
          <p:cNvPr id="170" name="Google Shape;170;g35bee174b82_0_396"/>
          <p:cNvSpPr txBox="1"/>
          <p:nvPr/>
        </p:nvSpPr>
        <p:spPr>
          <a:xfrm>
            <a:off x="10823079" y="4484324"/>
            <a:ext cx="2137800" cy="779400"/>
          </a:xfrm>
          <a:prstGeom prst="rect">
            <a:avLst/>
          </a:prstGeom>
          <a:noFill/>
          <a:ln>
            <a:noFill/>
          </a:ln>
        </p:spPr>
        <p:txBody>
          <a:bodyPr spcFirstLastPara="1" wrap="square" lIns="0" tIns="0" rIns="0" bIns="0" anchor="t" anchorCtr="0">
            <a:spAutoFit/>
          </a:bodyPr>
          <a:lstStyle/>
          <a:p>
            <a:pPr marL="0" marR="0" lvl="0" indent="0" algn="just" rtl="0">
              <a:lnSpc>
                <a:spcPct val="111000"/>
              </a:lnSpc>
              <a:spcBef>
                <a:spcPts val="0"/>
              </a:spcBef>
              <a:spcAft>
                <a:spcPts val="0"/>
              </a:spcAft>
              <a:buClr>
                <a:srgbClr val="000000"/>
              </a:buClr>
              <a:buSzPts val="2400"/>
              <a:buFont typeface="Arial"/>
              <a:buNone/>
            </a:pPr>
            <a:r>
              <a:rPr lang="en-US" sz="2400" b="1" i="0" u="none" strike="noStrike" cap="none">
                <a:solidFill>
                  <a:srgbClr val="E5E5E4"/>
                </a:solidFill>
                <a:latin typeface="Garamond"/>
                <a:ea typeface="Garamond"/>
                <a:cs typeface="Garamond"/>
                <a:sym typeface="Garamond"/>
              </a:rPr>
              <a:t>TALENT </a:t>
            </a:r>
            <a:endParaRPr sz="1400" b="0" i="0" u="none" strike="noStrike" cap="none">
              <a:solidFill>
                <a:srgbClr val="000000"/>
              </a:solidFill>
              <a:latin typeface="Arial"/>
              <a:ea typeface="Arial"/>
              <a:cs typeface="Arial"/>
              <a:sym typeface="Arial"/>
            </a:endParaRPr>
          </a:p>
          <a:p>
            <a:pPr marL="0" marR="0" lvl="0" indent="0" algn="just" rtl="0">
              <a:lnSpc>
                <a:spcPct val="111000"/>
              </a:lnSpc>
              <a:spcBef>
                <a:spcPts val="0"/>
              </a:spcBef>
              <a:spcAft>
                <a:spcPts val="0"/>
              </a:spcAft>
              <a:buClr>
                <a:srgbClr val="000000"/>
              </a:buClr>
              <a:buSzPts val="2400"/>
              <a:buFont typeface="Arial"/>
              <a:buNone/>
            </a:pPr>
            <a:r>
              <a:rPr lang="en-US" sz="2400" b="1" i="0" u="none" strike="noStrike" cap="none">
                <a:solidFill>
                  <a:srgbClr val="E5E5E4"/>
                </a:solidFill>
                <a:latin typeface="Garamond"/>
                <a:ea typeface="Garamond"/>
                <a:cs typeface="Garamond"/>
                <a:sym typeface="Garamond"/>
              </a:rPr>
              <a:t>DISCOVERY</a:t>
            </a:r>
            <a:endParaRPr sz="1400" b="0" i="0" u="none" strike="noStrike" cap="none">
              <a:solidFill>
                <a:srgbClr val="000000"/>
              </a:solidFill>
              <a:latin typeface="Arial"/>
              <a:ea typeface="Arial"/>
              <a:cs typeface="Arial"/>
              <a:sym typeface="Arial"/>
            </a:endParaRPr>
          </a:p>
        </p:txBody>
      </p:sp>
      <p:sp>
        <p:nvSpPr>
          <p:cNvPr id="171" name="Google Shape;171;g35bee174b82_0_396"/>
          <p:cNvSpPr txBox="1"/>
          <p:nvPr/>
        </p:nvSpPr>
        <p:spPr>
          <a:xfrm>
            <a:off x="14763121" y="4484324"/>
            <a:ext cx="2178000" cy="779400"/>
          </a:xfrm>
          <a:prstGeom prst="rect">
            <a:avLst/>
          </a:prstGeom>
          <a:noFill/>
          <a:ln>
            <a:noFill/>
          </a:ln>
        </p:spPr>
        <p:txBody>
          <a:bodyPr spcFirstLastPara="1" wrap="square" lIns="0" tIns="0" rIns="0" bIns="0" anchor="t" anchorCtr="0">
            <a:spAutoFit/>
          </a:bodyPr>
          <a:lstStyle/>
          <a:p>
            <a:pPr marL="0" marR="0" lvl="0" indent="0" algn="just" rtl="0">
              <a:lnSpc>
                <a:spcPct val="111000"/>
              </a:lnSpc>
              <a:spcBef>
                <a:spcPts val="0"/>
              </a:spcBef>
              <a:spcAft>
                <a:spcPts val="0"/>
              </a:spcAft>
              <a:buClr>
                <a:srgbClr val="000000"/>
              </a:buClr>
              <a:buSzPts val="2400"/>
              <a:buFont typeface="Arial"/>
              <a:buNone/>
            </a:pPr>
            <a:r>
              <a:rPr lang="en-US" sz="2400" b="1" i="0" u="none" strike="noStrike" cap="none">
                <a:solidFill>
                  <a:srgbClr val="E5E5E4"/>
                </a:solidFill>
                <a:latin typeface="Garamond"/>
                <a:ea typeface="Garamond"/>
                <a:cs typeface="Garamond"/>
                <a:sym typeface="Garamond"/>
              </a:rPr>
              <a:t>TRANSITION </a:t>
            </a:r>
            <a:endParaRPr sz="1400" b="0" i="0" u="none" strike="noStrike" cap="none">
              <a:solidFill>
                <a:srgbClr val="000000"/>
              </a:solidFill>
              <a:latin typeface="Arial"/>
              <a:ea typeface="Arial"/>
              <a:cs typeface="Arial"/>
              <a:sym typeface="Arial"/>
            </a:endParaRPr>
          </a:p>
          <a:p>
            <a:pPr marL="0" marR="0" lvl="0" indent="0" algn="just" rtl="0">
              <a:lnSpc>
                <a:spcPct val="111000"/>
              </a:lnSpc>
              <a:spcBef>
                <a:spcPts val="0"/>
              </a:spcBef>
              <a:spcAft>
                <a:spcPts val="0"/>
              </a:spcAft>
              <a:buClr>
                <a:srgbClr val="000000"/>
              </a:buClr>
              <a:buSzPts val="2400"/>
              <a:buFont typeface="Arial"/>
              <a:buNone/>
            </a:pPr>
            <a:r>
              <a:rPr lang="en-US" sz="2400" b="1" i="0" u="none" strike="noStrike" cap="none">
                <a:solidFill>
                  <a:srgbClr val="E5E5E4"/>
                </a:solidFill>
                <a:latin typeface="Garamond"/>
                <a:ea typeface="Garamond"/>
                <a:cs typeface="Garamond"/>
                <a:sym typeface="Garamond"/>
              </a:rPr>
              <a:t>OFFER</a:t>
            </a:r>
            <a:endParaRPr sz="1400" b="0" i="0" u="none" strike="noStrike" cap="none">
              <a:solidFill>
                <a:srgbClr val="000000"/>
              </a:solidFill>
              <a:latin typeface="Arial"/>
              <a:ea typeface="Arial"/>
              <a:cs typeface="Arial"/>
              <a:sym typeface="Arial"/>
            </a:endParaRPr>
          </a:p>
        </p:txBody>
      </p:sp>
      <p:sp>
        <p:nvSpPr>
          <p:cNvPr id="172" name="Google Shape;172;g35bee174b82_0_396"/>
          <p:cNvSpPr/>
          <p:nvPr/>
        </p:nvSpPr>
        <p:spPr>
          <a:xfrm>
            <a:off x="14058271" y="3825001"/>
            <a:ext cx="61200" cy="5433300"/>
          </a:xfrm>
          <a:prstGeom prst="rect">
            <a:avLst/>
          </a:prstGeom>
          <a:solidFill>
            <a:srgbClr val="FFFFFF">
              <a:alpha val="4313"/>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 name="Google Shape;173;g35bee174b82_0_396"/>
          <p:cNvSpPr/>
          <p:nvPr/>
        </p:nvSpPr>
        <p:spPr>
          <a:xfrm>
            <a:off x="10505651" y="3825001"/>
            <a:ext cx="61200" cy="5433300"/>
          </a:xfrm>
          <a:prstGeom prst="rect">
            <a:avLst/>
          </a:prstGeom>
          <a:solidFill>
            <a:srgbClr val="FFFFFF">
              <a:alpha val="4313"/>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 name="Google Shape;174;g35bee174b82_0_396"/>
          <p:cNvSpPr/>
          <p:nvPr/>
        </p:nvSpPr>
        <p:spPr>
          <a:xfrm>
            <a:off x="7254015" y="3825001"/>
            <a:ext cx="61200" cy="5433300"/>
          </a:xfrm>
          <a:prstGeom prst="rect">
            <a:avLst/>
          </a:prstGeom>
          <a:solidFill>
            <a:srgbClr val="FFFFFF">
              <a:alpha val="4313"/>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 name="Google Shape;175;g35bee174b82_0_396"/>
          <p:cNvSpPr/>
          <p:nvPr/>
        </p:nvSpPr>
        <p:spPr>
          <a:xfrm>
            <a:off x="3868428" y="3825001"/>
            <a:ext cx="61200" cy="5433300"/>
          </a:xfrm>
          <a:prstGeom prst="rect">
            <a:avLst/>
          </a:prstGeom>
          <a:solidFill>
            <a:srgbClr val="FFFFFF">
              <a:alpha val="4313"/>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 name="Google Shape;176;g35bee174b82_0_396"/>
          <p:cNvSpPr txBox="1"/>
          <p:nvPr/>
        </p:nvSpPr>
        <p:spPr>
          <a:xfrm>
            <a:off x="1188781" y="3720226"/>
            <a:ext cx="2155800" cy="59093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Clr>
                <a:srgbClr val="000000"/>
              </a:buClr>
              <a:buSzPts val="2400"/>
              <a:buFont typeface="Arial"/>
              <a:buNone/>
            </a:pPr>
            <a:r>
              <a:rPr lang="en-US" sz="2400" b="1" i="0" u="none" strike="noStrike" cap="none" dirty="0">
                <a:solidFill>
                  <a:srgbClr val="8CA8BA"/>
                </a:solidFill>
                <a:latin typeface="Garamond"/>
                <a:ea typeface="Garamond"/>
                <a:cs typeface="Garamond"/>
                <a:sym typeface="Garamond"/>
              </a:rPr>
              <a:t>DAY 1</a:t>
            </a:r>
            <a:endParaRPr sz="1400" b="0" i="0" u="none" strike="noStrike" cap="none" dirty="0">
              <a:solidFill>
                <a:srgbClr val="000000"/>
              </a:solidFill>
              <a:latin typeface="Arial"/>
              <a:ea typeface="Arial"/>
              <a:cs typeface="Arial"/>
              <a:sym typeface="Arial"/>
            </a:endParaRPr>
          </a:p>
        </p:txBody>
      </p:sp>
      <p:sp>
        <p:nvSpPr>
          <p:cNvPr id="177" name="Google Shape;177;g35bee174b82_0_396"/>
          <p:cNvSpPr txBox="1"/>
          <p:nvPr/>
        </p:nvSpPr>
        <p:spPr>
          <a:xfrm>
            <a:off x="10823079" y="3720226"/>
            <a:ext cx="2155800" cy="59093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Clr>
                <a:srgbClr val="000000"/>
              </a:buClr>
              <a:buSzPts val="2400"/>
              <a:buFont typeface="Arial"/>
              <a:buNone/>
            </a:pPr>
            <a:r>
              <a:rPr lang="en-US" sz="2400" b="1" i="0" u="none" strike="noStrike" cap="none" dirty="0">
                <a:solidFill>
                  <a:srgbClr val="8CA8BA"/>
                </a:solidFill>
                <a:latin typeface="Garamond"/>
                <a:ea typeface="Garamond"/>
                <a:cs typeface="Garamond"/>
                <a:sym typeface="Garamond"/>
              </a:rPr>
              <a:t>DAY 10 - 12</a:t>
            </a:r>
            <a:endParaRPr sz="1400" b="0" i="0" u="none" strike="noStrike" cap="none" dirty="0">
              <a:solidFill>
                <a:srgbClr val="000000"/>
              </a:solidFill>
              <a:latin typeface="Arial"/>
              <a:ea typeface="Arial"/>
              <a:cs typeface="Arial"/>
              <a:sym typeface="Arial"/>
            </a:endParaRPr>
          </a:p>
        </p:txBody>
      </p:sp>
      <p:sp>
        <p:nvSpPr>
          <p:cNvPr id="178" name="Google Shape;178;g35bee174b82_0_396"/>
          <p:cNvSpPr txBox="1"/>
          <p:nvPr/>
        </p:nvSpPr>
        <p:spPr>
          <a:xfrm>
            <a:off x="7571442" y="3720226"/>
            <a:ext cx="2155800" cy="59093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Clr>
                <a:srgbClr val="000000"/>
              </a:buClr>
              <a:buSzPts val="2400"/>
              <a:buFont typeface="Arial"/>
              <a:buNone/>
            </a:pPr>
            <a:r>
              <a:rPr lang="en-US" sz="2400" b="1" i="0" u="none" strike="noStrike" cap="none" dirty="0">
                <a:solidFill>
                  <a:srgbClr val="8CA8BA"/>
                </a:solidFill>
                <a:latin typeface="Garamond"/>
                <a:ea typeface="Garamond"/>
                <a:cs typeface="Garamond"/>
                <a:sym typeface="Garamond"/>
              </a:rPr>
              <a:t>DAY 7- 9</a:t>
            </a:r>
            <a:endParaRPr sz="1400" b="0" i="0" u="none" strike="noStrike" cap="none" dirty="0">
              <a:solidFill>
                <a:srgbClr val="000000"/>
              </a:solidFill>
              <a:latin typeface="Arial"/>
              <a:ea typeface="Arial"/>
              <a:cs typeface="Arial"/>
              <a:sym typeface="Arial"/>
            </a:endParaRPr>
          </a:p>
        </p:txBody>
      </p:sp>
      <p:sp>
        <p:nvSpPr>
          <p:cNvPr id="179" name="Google Shape;179;g35bee174b82_0_396"/>
          <p:cNvSpPr txBox="1"/>
          <p:nvPr/>
        </p:nvSpPr>
        <p:spPr>
          <a:xfrm>
            <a:off x="4185856" y="3720226"/>
            <a:ext cx="2155800" cy="59093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Clr>
                <a:srgbClr val="000000"/>
              </a:buClr>
              <a:buSzPts val="2400"/>
              <a:buFont typeface="Arial"/>
              <a:buNone/>
            </a:pPr>
            <a:r>
              <a:rPr lang="en-US" sz="2400" b="1" i="0" u="none" strike="noStrike" cap="none" dirty="0">
                <a:solidFill>
                  <a:srgbClr val="8CA8BA"/>
                </a:solidFill>
                <a:latin typeface="Garamond"/>
                <a:ea typeface="Garamond"/>
                <a:cs typeface="Garamond"/>
                <a:sym typeface="Garamond"/>
              </a:rPr>
              <a:t>DAY 2 - 7</a:t>
            </a:r>
            <a:endParaRPr sz="1400" b="0" i="0" u="none" strike="noStrike" cap="none" dirty="0">
              <a:solidFill>
                <a:srgbClr val="000000"/>
              </a:solidFill>
              <a:latin typeface="Arial"/>
              <a:ea typeface="Arial"/>
              <a:cs typeface="Arial"/>
              <a:sym typeface="Arial"/>
            </a:endParaRPr>
          </a:p>
        </p:txBody>
      </p:sp>
      <p:sp>
        <p:nvSpPr>
          <p:cNvPr id="181" name="Google Shape;181;g35bee174b82_0_396"/>
          <p:cNvSpPr txBox="1"/>
          <p:nvPr/>
        </p:nvSpPr>
        <p:spPr>
          <a:xfrm>
            <a:off x="1420600" y="580650"/>
            <a:ext cx="6536700" cy="970500"/>
          </a:xfrm>
          <a:prstGeom prst="rect">
            <a:avLst/>
          </a:prstGeom>
          <a:noFill/>
          <a:ln>
            <a:noFill/>
          </a:ln>
        </p:spPr>
        <p:txBody>
          <a:bodyPr spcFirstLastPara="1" wrap="square" lIns="0" tIns="0" rIns="0" bIns="0" anchor="t" anchorCtr="0">
            <a:spAutoFit/>
          </a:bodyPr>
          <a:lstStyle/>
          <a:p>
            <a:pPr marL="0" marR="0" lvl="0" indent="0" algn="l" rtl="0">
              <a:lnSpc>
                <a:spcPct val="97000"/>
              </a:lnSpc>
              <a:spcBef>
                <a:spcPts val="0"/>
              </a:spcBef>
              <a:spcAft>
                <a:spcPts val="0"/>
              </a:spcAft>
              <a:buClr>
                <a:srgbClr val="000000"/>
              </a:buClr>
              <a:buSzPts val="8501"/>
              <a:buFont typeface="Arial"/>
              <a:buNone/>
            </a:pPr>
            <a:r>
              <a:rPr lang="en-US" sz="6501" b="1" i="0" u="none" strike="noStrike" cap="none">
                <a:solidFill>
                  <a:srgbClr val="FFFFFF"/>
                </a:solidFill>
                <a:latin typeface="Avenir"/>
                <a:ea typeface="Avenir"/>
                <a:cs typeface="Avenir"/>
                <a:sym typeface="Avenir"/>
              </a:rPr>
              <a:t>Talent Search</a:t>
            </a:r>
            <a:endParaRPr sz="100" b="0" i="0" u="none" strike="noStrike" cap="none">
              <a:solidFill>
                <a:srgbClr val="000000"/>
              </a:solidFill>
              <a:latin typeface="Arial"/>
              <a:ea typeface="Arial"/>
              <a:cs typeface="Arial"/>
              <a:sym typeface="Arial"/>
            </a:endParaRPr>
          </a:p>
        </p:txBody>
      </p:sp>
      <p:sp>
        <p:nvSpPr>
          <p:cNvPr id="182" name="Google Shape;182;g35bee174b82_0_396"/>
          <p:cNvSpPr txBox="1"/>
          <p:nvPr/>
        </p:nvSpPr>
        <p:spPr>
          <a:xfrm>
            <a:off x="960178" y="1474945"/>
            <a:ext cx="6220200" cy="1042800"/>
          </a:xfrm>
          <a:prstGeom prst="rect">
            <a:avLst/>
          </a:prstGeom>
          <a:noFill/>
          <a:ln>
            <a:noFill/>
          </a:ln>
        </p:spPr>
        <p:txBody>
          <a:bodyPr spcFirstLastPara="1" wrap="square" lIns="0" tIns="0" rIns="0" bIns="0" anchor="t" anchorCtr="0">
            <a:spAutoFit/>
          </a:bodyPr>
          <a:lstStyle/>
          <a:p>
            <a:pPr marL="0" marR="0" lvl="0" indent="0" algn="ctr" rtl="0">
              <a:lnSpc>
                <a:spcPct val="97019"/>
              </a:lnSpc>
              <a:spcBef>
                <a:spcPts val="0"/>
              </a:spcBef>
              <a:spcAft>
                <a:spcPts val="0"/>
              </a:spcAft>
              <a:buClr>
                <a:srgbClr val="000000"/>
              </a:buClr>
              <a:buSzPts val="7783"/>
              <a:buFont typeface="Arial"/>
              <a:buNone/>
            </a:pPr>
            <a:r>
              <a:rPr lang="en-US" sz="6983" b="1" i="0" u="none" strike="noStrike" cap="none" dirty="0">
                <a:solidFill>
                  <a:srgbClr val="F8BF00"/>
                </a:solidFill>
                <a:latin typeface="Avenir"/>
                <a:ea typeface="Avenir"/>
                <a:cs typeface="Avenir"/>
                <a:sym typeface="Avenir"/>
              </a:rPr>
              <a:t>Methodology</a:t>
            </a:r>
            <a:endParaRPr sz="600" b="0" i="0" u="none" strike="noStrike" cap="none" dirty="0">
              <a:solidFill>
                <a:srgbClr val="000000"/>
              </a:solidFill>
              <a:latin typeface="Arial"/>
              <a:ea typeface="Arial"/>
              <a:cs typeface="Arial"/>
              <a:sym typeface="Arial"/>
            </a:endParaRPr>
          </a:p>
        </p:txBody>
      </p:sp>
      <p:sp>
        <p:nvSpPr>
          <p:cNvPr id="183" name="Google Shape;183;g35bee174b82_0_396"/>
          <p:cNvSpPr txBox="1"/>
          <p:nvPr/>
        </p:nvSpPr>
        <p:spPr>
          <a:xfrm>
            <a:off x="390700" y="355050"/>
            <a:ext cx="1029900" cy="1269300"/>
          </a:xfrm>
          <a:prstGeom prst="rect">
            <a:avLst/>
          </a:prstGeom>
          <a:noFill/>
          <a:ln>
            <a:noFill/>
          </a:ln>
        </p:spPr>
        <p:txBody>
          <a:bodyPr spcFirstLastPara="1" wrap="square" lIns="0" tIns="0" rIns="0" bIns="0" anchor="t" anchorCtr="0">
            <a:spAutoFit/>
          </a:bodyPr>
          <a:lstStyle/>
          <a:p>
            <a:pPr marL="0" marR="0" lvl="0" indent="0" algn="l" rtl="0">
              <a:lnSpc>
                <a:spcPct val="97000"/>
              </a:lnSpc>
              <a:spcBef>
                <a:spcPts val="0"/>
              </a:spcBef>
              <a:spcAft>
                <a:spcPts val="0"/>
              </a:spcAft>
              <a:buClr>
                <a:srgbClr val="000000"/>
              </a:buClr>
              <a:buSzPts val="8501"/>
              <a:buFont typeface="Arial"/>
              <a:buNone/>
            </a:pPr>
            <a:r>
              <a:rPr lang="en-US" sz="8501" b="1" dirty="0">
                <a:solidFill>
                  <a:srgbClr val="FFFFFF"/>
                </a:solidFill>
                <a:latin typeface="Avenir"/>
                <a:ea typeface="Avenir"/>
                <a:cs typeface="Avenir"/>
                <a:sym typeface="Avenir"/>
              </a:rPr>
              <a:t>2</a:t>
            </a:r>
            <a:r>
              <a:rPr lang="en-US" sz="8501" b="1" i="0" u="none" strike="noStrike" cap="none" dirty="0">
                <a:solidFill>
                  <a:srgbClr val="FFFFFF"/>
                </a:solidFill>
                <a:latin typeface="Avenir"/>
                <a:ea typeface="Avenir"/>
                <a:cs typeface="Avenir"/>
                <a:sym typeface="Avenir"/>
              </a:rPr>
              <a:t>.</a:t>
            </a:r>
            <a:endParaRPr sz="1400" b="0" i="0" u="none" strike="noStrike" cap="none" dirty="0">
              <a:solidFill>
                <a:srgbClr val="000000"/>
              </a:solidFill>
              <a:latin typeface="Arial"/>
              <a:ea typeface="Arial"/>
              <a:cs typeface="Arial"/>
              <a:sym typeface="Arial"/>
            </a:endParaRPr>
          </a:p>
        </p:txBody>
      </p:sp>
      <p:sp>
        <p:nvSpPr>
          <p:cNvPr id="2" name="Google Shape;139;g35bee174b82_0_99">
            <a:extLst>
              <a:ext uri="{FF2B5EF4-FFF2-40B4-BE49-F238E27FC236}">
                <a16:creationId xmlns:a16="http://schemas.microsoft.com/office/drawing/2014/main" id="{93BB93A4-2B8D-A006-9818-284555429432}"/>
              </a:ext>
            </a:extLst>
          </p:cNvPr>
          <p:cNvSpPr txBox="1"/>
          <p:nvPr/>
        </p:nvSpPr>
        <p:spPr>
          <a:xfrm>
            <a:off x="1188781" y="5505530"/>
            <a:ext cx="2460600" cy="387798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2000"/>
              <a:buFont typeface="Arial"/>
              <a:buNone/>
            </a:pPr>
            <a:r>
              <a:rPr lang="en-US" sz="2000" b="0" i="0" u="none" strike="noStrike" cap="none" dirty="0">
                <a:solidFill>
                  <a:srgbClr val="E5E5E4"/>
                </a:solidFill>
                <a:latin typeface="Avenir"/>
                <a:ea typeface="Avenir"/>
                <a:cs typeface="Avenir"/>
                <a:sym typeface="Avenir"/>
              </a:rPr>
              <a:t>A co-creation session with the client to identify both current and future challenges, aligned with the business context of the role, leveraging </a:t>
            </a:r>
            <a:r>
              <a:rPr lang="en-US" sz="2000" dirty="0">
                <a:solidFill>
                  <a:srgbClr val="E5E5E4"/>
                </a:solidFill>
                <a:latin typeface="Avenir"/>
                <a:sym typeface="Avenir"/>
              </a:rPr>
              <a:t>our </a:t>
            </a:r>
            <a:r>
              <a:rPr lang="en-US" sz="2000" dirty="0">
                <a:solidFill>
                  <a:srgbClr val="F8BF00"/>
                </a:solidFill>
                <a:latin typeface="Avenir"/>
                <a:sym typeface="Avenir"/>
              </a:rPr>
              <a:t>Job &amp; Profile Design </a:t>
            </a:r>
            <a:r>
              <a:rPr lang="en-US" sz="2000" b="0" i="0" u="none" strike="noStrike" cap="none" dirty="0">
                <a:solidFill>
                  <a:srgbClr val="E5E5E4"/>
                </a:solidFill>
                <a:latin typeface="Avenir"/>
                <a:ea typeface="Avenir"/>
                <a:cs typeface="Avenir"/>
                <a:sym typeface="Avenir"/>
              </a:rPr>
              <a:t>methodology.</a:t>
            </a:r>
          </a:p>
        </p:txBody>
      </p:sp>
      <p:sp>
        <p:nvSpPr>
          <p:cNvPr id="3" name="Google Shape;157;g35bee174b82_0_99">
            <a:extLst>
              <a:ext uri="{FF2B5EF4-FFF2-40B4-BE49-F238E27FC236}">
                <a16:creationId xmlns:a16="http://schemas.microsoft.com/office/drawing/2014/main" id="{03103E19-CFCB-3C60-E131-A133EBEF2BD9}"/>
              </a:ext>
            </a:extLst>
          </p:cNvPr>
          <p:cNvSpPr txBox="1"/>
          <p:nvPr/>
        </p:nvSpPr>
        <p:spPr>
          <a:xfrm>
            <a:off x="3996312" y="5505530"/>
            <a:ext cx="2575500" cy="1723549"/>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2000"/>
              <a:buFont typeface="Arial"/>
              <a:buNone/>
            </a:pPr>
            <a:r>
              <a:rPr lang="en-US" sz="2000" b="0" i="0" u="none" strike="noStrike" cap="none" dirty="0">
                <a:solidFill>
                  <a:srgbClr val="E5E5E4"/>
                </a:solidFill>
                <a:latin typeface="Avenir"/>
                <a:ea typeface="Avenir"/>
                <a:cs typeface="Avenir"/>
                <a:sym typeface="Avenir"/>
              </a:rPr>
              <a:t>Presentation of progress in the identification of professionals, along with key market insights. </a:t>
            </a:r>
            <a:endParaRPr sz="1400" b="0" i="0" u="none" strike="noStrike" cap="none" dirty="0">
              <a:solidFill>
                <a:srgbClr val="000000"/>
              </a:solidFill>
              <a:latin typeface="Arial"/>
              <a:ea typeface="Arial"/>
              <a:cs typeface="Arial"/>
              <a:sym typeface="Arial"/>
            </a:endParaRPr>
          </a:p>
        </p:txBody>
      </p:sp>
      <p:sp>
        <p:nvSpPr>
          <p:cNvPr id="4" name="Google Shape;142;g35bee174b82_0_99">
            <a:extLst>
              <a:ext uri="{FF2B5EF4-FFF2-40B4-BE49-F238E27FC236}">
                <a16:creationId xmlns:a16="http://schemas.microsoft.com/office/drawing/2014/main" id="{98365355-D05D-F6CA-119D-DFF7953DB03C}"/>
              </a:ext>
            </a:extLst>
          </p:cNvPr>
          <p:cNvSpPr txBox="1"/>
          <p:nvPr/>
        </p:nvSpPr>
        <p:spPr>
          <a:xfrm>
            <a:off x="14881480" y="5505530"/>
            <a:ext cx="2575500" cy="301621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2000"/>
              <a:buFont typeface="Arial"/>
              <a:buNone/>
            </a:pPr>
            <a:r>
              <a:rPr lang="en-US" sz="2000" b="0" i="0" u="none" strike="noStrike" cap="none" dirty="0">
                <a:solidFill>
                  <a:srgbClr val="E5E5E4"/>
                </a:solidFill>
                <a:latin typeface="Avenir"/>
                <a:ea typeface="Avenir"/>
                <a:cs typeface="Avenir"/>
                <a:sym typeface="Avenir"/>
              </a:rPr>
              <a:t>Advisory support during the offer and negotiation stage. </a:t>
            </a:r>
            <a:endParaRPr lang="en-US" sz="2000" dirty="0">
              <a:solidFill>
                <a:srgbClr val="E5E5E4"/>
              </a:solidFill>
              <a:latin typeface="Avenir"/>
              <a:ea typeface="Avenir"/>
              <a:cs typeface="Avenir"/>
              <a:sym typeface="Avenir"/>
            </a:endParaRPr>
          </a:p>
          <a:p>
            <a:pPr marL="0" marR="0" lvl="0" indent="0" algn="l" rtl="0">
              <a:lnSpc>
                <a:spcPct val="140000"/>
              </a:lnSpc>
              <a:spcBef>
                <a:spcPts val="0"/>
              </a:spcBef>
              <a:spcAft>
                <a:spcPts val="0"/>
              </a:spcAft>
              <a:buClr>
                <a:srgbClr val="000000"/>
              </a:buClr>
              <a:buSzPts val="2000"/>
              <a:buFont typeface="Arial"/>
              <a:buNone/>
            </a:pPr>
            <a:r>
              <a:rPr lang="en-US" sz="2000" dirty="0">
                <a:solidFill>
                  <a:srgbClr val="E5E5E4"/>
                </a:solidFill>
                <a:latin typeface="Avenir"/>
                <a:ea typeface="Avenir"/>
                <a:cs typeface="Avenir"/>
                <a:sym typeface="Avenir"/>
              </a:rPr>
              <a:t>P</a:t>
            </a:r>
            <a:r>
              <a:rPr lang="en-US" sz="2000" b="0" i="0" u="none" strike="noStrike" cap="none" dirty="0">
                <a:solidFill>
                  <a:srgbClr val="E5E5E4"/>
                </a:solidFill>
                <a:latin typeface="Avenir"/>
                <a:ea typeface="Avenir"/>
                <a:cs typeface="Avenir"/>
                <a:sym typeface="Avenir"/>
              </a:rPr>
              <a:t>ost-placement integration follow-up with the selected candidate.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54565B"/>
        </a:solidFill>
        <a:effectLst/>
      </p:bgPr>
    </p:bg>
    <p:spTree>
      <p:nvGrpSpPr>
        <p:cNvPr id="1" name="Shape 187"/>
        <p:cNvGrpSpPr/>
        <p:nvPr/>
      </p:nvGrpSpPr>
      <p:grpSpPr>
        <a:xfrm>
          <a:off x="0" y="0"/>
          <a:ext cx="0" cy="0"/>
          <a:chOff x="0" y="0"/>
          <a:chExt cx="0" cy="0"/>
        </a:xfrm>
      </p:grpSpPr>
      <p:sp>
        <p:nvSpPr>
          <p:cNvPr id="188" name="Google Shape;188;g35714f9f95a_1_0"/>
          <p:cNvSpPr/>
          <p:nvPr/>
        </p:nvSpPr>
        <p:spPr>
          <a:xfrm>
            <a:off x="2" y="10600"/>
            <a:ext cx="6115822" cy="10282809"/>
          </a:xfrm>
          <a:custGeom>
            <a:avLst/>
            <a:gdLst/>
            <a:ahLst/>
            <a:cxnLst/>
            <a:rect l="l" t="t" r="r" b="b"/>
            <a:pathLst>
              <a:path w="4132312" h="3479800" extrusionOk="0">
                <a:moveTo>
                  <a:pt x="0" y="0"/>
                </a:moveTo>
                <a:lnTo>
                  <a:pt x="4132312" y="0"/>
                </a:lnTo>
                <a:lnTo>
                  <a:pt x="4132312" y="3479800"/>
                </a:lnTo>
                <a:lnTo>
                  <a:pt x="0" y="3479800"/>
                </a:lnTo>
                <a:close/>
              </a:path>
            </a:pathLst>
          </a:custGeom>
          <a:solidFill>
            <a:schemeClr val="lt1"/>
          </a:solidFill>
          <a:ln>
            <a:noFill/>
          </a:ln>
        </p:spPr>
      </p:sp>
      <p:sp>
        <p:nvSpPr>
          <p:cNvPr id="189" name="Google Shape;189;g35714f9f95a_1_0"/>
          <p:cNvSpPr/>
          <p:nvPr/>
        </p:nvSpPr>
        <p:spPr>
          <a:xfrm rot="5400000">
            <a:off x="-2078178" y="2095148"/>
            <a:ext cx="10270030" cy="6113674"/>
          </a:xfrm>
          <a:custGeom>
            <a:avLst/>
            <a:gdLst/>
            <a:ahLst/>
            <a:cxnLst/>
            <a:rect l="l" t="t" r="r" b="b"/>
            <a:pathLst>
              <a:path w="10270030" h="6113674" extrusionOk="0">
                <a:moveTo>
                  <a:pt x="0" y="0"/>
                </a:moveTo>
                <a:lnTo>
                  <a:pt x="10270030" y="0"/>
                </a:lnTo>
                <a:lnTo>
                  <a:pt x="10270030" y="6113674"/>
                </a:lnTo>
                <a:lnTo>
                  <a:pt x="0" y="6113674"/>
                </a:lnTo>
                <a:lnTo>
                  <a:pt x="0" y="0"/>
                </a:lnTo>
                <a:close/>
              </a:path>
            </a:pathLst>
          </a:custGeom>
          <a:blipFill rotWithShape="1">
            <a:blip r:embed="rId3">
              <a:alphaModFix amt="9000"/>
            </a:blip>
            <a:stretch>
              <a:fillRect l="-89196" r="-40419" b="-14634"/>
            </a:stretch>
          </a:blipFill>
          <a:ln>
            <a:noFill/>
          </a:ln>
        </p:spPr>
      </p:sp>
      <p:sp>
        <p:nvSpPr>
          <p:cNvPr id="190" name="Google Shape;190;g35714f9f95a_1_0"/>
          <p:cNvSpPr txBox="1"/>
          <p:nvPr/>
        </p:nvSpPr>
        <p:spPr>
          <a:xfrm>
            <a:off x="7013351" y="5745289"/>
            <a:ext cx="4414200" cy="341632"/>
          </a:xfrm>
          <a:prstGeom prst="rect">
            <a:avLst/>
          </a:prstGeom>
          <a:noFill/>
          <a:ln>
            <a:noFill/>
          </a:ln>
        </p:spPr>
        <p:txBody>
          <a:bodyPr spcFirstLastPara="1" wrap="square" lIns="0" tIns="0" rIns="0" bIns="0" anchor="t" anchorCtr="0">
            <a:spAutoFit/>
          </a:bodyPr>
          <a:lstStyle/>
          <a:p>
            <a:pPr marL="0" marR="0" lvl="0" indent="0" algn="just" rtl="0">
              <a:lnSpc>
                <a:spcPct val="111000"/>
              </a:lnSpc>
              <a:spcBef>
                <a:spcPts val="0"/>
              </a:spcBef>
              <a:spcAft>
                <a:spcPts val="0"/>
              </a:spcAft>
              <a:buClr>
                <a:srgbClr val="000000"/>
              </a:buClr>
              <a:buSzPts val="2000"/>
              <a:buFont typeface="Arial"/>
              <a:buNone/>
            </a:pPr>
            <a:r>
              <a:rPr lang="en-US" sz="2000" b="1" dirty="0">
                <a:solidFill>
                  <a:srgbClr val="E5E5E4"/>
                </a:solidFill>
                <a:latin typeface="Garamond"/>
                <a:ea typeface="Garamond"/>
                <a:cs typeface="Garamond"/>
                <a:sym typeface="Garamond"/>
              </a:rPr>
              <a:t>BASIS</a:t>
            </a:r>
            <a:r>
              <a:rPr lang="en-US" sz="2000" b="1" i="0" u="none" strike="noStrike" cap="none" dirty="0">
                <a:solidFill>
                  <a:srgbClr val="E5E5E4"/>
                </a:solidFill>
                <a:latin typeface="Garamond"/>
                <a:ea typeface="Garamond"/>
                <a:cs typeface="Garamond"/>
                <a:sym typeface="Garamond"/>
              </a:rPr>
              <a:t> </a:t>
            </a:r>
            <a:r>
              <a:rPr lang="en-US" sz="2000" b="1" dirty="0">
                <a:solidFill>
                  <a:srgbClr val="F8BF00"/>
                </a:solidFill>
                <a:latin typeface="Garamond"/>
                <a:ea typeface="Garamond"/>
                <a:cs typeface="Garamond"/>
                <a:sym typeface="Garamond"/>
              </a:rPr>
              <a:t>FOR CALCULATION:</a:t>
            </a:r>
            <a:endParaRPr sz="1400" b="0" i="0" u="none" strike="noStrike" cap="none" dirty="0">
              <a:solidFill>
                <a:srgbClr val="000000"/>
              </a:solidFill>
              <a:latin typeface="Arial"/>
              <a:ea typeface="Arial"/>
              <a:cs typeface="Arial"/>
              <a:sym typeface="Arial"/>
            </a:endParaRPr>
          </a:p>
        </p:txBody>
      </p:sp>
      <p:sp>
        <p:nvSpPr>
          <p:cNvPr id="191" name="Google Shape;191;g35714f9f95a_1_0"/>
          <p:cNvSpPr txBox="1"/>
          <p:nvPr/>
        </p:nvSpPr>
        <p:spPr>
          <a:xfrm>
            <a:off x="7013351" y="6170411"/>
            <a:ext cx="10898400" cy="224183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800"/>
              <a:buFont typeface="Arial"/>
              <a:buNone/>
            </a:pPr>
            <a:r>
              <a:rPr lang="en-US" sz="1800" dirty="0">
                <a:solidFill>
                  <a:srgbClr val="FFFFFF"/>
                </a:solidFill>
                <a:latin typeface="Avenir"/>
                <a:ea typeface="Avenir"/>
                <a:cs typeface="Avenir"/>
                <a:sym typeface="Avenir"/>
              </a:rPr>
              <a:t>The fee is calculated as</a:t>
            </a:r>
            <a:r>
              <a:rPr lang="en-US" sz="1800" b="0" i="0" u="none" strike="noStrike" cap="none" dirty="0">
                <a:solidFill>
                  <a:srgbClr val="FFFFFF"/>
                </a:solidFill>
                <a:latin typeface="Avenir"/>
                <a:ea typeface="Avenir"/>
                <a:cs typeface="Avenir"/>
                <a:sym typeface="Avenir"/>
              </a:rPr>
              <a:t>: </a:t>
            </a:r>
            <a:endParaRPr sz="1400" b="0" i="0" u="none" strike="noStrike" cap="none" dirty="0">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800"/>
              <a:buFont typeface="Arial"/>
              <a:buNone/>
            </a:pPr>
            <a:r>
              <a:rPr lang="en-US" sz="1800" b="0" i="0" u="none" strike="noStrike" cap="none" dirty="0">
                <a:solidFill>
                  <a:srgbClr val="FFFFFF"/>
                </a:solidFill>
                <a:latin typeface="Avenir"/>
                <a:ea typeface="Avenir"/>
                <a:cs typeface="Avenir"/>
                <a:sym typeface="Avenir"/>
              </a:rPr>
              <a:t>                                        </a:t>
            </a:r>
            <a:r>
              <a:rPr lang="en-US" sz="1800" b="1" i="0" u="none" strike="noStrike" cap="none" dirty="0">
                <a:solidFill>
                  <a:srgbClr val="8CA8BA"/>
                </a:solidFill>
                <a:latin typeface="Avenir"/>
                <a:ea typeface="Avenir"/>
                <a:cs typeface="Avenir"/>
                <a:sym typeface="Avenir"/>
              </a:rPr>
              <a:t>FEE x ANNUAL GROSS COMPENSATION*</a:t>
            </a:r>
            <a:endParaRPr sz="1400" b="0" i="0" u="none" strike="noStrike" cap="none" dirty="0">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800"/>
              <a:buFont typeface="Arial"/>
              <a:buNone/>
            </a:pPr>
            <a:r>
              <a:rPr lang="en-US" sz="1800" b="0" i="0" u="none" strike="noStrike" cap="none" dirty="0">
                <a:solidFill>
                  <a:srgbClr val="FFFFFF"/>
                </a:solidFill>
                <a:latin typeface="Avenir"/>
                <a:ea typeface="Avenir"/>
                <a:cs typeface="Avenir"/>
                <a:sym typeface="Avenir"/>
              </a:rPr>
              <a:t>*Annual gross compensation is calculated as:</a:t>
            </a:r>
            <a:endParaRPr sz="1400" b="0" i="0" u="none" strike="noStrike" cap="none" dirty="0">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600"/>
              <a:buFont typeface="Arial"/>
              <a:buNone/>
            </a:pPr>
            <a:r>
              <a:rPr lang="en-US" sz="1600" b="0" i="0" u="none" strike="noStrike" cap="none" dirty="0">
                <a:solidFill>
                  <a:srgbClr val="FFFFFF"/>
                </a:solidFill>
                <a:latin typeface="Avenir"/>
                <a:ea typeface="Avenir"/>
                <a:cs typeface="Avenir"/>
                <a:sym typeface="Avenir"/>
              </a:rPr>
              <a:t>GROSS MONTHLY SALARY x NUMBER OF PAYMENTS PER YEAR + TARGET VARIABLE COMPENSATION (including bonuses or other benefits)</a:t>
            </a:r>
            <a:endParaRPr sz="1400" b="0" i="0" u="none" strike="noStrike" cap="none" dirty="0">
              <a:solidFill>
                <a:srgbClr val="000000"/>
              </a:solidFill>
              <a:latin typeface="Arial"/>
              <a:ea typeface="Arial"/>
              <a:cs typeface="Arial"/>
              <a:sym typeface="Arial"/>
            </a:endParaRPr>
          </a:p>
          <a:p>
            <a:pPr marL="0" marR="0" lvl="0" indent="0" algn="l" rtl="0">
              <a:lnSpc>
                <a:spcPct val="157500"/>
              </a:lnSpc>
              <a:spcBef>
                <a:spcPts val="0"/>
              </a:spcBef>
              <a:spcAft>
                <a:spcPts val="0"/>
              </a:spcAft>
              <a:buClr>
                <a:srgbClr val="000000"/>
              </a:buClr>
              <a:buSzPts val="1600"/>
              <a:buFont typeface="Arial"/>
              <a:buNone/>
            </a:pPr>
            <a:endParaRPr sz="1600" b="0" i="0" u="none" strike="noStrike" cap="none" dirty="0">
              <a:solidFill>
                <a:srgbClr val="FFFFFF"/>
              </a:solidFill>
              <a:latin typeface="Avenir"/>
              <a:ea typeface="Avenir"/>
              <a:cs typeface="Avenir"/>
              <a:sym typeface="Avenir"/>
            </a:endParaRPr>
          </a:p>
        </p:txBody>
      </p:sp>
      <p:sp>
        <p:nvSpPr>
          <p:cNvPr id="192" name="Google Shape;192;g35714f9f95a_1_0"/>
          <p:cNvSpPr txBox="1"/>
          <p:nvPr/>
        </p:nvSpPr>
        <p:spPr>
          <a:xfrm>
            <a:off x="6941876" y="2011750"/>
            <a:ext cx="4287000" cy="584134"/>
          </a:xfrm>
          <a:prstGeom prst="rect">
            <a:avLst/>
          </a:prstGeom>
          <a:noFill/>
          <a:ln>
            <a:noFill/>
          </a:ln>
        </p:spPr>
        <p:txBody>
          <a:bodyPr spcFirstLastPara="1" wrap="square" lIns="0" tIns="0" rIns="0" bIns="0" anchor="t" anchorCtr="0">
            <a:spAutoFit/>
          </a:bodyPr>
          <a:lstStyle/>
          <a:p>
            <a:pPr marL="0" marR="0" lvl="0" indent="0" algn="l" rtl="0">
              <a:lnSpc>
                <a:spcPct val="110995"/>
              </a:lnSpc>
              <a:spcBef>
                <a:spcPts val="0"/>
              </a:spcBef>
              <a:spcAft>
                <a:spcPts val="0"/>
              </a:spcAft>
              <a:buClr>
                <a:srgbClr val="000000"/>
              </a:buClr>
              <a:buSzPts val="2110"/>
              <a:buFont typeface="Arial"/>
              <a:buNone/>
            </a:pPr>
            <a:r>
              <a:rPr lang="en-US" sz="1710" b="1" i="0" u="none" strike="noStrike" cap="none" dirty="0">
                <a:solidFill>
                  <a:srgbClr val="E5E5E4"/>
                </a:solidFill>
                <a:latin typeface="Garamond"/>
                <a:ea typeface="Garamond"/>
                <a:cs typeface="Garamond"/>
                <a:sym typeface="Garamond"/>
              </a:rPr>
              <a:t>APPLIES TO POSITIONS WITH A GROSS MONTHLY SALARY </a:t>
            </a:r>
            <a:endParaRPr sz="1000" b="0" i="0" u="none" strike="noStrike" cap="none" dirty="0">
              <a:solidFill>
                <a:srgbClr val="000000"/>
              </a:solidFill>
              <a:latin typeface="Arial"/>
              <a:ea typeface="Arial"/>
              <a:cs typeface="Arial"/>
              <a:sym typeface="Arial"/>
            </a:endParaRPr>
          </a:p>
        </p:txBody>
      </p:sp>
      <p:sp>
        <p:nvSpPr>
          <p:cNvPr id="193" name="Google Shape;193;g35714f9f95a_1_0"/>
          <p:cNvSpPr txBox="1"/>
          <p:nvPr/>
        </p:nvSpPr>
        <p:spPr>
          <a:xfrm>
            <a:off x="8737793" y="2840619"/>
            <a:ext cx="2689758" cy="360420"/>
          </a:xfrm>
          <a:prstGeom prst="rect">
            <a:avLst/>
          </a:prstGeom>
          <a:noFill/>
          <a:ln>
            <a:noFill/>
          </a:ln>
        </p:spPr>
        <p:txBody>
          <a:bodyPr spcFirstLastPara="1" wrap="square" lIns="0" tIns="0" rIns="0" bIns="0" anchor="t" anchorCtr="0">
            <a:spAutoFit/>
          </a:bodyPr>
          <a:lstStyle/>
          <a:p>
            <a:pPr marL="0" marR="0" lvl="0" indent="0" algn="l" rtl="0">
              <a:lnSpc>
                <a:spcPct val="110995"/>
              </a:lnSpc>
              <a:spcBef>
                <a:spcPts val="0"/>
              </a:spcBef>
              <a:spcAft>
                <a:spcPts val="0"/>
              </a:spcAft>
              <a:buClr>
                <a:srgbClr val="000000"/>
              </a:buClr>
              <a:buSzPts val="2110"/>
              <a:buFont typeface="Arial"/>
              <a:buNone/>
            </a:pPr>
            <a:r>
              <a:rPr lang="en-US" sz="2110" b="1" dirty="0">
                <a:solidFill>
                  <a:srgbClr val="F8BF00"/>
                </a:solidFill>
                <a:latin typeface="Garamond"/>
                <a:ea typeface="Garamond"/>
                <a:cs typeface="Garamond"/>
                <a:sym typeface="Garamond"/>
              </a:rPr>
              <a:t>STARTING FROM</a:t>
            </a:r>
            <a:r>
              <a:rPr lang="en-US" sz="2110" b="1" i="0" u="none" strike="noStrike" cap="none" dirty="0">
                <a:solidFill>
                  <a:srgbClr val="F8BF00"/>
                </a:solidFill>
                <a:latin typeface="Garamond"/>
                <a:ea typeface="Garamond"/>
                <a:cs typeface="Garamond"/>
                <a:sym typeface="Garamond"/>
              </a:rPr>
              <a:t>:</a:t>
            </a:r>
            <a:endParaRPr sz="1400" b="0" i="0" u="none" strike="noStrike" cap="none" dirty="0">
              <a:solidFill>
                <a:srgbClr val="000000"/>
              </a:solidFill>
              <a:latin typeface="Arial"/>
              <a:ea typeface="Arial"/>
              <a:cs typeface="Arial"/>
              <a:sym typeface="Arial"/>
            </a:endParaRPr>
          </a:p>
        </p:txBody>
      </p:sp>
      <p:sp>
        <p:nvSpPr>
          <p:cNvPr id="194" name="Google Shape;194;g35714f9f95a_1_0"/>
          <p:cNvSpPr txBox="1"/>
          <p:nvPr/>
        </p:nvSpPr>
        <p:spPr>
          <a:xfrm>
            <a:off x="6941868" y="1087925"/>
            <a:ext cx="2686200" cy="531364"/>
          </a:xfrm>
          <a:prstGeom prst="rect">
            <a:avLst/>
          </a:prstGeom>
          <a:noFill/>
          <a:ln>
            <a:noFill/>
          </a:ln>
        </p:spPr>
        <p:txBody>
          <a:bodyPr spcFirstLastPara="1" wrap="square" lIns="0" tIns="0" rIns="0" bIns="0" anchor="t" anchorCtr="0">
            <a:spAutoFit/>
          </a:bodyPr>
          <a:lstStyle/>
          <a:p>
            <a:pPr marL="0" marR="0" lvl="0" indent="0" algn="l" rtl="0">
              <a:lnSpc>
                <a:spcPct val="110994"/>
              </a:lnSpc>
              <a:spcBef>
                <a:spcPts val="0"/>
              </a:spcBef>
              <a:spcAft>
                <a:spcPts val="0"/>
              </a:spcAft>
              <a:buClr>
                <a:srgbClr val="000000"/>
              </a:buClr>
              <a:buSzPts val="3511"/>
              <a:buFont typeface="Arial"/>
              <a:buNone/>
            </a:pPr>
            <a:r>
              <a:rPr lang="en-US" sz="3111" b="1" i="0" u="none" strike="noStrike" cap="none" dirty="0">
                <a:solidFill>
                  <a:srgbClr val="F8BF00"/>
                </a:solidFill>
                <a:latin typeface="Garamond"/>
                <a:ea typeface="Garamond"/>
                <a:cs typeface="Garamond"/>
                <a:sym typeface="Garamond"/>
              </a:rPr>
              <a:t>19% FEE</a:t>
            </a:r>
            <a:endParaRPr sz="1000" b="0" i="0" u="none" strike="noStrike" cap="none" dirty="0">
              <a:solidFill>
                <a:srgbClr val="F8BF00"/>
              </a:solidFill>
              <a:latin typeface="Arial"/>
              <a:ea typeface="Arial"/>
              <a:cs typeface="Arial"/>
              <a:sym typeface="Arial"/>
            </a:endParaRPr>
          </a:p>
        </p:txBody>
      </p:sp>
      <p:sp>
        <p:nvSpPr>
          <p:cNvPr id="195" name="Google Shape;195;g35714f9f95a_1_0"/>
          <p:cNvSpPr/>
          <p:nvPr/>
        </p:nvSpPr>
        <p:spPr>
          <a:xfrm>
            <a:off x="5611880" y="5735764"/>
            <a:ext cx="920318" cy="374548"/>
          </a:xfrm>
          <a:custGeom>
            <a:avLst/>
            <a:gdLst/>
            <a:ahLst/>
            <a:cxnLst/>
            <a:rect l="l" t="t" r="r" b="b"/>
            <a:pathLst>
              <a:path w="920318" h="374548" extrusionOk="0">
                <a:moveTo>
                  <a:pt x="0" y="0"/>
                </a:moveTo>
                <a:lnTo>
                  <a:pt x="920319" y="0"/>
                </a:lnTo>
                <a:lnTo>
                  <a:pt x="920319" y="374548"/>
                </a:lnTo>
                <a:lnTo>
                  <a:pt x="0" y="374548"/>
                </a:lnTo>
                <a:lnTo>
                  <a:pt x="0" y="0"/>
                </a:lnTo>
                <a:close/>
              </a:path>
            </a:pathLst>
          </a:custGeom>
          <a:blipFill rotWithShape="1">
            <a:blip r:embed="rId4">
              <a:alphaModFix/>
            </a:blip>
            <a:stretch>
              <a:fillRect/>
            </a:stretch>
          </a:blipFill>
          <a:ln>
            <a:noFill/>
          </a:ln>
        </p:spPr>
      </p:sp>
      <p:sp>
        <p:nvSpPr>
          <p:cNvPr id="196" name="Google Shape;196;g35714f9f95a_1_0"/>
          <p:cNvSpPr/>
          <p:nvPr/>
        </p:nvSpPr>
        <p:spPr>
          <a:xfrm>
            <a:off x="1586511" y="8884567"/>
            <a:ext cx="3046827" cy="747466"/>
          </a:xfrm>
          <a:custGeom>
            <a:avLst/>
            <a:gdLst/>
            <a:ahLst/>
            <a:cxnLst/>
            <a:rect l="l" t="t" r="r" b="b"/>
            <a:pathLst>
              <a:path w="3046827" h="747466" extrusionOk="0">
                <a:moveTo>
                  <a:pt x="0" y="0"/>
                </a:moveTo>
                <a:lnTo>
                  <a:pt x="3046827" y="0"/>
                </a:lnTo>
                <a:lnTo>
                  <a:pt x="3046827" y="747466"/>
                </a:lnTo>
                <a:lnTo>
                  <a:pt x="0" y="747466"/>
                </a:lnTo>
                <a:lnTo>
                  <a:pt x="0" y="0"/>
                </a:lnTo>
                <a:close/>
              </a:path>
            </a:pathLst>
          </a:custGeom>
          <a:blipFill rotWithShape="1">
            <a:blip r:embed="rId5">
              <a:alphaModFix/>
            </a:blip>
            <a:stretch>
              <a:fillRect l="-17748" t="-308896" r="-15528" b="-293844"/>
            </a:stretch>
          </a:blipFill>
          <a:ln>
            <a:noFill/>
          </a:ln>
        </p:spPr>
      </p:sp>
      <p:sp>
        <p:nvSpPr>
          <p:cNvPr id="197" name="Google Shape;197;g35714f9f95a_1_0"/>
          <p:cNvSpPr txBox="1"/>
          <p:nvPr/>
        </p:nvSpPr>
        <p:spPr>
          <a:xfrm>
            <a:off x="7013351" y="8558011"/>
            <a:ext cx="10491300" cy="1228028"/>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2000"/>
              <a:buFont typeface="Arial"/>
              <a:buNone/>
            </a:pPr>
            <a:r>
              <a:rPr lang="en-US" sz="2000" b="0" i="0" u="none" strike="noStrike" cap="none" dirty="0">
                <a:solidFill>
                  <a:srgbClr val="FFFFFF"/>
                </a:solidFill>
                <a:latin typeface="Avenir"/>
                <a:ea typeface="Avenir"/>
                <a:cs typeface="Avenir"/>
                <a:sym typeface="Avenir"/>
              </a:rPr>
              <a:t>Extraordinary clauses such as Hiring Bonus, Golden Parachute, or other uncommon and one-time benefits will not be included in the annual gross compensation used for fee calculation purposes.</a:t>
            </a:r>
            <a:endParaRPr sz="1400" b="0" i="0" u="none" strike="noStrike" cap="none" dirty="0">
              <a:solidFill>
                <a:srgbClr val="000000"/>
              </a:solidFill>
              <a:latin typeface="Arial"/>
              <a:ea typeface="Arial"/>
              <a:cs typeface="Arial"/>
              <a:sym typeface="Arial"/>
            </a:endParaRPr>
          </a:p>
          <a:p>
            <a:pPr marL="0" marR="0" lvl="0" indent="0" algn="l" rtl="0">
              <a:lnSpc>
                <a:spcPct val="119000"/>
              </a:lnSpc>
              <a:spcBef>
                <a:spcPts val="0"/>
              </a:spcBef>
              <a:spcAft>
                <a:spcPts val="0"/>
              </a:spcAft>
              <a:buClr>
                <a:srgbClr val="000000"/>
              </a:buClr>
              <a:buSzPts val="2000"/>
              <a:buFont typeface="Arial"/>
              <a:buNone/>
            </a:pPr>
            <a:endParaRPr sz="2000" b="0" i="0" u="none" strike="noStrike" cap="none" dirty="0">
              <a:solidFill>
                <a:srgbClr val="FFFFFF"/>
              </a:solidFill>
              <a:latin typeface="Avenir"/>
              <a:ea typeface="Avenir"/>
              <a:cs typeface="Avenir"/>
              <a:sym typeface="Avenir"/>
            </a:endParaRPr>
          </a:p>
        </p:txBody>
      </p:sp>
      <p:sp>
        <p:nvSpPr>
          <p:cNvPr id="198" name="Google Shape;198;g35714f9f95a_1_0"/>
          <p:cNvSpPr txBox="1"/>
          <p:nvPr/>
        </p:nvSpPr>
        <p:spPr>
          <a:xfrm>
            <a:off x="7061201" y="8148436"/>
            <a:ext cx="8693400" cy="341632"/>
          </a:xfrm>
          <a:prstGeom prst="rect">
            <a:avLst/>
          </a:prstGeom>
          <a:noFill/>
          <a:ln>
            <a:noFill/>
          </a:ln>
        </p:spPr>
        <p:txBody>
          <a:bodyPr spcFirstLastPara="1" wrap="square" lIns="0" tIns="0" rIns="0" bIns="0" anchor="t" anchorCtr="0">
            <a:spAutoFit/>
          </a:bodyPr>
          <a:lstStyle/>
          <a:p>
            <a:pPr marL="0" marR="0" lvl="0" indent="0" algn="just" rtl="0">
              <a:lnSpc>
                <a:spcPct val="111000"/>
              </a:lnSpc>
              <a:spcBef>
                <a:spcPts val="0"/>
              </a:spcBef>
              <a:spcAft>
                <a:spcPts val="0"/>
              </a:spcAft>
              <a:buClr>
                <a:srgbClr val="000000"/>
              </a:buClr>
              <a:buSzPts val="2000"/>
              <a:buFont typeface="Arial"/>
              <a:buNone/>
            </a:pPr>
            <a:r>
              <a:rPr lang="en-US" sz="2000" b="1" i="0" u="none" strike="noStrike" cap="none" dirty="0">
                <a:solidFill>
                  <a:srgbClr val="E5E5E4"/>
                </a:solidFill>
                <a:latin typeface="Garamond"/>
                <a:ea typeface="Garamond"/>
                <a:cs typeface="Garamond"/>
                <a:sym typeface="Garamond"/>
              </a:rPr>
              <a:t>BENEFITS</a:t>
            </a:r>
            <a:r>
              <a:rPr lang="en-US" sz="2000" b="1" i="0" u="none" strike="noStrike" cap="none" dirty="0">
                <a:solidFill>
                  <a:srgbClr val="F8BF00"/>
                </a:solidFill>
                <a:latin typeface="Garamond"/>
                <a:ea typeface="Garamond"/>
                <a:cs typeface="Garamond"/>
                <a:sym typeface="Garamond"/>
              </a:rPr>
              <a:t> NOT CONSIDERED </a:t>
            </a:r>
            <a:r>
              <a:rPr lang="en-US" sz="2000" b="1" dirty="0">
                <a:solidFill>
                  <a:srgbClr val="FFFFFF"/>
                </a:solidFill>
                <a:latin typeface="Garamond"/>
                <a:ea typeface="Garamond"/>
                <a:cs typeface="Garamond"/>
                <a:sym typeface="Garamond"/>
              </a:rPr>
              <a:t>FOR </a:t>
            </a:r>
            <a:r>
              <a:rPr lang="en-US" sz="2000" b="1" i="0" u="none" strike="noStrike" cap="none" dirty="0">
                <a:solidFill>
                  <a:srgbClr val="FFFFFF"/>
                </a:solidFill>
                <a:latin typeface="Garamond"/>
                <a:ea typeface="Garamond"/>
                <a:cs typeface="Garamond"/>
                <a:sym typeface="Garamond"/>
              </a:rPr>
              <a:t>CALCULATION</a:t>
            </a:r>
            <a:r>
              <a:rPr lang="en-US" sz="2000" b="1" i="0" u="none" strike="noStrike" cap="none" dirty="0">
                <a:solidFill>
                  <a:srgbClr val="F8BF00"/>
                </a:solidFill>
                <a:latin typeface="Garamond"/>
                <a:ea typeface="Garamond"/>
                <a:cs typeface="Garamond"/>
                <a:sym typeface="Garamond"/>
              </a:rPr>
              <a:t>:</a:t>
            </a:r>
            <a:endParaRPr sz="1400" b="0" i="0" u="none" strike="noStrike" cap="none" dirty="0">
              <a:solidFill>
                <a:srgbClr val="000000"/>
              </a:solidFill>
              <a:latin typeface="Arial"/>
              <a:ea typeface="Arial"/>
              <a:cs typeface="Arial"/>
              <a:sym typeface="Arial"/>
            </a:endParaRPr>
          </a:p>
        </p:txBody>
      </p:sp>
      <p:sp>
        <p:nvSpPr>
          <p:cNvPr id="199" name="Google Shape;199;g35714f9f95a_1_0"/>
          <p:cNvSpPr txBox="1"/>
          <p:nvPr/>
        </p:nvSpPr>
        <p:spPr>
          <a:xfrm>
            <a:off x="6930450" y="3286700"/>
            <a:ext cx="5276100" cy="2281394"/>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171"/>
              <a:buFont typeface="Arial"/>
              <a:buNone/>
            </a:pPr>
            <a:r>
              <a:rPr lang="en-US" sz="2171" b="0" i="0" u="none" strike="noStrike" cap="none" dirty="0">
                <a:solidFill>
                  <a:srgbClr val="FFFFFF"/>
                </a:solidFill>
                <a:latin typeface="Avenir"/>
                <a:ea typeface="Avenir"/>
                <a:cs typeface="Avenir"/>
                <a:sym typeface="Avenir"/>
              </a:rPr>
              <a:t>Argentina		</a:t>
            </a:r>
            <a:r>
              <a:rPr lang="en-US" sz="2171" b="0" i="0" u="none" strike="noStrike" cap="none" dirty="0">
                <a:solidFill>
                  <a:schemeClr val="lt1"/>
                </a:solidFill>
                <a:latin typeface="Avenir"/>
                <a:ea typeface="Avenir"/>
                <a:cs typeface="Avenir"/>
                <a:sym typeface="Avenir"/>
              </a:rPr>
              <a:t>AR$ 6.000.000</a:t>
            </a:r>
            <a:endParaRPr sz="2171" b="0" i="0" u="none" strike="noStrike" cap="none" dirty="0">
              <a:solidFill>
                <a:schemeClr val="lt1"/>
              </a:solidFill>
              <a:latin typeface="Avenir"/>
              <a:ea typeface="Avenir"/>
              <a:cs typeface="Avenir"/>
              <a:sym typeface="Avenir"/>
            </a:endParaRPr>
          </a:p>
          <a:p>
            <a:pPr marL="0" marR="0" lvl="0" indent="0" algn="l" rtl="0">
              <a:lnSpc>
                <a:spcPct val="150000"/>
              </a:lnSpc>
              <a:spcBef>
                <a:spcPts val="0"/>
              </a:spcBef>
              <a:spcAft>
                <a:spcPts val="0"/>
              </a:spcAft>
              <a:buClr>
                <a:srgbClr val="000000"/>
              </a:buClr>
              <a:buSzPts val="2171"/>
              <a:buFont typeface="Arial"/>
              <a:buNone/>
            </a:pPr>
            <a:r>
              <a:rPr lang="en-US" sz="2171" b="0" i="0" u="none" strike="noStrike" cap="none" dirty="0">
                <a:solidFill>
                  <a:srgbClr val="FFFFFF"/>
                </a:solidFill>
                <a:latin typeface="Avenir"/>
                <a:ea typeface="Avenir"/>
                <a:cs typeface="Avenir"/>
                <a:sym typeface="Avenir"/>
              </a:rPr>
              <a:t>Chile			</a:t>
            </a:r>
            <a:r>
              <a:rPr lang="en-US" sz="2171" b="0" i="0" u="none" strike="noStrike" cap="none" dirty="0">
                <a:solidFill>
                  <a:schemeClr val="lt1"/>
                </a:solidFill>
                <a:latin typeface="Avenir"/>
                <a:ea typeface="Avenir"/>
                <a:cs typeface="Avenir"/>
                <a:sym typeface="Avenir"/>
              </a:rPr>
              <a:t>CLP$ 5.000.00</a:t>
            </a:r>
            <a:endParaRPr sz="2171" b="0" i="0" u="none" strike="noStrike" cap="none" dirty="0">
              <a:solidFill>
                <a:schemeClr val="lt1"/>
              </a:solidFill>
              <a:latin typeface="Avenir"/>
              <a:ea typeface="Avenir"/>
              <a:cs typeface="Avenir"/>
              <a:sym typeface="Avenir"/>
            </a:endParaRPr>
          </a:p>
          <a:p>
            <a:pPr marL="0" marR="0" lvl="0" indent="0" algn="l" rtl="0">
              <a:lnSpc>
                <a:spcPct val="150000"/>
              </a:lnSpc>
              <a:spcBef>
                <a:spcPts val="0"/>
              </a:spcBef>
              <a:spcAft>
                <a:spcPts val="0"/>
              </a:spcAft>
              <a:buClr>
                <a:schemeClr val="dk1"/>
              </a:buClr>
              <a:buSzPts val="2171"/>
              <a:buFont typeface="Arial"/>
              <a:buNone/>
            </a:pPr>
            <a:r>
              <a:rPr lang="en-US" sz="2171" b="0" i="0" u="none" strike="noStrike" cap="none" dirty="0">
                <a:solidFill>
                  <a:schemeClr val="lt1"/>
                </a:solidFill>
                <a:latin typeface="Avenir"/>
                <a:ea typeface="Avenir"/>
                <a:cs typeface="Avenir"/>
                <a:sym typeface="Avenir"/>
              </a:rPr>
              <a:t>México			MXN$ 100.000</a:t>
            </a:r>
            <a:endParaRPr sz="1400" b="0" i="0" u="none" strike="noStrike" cap="none" dirty="0">
              <a:solidFill>
                <a:schemeClr val="dk1"/>
              </a:solidFill>
              <a:latin typeface="Arial"/>
              <a:ea typeface="Arial"/>
              <a:cs typeface="Arial"/>
              <a:sym typeface="Arial"/>
            </a:endParaRPr>
          </a:p>
          <a:p>
            <a:pPr marL="0" marR="0" lvl="0" indent="0" algn="l" rtl="0">
              <a:lnSpc>
                <a:spcPct val="150000"/>
              </a:lnSpc>
              <a:spcBef>
                <a:spcPts val="0"/>
              </a:spcBef>
              <a:spcAft>
                <a:spcPts val="0"/>
              </a:spcAft>
              <a:buClr>
                <a:schemeClr val="dk1"/>
              </a:buClr>
              <a:buSzPts val="2171"/>
              <a:buFont typeface="Arial"/>
              <a:buNone/>
            </a:pPr>
            <a:r>
              <a:rPr lang="en-US" sz="2171" b="0" i="0" u="none" strike="noStrike" cap="none" dirty="0">
                <a:solidFill>
                  <a:schemeClr val="lt1"/>
                </a:solidFill>
                <a:latin typeface="Avenir"/>
                <a:ea typeface="Avenir"/>
                <a:cs typeface="Avenir"/>
                <a:sym typeface="Avenir"/>
              </a:rPr>
              <a:t>Other countries: </a:t>
            </a:r>
            <a:r>
              <a:rPr lang="en-US" sz="2000" b="0" i="0" u="none" strike="noStrike" cap="none" dirty="0">
                <a:solidFill>
                  <a:schemeClr val="lt1"/>
                </a:solidFill>
                <a:latin typeface="Avenir"/>
                <a:ea typeface="Avenir"/>
                <a:cs typeface="Avenir"/>
                <a:sym typeface="Avenir"/>
              </a:rPr>
              <a:t>	</a:t>
            </a:r>
            <a:r>
              <a:rPr lang="en-US" sz="1200" b="0" i="0" u="none" strike="noStrike" cap="none" dirty="0">
                <a:solidFill>
                  <a:schemeClr val="lt1"/>
                </a:solidFill>
                <a:latin typeface="Avenir"/>
                <a:ea typeface="Avenir"/>
                <a:cs typeface="Avenir"/>
                <a:sym typeface="Avenir"/>
              </a:rPr>
              <a:t>Calculation will vary by country</a:t>
            </a:r>
            <a:r>
              <a:rPr lang="en-US" sz="1200" b="0" i="0" u="none" strike="noStrike" cap="none" dirty="0">
                <a:solidFill>
                  <a:srgbClr val="FFFFFF"/>
                </a:solidFill>
                <a:latin typeface="Avenir"/>
                <a:ea typeface="Avenir"/>
                <a:cs typeface="Avenir"/>
                <a:sym typeface="Avenir"/>
              </a:rPr>
              <a:t>	</a:t>
            </a:r>
            <a:endParaRPr sz="1200" b="0" i="0" u="none" strike="noStrike" cap="none" dirty="0">
              <a:solidFill>
                <a:srgbClr val="000000"/>
              </a:solidFill>
              <a:latin typeface="Arial"/>
              <a:ea typeface="Arial"/>
              <a:cs typeface="Arial"/>
              <a:sym typeface="Arial"/>
            </a:endParaRPr>
          </a:p>
        </p:txBody>
      </p:sp>
      <p:sp>
        <p:nvSpPr>
          <p:cNvPr id="200" name="Google Shape;200;g35714f9f95a_1_0"/>
          <p:cNvSpPr txBox="1"/>
          <p:nvPr/>
        </p:nvSpPr>
        <p:spPr>
          <a:xfrm>
            <a:off x="13454453" y="3286700"/>
            <a:ext cx="4725300" cy="200439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171"/>
              <a:buFont typeface="Arial"/>
              <a:buNone/>
            </a:pPr>
            <a:r>
              <a:rPr lang="en-US" sz="2171" b="0" i="0" u="none" strike="noStrike" cap="none" dirty="0">
                <a:solidFill>
                  <a:srgbClr val="FFFFFF"/>
                </a:solidFill>
                <a:latin typeface="Avenir"/>
                <a:ea typeface="Avenir"/>
                <a:cs typeface="Avenir"/>
                <a:sym typeface="Avenir"/>
              </a:rPr>
              <a:t>Argentina		</a:t>
            </a:r>
            <a:r>
              <a:rPr lang="en-US" sz="2171" b="0" i="0" u="none" strike="noStrike" cap="none" dirty="0">
                <a:solidFill>
                  <a:schemeClr val="lt1"/>
                </a:solidFill>
                <a:latin typeface="Avenir"/>
                <a:ea typeface="Avenir"/>
                <a:cs typeface="Avenir"/>
                <a:sym typeface="Avenir"/>
              </a:rPr>
              <a:t>AR$ 3.000.000</a:t>
            </a:r>
            <a:endParaRPr sz="2171" b="0" i="0" u="none" strike="noStrike" cap="none" dirty="0">
              <a:solidFill>
                <a:schemeClr val="lt1"/>
              </a:solidFill>
              <a:latin typeface="Avenir"/>
              <a:ea typeface="Avenir"/>
              <a:cs typeface="Avenir"/>
              <a:sym typeface="Avenir"/>
            </a:endParaRPr>
          </a:p>
          <a:p>
            <a:pPr marL="0" marR="0" lvl="0" indent="0" algn="l" rtl="0">
              <a:lnSpc>
                <a:spcPct val="150000"/>
              </a:lnSpc>
              <a:spcBef>
                <a:spcPts val="0"/>
              </a:spcBef>
              <a:spcAft>
                <a:spcPts val="0"/>
              </a:spcAft>
              <a:buClr>
                <a:srgbClr val="000000"/>
              </a:buClr>
              <a:buSzPts val="2171"/>
              <a:buFont typeface="Arial"/>
              <a:buNone/>
            </a:pPr>
            <a:r>
              <a:rPr lang="en-US" sz="2171" b="0" i="0" u="none" strike="noStrike" cap="none" dirty="0">
                <a:solidFill>
                  <a:srgbClr val="FFFFFF"/>
                </a:solidFill>
                <a:latin typeface="Avenir"/>
                <a:ea typeface="Avenir"/>
                <a:cs typeface="Avenir"/>
                <a:sym typeface="Avenir"/>
              </a:rPr>
              <a:t>Chile			</a:t>
            </a:r>
            <a:r>
              <a:rPr lang="en-US" sz="2171" b="0" i="0" u="none" strike="noStrike" cap="none" dirty="0">
                <a:solidFill>
                  <a:schemeClr val="lt1"/>
                </a:solidFill>
                <a:latin typeface="Avenir"/>
                <a:ea typeface="Avenir"/>
                <a:cs typeface="Avenir"/>
                <a:sym typeface="Avenir"/>
              </a:rPr>
              <a:t>CLP$ 2.000.00</a:t>
            </a:r>
            <a:endParaRPr sz="2171" b="0" i="0" u="none" strike="noStrike" cap="none" dirty="0">
              <a:solidFill>
                <a:schemeClr val="lt1"/>
              </a:solidFill>
              <a:latin typeface="Avenir"/>
              <a:ea typeface="Avenir"/>
              <a:cs typeface="Avenir"/>
              <a:sym typeface="Avenir"/>
            </a:endParaRPr>
          </a:p>
          <a:p>
            <a:pPr marL="0" marR="0" lvl="0" indent="0" algn="l" rtl="0">
              <a:lnSpc>
                <a:spcPct val="150000"/>
              </a:lnSpc>
              <a:spcBef>
                <a:spcPts val="0"/>
              </a:spcBef>
              <a:spcAft>
                <a:spcPts val="0"/>
              </a:spcAft>
              <a:buClr>
                <a:schemeClr val="dk1"/>
              </a:buClr>
              <a:buSzPts val="2171"/>
              <a:buFont typeface="Arial"/>
              <a:buNone/>
            </a:pPr>
            <a:r>
              <a:rPr lang="en-US" sz="2171" b="0" i="0" u="none" strike="noStrike" cap="none" dirty="0">
                <a:solidFill>
                  <a:schemeClr val="lt1"/>
                </a:solidFill>
                <a:latin typeface="Avenir"/>
                <a:ea typeface="Avenir"/>
                <a:cs typeface="Avenir"/>
                <a:sym typeface="Avenir"/>
              </a:rPr>
              <a:t>México			MXN$ 35.000</a:t>
            </a:r>
            <a:endParaRPr sz="1400" b="0" i="0" u="none" strike="noStrike" cap="none" dirty="0">
              <a:solidFill>
                <a:schemeClr val="dk1"/>
              </a:solidFill>
              <a:latin typeface="Arial"/>
              <a:ea typeface="Arial"/>
              <a:cs typeface="Arial"/>
              <a:sym typeface="Arial"/>
            </a:endParaRPr>
          </a:p>
          <a:p>
            <a:pPr marL="0" marR="0" lvl="0" indent="0" algn="l" rtl="0">
              <a:lnSpc>
                <a:spcPct val="150000"/>
              </a:lnSpc>
              <a:spcBef>
                <a:spcPts val="0"/>
              </a:spcBef>
              <a:spcAft>
                <a:spcPts val="0"/>
              </a:spcAft>
              <a:buClr>
                <a:schemeClr val="dk1"/>
              </a:buClr>
              <a:buSzPts val="2171"/>
              <a:buFont typeface="Arial"/>
              <a:buNone/>
            </a:pPr>
            <a:r>
              <a:rPr lang="en-US" sz="2171" b="0" i="0" u="none" strike="noStrike" cap="none" dirty="0">
                <a:solidFill>
                  <a:schemeClr val="lt1"/>
                </a:solidFill>
                <a:latin typeface="Avenir"/>
                <a:ea typeface="Avenir"/>
                <a:cs typeface="Avenir"/>
                <a:sym typeface="Avenir"/>
              </a:rPr>
              <a:t>Other countries		USD 2.000</a:t>
            </a:r>
            <a:endParaRPr sz="1400" b="0" i="0" u="none" strike="noStrike" cap="none" dirty="0">
              <a:solidFill>
                <a:srgbClr val="000000"/>
              </a:solidFill>
              <a:latin typeface="Arial"/>
              <a:ea typeface="Arial"/>
              <a:cs typeface="Arial"/>
              <a:sym typeface="Arial"/>
            </a:endParaRPr>
          </a:p>
        </p:txBody>
      </p:sp>
      <p:cxnSp>
        <p:nvCxnSpPr>
          <p:cNvPr id="201" name="Google Shape;201;g35714f9f95a_1_0"/>
          <p:cNvCxnSpPr/>
          <p:nvPr/>
        </p:nvCxnSpPr>
        <p:spPr>
          <a:xfrm flipH="1">
            <a:off x="12342410" y="1562925"/>
            <a:ext cx="24900" cy="3754500"/>
          </a:xfrm>
          <a:prstGeom prst="straightConnector1">
            <a:avLst/>
          </a:prstGeom>
          <a:noFill/>
          <a:ln w="9525" cap="flat" cmpd="sng">
            <a:solidFill>
              <a:srgbClr val="F8BF00"/>
            </a:solidFill>
            <a:prstDash val="solid"/>
            <a:round/>
            <a:headEnd type="none" w="sm" len="sm"/>
            <a:tailEnd type="none" w="sm" len="sm"/>
          </a:ln>
        </p:spPr>
      </p:cxnSp>
      <p:sp>
        <p:nvSpPr>
          <p:cNvPr id="202" name="Google Shape;202;g35714f9f95a_1_0"/>
          <p:cNvSpPr txBox="1"/>
          <p:nvPr/>
        </p:nvSpPr>
        <p:spPr>
          <a:xfrm>
            <a:off x="6898250" y="472488"/>
            <a:ext cx="4287000" cy="462900"/>
          </a:xfrm>
          <a:prstGeom prst="rect">
            <a:avLst/>
          </a:prstGeom>
          <a:noFill/>
          <a:ln>
            <a:noFill/>
          </a:ln>
        </p:spPr>
        <p:txBody>
          <a:bodyPr spcFirstLastPara="1" wrap="square" lIns="0" tIns="0" rIns="0" bIns="0" anchor="t" anchorCtr="0">
            <a:spAutoFit/>
          </a:bodyPr>
          <a:lstStyle/>
          <a:p>
            <a:pPr marL="0" marR="0" lvl="0" indent="0" algn="l" rtl="0">
              <a:lnSpc>
                <a:spcPct val="97019"/>
              </a:lnSpc>
              <a:spcBef>
                <a:spcPts val="0"/>
              </a:spcBef>
              <a:spcAft>
                <a:spcPts val="0"/>
              </a:spcAft>
              <a:buClr>
                <a:srgbClr val="000000"/>
              </a:buClr>
              <a:buSzPts val="3100"/>
              <a:buFont typeface="Arial"/>
              <a:buNone/>
            </a:pPr>
            <a:r>
              <a:rPr lang="en-US" sz="3100" b="1" i="0" u="none" strike="noStrike" cap="none">
                <a:solidFill>
                  <a:schemeClr val="lt1"/>
                </a:solidFill>
                <a:latin typeface="Garamond"/>
                <a:ea typeface="Garamond"/>
                <a:cs typeface="Garamond"/>
                <a:sym typeface="Garamond"/>
              </a:rPr>
              <a:t>EXECUTIVE SEARCH</a:t>
            </a:r>
            <a:endParaRPr sz="3100" b="1" i="0" u="none" strike="noStrike" cap="none">
              <a:solidFill>
                <a:schemeClr val="lt1"/>
              </a:solidFill>
              <a:latin typeface="Garamond"/>
              <a:ea typeface="Garamond"/>
              <a:cs typeface="Garamond"/>
              <a:sym typeface="Garamond"/>
            </a:endParaRPr>
          </a:p>
        </p:txBody>
      </p:sp>
      <p:sp>
        <p:nvSpPr>
          <p:cNvPr id="203" name="Google Shape;203;g35714f9f95a_1_0"/>
          <p:cNvSpPr txBox="1"/>
          <p:nvPr/>
        </p:nvSpPr>
        <p:spPr>
          <a:xfrm>
            <a:off x="13217650" y="472488"/>
            <a:ext cx="4287000" cy="462900"/>
          </a:xfrm>
          <a:prstGeom prst="rect">
            <a:avLst/>
          </a:prstGeom>
          <a:noFill/>
          <a:ln>
            <a:noFill/>
          </a:ln>
        </p:spPr>
        <p:txBody>
          <a:bodyPr spcFirstLastPara="1" wrap="square" lIns="0" tIns="0" rIns="0" bIns="0" anchor="t" anchorCtr="0">
            <a:spAutoFit/>
          </a:bodyPr>
          <a:lstStyle/>
          <a:p>
            <a:pPr marL="0" marR="0" lvl="0" indent="0" algn="r" rtl="0">
              <a:lnSpc>
                <a:spcPct val="97019"/>
              </a:lnSpc>
              <a:spcBef>
                <a:spcPts val="0"/>
              </a:spcBef>
              <a:spcAft>
                <a:spcPts val="0"/>
              </a:spcAft>
              <a:buClr>
                <a:srgbClr val="000000"/>
              </a:buClr>
              <a:buSzPts val="3100"/>
              <a:buFont typeface="Arial"/>
              <a:buNone/>
            </a:pPr>
            <a:r>
              <a:rPr lang="en-US" sz="3100" b="1" i="0" u="none" strike="noStrike" cap="none">
                <a:solidFill>
                  <a:schemeClr val="lt1"/>
                </a:solidFill>
                <a:latin typeface="Garamond"/>
                <a:ea typeface="Garamond"/>
                <a:cs typeface="Garamond"/>
                <a:sym typeface="Garamond"/>
              </a:rPr>
              <a:t>TALENT  SEARCH</a:t>
            </a:r>
            <a:endParaRPr sz="3100" b="1" i="0" u="none" strike="noStrike" cap="none">
              <a:solidFill>
                <a:schemeClr val="lt1"/>
              </a:solidFill>
              <a:latin typeface="Garamond"/>
              <a:ea typeface="Garamond"/>
              <a:cs typeface="Garamond"/>
              <a:sym typeface="Garamond"/>
            </a:endParaRPr>
          </a:p>
        </p:txBody>
      </p:sp>
      <p:sp>
        <p:nvSpPr>
          <p:cNvPr id="204" name="Google Shape;204;g35714f9f95a_1_0"/>
          <p:cNvSpPr txBox="1"/>
          <p:nvPr/>
        </p:nvSpPr>
        <p:spPr>
          <a:xfrm>
            <a:off x="6973850" y="1534775"/>
            <a:ext cx="5056178" cy="394723"/>
          </a:xfrm>
          <a:prstGeom prst="rect">
            <a:avLst/>
          </a:prstGeom>
          <a:noFill/>
          <a:ln>
            <a:noFill/>
          </a:ln>
        </p:spPr>
        <p:txBody>
          <a:bodyPr spcFirstLastPara="1" wrap="square" lIns="0" tIns="0" rIns="0" bIns="0" anchor="t" anchorCtr="0">
            <a:spAutoFit/>
          </a:bodyPr>
          <a:lstStyle/>
          <a:p>
            <a:pPr marL="0" marR="0" lvl="0" indent="0" algn="just" rtl="0">
              <a:lnSpc>
                <a:spcPct val="110994"/>
              </a:lnSpc>
              <a:spcBef>
                <a:spcPts val="0"/>
              </a:spcBef>
              <a:spcAft>
                <a:spcPts val="0"/>
              </a:spcAft>
              <a:buClr>
                <a:srgbClr val="000000"/>
              </a:buClr>
              <a:buSzPts val="3511"/>
              <a:buFont typeface="Arial"/>
              <a:buNone/>
            </a:pPr>
            <a:r>
              <a:rPr lang="en-US" sz="2311" b="1" dirty="0">
                <a:solidFill>
                  <a:srgbClr val="F8BF00"/>
                </a:solidFill>
                <a:latin typeface="Garamond"/>
                <a:ea typeface="Garamond"/>
                <a:cs typeface="Garamond"/>
                <a:sym typeface="Garamond"/>
              </a:rPr>
              <a:t>Based on annual gross compensation</a:t>
            </a:r>
            <a:r>
              <a:rPr lang="en-US" sz="2311" b="1" i="0" u="none" strike="noStrike" cap="none" dirty="0">
                <a:solidFill>
                  <a:srgbClr val="F8BF00"/>
                </a:solidFill>
                <a:latin typeface="Garamond"/>
                <a:ea typeface="Garamond"/>
                <a:cs typeface="Garamond"/>
                <a:sym typeface="Garamond"/>
              </a:rPr>
              <a:t> </a:t>
            </a:r>
            <a:endParaRPr sz="200" b="0" i="0" u="none" strike="noStrike" cap="none" dirty="0">
              <a:solidFill>
                <a:srgbClr val="F8BF00"/>
              </a:solidFill>
              <a:latin typeface="Arial"/>
              <a:ea typeface="Arial"/>
              <a:cs typeface="Arial"/>
              <a:sym typeface="Arial"/>
            </a:endParaRPr>
          </a:p>
        </p:txBody>
      </p:sp>
      <p:sp>
        <p:nvSpPr>
          <p:cNvPr id="205" name="Google Shape;205;g35714f9f95a_1_0"/>
          <p:cNvSpPr txBox="1"/>
          <p:nvPr/>
        </p:nvSpPr>
        <p:spPr>
          <a:xfrm>
            <a:off x="15270974" y="2840619"/>
            <a:ext cx="3116924" cy="360420"/>
          </a:xfrm>
          <a:prstGeom prst="rect">
            <a:avLst/>
          </a:prstGeom>
          <a:noFill/>
          <a:ln>
            <a:noFill/>
          </a:ln>
        </p:spPr>
        <p:txBody>
          <a:bodyPr spcFirstLastPara="1" wrap="square" lIns="0" tIns="0" rIns="0" bIns="0" anchor="t" anchorCtr="0">
            <a:spAutoFit/>
          </a:bodyPr>
          <a:lstStyle/>
          <a:p>
            <a:pPr marL="0" marR="0" lvl="0" indent="0" algn="l" rtl="0">
              <a:lnSpc>
                <a:spcPct val="110995"/>
              </a:lnSpc>
              <a:spcBef>
                <a:spcPts val="0"/>
              </a:spcBef>
              <a:spcAft>
                <a:spcPts val="0"/>
              </a:spcAft>
              <a:buClr>
                <a:srgbClr val="000000"/>
              </a:buClr>
              <a:buSzPts val="2110"/>
              <a:buFont typeface="Arial"/>
              <a:buNone/>
            </a:pPr>
            <a:r>
              <a:rPr lang="en-US" sz="2110" b="1" dirty="0">
                <a:solidFill>
                  <a:srgbClr val="F8BF00"/>
                </a:solidFill>
                <a:latin typeface="Garamond"/>
                <a:ea typeface="Garamond"/>
                <a:cs typeface="Garamond"/>
                <a:sym typeface="Garamond"/>
              </a:rPr>
              <a:t>STARTING FROM</a:t>
            </a:r>
            <a:r>
              <a:rPr lang="en-US" sz="2110" b="1" i="0" u="none" strike="noStrike" cap="none" dirty="0">
                <a:solidFill>
                  <a:srgbClr val="F8BF00"/>
                </a:solidFill>
                <a:latin typeface="Garamond"/>
                <a:ea typeface="Garamond"/>
                <a:cs typeface="Garamond"/>
                <a:sym typeface="Garamond"/>
              </a:rPr>
              <a:t>:</a:t>
            </a:r>
            <a:endParaRPr sz="1400" b="0" i="0" u="none" strike="noStrike" cap="none" dirty="0">
              <a:solidFill>
                <a:srgbClr val="000000"/>
              </a:solidFill>
              <a:latin typeface="Arial"/>
              <a:ea typeface="Arial"/>
              <a:cs typeface="Arial"/>
              <a:sym typeface="Arial"/>
            </a:endParaRPr>
          </a:p>
        </p:txBody>
      </p:sp>
      <p:sp>
        <p:nvSpPr>
          <p:cNvPr id="206" name="Google Shape;206;g35714f9f95a_1_0"/>
          <p:cNvSpPr txBox="1"/>
          <p:nvPr/>
        </p:nvSpPr>
        <p:spPr>
          <a:xfrm>
            <a:off x="13506051" y="1996075"/>
            <a:ext cx="4287000" cy="584134"/>
          </a:xfrm>
          <a:prstGeom prst="rect">
            <a:avLst/>
          </a:prstGeom>
          <a:noFill/>
          <a:ln>
            <a:noFill/>
          </a:ln>
        </p:spPr>
        <p:txBody>
          <a:bodyPr spcFirstLastPara="1" wrap="square" lIns="0" tIns="0" rIns="0" bIns="0" anchor="t" anchorCtr="0">
            <a:spAutoFit/>
          </a:bodyPr>
          <a:lstStyle/>
          <a:p>
            <a:pPr lvl="0">
              <a:lnSpc>
                <a:spcPct val="110995"/>
              </a:lnSpc>
              <a:buSzPts val="2110"/>
            </a:pPr>
            <a:r>
              <a:rPr lang="en-US" sz="1710" b="1" dirty="0">
                <a:solidFill>
                  <a:srgbClr val="E5E5E4"/>
                </a:solidFill>
                <a:latin typeface="Garamond"/>
                <a:ea typeface="Garamond"/>
                <a:cs typeface="Garamond"/>
                <a:sym typeface="Garamond"/>
              </a:rPr>
              <a:t>APPLIES TO POSITIONS WITH A GROSS MONTHLY SALARY </a:t>
            </a:r>
            <a:endParaRPr lang="en-US" sz="1000" dirty="0"/>
          </a:p>
        </p:txBody>
      </p:sp>
      <p:sp>
        <p:nvSpPr>
          <p:cNvPr id="207" name="Google Shape;207;g35714f9f95a_1_0"/>
          <p:cNvSpPr txBox="1"/>
          <p:nvPr/>
        </p:nvSpPr>
        <p:spPr>
          <a:xfrm>
            <a:off x="15106851" y="1072250"/>
            <a:ext cx="2686200" cy="531364"/>
          </a:xfrm>
          <a:prstGeom prst="rect">
            <a:avLst/>
          </a:prstGeom>
          <a:noFill/>
          <a:ln>
            <a:noFill/>
          </a:ln>
        </p:spPr>
        <p:txBody>
          <a:bodyPr spcFirstLastPara="1" wrap="square" lIns="0" tIns="0" rIns="0" bIns="0" anchor="t" anchorCtr="0">
            <a:spAutoFit/>
          </a:bodyPr>
          <a:lstStyle/>
          <a:p>
            <a:pPr marL="0" marR="0" lvl="0" indent="0" algn="r" rtl="0">
              <a:lnSpc>
                <a:spcPct val="110994"/>
              </a:lnSpc>
              <a:spcBef>
                <a:spcPts val="0"/>
              </a:spcBef>
              <a:spcAft>
                <a:spcPts val="0"/>
              </a:spcAft>
              <a:buClr>
                <a:srgbClr val="000000"/>
              </a:buClr>
              <a:buSzPts val="3511"/>
              <a:buFont typeface="Arial"/>
              <a:buNone/>
            </a:pPr>
            <a:r>
              <a:rPr lang="en-US" sz="3111" b="1" i="0" u="none" strike="noStrike" cap="none" dirty="0">
                <a:solidFill>
                  <a:srgbClr val="F8BF00"/>
                </a:solidFill>
                <a:latin typeface="Garamond"/>
                <a:ea typeface="Garamond"/>
                <a:cs typeface="Garamond"/>
                <a:sym typeface="Garamond"/>
              </a:rPr>
              <a:t>15% FEE</a:t>
            </a:r>
            <a:endParaRPr sz="1000" b="0" i="0" u="none" strike="noStrike" cap="none" dirty="0">
              <a:solidFill>
                <a:srgbClr val="F8BF00"/>
              </a:solidFill>
              <a:latin typeface="Arial"/>
              <a:ea typeface="Arial"/>
              <a:cs typeface="Arial"/>
              <a:sym typeface="Arial"/>
            </a:endParaRPr>
          </a:p>
        </p:txBody>
      </p:sp>
      <p:sp>
        <p:nvSpPr>
          <p:cNvPr id="208" name="Google Shape;208;g35714f9f95a_1_0"/>
          <p:cNvSpPr txBox="1"/>
          <p:nvPr/>
        </p:nvSpPr>
        <p:spPr>
          <a:xfrm>
            <a:off x="13067751" y="1519100"/>
            <a:ext cx="4725300" cy="394723"/>
          </a:xfrm>
          <a:prstGeom prst="rect">
            <a:avLst/>
          </a:prstGeom>
          <a:noFill/>
          <a:ln>
            <a:noFill/>
          </a:ln>
        </p:spPr>
        <p:txBody>
          <a:bodyPr spcFirstLastPara="1" wrap="square" lIns="0" tIns="0" rIns="0" bIns="0" anchor="t" anchorCtr="0">
            <a:spAutoFit/>
          </a:bodyPr>
          <a:lstStyle/>
          <a:p>
            <a:pPr lvl="0" algn="just">
              <a:lnSpc>
                <a:spcPct val="110994"/>
              </a:lnSpc>
              <a:buSzPts val="3511"/>
            </a:pPr>
            <a:r>
              <a:rPr lang="en-US" sz="2311" b="1" dirty="0">
                <a:solidFill>
                  <a:srgbClr val="F8BF00"/>
                </a:solidFill>
                <a:latin typeface="Garamond"/>
                <a:ea typeface="Garamond"/>
                <a:cs typeface="Garamond"/>
                <a:sym typeface="Garamond"/>
              </a:rPr>
              <a:t>Based on annual gross compensation </a:t>
            </a:r>
            <a:endParaRPr lang="en-US" sz="200" dirty="0">
              <a:solidFill>
                <a:srgbClr val="F8BF00"/>
              </a:solidFill>
            </a:endParaRPr>
          </a:p>
        </p:txBody>
      </p:sp>
      <p:sp>
        <p:nvSpPr>
          <p:cNvPr id="209" name="Google Shape;209;g35714f9f95a_1_0"/>
          <p:cNvSpPr txBox="1"/>
          <p:nvPr/>
        </p:nvSpPr>
        <p:spPr>
          <a:xfrm>
            <a:off x="982326" y="4581700"/>
            <a:ext cx="4135800" cy="1045158"/>
          </a:xfrm>
          <a:prstGeom prst="rect">
            <a:avLst/>
          </a:prstGeom>
          <a:noFill/>
          <a:ln>
            <a:noFill/>
          </a:ln>
        </p:spPr>
        <p:txBody>
          <a:bodyPr spcFirstLastPara="1" wrap="square" lIns="0" tIns="0" rIns="0" bIns="0" anchor="t" anchorCtr="0">
            <a:spAutoFit/>
          </a:bodyPr>
          <a:lstStyle/>
          <a:p>
            <a:pPr marL="0" marR="0" lvl="0" indent="0" algn="l" rtl="0">
              <a:lnSpc>
                <a:spcPct val="128006"/>
              </a:lnSpc>
              <a:spcBef>
                <a:spcPts val="0"/>
              </a:spcBef>
              <a:spcAft>
                <a:spcPts val="0"/>
              </a:spcAft>
              <a:buClr>
                <a:srgbClr val="000000"/>
              </a:buClr>
              <a:buSzPts val="5306"/>
              <a:buFont typeface="Arial"/>
              <a:buNone/>
            </a:pPr>
            <a:r>
              <a:rPr lang="en-US" sz="5306" b="1" i="0" u="none" strike="noStrike" cap="none" dirty="0">
                <a:solidFill>
                  <a:srgbClr val="F8BF00"/>
                </a:solidFill>
                <a:latin typeface="Garamond"/>
                <a:ea typeface="Garamond"/>
                <a:cs typeface="Garamond"/>
                <a:sym typeface="Garamond"/>
              </a:rPr>
              <a:t>FEE’S:</a:t>
            </a:r>
            <a:endParaRPr sz="1400" b="0" i="0" u="none" strike="noStrike" cap="none" dirty="0">
              <a:solidFill>
                <a:srgbClr val="000000"/>
              </a:solidFill>
              <a:latin typeface="Arial"/>
              <a:ea typeface="Arial"/>
              <a:cs typeface="Arial"/>
              <a:sym typeface="Arial"/>
            </a:endParaRPr>
          </a:p>
        </p:txBody>
      </p:sp>
      <p:sp>
        <p:nvSpPr>
          <p:cNvPr id="210" name="Google Shape;210;g35714f9f95a_1_0"/>
          <p:cNvSpPr txBox="1"/>
          <p:nvPr/>
        </p:nvSpPr>
        <p:spPr>
          <a:xfrm>
            <a:off x="945196" y="3600375"/>
            <a:ext cx="4981011" cy="1521955"/>
          </a:xfrm>
          <a:prstGeom prst="rect">
            <a:avLst/>
          </a:prstGeom>
          <a:noFill/>
          <a:ln>
            <a:noFill/>
          </a:ln>
        </p:spPr>
        <p:txBody>
          <a:bodyPr spcFirstLastPara="1" wrap="square" lIns="0" tIns="0" rIns="0" bIns="0" anchor="t" anchorCtr="0">
            <a:spAutoFit/>
          </a:bodyPr>
          <a:lstStyle/>
          <a:p>
            <a:pPr marL="0" marR="0" lvl="0" indent="0" algn="l" rtl="0">
              <a:lnSpc>
                <a:spcPct val="139991"/>
              </a:lnSpc>
              <a:spcBef>
                <a:spcPts val="0"/>
              </a:spcBef>
              <a:spcAft>
                <a:spcPts val="0"/>
              </a:spcAft>
              <a:buClr>
                <a:srgbClr val="000000"/>
              </a:buClr>
              <a:buSzPts val="7064"/>
              <a:buFont typeface="Arial"/>
              <a:buNone/>
            </a:pPr>
            <a:r>
              <a:rPr lang="en-US" sz="7064" b="1" i="0" u="none" strike="noStrike" cap="none" dirty="0">
                <a:solidFill>
                  <a:srgbClr val="54565B"/>
                </a:solidFill>
                <a:latin typeface="Garamond"/>
                <a:ea typeface="Arial"/>
                <a:cs typeface="Arial"/>
                <a:sym typeface="Garamond"/>
              </a:rPr>
              <a:t>OUR</a:t>
            </a:r>
            <a:endParaRPr sz="1400" b="0" i="0" u="none" strike="noStrike" cap="none" dirty="0">
              <a:solidFill>
                <a:srgbClr val="54565B"/>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14"/>
        <p:cNvGrpSpPr/>
        <p:nvPr/>
      </p:nvGrpSpPr>
      <p:grpSpPr>
        <a:xfrm>
          <a:off x="0" y="0"/>
          <a:ext cx="0" cy="0"/>
          <a:chOff x="0" y="0"/>
          <a:chExt cx="0" cy="0"/>
        </a:xfrm>
      </p:grpSpPr>
      <p:graphicFrame>
        <p:nvGraphicFramePr>
          <p:cNvPr id="215" name="Google Shape;215;g3553af37456_0_14"/>
          <p:cNvGraphicFramePr/>
          <p:nvPr>
            <p:extLst>
              <p:ext uri="{D42A27DB-BD31-4B8C-83A1-F6EECF244321}">
                <p14:modId xmlns:p14="http://schemas.microsoft.com/office/powerpoint/2010/main" val="334298431"/>
              </p:ext>
            </p:extLst>
          </p:nvPr>
        </p:nvGraphicFramePr>
        <p:xfrm>
          <a:off x="4081550" y="3511855"/>
          <a:ext cx="12329875" cy="5266475"/>
        </p:xfrm>
        <a:graphic>
          <a:graphicData uri="http://schemas.openxmlformats.org/drawingml/2006/table">
            <a:tbl>
              <a:tblPr>
                <a:noFill/>
                <a:tableStyleId>{3F1DBB7D-FFE4-4EED-91AF-8657EC78B79F}</a:tableStyleId>
              </a:tblPr>
              <a:tblGrid>
                <a:gridCol w="3537300">
                  <a:extLst>
                    <a:ext uri="{9D8B030D-6E8A-4147-A177-3AD203B41FA5}">
                      <a16:colId xmlns:a16="http://schemas.microsoft.com/office/drawing/2014/main" val="20000"/>
                    </a:ext>
                  </a:extLst>
                </a:gridCol>
                <a:gridCol w="1592975">
                  <a:extLst>
                    <a:ext uri="{9D8B030D-6E8A-4147-A177-3AD203B41FA5}">
                      <a16:colId xmlns:a16="http://schemas.microsoft.com/office/drawing/2014/main" val="20001"/>
                    </a:ext>
                  </a:extLst>
                </a:gridCol>
                <a:gridCol w="2131750">
                  <a:extLst>
                    <a:ext uri="{9D8B030D-6E8A-4147-A177-3AD203B41FA5}">
                      <a16:colId xmlns:a16="http://schemas.microsoft.com/office/drawing/2014/main" val="20002"/>
                    </a:ext>
                  </a:extLst>
                </a:gridCol>
                <a:gridCol w="3123475">
                  <a:extLst>
                    <a:ext uri="{9D8B030D-6E8A-4147-A177-3AD203B41FA5}">
                      <a16:colId xmlns:a16="http://schemas.microsoft.com/office/drawing/2014/main" val="20003"/>
                    </a:ext>
                  </a:extLst>
                </a:gridCol>
                <a:gridCol w="1944375">
                  <a:extLst>
                    <a:ext uri="{9D8B030D-6E8A-4147-A177-3AD203B41FA5}">
                      <a16:colId xmlns:a16="http://schemas.microsoft.com/office/drawing/2014/main" val="20004"/>
                    </a:ext>
                  </a:extLst>
                </a:gridCol>
              </a:tblGrid>
              <a:tr h="371825">
                <a:tc>
                  <a:txBody>
                    <a:bodyPr/>
                    <a:lstStyle/>
                    <a:p>
                      <a:pPr marL="0" marR="0" lvl="0" indent="0" algn="ctr" rtl="0">
                        <a:lnSpc>
                          <a:spcPct val="100000"/>
                        </a:lnSpc>
                        <a:spcBef>
                          <a:spcPts val="0"/>
                        </a:spcBef>
                        <a:spcAft>
                          <a:spcPts val="0"/>
                        </a:spcAft>
                        <a:buClr>
                          <a:srgbClr val="000000"/>
                        </a:buClr>
                        <a:buSzPts val="2300"/>
                        <a:buFont typeface="Arial"/>
                        <a:buNone/>
                      </a:pPr>
                      <a:r>
                        <a:rPr lang="en-US" sz="2300" b="1" i="0" u="none" strike="noStrike" cap="none" dirty="0">
                          <a:solidFill>
                            <a:schemeClr val="lt1"/>
                          </a:solidFill>
                          <a:latin typeface="Calibri"/>
                          <a:ea typeface="Calibri"/>
                          <a:cs typeface="Calibri"/>
                          <a:sym typeface="Calibri"/>
                        </a:rPr>
                        <a:t>Detail</a:t>
                      </a:r>
                      <a:endParaRPr sz="2300" u="none" strike="noStrike" cap="none" dirty="0">
                        <a:solidFill>
                          <a:schemeClr val="lt1"/>
                        </a:solidFill>
                      </a:endParaRPr>
                    </a:p>
                  </a:txBody>
                  <a:tcPr marL="0" marR="0" marT="0" marB="0" anchor="b">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54565B"/>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US" sz="2300" b="1" i="0" u="none" strike="noStrike" cap="none" dirty="0">
                          <a:solidFill>
                            <a:schemeClr val="lt1"/>
                          </a:solidFill>
                          <a:latin typeface="Calibri"/>
                          <a:ea typeface="Calibri"/>
                          <a:cs typeface="Calibri"/>
                          <a:sym typeface="Calibri"/>
                        </a:rPr>
                        <a:t>Quantity</a:t>
                      </a:r>
                      <a:endParaRPr sz="2300" u="none" strike="noStrike" cap="none" dirty="0">
                        <a:solidFill>
                          <a:schemeClr val="lt1"/>
                        </a:solidFill>
                      </a:endParaRPr>
                    </a:p>
                  </a:txBody>
                  <a:tcPr marL="0" marR="0" marT="0"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54565B"/>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US" sz="2300" b="1" i="0" u="none" strike="noStrike" cap="none" dirty="0">
                          <a:solidFill>
                            <a:schemeClr val="lt1"/>
                          </a:solidFill>
                          <a:latin typeface="Calibri"/>
                          <a:ea typeface="Calibri"/>
                          <a:cs typeface="Calibri"/>
                          <a:sym typeface="Calibri"/>
                        </a:rPr>
                        <a:t>Amount</a:t>
                      </a:r>
                      <a:endParaRPr sz="2300" u="none" strike="noStrike" cap="none" dirty="0">
                        <a:solidFill>
                          <a:schemeClr val="lt1"/>
                        </a:solidFill>
                      </a:endParaRPr>
                    </a:p>
                  </a:txBody>
                  <a:tcPr marL="0" marR="0" marT="0"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54565B"/>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US" sz="2300" b="1" i="0" u="none" strike="noStrike" cap="none">
                          <a:solidFill>
                            <a:schemeClr val="lt1"/>
                          </a:solidFill>
                          <a:latin typeface="Calibri"/>
                          <a:ea typeface="Calibri"/>
                          <a:cs typeface="Calibri"/>
                          <a:sym typeface="Calibri"/>
                        </a:rPr>
                        <a:t>Subtotal</a:t>
                      </a:r>
                      <a:endParaRPr sz="2300" u="none" strike="noStrike" cap="none">
                        <a:solidFill>
                          <a:schemeClr val="lt1"/>
                        </a:solidFill>
                      </a:endParaRPr>
                    </a:p>
                  </a:txBody>
                  <a:tcPr marL="0" marR="0" marT="0" marB="0" anchor="b">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54565B"/>
                    </a:solidFill>
                  </a:tcPr>
                </a:tc>
                <a:tc>
                  <a:txBody>
                    <a:bodyPr/>
                    <a:lstStyle/>
                    <a:p>
                      <a:pPr marL="0" marR="0" lvl="0" indent="0" algn="l" rtl="0">
                        <a:lnSpc>
                          <a:spcPct val="100000"/>
                        </a:lnSpc>
                        <a:spcBef>
                          <a:spcPts val="0"/>
                        </a:spcBef>
                        <a:spcAft>
                          <a:spcPts val="0"/>
                        </a:spcAft>
                        <a:buClr>
                          <a:srgbClr val="000000"/>
                        </a:buClr>
                        <a:buSzPts val="2300"/>
                        <a:buFont typeface="Arial"/>
                        <a:buNone/>
                      </a:pPr>
                      <a:endParaRPr sz="2300" b="0" i="0" u="none" strike="noStrike" cap="none">
                        <a:solidFill>
                          <a:srgbClr val="000000"/>
                        </a:solidFill>
                        <a:latin typeface="Calibri"/>
                        <a:ea typeface="Calibri"/>
                        <a:cs typeface="Calibri"/>
                        <a:sym typeface="Calibri"/>
                      </a:endParaRPr>
                    </a:p>
                  </a:txBody>
                  <a:tcPr marL="0" marR="0" marT="0" marB="0" anchor="b">
                    <a:lnL w="12700"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543850">
                <a:tc>
                  <a:txBody>
                    <a:bodyPr/>
                    <a:lstStyle/>
                    <a:p>
                      <a:pPr marL="0" marR="0" lvl="0" indent="0" algn="r" rtl="0">
                        <a:lnSpc>
                          <a:spcPct val="100000"/>
                        </a:lnSpc>
                        <a:spcBef>
                          <a:spcPts val="0"/>
                        </a:spcBef>
                        <a:spcAft>
                          <a:spcPts val="0"/>
                        </a:spcAft>
                        <a:buClr>
                          <a:srgbClr val="000000"/>
                        </a:buClr>
                        <a:buSzPts val="2300"/>
                        <a:buFont typeface="Arial"/>
                        <a:buNone/>
                      </a:pPr>
                      <a:r>
                        <a:rPr lang="en-US" sz="2300" b="1" i="0" u="none" strike="noStrike" cap="none" dirty="0">
                          <a:solidFill>
                            <a:srgbClr val="54565B"/>
                          </a:solidFill>
                          <a:latin typeface="Calibri"/>
                          <a:ea typeface="Calibri"/>
                          <a:cs typeface="Calibri"/>
                          <a:sym typeface="Calibri"/>
                        </a:rPr>
                        <a:t>Salary</a:t>
                      </a:r>
                      <a:endParaRPr sz="2300" b="1" u="none" strike="noStrike" cap="none" dirty="0">
                        <a:solidFill>
                          <a:srgbClr val="54565B"/>
                        </a:solidFill>
                      </a:endParaRPr>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Calibri"/>
                          <a:ea typeface="Calibri"/>
                          <a:cs typeface="Calibri"/>
                          <a:sym typeface="Calibri"/>
                        </a:rPr>
                        <a:t>13</a:t>
                      </a:r>
                      <a:endParaRPr sz="2300" u="none" strike="noStrike" cap="none"/>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Calibri"/>
                          <a:ea typeface="Calibri"/>
                          <a:cs typeface="Calibri"/>
                          <a:sym typeface="Calibri"/>
                        </a:rPr>
                        <a:t> $           60,000 </a:t>
                      </a:r>
                      <a:endParaRPr sz="2300" u="none" strike="noStrike" cap="none"/>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Calibri"/>
                          <a:ea typeface="Calibri"/>
                          <a:cs typeface="Calibri"/>
                          <a:sym typeface="Calibri"/>
                        </a:rPr>
                        <a:t> $                       780,000 </a:t>
                      </a:r>
                      <a:endParaRPr sz="2300" u="none" strike="noStrike" cap="none"/>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endParaRPr sz="2300" b="0" i="0" u="none" strike="noStrike" cap="none">
                        <a:solidFill>
                          <a:srgbClr val="000000"/>
                        </a:solidFill>
                        <a:latin typeface="Calibri"/>
                        <a:ea typeface="Calibri"/>
                        <a:cs typeface="Calibri"/>
                        <a:sym typeface="Calibri"/>
                      </a:endParaRPr>
                    </a:p>
                  </a:txBody>
                  <a:tcPr marL="0" marR="0" marT="0" marB="0" anchor="b">
                    <a:lnL w="9525"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543850">
                <a:tc>
                  <a:txBody>
                    <a:bodyPr/>
                    <a:lstStyle/>
                    <a:p>
                      <a:pPr marL="0" marR="0" lvl="0" indent="0" algn="r" rtl="0">
                        <a:lnSpc>
                          <a:spcPct val="100000"/>
                        </a:lnSpc>
                        <a:spcBef>
                          <a:spcPts val="0"/>
                        </a:spcBef>
                        <a:spcAft>
                          <a:spcPts val="0"/>
                        </a:spcAft>
                        <a:buClr>
                          <a:srgbClr val="000000"/>
                        </a:buClr>
                        <a:buSzPts val="2300"/>
                        <a:buFont typeface="Arial"/>
                        <a:buNone/>
                      </a:pPr>
                      <a:r>
                        <a:rPr lang="en-US" sz="2300" b="1" i="0" u="none" strike="noStrike" cap="none" dirty="0">
                          <a:solidFill>
                            <a:srgbClr val="54565B"/>
                          </a:solidFill>
                          <a:latin typeface="Calibri"/>
                          <a:ea typeface="Calibri"/>
                          <a:cs typeface="Calibri"/>
                          <a:sym typeface="Calibri"/>
                        </a:rPr>
                        <a:t>Bonus %</a:t>
                      </a:r>
                      <a:endParaRPr sz="2300" b="1" u="none" strike="noStrike" cap="none" dirty="0">
                        <a:solidFill>
                          <a:srgbClr val="54565B"/>
                        </a:solidFill>
                      </a:endParaRPr>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Calibri"/>
                          <a:ea typeface="Calibri"/>
                          <a:cs typeface="Calibri"/>
                          <a:sym typeface="Calibri"/>
                        </a:rPr>
                        <a:t>1</a:t>
                      </a:r>
                      <a:endParaRPr sz="2300" u="none" strike="noStrike" cap="none"/>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Calibri"/>
                          <a:ea typeface="Calibri"/>
                          <a:cs typeface="Calibri"/>
                          <a:sym typeface="Calibri"/>
                        </a:rPr>
                        <a:t>10%</a:t>
                      </a:r>
                      <a:endParaRPr sz="2300" u="none" strike="noStrike" cap="none"/>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Calibri"/>
                          <a:ea typeface="Calibri"/>
                          <a:cs typeface="Calibri"/>
                          <a:sym typeface="Calibri"/>
                        </a:rPr>
                        <a:t> $                       78,000</a:t>
                      </a:r>
                      <a:endParaRPr sz="2300" u="none" strike="noStrike" cap="none"/>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endParaRPr sz="2300" b="0" i="0" u="none" strike="noStrike" cap="none">
                        <a:solidFill>
                          <a:srgbClr val="000000"/>
                        </a:solidFill>
                        <a:latin typeface="Calibri"/>
                        <a:ea typeface="Calibri"/>
                        <a:cs typeface="Calibri"/>
                        <a:sym typeface="Calibri"/>
                      </a:endParaRPr>
                    </a:p>
                  </a:txBody>
                  <a:tcPr marL="0" marR="0" marT="0" marB="0" anchor="b">
                    <a:lnL w="9525"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543850">
                <a:tc>
                  <a:txBody>
                    <a:bodyPr/>
                    <a:lstStyle/>
                    <a:p>
                      <a:pPr marL="0" marR="0" lvl="0" indent="0" algn="r" rtl="0">
                        <a:lnSpc>
                          <a:spcPct val="100000"/>
                        </a:lnSpc>
                        <a:spcBef>
                          <a:spcPts val="0"/>
                        </a:spcBef>
                        <a:spcAft>
                          <a:spcPts val="0"/>
                        </a:spcAft>
                        <a:buClr>
                          <a:srgbClr val="000000"/>
                        </a:buClr>
                        <a:buSzPts val="2300"/>
                        <a:buFont typeface="Arial"/>
                        <a:buNone/>
                      </a:pPr>
                      <a:r>
                        <a:rPr lang="en-US" sz="2300" b="1" i="0" u="none" strike="noStrike" cap="none" dirty="0">
                          <a:solidFill>
                            <a:srgbClr val="54565B"/>
                          </a:solidFill>
                          <a:latin typeface="Calibri"/>
                          <a:ea typeface="Calibri"/>
                          <a:cs typeface="Calibri"/>
                          <a:sym typeface="Calibri"/>
                        </a:rPr>
                        <a:t>Annual compensation</a:t>
                      </a:r>
                      <a:endParaRPr sz="2300" b="1" u="none" strike="noStrike" cap="none" dirty="0">
                        <a:solidFill>
                          <a:srgbClr val="54565B"/>
                        </a:solidFill>
                      </a:endParaRPr>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Calibri"/>
                          <a:ea typeface="Calibri"/>
                          <a:cs typeface="Calibri"/>
                          <a:sym typeface="Calibri"/>
                        </a:rPr>
                        <a:t> </a:t>
                      </a:r>
                      <a:endParaRPr sz="2300" u="none" strike="noStrike" cap="none"/>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Calibri"/>
                          <a:ea typeface="Calibri"/>
                          <a:cs typeface="Calibri"/>
                          <a:sym typeface="Calibri"/>
                        </a:rPr>
                        <a:t> </a:t>
                      </a:r>
                      <a:endParaRPr sz="2300" u="none" strike="noStrike" cap="none"/>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Calibri"/>
                          <a:ea typeface="Calibri"/>
                          <a:cs typeface="Calibri"/>
                          <a:sym typeface="Calibri"/>
                        </a:rPr>
                        <a:t> $                       858,000 </a:t>
                      </a:r>
                      <a:endParaRPr sz="2300" u="none" strike="noStrike" cap="none"/>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endParaRPr sz="2300" b="0" i="0" u="none" strike="noStrike" cap="none">
                        <a:solidFill>
                          <a:srgbClr val="000000"/>
                        </a:solidFill>
                        <a:latin typeface="Calibri"/>
                        <a:ea typeface="Calibri"/>
                        <a:cs typeface="Calibri"/>
                        <a:sym typeface="Calibri"/>
                      </a:endParaRPr>
                    </a:p>
                  </a:txBody>
                  <a:tcPr marL="0" marR="0" marT="0" marB="0" anchor="b">
                    <a:lnL w="9525"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543850">
                <a:tc>
                  <a:txBody>
                    <a:bodyPr/>
                    <a:lstStyle/>
                    <a:p>
                      <a:pPr marL="0" marR="0" lvl="0" indent="0" algn="r" rtl="0">
                        <a:lnSpc>
                          <a:spcPct val="100000"/>
                        </a:lnSpc>
                        <a:spcBef>
                          <a:spcPts val="0"/>
                        </a:spcBef>
                        <a:spcAft>
                          <a:spcPts val="0"/>
                        </a:spcAft>
                        <a:buClr>
                          <a:srgbClr val="000000"/>
                        </a:buClr>
                        <a:buSzPts val="2300"/>
                        <a:buFont typeface="Arial"/>
                        <a:buNone/>
                      </a:pPr>
                      <a:endParaRPr sz="2300" b="1" i="0" u="none" strike="noStrike" cap="none">
                        <a:solidFill>
                          <a:srgbClr val="54565B"/>
                        </a:solidFill>
                        <a:latin typeface="Calibri"/>
                        <a:ea typeface="Calibri"/>
                        <a:cs typeface="Calibri"/>
                        <a:sym typeface="Calibri"/>
                      </a:endParaRPr>
                    </a:p>
                  </a:txBody>
                  <a:tcPr marL="0" marR="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endParaRPr sz="2300" b="0" i="0" u="none" strike="noStrike" cap="none">
                        <a:solidFill>
                          <a:srgbClr val="000000"/>
                        </a:solidFill>
                        <a:latin typeface="Calibri"/>
                        <a:ea typeface="Calibri"/>
                        <a:cs typeface="Calibri"/>
                        <a:sym typeface="Calibri"/>
                      </a:endParaRPr>
                    </a:p>
                  </a:txBody>
                  <a:tcPr marL="0" marR="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endParaRPr sz="2300" b="0" i="0" u="none" strike="noStrike" cap="none">
                        <a:solidFill>
                          <a:srgbClr val="000000"/>
                        </a:solidFill>
                        <a:latin typeface="Calibri"/>
                        <a:ea typeface="Calibri"/>
                        <a:cs typeface="Calibri"/>
                        <a:sym typeface="Calibri"/>
                      </a:endParaRPr>
                    </a:p>
                  </a:txBody>
                  <a:tcPr marL="0" marR="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endParaRPr sz="2300" b="0" i="0" u="none" strike="noStrike" cap="none">
                        <a:solidFill>
                          <a:srgbClr val="000000"/>
                        </a:solidFill>
                        <a:latin typeface="Calibri"/>
                        <a:ea typeface="Calibri"/>
                        <a:cs typeface="Calibri"/>
                        <a:sym typeface="Calibri"/>
                      </a:endParaRPr>
                    </a:p>
                  </a:txBody>
                  <a:tcPr marL="0" marR="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endParaRPr sz="2300" b="0" i="0" u="none" strike="noStrike" cap="none">
                        <a:solidFill>
                          <a:srgbClr val="000000"/>
                        </a:solidFill>
                        <a:latin typeface="Calibri"/>
                        <a:ea typeface="Calibri"/>
                        <a:cs typeface="Calibri"/>
                        <a:sym typeface="Calibri"/>
                      </a:endParaRPr>
                    </a:p>
                  </a:txBody>
                  <a:tcPr marL="0" marR="0" marT="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543850">
                <a:tc>
                  <a:txBody>
                    <a:bodyPr/>
                    <a:lstStyle/>
                    <a:p>
                      <a:pPr marL="0" marR="0" lvl="0" indent="0" algn="r" rtl="0">
                        <a:lnSpc>
                          <a:spcPct val="100000"/>
                        </a:lnSpc>
                        <a:spcBef>
                          <a:spcPts val="0"/>
                        </a:spcBef>
                        <a:spcAft>
                          <a:spcPts val="0"/>
                        </a:spcAft>
                        <a:buClr>
                          <a:srgbClr val="000000"/>
                        </a:buClr>
                        <a:buSzPts val="2300"/>
                        <a:buFont typeface="Arial"/>
                        <a:buNone/>
                      </a:pPr>
                      <a:r>
                        <a:rPr lang="en-US" sz="2300" b="1" i="0" u="none" strike="noStrike" cap="none">
                          <a:solidFill>
                            <a:srgbClr val="54565B"/>
                          </a:solidFill>
                          <a:latin typeface="Calibri"/>
                          <a:ea typeface="Calibri"/>
                          <a:cs typeface="Calibri"/>
                          <a:sym typeface="Calibri"/>
                        </a:rPr>
                        <a:t>Fee</a:t>
                      </a:r>
                      <a:endParaRPr sz="2300" b="1" u="none" strike="noStrike" cap="none">
                        <a:solidFill>
                          <a:srgbClr val="54565B"/>
                        </a:solidFill>
                      </a:endParaRPr>
                    </a:p>
                  </a:txBody>
                  <a:tcPr marL="0" marR="0" marT="0"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Calibri"/>
                          <a:ea typeface="Calibri"/>
                          <a:cs typeface="Calibri"/>
                          <a:sym typeface="Calibri"/>
                        </a:rPr>
                        <a:t> </a:t>
                      </a:r>
                      <a:endParaRPr sz="2300" u="none" strike="noStrike" cap="none"/>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Calibri"/>
                          <a:ea typeface="Calibri"/>
                          <a:cs typeface="Calibri"/>
                          <a:sym typeface="Calibri"/>
                        </a:rPr>
                        <a:t>19%</a:t>
                      </a:r>
                      <a:endParaRPr sz="2300" u="none" strike="noStrike" cap="none"/>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Calibri"/>
                          <a:ea typeface="Calibri"/>
                          <a:cs typeface="Calibri"/>
                          <a:sym typeface="Calibri"/>
                        </a:rPr>
                        <a:t> $                       128,700 </a:t>
                      </a:r>
                      <a:endParaRPr sz="2300" u="none" strike="noStrike" cap="none"/>
                    </a:p>
                  </a:txBody>
                  <a:tcPr marL="0" marR="0" marT="0"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endParaRPr sz="2300" b="0" i="0" u="none" strike="noStrike" cap="none">
                        <a:solidFill>
                          <a:srgbClr val="000000"/>
                        </a:solidFill>
                        <a:latin typeface="Calibri"/>
                        <a:ea typeface="Calibri"/>
                        <a:cs typeface="Calibri"/>
                        <a:sym typeface="Calibri"/>
                      </a:endParaRPr>
                    </a:p>
                  </a:txBody>
                  <a:tcPr marL="0" marR="0" marT="0" marB="0" anchor="b">
                    <a:lnL w="12700"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543850">
                <a:tc>
                  <a:txBody>
                    <a:bodyPr/>
                    <a:lstStyle/>
                    <a:p>
                      <a:pPr marL="0" marR="0" lvl="0" indent="0" algn="r" rtl="0">
                        <a:lnSpc>
                          <a:spcPct val="100000"/>
                        </a:lnSpc>
                        <a:spcBef>
                          <a:spcPts val="0"/>
                        </a:spcBef>
                        <a:spcAft>
                          <a:spcPts val="0"/>
                        </a:spcAft>
                        <a:buClr>
                          <a:srgbClr val="000000"/>
                        </a:buClr>
                        <a:buSzPts val="2300"/>
                        <a:buFont typeface="Arial"/>
                        <a:buNone/>
                      </a:pPr>
                      <a:endParaRPr sz="2300" b="1" i="0" u="none" strike="noStrike" cap="none">
                        <a:solidFill>
                          <a:srgbClr val="54565B"/>
                        </a:solidFill>
                        <a:latin typeface="Calibri"/>
                        <a:ea typeface="Calibri"/>
                        <a:cs typeface="Calibri"/>
                        <a:sym typeface="Calibri"/>
                      </a:endParaRPr>
                    </a:p>
                  </a:txBody>
                  <a:tcPr marL="0" marR="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endParaRPr sz="2300" b="0" i="0" u="none" strike="noStrike" cap="none">
                        <a:solidFill>
                          <a:srgbClr val="000000"/>
                        </a:solidFill>
                        <a:latin typeface="Calibri"/>
                        <a:ea typeface="Calibri"/>
                        <a:cs typeface="Calibri"/>
                        <a:sym typeface="Calibri"/>
                      </a:endParaRPr>
                    </a:p>
                  </a:txBody>
                  <a:tcPr marL="0" marR="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endParaRPr sz="2300" b="0" i="0" u="none" strike="noStrike" cap="none">
                        <a:solidFill>
                          <a:srgbClr val="000000"/>
                        </a:solidFill>
                        <a:latin typeface="Calibri"/>
                        <a:ea typeface="Calibri"/>
                        <a:cs typeface="Calibri"/>
                        <a:sym typeface="Calibri"/>
                      </a:endParaRPr>
                    </a:p>
                  </a:txBody>
                  <a:tcPr marL="0" marR="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endParaRPr sz="2300" b="0" i="0" u="none" strike="noStrike" cap="none">
                        <a:solidFill>
                          <a:srgbClr val="000000"/>
                        </a:solidFill>
                        <a:latin typeface="Calibri"/>
                        <a:ea typeface="Calibri"/>
                        <a:cs typeface="Calibri"/>
                        <a:sym typeface="Calibri"/>
                      </a:endParaRPr>
                    </a:p>
                  </a:txBody>
                  <a:tcPr marL="0" marR="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endParaRPr sz="2300" b="0" i="0" u="none" strike="noStrike" cap="none">
                        <a:solidFill>
                          <a:srgbClr val="000000"/>
                        </a:solidFill>
                        <a:latin typeface="Calibri"/>
                        <a:ea typeface="Calibri"/>
                        <a:cs typeface="Calibri"/>
                        <a:sym typeface="Calibri"/>
                      </a:endParaRPr>
                    </a:p>
                  </a:txBody>
                  <a:tcPr marL="0" marR="0" marT="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6"/>
                  </a:ext>
                </a:extLst>
              </a:tr>
              <a:tr h="543850">
                <a:tc>
                  <a:txBody>
                    <a:bodyPr/>
                    <a:lstStyle/>
                    <a:p>
                      <a:pPr marL="0" marR="0" lvl="0" indent="0" algn="r" rtl="0">
                        <a:lnSpc>
                          <a:spcPct val="100000"/>
                        </a:lnSpc>
                        <a:spcBef>
                          <a:spcPts val="0"/>
                        </a:spcBef>
                        <a:spcAft>
                          <a:spcPts val="0"/>
                        </a:spcAft>
                        <a:buClr>
                          <a:srgbClr val="000000"/>
                        </a:buClr>
                        <a:buSzPts val="2300"/>
                        <a:buFont typeface="Arial"/>
                        <a:buNone/>
                      </a:pPr>
                      <a:r>
                        <a:rPr lang="en-US" sz="2300" b="1" i="0" u="none" strike="noStrike" cap="none" dirty="0">
                          <a:solidFill>
                            <a:srgbClr val="54565B"/>
                          </a:solidFill>
                          <a:latin typeface="Calibri"/>
                          <a:ea typeface="Calibri"/>
                          <a:cs typeface="Calibri"/>
                          <a:sym typeface="Calibri"/>
                        </a:rPr>
                        <a:t>Payment terms</a:t>
                      </a:r>
                      <a:endParaRPr sz="2300" b="1" u="none" strike="noStrike" cap="none" dirty="0">
                        <a:solidFill>
                          <a:srgbClr val="54565B"/>
                        </a:solidFill>
                      </a:endParaRPr>
                    </a:p>
                  </a:txBody>
                  <a:tcPr marL="0" marR="0" marT="0"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r" rtl="0">
                        <a:lnSpc>
                          <a:spcPct val="100000"/>
                        </a:lnSpc>
                        <a:spcBef>
                          <a:spcPts val="0"/>
                        </a:spcBef>
                        <a:spcAft>
                          <a:spcPts val="0"/>
                        </a:spcAft>
                        <a:buClr>
                          <a:srgbClr val="000000"/>
                        </a:buClr>
                        <a:buSzPts val="2300"/>
                        <a:buFont typeface="Arial"/>
                        <a:buNone/>
                      </a:pPr>
                      <a:r>
                        <a:rPr lang="en-US" sz="2300" b="0" i="0" u="none" strike="noStrike" cap="none" dirty="0">
                          <a:solidFill>
                            <a:srgbClr val="000000"/>
                          </a:solidFill>
                          <a:latin typeface="Calibri"/>
                          <a:ea typeface="Calibri"/>
                          <a:cs typeface="Calibri"/>
                          <a:sym typeface="Calibri"/>
                        </a:rPr>
                        <a:t>Payment 1</a:t>
                      </a:r>
                      <a:endParaRPr sz="2300" u="none" strike="noStrike" cap="none" dirty="0"/>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300"/>
                        <a:buFont typeface="Arial"/>
                        <a:buNone/>
                      </a:pPr>
                      <a:r>
                        <a:rPr lang="en-US" sz="2300" u="none" strike="noStrike" cap="none">
                          <a:latin typeface="Calibri"/>
                          <a:ea typeface="Calibri"/>
                          <a:cs typeface="Calibri"/>
                          <a:sym typeface="Calibri"/>
                        </a:rPr>
                        <a:t>35</a:t>
                      </a:r>
                      <a:r>
                        <a:rPr lang="en-US" sz="2300" b="0" i="0" u="none" strike="noStrike" cap="none">
                          <a:solidFill>
                            <a:srgbClr val="000000"/>
                          </a:solidFill>
                          <a:latin typeface="Calibri"/>
                          <a:ea typeface="Calibri"/>
                          <a:cs typeface="Calibri"/>
                          <a:sym typeface="Calibri"/>
                        </a:rPr>
                        <a:t>%</a:t>
                      </a:r>
                      <a:endParaRPr sz="2300" u="none" strike="noStrike" cap="none"/>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Calibri"/>
                          <a:ea typeface="Calibri"/>
                          <a:cs typeface="Calibri"/>
                          <a:sym typeface="Calibri"/>
                        </a:rPr>
                        <a:t> $                         45,045 </a:t>
                      </a:r>
                      <a:endParaRPr sz="2300" u="none" strike="noStrike" cap="none"/>
                    </a:p>
                  </a:txBody>
                  <a:tcPr marL="0" marR="0" marT="0"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endParaRPr sz="2300" b="0" i="0" u="none" strike="noStrike" cap="none">
                        <a:solidFill>
                          <a:srgbClr val="000000"/>
                        </a:solidFill>
                        <a:latin typeface="Calibri"/>
                        <a:ea typeface="Calibri"/>
                        <a:cs typeface="Calibri"/>
                        <a:sym typeface="Calibri"/>
                      </a:endParaRPr>
                    </a:p>
                  </a:txBody>
                  <a:tcPr marL="0" marR="0" marT="0" marB="0" anchor="b">
                    <a:lnL w="12700"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7"/>
                  </a:ext>
                </a:extLst>
              </a:tr>
              <a:tr h="543850">
                <a:tc>
                  <a:txBody>
                    <a:bodyPr/>
                    <a:lstStyle/>
                    <a:p>
                      <a:pPr marL="0" marR="0" lvl="0" indent="0" algn="l" rtl="0">
                        <a:lnSpc>
                          <a:spcPct val="100000"/>
                        </a:lnSpc>
                        <a:spcBef>
                          <a:spcPts val="0"/>
                        </a:spcBef>
                        <a:spcAft>
                          <a:spcPts val="0"/>
                        </a:spcAft>
                        <a:buClr>
                          <a:srgbClr val="000000"/>
                        </a:buClr>
                        <a:buSzPts val="2300"/>
                        <a:buFont typeface="Arial"/>
                        <a:buNone/>
                      </a:pPr>
                      <a:endParaRPr sz="2300" b="0" i="0" u="none" strike="noStrike" cap="none">
                        <a:solidFill>
                          <a:srgbClr val="000000"/>
                        </a:solidFill>
                        <a:latin typeface="Calibri"/>
                        <a:ea typeface="Calibri"/>
                        <a:cs typeface="Calibri"/>
                        <a:sym typeface="Calibri"/>
                      </a:endParaRPr>
                    </a:p>
                  </a:txBody>
                  <a:tcPr marL="0" marR="0" marT="0" marB="0" anchor="ctr">
                    <a:lnL w="9525" cap="flat" cmpd="sng">
                      <a:solidFill>
                        <a:srgbClr val="000000">
                          <a:alpha val="0"/>
                        </a:srgbClr>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lnSpc>
                          <a:spcPct val="100000"/>
                        </a:lnSpc>
                        <a:spcBef>
                          <a:spcPts val="0"/>
                        </a:spcBef>
                        <a:spcAft>
                          <a:spcPts val="0"/>
                        </a:spcAft>
                        <a:buClr>
                          <a:srgbClr val="000000"/>
                        </a:buClr>
                        <a:buSzPts val="2300"/>
                        <a:buFont typeface="Arial"/>
                        <a:buNone/>
                      </a:pPr>
                      <a:r>
                        <a:rPr lang="en-US" sz="2300" b="0" i="0" u="none" strike="noStrike" cap="none" dirty="0">
                          <a:solidFill>
                            <a:srgbClr val="000000"/>
                          </a:solidFill>
                          <a:latin typeface="Calibri"/>
                          <a:ea typeface="Calibri"/>
                          <a:cs typeface="Calibri"/>
                          <a:sym typeface="Calibri"/>
                        </a:rPr>
                        <a:t>Payment 2</a:t>
                      </a:r>
                      <a:endParaRPr sz="2300" u="none" strike="noStrike" cap="none" dirty="0"/>
                    </a:p>
                  </a:txBody>
                  <a:tcPr marL="0" marR="0" marT="0"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Calibri"/>
                          <a:ea typeface="Calibri"/>
                          <a:cs typeface="Calibri"/>
                          <a:sym typeface="Calibri"/>
                        </a:rPr>
                        <a:t>35%</a:t>
                      </a:r>
                      <a:endParaRPr sz="2300" u="none" strike="noStrike" cap="none"/>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Calibri"/>
                          <a:ea typeface="Calibri"/>
                          <a:cs typeface="Calibri"/>
                          <a:sym typeface="Calibri"/>
                        </a:rPr>
                        <a:t> $                         45,045 </a:t>
                      </a:r>
                      <a:endParaRPr sz="2300" u="none" strike="noStrike" cap="none"/>
                    </a:p>
                  </a:txBody>
                  <a:tcPr marL="0" marR="0" marT="0"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endParaRPr sz="2300" b="0" i="0" u="none" strike="noStrike" cap="none">
                        <a:solidFill>
                          <a:srgbClr val="000000"/>
                        </a:solidFill>
                        <a:latin typeface="Calibri"/>
                        <a:ea typeface="Calibri"/>
                        <a:cs typeface="Calibri"/>
                        <a:sym typeface="Calibri"/>
                      </a:endParaRPr>
                    </a:p>
                  </a:txBody>
                  <a:tcPr marL="0" marR="0" marT="0" marB="0" anchor="b">
                    <a:lnL w="12700"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543850">
                <a:tc>
                  <a:txBody>
                    <a:bodyPr/>
                    <a:lstStyle/>
                    <a:p>
                      <a:pPr marL="0" marR="0" lvl="0" indent="0" algn="l" rtl="0">
                        <a:lnSpc>
                          <a:spcPct val="100000"/>
                        </a:lnSpc>
                        <a:spcBef>
                          <a:spcPts val="0"/>
                        </a:spcBef>
                        <a:spcAft>
                          <a:spcPts val="0"/>
                        </a:spcAft>
                        <a:buClr>
                          <a:srgbClr val="000000"/>
                        </a:buClr>
                        <a:buSzPts val="2300"/>
                        <a:buFont typeface="Arial"/>
                        <a:buNone/>
                      </a:pPr>
                      <a:endParaRPr sz="2300" b="0" i="0" u="none" strike="noStrike" cap="none">
                        <a:solidFill>
                          <a:srgbClr val="000000"/>
                        </a:solidFill>
                        <a:latin typeface="Calibri"/>
                        <a:ea typeface="Calibri"/>
                        <a:cs typeface="Calibri"/>
                        <a:sym typeface="Calibri"/>
                      </a:endParaRPr>
                    </a:p>
                  </a:txBody>
                  <a:tcPr marL="0" marR="0" marT="0" marB="0" anchor="ctr">
                    <a:lnL w="9525" cap="flat" cmpd="sng">
                      <a:solidFill>
                        <a:srgbClr val="000000">
                          <a:alpha val="0"/>
                        </a:srgbClr>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lnSpc>
                          <a:spcPct val="100000"/>
                        </a:lnSpc>
                        <a:spcBef>
                          <a:spcPts val="0"/>
                        </a:spcBef>
                        <a:spcAft>
                          <a:spcPts val="0"/>
                        </a:spcAft>
                        <a:buClr>
                          <a:srgbClr val="000000"/>
                        </a:buClr>
                        <a:buSzPts val="2300"/>
                        <a:buFont typeface="Arial"/>
                        <a:buNone/>
                      </a:pPr>
                      <a:r>
                        <a:rPr lang="en-US" sz="2300" b="0" i="0" u="none" strike="noStrike" cap="none" dirty="0">
                          <a:solidFill>
                            <a:srgbClr val="000000"/>
                          </a:solidFill>
                          <a:latin typeface="Calibri"/>
                          <a:ea typeface="Calibri"/>
                          <a:cs typeface="Calibri"/>
                          <a:sym typeface="Calibri"/>
                        </a:rPr>
                        <a:t>Payment 3</a:t>
                      </a:r>
                      <a:endParaRPr sz="2300" u="none" strike="noStrike" cap="none" dirty="0"/>
                    </a:p>
                  </a:txBody>
                  <a:tcPr marL="0" marR="0" marT="0"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Calibri"/>
                          <a:ea typeface="Calibri"/>
                          <a:cs typeface="Calibri"/>
                          <a:sym typeface="Calibri"/>
                        </a:rPr>
                        <a:t>30%</a:t>
                      </a:r>
                      <a:endParaRPr sz="2300" u="none" strike="noStrike" cap="none"/>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Calibri"/>
                          <a:ea typeface="Calibri"/>
                          <a:cs typeface="Calibri"/>
                          <a:sym typeface="Calibri"/>
                        </a:rPr>
                        <a:t> $                         38,610 </a:t>
                      </a:r>
                      <a:endParaRPr sz="2300" u="none" strike="noStrike" cap="none"/>
                    </a:p>
                  </a:txBody>
                  <a:tcPr marL="0" marR="0" marT="0"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r>
                        <a:rPr lang="en-US" sz="2300" b="1" i="0" u="none" strike="noStrike" cap="none" dirty="0">
                          <a:solidFill>
                            <a:srgbClr val="000000"/>
                          </a:solidFill>
                          <a:latin typeface="Calibri"/>
                          <a:ea typeface="Calibri"/>
                          <a:cs typeface="Calibri"/>
                          <a:sym typeface="Calibri"/>
                        </a:rPr>
                        <a:t>+ </a:t>
                      </a:r>
                      <a:r>
                        <a:rPr lang="en-US" sz="2300" b="1" i="0" u="none" strike="noStrike" cap="none" dirty="0">
                          <a:solidFill>
                            <a:schemeClr val="lt1"/>
                          </a:solidFill>
                          <a:latin typeface="Calibri"/>
                          <a:ea typeface="Calibri"/>
                          <a:cs typeface="Calibri"/>
                          <a:sym typeface="Calibri"/>
                        </a:rPr>
                        <a:t>ADJUSTMENT</a:t>
                      </a:r>
                      <a:endParaRPr sz="2300" u="none" strike="noStrike" cap="none" dirty="0">
                        <a:solidFill>
                          <a:schemeClr val="lt1"/>
                        </a:solidFill>
                      </a:endParaRPr>
                    </a:p>
                  </a:txBody>
                  <a:tcPr marL="0" marR="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8BF00"/>
                    </a:solidFill>
                  </a:tcPr>
                </a:tc>
                <a:extLst>
                  <a:ext uri="{0D108BD9-81ED-4DB2-BD59-A6C34878D82A}">
                    <a16:rowId xmlns:a16="http://schemas.microsoft.com/office/drawing/2014/main" val="10009"/>
                  </a:ext>
                </a:extLst>
              </a:tr>
            </a:tbl>
          </a:graphicData>
        </a:graphic>
      </p:graphicFrame>
      <p:sp>
        <p:nvSpPr>
          <p:cNvPr id="216" name="Google Shape;216;g3553af37456_0_14"/>
          <p:cNvSpPr txBox="1"/>
          <p:nvPr/>
        </p:nvSpPr>
        <p:spPr>
          <a:xfrm>
            <a:off x="-1139709" y="294362"/>
            <a:ext cx="12034131" cy="1268937"/>
          </a:xfrm>
          <a:prstGeom prst="rect">
            <a:avLst/>
          </a:prstGeom>
          <a:noFill/>
          <a:ln>
            <a:noFill/>
          </a:ln>
        </p:spPr>
        <p:txBody>
          <a:bodyPr spcFirstLastPara="1" wrap="square" lIns="0" tIns="0" rIns="0" bIns="0" anchor="t" anchorCtr="0">
            <a:spAutoFit/>
          </a:bodyPr>
          <a:lstStyle/>
          <a:p>
            <a:pPr marL="0" marR="0" lvl="0" indent="0" algn="ctr" rtl="0">
              <a:lnSpc>
                <a:spcPct val="97000"/>
              </a:lnSpc>
              <a:spcBef>
                <a:spcPts val="0"/>
              </a:spcBef>
              <a:spcAft>
                <a:spcPts val="0"/>
              </a:spcAft>
              <a:buClr>
                <a:srgbClr val="000000"/>
              </a:buClr>
              <a:buSzPts val="8501"/>
              <a:buFont typeface="Arial"/>
              <a:buNone/>
            </a:pPr>
            <a:r>
              <a:rPr lang="en-US" sz="8501" b="1" dirty="0">
                <a:solidFill>
                  <a:srgbClr val="54565B"/>
                </a:solidFill>
                <a:latin typeface="Avenir"/>
                <a:sym typeface="Avenir"/>
              </a:rPr>
              <a:t>Approximate </a:t>
            </a:r>
            <a:endParaRPr sz="1400" b="1" i="0" u="none" strike="noStrike" cap="none" dirty="0">
              <a:solidFill>
                <a:srgbClr val="54565B"/>
              </a:solidFill>
              <a:latin typeface="Arial"/>
              <a:ea typeface="Arial"/>
              <a:cs typeface="Arial"/>
              <a:sym typeface="Arial"/>
            </a:endParaRPr>
          </a:p>
        </p:txBody>
      </p:sp>
      <p:sp>
        <p:nvSpPr>
          <p:cNvPr id="217" name="Google Shape;217;g3553af37456_0_14"/>
          <p:cNvSpPr txBox="1"/>
          <p:nvPr/>
        </p:nvSpPr>
        <p:spPr>
          <a:xfrm>
            <a:off x="1860975" y="1367000"/>
            <a:ext cx="17034600" cy="1072217"/>
          </a:xfrm>
          <a:prstGeom prst="rect">
            <a:avLst/>
          </a:prstGeom>
          <a:noFill/>
          <a:ln>
            <a:noFill/>
          </a:ln>
        </p:spPr>
        <p:txBody>
          <a:bodyPr spcFirstLastPara="1" wrap="square" lIns="0" tIns="0" rIns="0" bIns="0" anchor="t" anchorCtr="0">
            <a:spAutoFit/>
          </a:bodyPr>
          <a:lstStyle/>
          <a:p>
            <a:pPr marL="0" marR="0" lvl="0" indent="0" algn="l" rtl="0">
              <a:lnSpc>
                <a:spcPct val="97019"/>
              </a:lnSpc>
              <a:spcBef>
                <a:spcPts val="0"/>
              </a:spcBef>
              <a:spcAft>
                <a:spcPts val="0"/>
              </a:spcAft>
              <a:buClr>
                <a:srgbClr val="000000"/>
              </a:buClr>
              <a:buSzPts val="7783"/>
              <a:buFont typeface="Arial"/>
              <a:buNone/>
            </a:pPr>
            <a:r>
              <a:rPr lang="en-US" sz="7183" b="1" i="0" u="none" strike="noStrike" cap="none" dirty="0">
                <a:solidFill>
                  <a:srgbClr val="F8BF00"/>
                </a:solidFill>
                <a:latin typeface="Avenir"/>
                <a:sym typeface="Avenir"/>
              </a:rPr>
              <a:t>Fee calculation</a:t>
            </a:r>
            <a:endParaRPr sz="800" b="0" i="0" u="none" strike="noStrike" cap="none" dirty="0">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21"/>
        <p:cNvGrpSpPr/>
        <p:nvPr/>
      </p:nvGrpSpPr>
      <p:grpSpPr>
        <a:xfrm>
          <a:off x="0" y="0"/>
          <a:ext cx="0" cy="0"/>
          <a:chOff x="0" y="0"/>
          <a:chExt cx="0" cy="0"/>
        </a:xfrm>
      </p:grpSpPr>
      <p:sp>
        <p:nvSpPr>
          <p:cNvPr id="222" name="Google Shape;222;g35ba6ddf0db_0_6"/>
          <p:cNvSpPr/>
          <p:nvPr/>
        </p:nvSpPr>
        <p:spPr>
          <a:xfrm>
            <a:off x="1225177" y="2794296"/>
            <a:ext cx="246091" cy="246091"/>
          </a:xfrm>
          <a:custGeom>
            <a:avLst/>
            <a:gdLst/>
            <a:ahLst/>
            <a:cxnLst/>
            <a:rect l="l" t="t" r="r" b="b"/>
            <a:pathLst>
              <a:path w="246091" h="246091" extrusionOk="0">
                <a:moveTo>
                  <a:pt x="0" y="0"/>
                </a:moveTo>
                <a:lnTo>
                  <a:pt x="246091" y="0"/>
                </a:lnTo>
                <a:lnTo>
                  <a:pt x="246091" y="246092"/>
                </a:lnTo>
                <a:lnTo>
                  <a:pt x="0" y="246092"/>
                </a:lnTo>
                <a:lnTo>
                  <a:pt x="0" y="0"/>
                </a:lnTo>
                <a:close/>
              </a:path>
            </a:pathLst>
          </a:custGeom>
          <a:blipFill rotWithShape="1">
            <a:blip r:embed="rId4">
              <a:alphaModFix/>
            </a:blip>
            <a:stretch>
              <a:fillRect/>
            </a:stretch>
          </a:blipFill>
          <a:ln>
            <a:noFill/>
          </a:ln>
        </p:spPr>
      </p:sp>
      <p:sp>
        <p:nvSpPr>
          <p:cNvPr id="223" name="Google Shape;223;g35ba6ddf0db_0_6"/>
          <p:cNvSpPr/>
          <p:nvPr/>
        </p:nvSpPr>
        <p:spPr>
          <a:xfrm>
            <a:off x="1256550" y="7169071"/>
            <a:ext cx="246091" cy="246091"/>
          </a:xfrm>
          <a:custGeom>
            <a:avLst/>
            <a:gdLst/>
            <a:ahLst/>
            <a:cxnLst/>
            <a:rect l="l" t="t" r="r" b="b"/>
            <a:pathLst>
              <a:path w="246091" h="246091" extrusionOk="0">
                <a:moveTo>
                  <a:pt x="0" y="0"/>
                </a:moveTo>
                <a:lnTo>
                  <a:pt x="246091" y="0"/>
                </a:lnTo>
                <a:lnTo>
                  <a:pt x="246091" y="246092"/>
                </a:lnTo>
                <a:lnTo>
                  <a:pt x="0" y="246092"/>
                </a:lnTo>
                <a:lnTo>
                  <a:pt x="0" y="0"/>
                </a:lnTo>
                <a:close/>
              </a:path>
            </a:pathLst>
          </a:custGeom>
          <a:blipFill rotWithShape="1">
            <a:blip r:embed="rId4">
              <a:alphaModFix/>
            </a:blip>
            <a:stretch>
              <a:fillRect/>
            </a:stretch>
          </a:blipFill>
          <a:ln>
            <a:noFill/>
          </a:ln>
        </p:spPr>
      </p:sp>
      <p:sp>
        <p:nvSpPr>
          <p:cNvPr id="224" name="Google Shape;224;g35ba6ddf0db_0_6"/>
          <p:cNvSpPr/>
          <p:nvPr/>
        </p:nvSpPr>
        <p:spPr>
          <a:xfrm>
            <a:off x="9116000" y="2860974"/>
            <a:ext cx="246091" cy="246091"/>
          </a:xfrm>
          <a:custGeom>
            <a:avLst/>
            <a:gdLst/>
            <a:ahLst/>
            <a:cxnLst/>
            <a:rect l="l" t="t" r="r" b="b"/>
            <a:pathLst>
              <a:path w="246091" h="246091" extrusionOk="0">
                <a:moveTo>
                  <a:pt x="0" y="0"/>
                </a:moveTo>
                <a:lnTo>
                  <a:pt x="246091" y="0"/>
                </a:lnTo>
                <a:lnTo>
                  <a:pt x="246091" y="246091"/>
                </a:lnTo>
                <a:lnTo>
                  <a:pt x="0" y="246091"/>
                </a:lnTo>
                <a:lnTo>
                  <a:pt x="0" y="0"/>
                </a:lnTo>
                <a:close/>
              </a:path>
            </a:pathLst>
          </a:custGeom>
          <a:blipFill rotWithShape="1">
            <a:blip r:embed="rId4">
              <a:alphaModFix/>
            </a:blip>
            <a:stretch>
              <a:fillRect/>
            </a:stretch>
          </a:blipFill>
          <a:ln>
            <a:noFill/>
          </a:ln>
        </p:spPr>
      </p:sp>
      <p:sp>
        <p:nvSpPr>
          <p:cNvPr id="225" name="Google Shape;225;g35ba6ddf0db_0_6"/>
          <p:cNvSpPr/>
          <p:nvPr/>
        </p:nvSpPr>
        <p:spPr>
          <a:xfrm>
            <a:off x="16936448" y="8981649"/>
            <a:ext cx="896680" cy="980114"/>
          </a:xfrm>
          <a:custGeom>
            <a:avLst/>
            <a:gdLst/>
            <a:ahLst/>
            <a:cxnLst/>
            <a:rect l="l" t="t" r="r" b="b"/>
            <a:pathLst>
              <a:path w="896680" h="980114" extrusionOk="0">
                <a:moveTo>
                  <a:pt x="0" y="0"/>
                </a:moveTo>
                <a:lnTo>
                  <a:pt x="896680" y="0"/>
                </a:lnTo>
                <a:lnTo>
                  <a:pt x="896680" y="980114"/>
                </a:lnTo>
                <a:lnTo>
                  <a:pt x="0" y="980114"/>
                </a:lnTo>
                <a:lnTo>
                  <a:pt x="0" y="0"/>
                </a:lnTo>
                <a:close/>
              </a:path>
            </a:pathLst>
          </a:custGeom>
          <a:blipFill rotWithShape="1">
            <a:blip r:embed="rId5">
              <a:alphaModFix/>
            </a:blip>
            <a:stretch>
              <a:fillRect l="-36041" t="-30701" r="-42256" b="-32420"/>
            </a:stretch>
          </a:blipFill>
          <a:ln>
            <a:noFill/>
          </a:ln>
        </p:spPr>
      </p:sp>
      <p:sp>
        <p:nvSpPr>
          <p:cNvPr id="226" name="Google Shape;226;g35ba6ddf0db_0_6"/>
          <p:cNvSpPr txBox="1"/>
          <p:nvPr/>
        </p:nvSpPr>
        <p:spPr>
          <a:xfrm>
            <a:off x="1420612" y="380083"/>
            <a:ext cx="6290700" cy="1269300"/>
          </a:xfrm>
          <a:prstGeom prst="rect">
            <a:avLst/>
          </a:prstGeom>
          <a:noFill/>
          <a:ln>
            <a:noFill/>
          </a:ln>
        </p:spPr>
        <p:txBody>
          <a:bodyPr spcFirstLastPara="1" wrap="square" lIns="0" tIns="0" rIns="0" bIns="0" anchor="t" anchorCtr="0">
            <a:spAutoFit/>
          </a:bodyPr>
          <a:lstStyle/>
          <a:p>
            <a:pPr marL="0" marR="0" lvl="0" indent="0" algn="ctr" rtl="0">
              <a:lnSpc>
                <a:spcPct val="97000"/>
              </a:lnSpc>
              <a:spcBef>
                <a:spcPts val="0"/>
              </a:spcBef>
              <a:spcAft>
                <a:spcPts val="0"/>
              </a:spcAft>
              <a:buClr>
                <a:srgbClr val="000000"/>
              </a:buClr>
              <a:buSzPts val="8501"/>
              <a:buFont typeface="Arial"/>
              <a:buNone/>
            </a:pPr>
            <a:r>
              <a:rPr lang="en-US" sz="8501" b="1" i="0" u="none" strike="noStrike" cap="none" dirty="0">
                <a:solidFill>
                  <a:srgbClr val="54565B"/>
                </a:solidFill>
                <a:latin typeface="Avenir"/>
                <a:ea typeface="Avenir"/>
                <a:cs typeface="Avenir"/>
                <a:sym typeface="Avenir"/>
              </a:rPr>
              <a:t>Commercial</a:t>
            </a:r>
            <a:endParaRPr sz="1400" b="0" i="0" u="none" strike="noStrike" cap="none" dirty="0">
              <a:solidFill>
                <a:srgbClr val="000000"/>
              </a:solidFill>
              <a:latin typeface="Arial"/>
              <a:ea typeface="Arial"/>
              <a:cs typeface="Arial"/>
              <a:sym typeface="Arial"/>
            </a:endParaRPr>
          </a:p>
        </p:txBody>
      </p:sp>
      <p:sp>
        <p:nvSpPr>
          <p:cNvPr id="227" name="Google Shape;227;g35ba6ddf0db_0_6"/>
          <p:cNvSpPr txBox="1"/>
          <p:nvPr/>
        </p:nvSpPr>
        <p:spPr>
          <a:xfrm>
            <a:off x="1225177" y="1396526"/>
            <a:ext cx="6220200" cy="1161793"/>
          </a:xfrm>
          <a:prstGeom prst="rect">
            <a:avLst/>
          </a:prstGeom>
          <a:noFill/>
          <a:ln>
            <a:noFill/>
          </a:ln>
        </p:spPr>
        <p:txBody>
          <a:bodyPr spcFirstLastPara="1" wrap="square" lIns="0" tIns="0" rIns="0" bIns="0" anchor="t" anchorCtr="0">
            <a:spAutoFit/>
          </a:bodyPr>
          <a:lstStyle/>
          <a:p>
            <a:pPr marL="0" marR="0" lvl="0" indent="0" algn="ctr" rtl="0">
              <a:lnSpc>
                <a:spcPct val="97019"/>
              </a:lnSpc>
              <a:spcBef>
                <a:spcPts val="0"/>
              </a:spcBef>
              <a:spcAft>
                <a:spcPts val="0"/>
              </a:spcAft>
              <a:buClr>
                <a:srgbClr val="000000"/>
              </a:buClr>
              <a:buSzPts val="7783"/>
              <a:buFont typeface="Arial"/>
              <a:buNone/>
            </a:pPr>
            <a:r>
              <a:rPr lang="en-US" sz="7783" b="1" dirty="0">
                <a:solidFill>
                  <a:srgbClr val="F8BF00"/>
                </a:solidFill>
                <a:latin typeface="Avenir"/>
                <a:sym typeface="Avenir"/>
              </a:rPr>
              <a:t>Terms</a:t>
            </a:r>
            <a:endParaRPr sz="1400" b="0" i="0" u="none" strike="noStrike" cap="none" dirty="0">
              <a:solidFill>
                <a:srgbClr val="000000"/>
              </a:solidFill>
              <a:latin typeface="Arial"/>
              <a:ea typeface="Arial"/>
              <a:cs typeface="Arial"/>
              <a:sym typeface="Arial"/>
            </a:endParaRPr>
          </a:p>
        </p:txBody>
      </p:sp>
      <p:sp>
        <p:nvSpPr>
          <p:cNvPr id="228" name="Google Shape;228;g35ba6ddf0db_0_6"/>
          <p:cNvSpPr txBox="1"/>
          <p:nvPr/>
        </p:nvSpPr>
        <p:spPr>
          <a:xfrm>
            <a:off x="1705815" y="2727621"/>
            <a:ext cx="6005400" cy="3770263"/>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700"/>
              <a:buFont typeface="Arial"/>
              <a:buNone/>
            </a:pPr>
            <a:r>
              <a:rPr lang="en-US" sz="1700" b="1" dirty="0">
                <a:latin typeface="Avenir"/>
                <a:ea typeface="Avenir"/>
                <a:cs typeface="Avenir"/>
                <a:sym typeface="Avenir"/>
              </a:rPr>
              <a:t>BILLING TERMS</a:t>
            </a:r>
            <a:r>
              <a:rPr lang="en-US" sz="1700" b="1" i="0" u="none" strike="noStrike" cap="none" dirty="0">
                <a:solidFill>
                  <a:srgbClr val="000000"/>
                </a:solidFill>
                <a:latin typeface="Avenir"/>
                <a:ea typeface="Avenir"/>
                <a:cs typeface="Avenir"/>
                <a:sym typeface="Avenir"/>
              </a:rPr>
              <a:t>:</a:t>
            </a:r>
            <a:endParaRPr sz="1400" b="0" i="0" u="none" strike="noStrike" cap="none" dirty="0">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600"/>
              <a:buFont typeface="Arial"/>
              <a:buNone/>
            </a:pPr>
            <a:r>
              <a:rPr lang="en-US" sz="1600" b="0" i="0" u="none" strike="noStrike" cap="none" dirty="0">
                <a:solidFill>
                  <a:srgbClr val="000000"/>
                </a:solidFill>
                <a:latin typeface="Avenir"/>
                <a:ea typeface="Avenir"/>
                <a:cs typeface="Avenir"/>
                <a:sym typeface="Avenir"/>
              </a:rPr>
              <a:t>35% </a:t>
            </a:r>
            <a:r>
              <a:rPr lang="en-US" sz="1600" dirty="0">
                <a:latin typeface="Avenir"/>
                <a:ea typeface="Avenir"/>
                <a:cs typeface="Avenir"/>
                <a:sym typeface="Avenir"/>
              </a:rPr>
              <a:t>as an upfront payment</a:t>
            </a:r>
            <a:endParaRPr sz="1400" b="0" i="0" u="none" strike="noStrike" cap="none" dirty="0">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600"/>
              <a:buFont typeface="Arial"/>
              <a:buNone/>
            </a:pPr>
            <a:r>
              <a:rPr lang="en-US" sz="1600" b="0" i="0" u="none" strike="noStrike" cap="none" dirty="0">
                <a:solidFill>
                  <a:srgbClr val="000000"/>
                </a:solidFill>
                <a:latin typeface="Avenir"/>
                <a:ea typeface="Avenir"/>
                <a:cs typeface="Avenir"/>
                <a:sym typeface="Avenir"/>
              </a:rPr>
              <a:t>35% upon the first candidate interview with the client</a:t>
            </a:r>
            <a:endParaRPr sz="1400" b="0" i="0" u="none" strike="noStrike" cap="none" dirty="0">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600"/>
              <a:buFont typeface="Arial"/>
              <a:buNone/>
            </a:pPr>
            <a:r>
              <a:rPr lang="en-US" sz="1600" b="0" i="0" u="none" strike="noStrike" cap="none" dirty="0">
                <a:solidFill>
                  <a:srgbClr val="000000"/>
                </a:solidFill>
                <a:latin typeface="Avenir"/>
                <a:ea typeface="Avenir"/>
                <a:cs typeface="Avenir"/>
                <a:sym typeface="Avenir"/>
              </a:rPr>
              <a:t>30% upon offer acceptance (adjusted to the actual starting salary)</a:t>
            </a:r>
          </a:p>
          <a:p>
            <a:pPr marL="0" marR="0" lvl="0" indent="0" algn="l" rtl="0">
              <a:lnSpc>
                <a:spcPct val="140000"/>
              </a:lnSpc>
              <a:spcBef>
                <a:spcPts val="0"/>
              </a:spcBef>
              <a:spcAft>
                <a:spcPts val="0"/>
              </a:spcAft>
              <a:buClr>
                <a:srgbClr val="000000"/>
              </a:buClr>
              <a:buSzPts val="1600"/>
              <a:buFont typeface="Arial"/>
              <a:buNone/>
            </a:pPr>
            <a:r>
              <a:rPr lang="en-US" sz="1600" b="0" i="1" u="none" strike="noStrike" cap="none" dirty="0">
                <a:solidFill>
                  <a:srgbClr val="000000"/>
                </a:solidFill>
                <a:latin typeface="Avenir"/>
                <a:ea typeface="Avenir"/>
                <a:cs typeface="Avenir"/>
                <a:sym typeface="Avenir"/>
              </a:rPr>
              <a:t>NO CANCELLATION PENALTIES APPLY  </a:t>
            </a:r>
            <a:endParaRPr sz="1600" b="0" i="1" u="none" strike="noStrike" cap="none" dirty="0">
              <a:solidFill>
                <a:srgbClr val="000000"/>
              </a:solidFill>
              <a:latin typeface="Avenir"/>
              <a:ea typeface="Avenir"/>
              <a:cs typeface="Avenir"/>
              <a:sym typeface="Avenir"/>
            </a:endParaRPr>
          </a:p>
          <a:p>
            <a:pPr marL="0" marR="0" lvl="0" indent="0" algn="l" rtl="0">
              <a:lnSpc>
                <a:spcPct val="140000"/>
              </a:lnSpc>
              <a:spcBef>
                <a:spcPts val="0"/>
              </a:spcBef>
              <a:spcAft>
                <a:spcPts val="0"/>
              </a:spcAft>
              <a:buClr>
                <a:schemeClr val="dk1"/>
              </a:buClr>
              <a:buSzPts val="1700"/>
              <a:buFont typeface="Arial"/>
              <a:buNone/>
            </a:pPr>
            <a:endParaRPr sz="1400" b="0" i="0" u="none" strike="noStrike" cap="none" dirty="0">
              <a:solidFill>
                <a:schemeClr val="dk1"/>
              </a:solidFill>
              <a:latin typeface="Arial"/>
              <a:ea typeface="Arial"/>
              <a:cs typeface="Arial"/>
              <a:sym typeface="Arial"/>
            </a:endParaRPr>
          </a:p>
          <a:p>
            <a:pPr marL="345442" marR="0" lvl="1" indent="-172719" algn="l" rtl="0">
              <a:lnSpc>
                <a:spcPct val="14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venir"/>
                <a:ea typeface="Avenir"/>
                <a:cs typeface="Avenir"/>
                <a:sym typeface="Avenir"/>
              </a:rPr>
              <a:t>Services provided in Argentina, Chile, and Mexico will be invoiced in local currency. </a:t>
            </a:r>
          </a:p>
          <a:p>
            <a:pPr marL="345442" marR="0" lvl="1" indent="-172719" algn="l" rtl="0">
              <a:lnSpc>
                <a:spcPct val="14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venir"/>
                <a:ea typeface="Avenir"/>
                <a:cs typeface="Avenir"/>
                <a:sym typeface="Avenir"/>
              </a:rPr>
              <a:t>Services provided in other countries will be invoiced in US dollars, with export invoices issued from VDH legal entities in Chile or Mexico.</a:t>
            </a:r>
            <a:endParaRPr sz="1600" b="0" i="1" u="none" strike="noStrike" cap="none" dirty="0">
              <a:solidFill>
                <a:srgbClr val="000000"/>
              </a:solidFill>
              <a:latin typeface="Avenir"/>
              <a:ea typeface="Avenir"/>
              <a:cs typeface="Avenir"/>
              <a:sym typeface="Avenir"/>
            </a:endParaRPr>
          </a:p>
        </p:txBody>
      </p:sp>
      <p:sp>
        <p:nvSpPr>
          <p:cNvPr id="229" name="Google Shape;229;g35ba6ddf0db_0_6"/>
          <p:cNvSpPr txBox="1"/>
          <p:nvPr/>
        </p:nvSpPr>
        <p:spPr>
          <a:xfrm>
            <a:off x="1737188" y="7102396"/>
            <a:ext cx="6423300" cy="2089803"/>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700"/>
              <a:buFont typeface="Arial"/>
              <a:buNone/>
            </a:pPr>
            <a:r>
              <a:rPr lang="en-US" sz="1700" b="1" dirty="0">
                <a:latin typeface="Avenir"/>
                <a:sym typeface="Avenir"/>
              </a:rPr>
              <a:t>TAXES:</a:t>
            </a:r>
            <a:endParaRPr sz="1400" b="0" i="0" u="none" strike="noStrike" cap="none" dirty="0">
              <a:solidFill>
                <a:srgbClr val="000000"/>
              </a:solidFill>
              <a:latin typeface="Arial"/>
              <a:ea typeface="Arial"/>
              <a:cs typeface="Arial"/>
              <a:sym typeface="Arial"/>
            </a:endParaRPr>
          </a:p>
          <a:p>
            <a:pPr marL="345442" marR="0" lvl="1" indent="-172719" algn="l" rtl="0">
              <a:lnSpc>
                <a:spcPct val="140000"/>
              </a:lnSpc>
              <a:spcBef>
                <a:spcPts val="0"/>
              </a:spcBef>
              <a:spcAft>
                <a:spcPts val="0"/>
              </a:spcAft>
              <a:buClr>
                <a:srgbClr val="000000"/>
              </a:buClr>
              <a:buSzPts val="1600"/>
              <a:buFont typeface="Arial"/>
              <a:buChar char="•"/>
            </a:pPr>
            <a:r>
              <a:rPr lang="en-US" sz="1600" b="0" i="0" u="none" strike="noStrike" cap="none" dirty="0">
                <a:solidFill>
                  <a:srgbClr val="000000"/>
                </a:solidFill>
                <a:latin typeface="Avenir"/>
                <a:ea typeface="Avenir"/>
                <a:cs typeface="Avenir"/>
                <a:sym typeface="Avenir"/>
              </a:rPr>
              <a:t>In Argentina, Chile, and Mexico, VAT will be added according to each country's applicable rate.</a:t>
            </a:r>
          </a:p>
          <a:p>
            <a:pPr marL="345442" marR="0" lvl="1" indent="-172719" algn="l" rtl="0">
              <a:lnSpc>
                <a:spcPct val="140000"/>
              </a:lnSpc>
              <a:spcBef>
                <a:spcPts val="0"/>
              </a:spcBef>
              <a:spcAft>
                <a:spcPts val="0"/>
              </a:spcAft>
              <a:buClr>
                <a:srgbClr val="000000"/>
              </a:buClr>
              <a:buSzPts val="1600"/>
              <a:buFont typeface="Arial"/>
              <a:buChar char="•"/>
            </a:pPr>
            <a:r>
              <a:rPr lang="en-US" sz="1600" b="0" i="0" u="none" strike="noStrike" cap="none" dirty="0">
                <a:solidFill>
                  <a:srgbClr val="000000"/>
                </a:solidFill>
                <a:latin typeface="Avenir"/>
                <a:ea typeface="Avenir"/>
                <a:cs typeface="Avenir"/>
                <a:sym typeface="Avenir"/>
              </a:rPr>
              <a:t>Services invoiced to other countries will not include </a:t>
            </a:r>
            <a:r>
              <a:rPr lang="en-US" sz="1600" b="0" i="0" u="none" strike="noStrike" cap="none" dirty="0" err="1">
                <a:solidFill>
                  <a:srgbClr val="000000"/>
                </a:solidFill>
                <a:latin typeface="Avenir"/>
                <a:ea typeface="Avenir"/>
                <a:cs typeface="Avenir"/>
                <a:sym typeface="Avenir"/>
              </a:rPr>
              <a:t>VAT.If</a:t>
            </a:r>
            <a:r>
              <a:rPr lang="en-US" sz="1600" b="0" i="0" u="none" strike="noStrike" cap="none" dirty="0">
                <a:solidFill>
                  <a:srgbClr val="000000"/>
                </a:solidFill>
                <a:latin typeface="Avenir"/>
                <a:ea typeface="Avenir"/>
                <a:cs typeface="Avenir"/>
                <a:sym typeface="Avenir"/>
              </a:rPr>
              <a:t> any additional tax arises from international tax treaties, it will be the responsibility of the client.</a:t>
            </a:r>
            <a:endParaRPr sz="1400" b="0" i="0" u="none" strike="noStrike" cap="none" dirty="0">
              <a:solidFill>
                <a:srgbClr val="000000"/>
              </a:solidFill>
              <a:latin typeface="Arial"/>
              <a:ea typeface="Arial"/>
              <a:cs typeface="Arial"/>
              <a:sym typeface="Arial"/>
            </a:endParaRPr>
          </a:p>
        </p:txBody>
      </p:sp>
      <p:sp>
        <p:nvSpPr>
          <p:cNvPr id="230" name="Google Shape;230;g35ba6ddf0db_0_6"/>
          <p:cNvSpPr txBox="1"/>
          <p:nvPr/>
        </p:nvSpPr>
        <p:spPr>
          <a:xfrm>
            <a:off x="9596650" y="2794300"/>
            <a:ext cx="7663800" cy="743280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700"/>
              <a:buFont typeface="Arial"/>
              <a:buNone/>
            </a:pPr>
            <a:r>
              <a:rPr lang="en-US" sz="1700" b="1" i="0" u="none" strike="noStrike" cap="none" dirty="0">
                <a:solidFill>
                  <a:srgbClr val="000000"/>
                </a:solidFill>
                <a:latin typeface="Avenir"/>
                <a:ea typeface="Avenir"/>
                <a:cs typeface="Avenir"/>
                <a:sym typeface="Avenir"/>
              </a:rPr>
              <a:t>GUARANTEE:</a:t>
            </a:r>
            <a:endParaRPr sz="1400" b="0" i="0" u="none" strike="noStrike" cap="none" dirty="0">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600"/>
              <a:buFont typeface="Arial"/>
              <a:buNone/>
            </a:pPr>
            <a:r>
              <a:rPr lang="en-US" sz="1600" b="0" i="0" u="none" strike="noStrike" cap="none" dirty="0">
                <a:solidFill>
                  <a:srgbClr val="000000"/>
                </a:solidFill>
                <a:latin typeface="Avenir"/>
                <a:ea typeface="Avenir"/>
                <a:cs typeface="Avenir"/>
                <a:sym typeface="Avenir"/>
              </a:rPr>
              <a:t>APPLIES when:</a:t>
            </a:r>
            <a:endParaRPr lang="en-US" dirty="0">
              <a:ea typeface="Avenir"/>
            </a:endParaRPr>
          </a:p>
          <a:p>
            <a:pPr marL="0" marR="0" lvl="0" indent="0" algn="l" rtl="0">
              <a:lnSpc>
                <a:spcPct val="140000"/>
              </a:lnSpc>
              <a:spcBef>
                <a:spcPts val="0"/>
              </a:spcBef>
              <a:spcAft>
                <a:spcPts val="0"/>
              </a:spcAft>
              <a:buClr>
                <a:srgbClr val="000000"/>
              </a:buClr>
              <a:buSzPts val="1600"/>
              <a:buFont typeface="Arial"/>
              <a:buNone/>
            </a:pPr>
            <a:r>
              <a:rPr lang="en-US" sz="1600" b="0" i="0" u="none" strike="noStrike" cap="none" dirty="0">
                <a:solidFill>
                  <a:srgbClr val="000000"/>
                </a:solidFill>
                <a:latin typeface="Avenir"/>
                <a:ea typeface="Avenir"/>
                <a:cs typeface="Avenir"/>
                <a:sym typeface="Avenir"/>
              </a:rPr>
              <a:t>The hired professional is fully terminated or has voluntarily resigned within the following timeframes and compensation brackets</a:t>
            </a:r>
            <a:endParaRPr lang="en-US" sz="1600" dirty="0">
              <a:latin typeface="Avenir"/>
              <a:ea typeface="Avenir"/>
              <a:cs typeface="Avenir"/>
              <a:sym typeface="Avenir"/>
            </a:endParaRPr>
          </a:p>
          <a:p>
            <a:pPr marL="0" marR="0" lvl="0" indent="0" algn="l" rtl="0">
              <a:lnSpc>
                <a:spcPct val="140000"/>
              </a:lnSpc>
              <a:spcBef>
                <a:spcPts val="0"/>
              </a:spcBef>
              <a:spcAft>
                <a:spcPts val="0"/>
              </a:spcAft>
              <a:buClr>
                <a:srgbClr val="000000"/>
              </a:buClr>
              <a:buSzPts val="1600"/>
              <a:buFont typeface="Arial"/>
              <a:buNone/>
            </a:pPr>
            <a:r>
              <a:rPr lang="en-US" sz="1600" b="0" i="0" u="none" strike="noStrike" cap="none" dirty="0">
                <a:solidFill>
                  <a:schemeClr val="dk1"/>
                </a:solidFill>
                <a:latin typeface="Avenir"/>
                <a:ea typeface="Avenir"/>
                <a:cs typeface="Avenir"/>
                <a:sym typeface="Avenir"/>
              </a:rPr>
              <a:t>12-month guarantee for positions with a gross monthly salary starting from:</a:t>
            </a:r>
            <a:endParaRPr sz="1600" b="0" i="0" u="none" strike="noStrike" cap="none" dirty="0">
              <a:solidFill>
                <a:schemeClr val="dk1"/>
              </a:solidFill>
              <a:latin typeface="Avenir"/>
              <a:ea typeface="Avenir"/>
              <a:cs typeface="Avenir"/>
              <a:sym typeface="Avenir"/>
            </a:endParaRPr>
          </a:p>
          <a:p>
            <a:pPr marL="0" marR="0" lvl="0" indent="0" algn="l" rtl="0">
              <a:lnSpc>
                <a:spcPct val="140000"/>
              </a:lnSpc>
              <a:spcBef>
                <a:spcPts val="0"/>
              </a:spcBef>
              <a:spcAft>
                <a:spcPts val="0"/>
              </a:spcAft>
              <a:buClr>
                <a:srgbClr val="000000"/>
              </a:buClr>
              <a:buSzPts val="1600"/>
              <a:buFont typeface="Arial"/>
              <a:buNone/>
            </a:pPr>
            <a:r>
              <a:rPr lang="en-US" sz="1600" b="0" i="0" u="none" strike="noStrike" cap="none" dirty="0">
                <a:solidFill>
                  <a:schemeClr val="dk1"/>
                </a:solidFill>
                <a:latin typeface="Avenir"/>
                <a:ea typeface="Avenir"/>
                <a:cs typeface="Avenir"/>
                <a:sym typeface="Avenir"/>
              </a:rPr>
              <a:t>Argentina		AR$ 6.000.000 </a:t>
            </a:r>
            <a:endParaRPr sz="1600" b="0" i="0" u="none" strike="noStrike" cap="none" dirty="0">
              <a:solidFill>
                <a:schemeClr val="dk1"/>
              </a:solidFill>
              <a:latin typeface="Avenir"/>
              <a:ea typeface="Avenir"/>
              <a:cs typeface="Avenir"/>
              <a:sym typeface="Avenir"/>
            </a:endParaRPr>
          </a:p>
          <a:p>
            <a:pPr marL="0" marR="0" lvl="0" indent="0" algn="l" rtl="0">
              <a:lnSpc>
                <a:spcPct val="140000"/>
              </a:lnSpc>
              <a:spcBef>
                <a:spcPts val="0"/>
              </a:spcBef>
              <a:spcAft>
                <a:spcPts val="0"/>
              </a:spcAft>
              <a:buClr>
                <a:srgbClr val="000000"/>
              </a:buClr>
              <a:buSzPts val="1600"/>
              <a:buFont typeface="Arial"/>
              <a:buNone/>
            </a:pPr>
            <a:r>
              <a:rPr lang="en-US" sz="1600" b="0" i="0" u="none" strike="noStrike" cap="none" dirty="0">
                <a:solidFill>
                  <a:schemeClr val="dk1"/>
                </a:solidFill>
                <a:latin typeface="Avenir"/>
                <a:ea typeface="Avenir"/>
                <a:cs typeface="Avenir"/>
                <a:sym typeface="Avenir"/>
              </a:rPr>
              <a:t>Chile		CLP$ 5.000.000 </a:t>
            </a:r>
            <a:endParaRPr sz="1600" b="0" i="0" u="none" strike="noStrike" cap="none" dirty="0">
              <a:solidFill>
                <a:schemeClr val="dk1"/>
              </a:solidFill>
              <a:latin typeface="Avenir"/>
              <a:ea typeface="Avenir"/>
              <a:cs typeface="Avenir"/>
              <a:sym typeface="Avenir"/>
            </a:endParaRPr>
          </a:p>
          <a:p>
            <a:pPr marL="0" marR="0" lvl="0" indent="0" algn="l" rtl="0">
              <a:lnSpc>
                <a:spcPct val="140000"/>
              </a:lnSpc>
              <a:spcBef>
                <a:spcPts val="0"/>
              </a:spcBef>
              <a:spcAft>
                <a:spcPts val="0"/>
              </a:spcAft>
              <a:buClr>
                <a:srgbClr val="000000"/>
              </a:buClr>
              <a:buSzPts val="1600"/>
              <a:buFont typeface="Arial"/>
              <a:buNone/>
            </a:pPr>
            <a:r>
              <a:rPr lang="en-US" sz="1600" b="0" i="0" u="none" strike="noStrike" cap="none" dirty="0">
                <a:solidFill>
                  <a:schemeClr val="dk1"/>
                </a:solidFill>
                <a:latin typeface="Avenir"/>
                <a:ea typeface="Avenir"/>
                <a:cs typeface="Avenir"/>
                <a:sym typeface="Avenir"/>
              </a:rPr>
              <a:t>México		MXN$ 100.000</a:t>
            </a:r>
          </a:p>
          <a:p>
            <a:pPr marL="0" marR="0" lvl="0" indent="0" algn="l" rtl="0">
              <a:lnSpc>
                <a:spcPct val="140000"/>
              </a:lnSpc>
              <a:spcBef>
                <a:spcPts val="0"/>
              </a:spcBef>
              <a:spcAft>
                <a:spcPts val="0"/>
              </a:spcAft>
              <a:buClr>
                <a:srgbClr val="000000"/>
              </a:buClr>
              <a:buSzPts val="1600"/>
              <a:buFont typeface="Arial"/>
              <a:buNone/>
            </a:pPr>
            <a:r>
              <a:rPr lang="en-US" sz="1600" b="0" i="0" u="none" strike="noStrike" cap="none" dirty="0">
                <a:solidFill>
                  <a:schemeClr val="dk1"/>
                </a:solidFill>
                <a:latin typeface="Avenir"/>
                <a:ea typeface="Avenir"/>
                <a:cs typeface="Avenir"/>
                <a:sym typeface="Avenir"/>
              </a:rPr>
              <a:t>6-month guarantee for positions with a gross monthly salary between:</a:t>
            </a:r>
            <a:endParaRPr sz="1600" b="0" i="0" u="none" strike="noStrike" cap="none" dirty="0">
              <a:solidFill>
                <a:schemeClr val="dk1"/>
              </a:solidFill>
              <a:latin typeface="Avenir"/>
              <a:ea typeface="Avenir"/>
              <a:cs typeface="Avenir"/>
              <a:sym typeface="Avenir"/>
            </a:endParaRPr>
          </a:p>
          <a:p>
            <a:pPr marL="0" marR="0" lvl="0" indent="0" algn="l" rtl="0">
              <a:lnSpc>
                <a:spcPct val="140000"/>
              </a:lnSpc>
              <a:spcBef>
                <a:spcPts val="0"/>
              </a:spcBef>
              <a:spcAft>
                <a:spcPts val="0"/>
              </a:spcAft>
              <a:buClr>
                <a:srgbClr val="000000"/>
              </a:buClr>
              <a:buSzPts val="1600"/>
              <a:buFont typeface="Arial"/>
              <a:buNone/>
            </a:pPr>
            <a:r>
              <a:rPr lang="en-US" sz="1600" b="0" i="0" u="none" strike="noStrike" cap="none" dirty="0">
                <a:solidFill>
                  <a:schemeClr val="dk1"/>
                </a:solidFill>
                <a:latin typeface="Avenir"/>
                <a:ea typeface="Avenir"/>
                <a:cs typeface="Avenir"/>
                <a:sym typeface="Avenir"/>
              </a:rPr>
              <a:t>Argentina		AR$ 2.900.000  -  AR$ 5.999.999 </a:t>
            </a:r>
            <a:endParaRPr sz="1600" b="0" i="0" u="none" strike="noStrike" cap="none" dirty="0">
              <a:solidFill>
                <a:schemeClr val="dk1"/>
              </a:solidFill>
              <a:latin typeface="Avenir"/>
              <a:ea typeface="Avenir"/>
              <a:cs typeface="Avenir"/>
              <a:sym typeface="Avenir"/>
            </a:endParaRPr>
          </a:p>
          <a:p>
            <a:pPr marL="0" marR="0" lvl="0" indent="0" algn="l" rtl="0">
              <a:lnSpc>
                <a:spcPct val="140000"/>
              </a:lnSpc>
              <a:spcBef>
                <a:spcPts val="0"/>
              </a:spcBef>
              <a:spcAft>
                <a:spcPts val="0"/>
              </a:spcAft>
              <a:buClr>
                <a:srgbClr val="000000"/>
              </a:buClr>
              <a:buSzPts val="1600"/>
              <a:buFont typeface="Arial"/>
              <a:buNone/>
            </a:pPr>
            <a:r>
              <a:rPr lang="en-US" sz="1600" b="0" i="0" u="none" strike="noStrike" cap="none" dirty="0">
                <a:solidFill>
                  <a:schemeClr val="dk1"/>
                </a:solidFill>
                <a:latin typeface="Avenir"/>
                <a:ea typeface="Avenir"/>
                <a:cs typeface="Avenir"/>
                <a:sym typeface="Avenir"/>
              </a:rPr>
              <a:t>Chile		CLP$ 3.500.00  -  CLP$ 4.999.999 </a:t>
            </a:r>
            <a:endParaRPr sz="1600" b="0" i="0" u="none" strike="noStrike" cap="none" dirty="0">
              <a:solidFill>
                <a:schemeClr val="dk1"/>
              </a:solidFill>
              <a:latin typeface="Avenir"/>
              <a:ea typeface="Avenir"/>
              <a:cs typeface="Avenir"/>
              <a:sym typeface="Avenir"/>
            </a:endParaRPr>
          </a:p>
          <a:p>
            <a:pPr marL="0" marR="0" lvl="0" indent="0" algn="l" rtl="0">
              <a:lnSpc>
                <a:spcPct val="140000"/>
              </a:lnSpc>
              <a:spcBef>
                <a:spcPts val="0"/>
              </a:spcBef>
              <a:spcAft>
                <a:spcPts val="0"/>
              </a:spcAft>
              <a:buClr>
                <a:srgbClr val="000000"/>
              </a:buClr>
              <a:buSzPts val="1600"/>
              <a:buFont typeface="Arial"/>
              <a:buNone/>
            </a:pPr>
            <a:r>
              <a:rPr lang="en-US" sz="1600" b="0" i="0" u="none" strike="noStrike" cap="none" dirty="0">
                <a:solidFill>
                  <a:schemeClr val="dk1"/>
                </a:solidFill>
                <a:latin typeface="Avenir"/>
                <a:ea typeface="Avenir"/>
                <a:cs typeface="Avenir"/>
                <a:sym typeface="Avenir"/>
              </a:rPr>
              <a:t>México		MXN$ 60.000  -   MXN$ 99.999</a:t>
            </a:r>
          </a:p>
          <a:p>
            <a:pPr marL="0" marR="0" lvl="0" indent="0" algn="l" rtl="0">
              <a:lnSpc>
                <a:spcPct val="140000"/>
              </a:lnSpc>
              <a:spcBef>
                <a:spcPts val="0"/>
              </a:spcBef>
              <a:spcAft>
                <a:spcPts val="0"/>
              </a:spcAft>
              <a:buClr>
                <a:srgbClr val="000000"/>
              </a:buClr>
              <a:buSzPts val="1600"/>
              <a:buFont typeface="Arial"/>
              <a:buNone/>
            </a:pPr>
            <a:r>
              <a:rPr lang="en-US" sz="1600" b="0" i="0" u="none" strike="noStrike" cap="none" dirty="0">
                <a:solidFill>
                  <a:schemeClr val="dk1"/>
                </a:solidFill>
                <a:latin typeface="Avenir"/>
                <a:ea typeface="Avenir"/>
                <a:cs typeface="Avenir"/>
                <a:sym typeface="Avenir"/>
              </a:rPr>
              <a:t>3-month guarantee for positions with a gross monthly salary between:</a:t>
            </a:r>
            <a:endParaRPr sz="1600" b="0" i="0" u="none" strike="noStrike" cap="none" dirty="0">
              <a:solidFill>
                <a:schemeClr val="dk1"/>
              </a:solidFill>
              <a:latin typeface="Avenir"/>
              <a:ea typeface="Avenir"/>
              <a:cs typeface="Avenir"/>
              <a:sym typeface="Avenir"/>
            </a:endParaRPr>
          </a:p>
          <a:p>
            <a:pPr marL="0" marR="0" lvl="0" indent="0" algn="l" rtl="0">
              <a:lnSpc>
                <a:spcPct val="140000"/>
              </a:lnSpc>
              <a:spcBef>
                <a:spcPts val="0"/>
              </a:spcBef>
              <a:spcAft>
                <a:spcPts val="0"/>
              </a:spcAft>
              <a:buClr>
                <a:srgbClr val="000000"/>
              </a:buClr>
              <a:buSzPts val="1600"/>
              <a:buFont typeface="Arial"/>
              <a:buNone/>
            </a:pPr>
            <a:r>
              <a:rPr lang="en-US" sz="1600" b="0" i="0" u="none" strike="noStrike" cap="none" dirty="0">
                <a:solidFill>
                  <a:schemeClr val="dk1"/>
                </a:solidFill>
                <a:latin typeface="Avenir"/>
                <a:ea typeface="Avenir"/>
                <a:cs typeface="Avenir"/>
                <a:sym typeface="Avenir"/>
              </a:rPr>
              <a:t>Argentina		AR$ 2.000.000  -  AR$ 2.899.999 </a:t>
            </a:r>
            <a:endParaRPr sz="1600" b="0" i="0" u="none" strike="noStrike" cap="none" dirty="0">
              <a:solidFill>
                <a:schemeClr val="dk1"/>
              </a:solidFill>
              <a:latin typeface="Avenir"/>
              <a:ea typeface="Avenir"/>
              <a:cs typeface="Avenir"/>
              <a:sym typeface="Avenir"/>
            </a:endParaRPr>
          </a:p>
          <a:p>
            <a:pPr marL="0" marR="0" lvl="0" indent="0" algn="l" rtl="0">
              <a:lnSpc>
                <a:spcPct val="140000"/>
              </a:lnSpc>
              <a:spcBef>
                <a:spcPts val="0"/>
              </a:spcBef>
              <a:spcAft>
                <a:spcPts val="0"/>
              </a:spcAft>
              <a:buClr>
                <a:srgbClr val="000000"/>
              </a:buClr>
              <a:buSzPts val="1600"/>
              <a:buFont typeface="Arial"/>
              <a:buNone/>
            </a:pPr>
            <a:r>
              <a:rPr lang="en-US" sz="1600" b="0" i="0" u="none" strike="noStrike" cap="none" dirty="0">
                <a:solidFill>
                  <a:schemeClr val="dk1"/>
                </a:solidFill>
                <a:latin typeface="Avenir"/>
                <a:ea typeface="Avenir"/>
                <a:cs typeface="Avenir"/>
                <a:sym typeface="Avenir"/>
              </a:rPr>
              <a:t>Chile		CLP$ 1.700.00  -  CLP$ 3.499.999 </a:t>
            </a:r>
            <a:endParaRPr sz="1600" b="0" i="0" u="none" strike="noStrike" cap="none" dirty="0">
              <a:solidFill>
                <a:schemeClr val="dk1"/>
              </a:solidFill>
              <a:latin typeface="Avenir"/>
              <a:ea typeface="Avenir"/>
              <a:cs typeface="Avenir"/>
              <a:sym typeface="Avenir"/>
            </a:endParaRPr>
          </a:p>
          <a:p>
            <a:pPr marL="0" marR="0" lvl="0" indent="0" algn="l" rtl="0">
              <a:lnSpc>
                <a:spcPct val="140000"/>
              </a:lnSpc>
              <a:spcBef>
                <a:spcPts val="0"/>
              </a:spcBef>
              <a:spcAft>
                <a:spcPts val="0"/>
              </a:spcAft>
              <a:buClr>
                <a:srgbClr val="000000"/>
              </a:buClr>
              <a:buSzPts val="1600"/>
              <a:buFont typeface="Arial"/>
              <a:buNone/>
            </a:pPr>
            <a:r>
              <a:rPr lang="en-US" sz="1600" b="0" i="0" u="none" strike="noStrike" cap="none" dirty="0">
                <a:solidFill>
                  <a:schemeClr val="dk1"/>
                </a:solidFill>
                <a:latin typeface="Avenir"/>
                <a:ea typeface="Avenir"/>
                <a:cs typeface="Avenir"/>
                <a:sym typeface="Avenir"/>
              </a:rPr>
              <a:t>México		MXN$ 35.000  -   MXN$ 59.999</a:t>
            </a:r>
            <a:endParaRPr sz="1400" b="0" i="0" u="none" strike="noStrike" cap="none" dirty="0">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600"/>
              <a:buFont typeface="Arial"/>
              <a:buNone/>
            </a:pPr>
            <a:r>
              <a:rPr lang="en-US" sz="1600" dirty="0">
                <a:latin typeface="Avenir"/>
                <a:ea typeface="Avenir"/>
                <a:cs typeface="Avenir"/>
                <a:sym typeface="Avenir"/>
              </a:rPr>
              <a:t>DOES NOT APPLY</a:t>
            </a:r>
            <a:r>
              <a:rPr lang="en-US" sz="1600" b="0" i="0" u="none" strike="noStrike" cap="none" dirty="0">
                <a:solidFill>
                  <a:srgbClr val="000000"/>
                </a:solidFill>
                <a:latin typeface="Avenir"/>
                <a:ea typeface="Avenir"/>
                <a:cs typeface="Avenir"/>
                <a:sym typeface="Avenir"/>
              </a:rPr>
              <a:t> when: </a:t>
            </a:r>
            <a:endParaRPr sz="1400" b="0" i="0" u="none" strike="noStrike" cap="none" dirty="0">
              <a:solidFill>
                <a:srgbClr val="000000"/>
              </a:solidFill>
              <a:latin typeface="Arial"/>
              <a:ea typeface="Arial"/>
              <a:cs typeface="Arial"/>
              <a:sym typeface="Arial"/>
            </a:endParaRPr>
          </a:p>
          <a:p>
            <a:pPr marL="345442" marR="0" lvl="1" indent="-172719" algn="l" rtl="0">
              <a:lnSpc>
                <a:spcPct val="140000"/>
              </a:lnSpc>
              <a:spcBef>
                <a:spcPts val="0"/>
              </a:spcBef>
              <a:spcAft>
                <a:spcPts val="0"/>
              </a:spcAft>
              <a:buClr>
                <a:srgbClr val="000000"/>
              </a:buClr>
              <a:buSzPts val="1600"/>
              <a:buFont typeface="Arial"/>
              <a:buChar char="•"/>
            </a:pPr>
            <a:r>
              <a:rPr lang="en-US" sz="1400" b="0" i="0" u="none" strike="noStrike" cap="none" dirty="0">
                <a:solidFill>
                  <a:srgbClr val="000000"/>
                </a:solidFill>
                <a:latin typeface="Arial"/>
                <a:ea typeface="Arial"/>
                <a:cs typeface="Arial"/>
                <a:sym typeface="Arial"/>
              </a:rPr>
              <a:t>The replacement profile is partially or fully modified.</a:t>
            </a:r>
          </a:p>
          <a:p>
            <a:pPr marL="345442" marR="0" lvl="1" indent="-172719" algn="l" rtl="0">
              <a:lnSpc>
                <a:spcPct val="140000"/>
              </a:lnSpc>
              <a:spcBef>
                <a:spcPts val="0"/>
              </a:spcBef>
              <a:spcAft>
                <a:spcPts val="0"/>
              </a:spcAft>
              <a:buClr>
                <a:srgbClr val="000000"/>
              </a:buClr>
              <a:buSzPts val="1600"/>
              <a:buFont typeface="Arial"/>
              <a:buChar char="•"/>
            </a:pPr>
            <a:r>
              <a:rPr lang="en-US" sz="1400" b="0" i="0" u="none" strike="noStrike" cap="none" dirty="0">
                <a:solidFill>
                  <a:srgbClr val="000000"/>
                </a:solidFill>
                <a:latin typeface="Arial"/>
                <a:ea typeface="Arial"/>
                <a:cs typeface="Arial"/>
                <a:sym typeface="Arial"/>
              </a:rPr>
              <a:t>The candidate resigns due to unfulfilled promises or agreements.</a:t>
            </a:r>
          </a:p>
          <a:p>
            <a:pPr marL="345442" marR="0" lvl="1" indent="-172719" algn="l" rtl="0">
              <a:lnSpc>
                <a:spcPct val="140000"/>
              </a:lnSpc>
              <a:spcBef>
                <a:spcPts val="0"/>
              </a:spcBef>
              <a:spcAft>
                <a:spcPts val="0"/>
              </a:spcAft>
              <a:buClr>
                <a:srgbClr val="000000"/>
              </a:buClr>
              <a:buSzPts val="1600"/>
              <a:buFont typeface="Arial"/>
              <a:buChar char="•"/>
            </a:pPr>
            <a:r>
              <a:rPr lang="en-US" sz="1400" b="0" i="0" u="none" strike="noStrike" cap="none" dirty="0">
                <a:solidFill>
                  <a:srgbClr val="000000"/>
                </a:solidFill>
                <a:latin typeface="Arial"/>
                <a:ea typeface="Arial"/>
                <a:cs typeface="Arial"/>
                <a:sym typeface="Arial"/>
              </a:rPr>
              <a:t>The candidate resigns after being assigned to a different role.</a:t>
            </a:r>
          </a:p>
          <a:p>
            <a:pPr marL="345442" marR="0" lvl="1" indent="-172719" algn="l" rtl="0">
              <a:lnSpc>
                <a:spcPct val="140000"/>
              </a:lnSpc>
              <a:spcBef>
                <a:spcPts val="0"/>
              </a:spcBef>
              <a:spcAft>
                <a:spcPts val="0"/>
              </a:spcAft>
              <a:buClr>
                <a:srgbClr val="000000"/>
              </a:buClr>
              <a:buSzPts val="1600"/>
              <a:buFont typeface="Arial"/>
              <a:buChar char="•"/>
            </a:pPr>
            <a:r>
              <a:rPr lang="en-US" sz="1400" b="0" i="0" u="none" strike="noStrike" cap="none" dirty="0">
                <a:solidFill>
                  <a:srgbClr val="000000"/>
                </a:solidFill>
                <a:latin typeface="Arial"/>
                <a:ea typeface="Arial"/>
                <a:cs typeface="Arial"/>
                <a:sym typeface="Arial"/>
              </a:rPr>
              <a:t>The candidate resigns due to a change in leadership within the organization.</a:t>
            </a:r>
            <a:endParaRPr sz="1400" b="0" i="0" u="none" strike="noStrike" cap="none" dirty="0">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600"/>
              <a:buFont typeface="Arial"/>
              <a:buNone/>
            </a:pPr>
            <a:endParaRPr sz="1600" b="0" i="0" u="none" strike="noStrike" cap="none" dirty="0">
              <a:solidFill>
                <a:srgbClr val="000000"/>
              </a:solidFill>
              <a:latin typeface="Avenir"/>
              <a:ea typeface="Avenir"/>
              <a:cs typeface="Avenir"/>
              <a:sym typeface="Avenir"/>
            </a:endParaRPr>
          </a:p>
        </p:txBody>
      </p:sp>
      <p:sp>
        <p:nvSpPr>
          <p:cNvPr id="231" name="Google Shape;231;g35ba6ddf0db_0_6"/>
          <p:cNvSpPr txBox="1"/>
          <p:nvPr/>
        </p:nvSpPr>
        <p:spPr>
          <a:xfrm>
            <a:off x="405300" y="9613325"/>
            <a:ext cx="8333400" cy="603242"/>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1800"/>
              <a:buFont typeface="Arial"/>
              <a:buNone/>
            </a:pPr>
            <a:r>
              <a:rPr lang="en-US" sz="1400" b="1" i="1" u="none" strike="noStrike" cap="none" dirty="0">
                <a:solidFill>
                  <a:srgbClr val="000000"/>
                </a:solidFill>
                <a:latin typeface="Avenir"/>
                <a:ea typeface="Avenir"/>
                <a:cs typeface="Avenir"/>
                <a:sym typeface="Avenir"/>
              </a:rPr>
              <a:t>*If the position is filled through an internal or external referral, a 15% discount will be applied to the total project amount. This discount will be reflected in the final invoice.</a:t>
            </a:r>
            <a:endParaRPr sz="1000" b="0" i="0" u="none" strike="noStrike" cap="none" dirty="0">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5"/>
        <p:cNvGrpSpPr/>
        <p:nvPr/>
      </p:nvGrpSpPr>
      <p:grpSpPr>
        <a:xfrm>
          <a:off x="0" y="0"/>
          <a:ext cx="0" cy="0"/>
          <a:chOff x="0" y="0"/>
          <a:chExt cx="0" cy="0"/>
        </a:xfrm>
      </p:grpSpPr>
      <p:sp>
        <p:nvSpPr>
          <p:cNvPr id="236" name="Google Shape;236;g35ba6ddf0db_0_19"/>
          <p:cNvSpPr/>
          <p:nvPr/>
        </p:nvSpPr>
        <p:spPr>
          <a:xfrm>
            <a:off x="767952" y="3234246"/>
            <a:ext cx="246091" cy="246091"/>
          </a:xfrm>
          <a:custGeom>
            <a:avLst/>
            <a:gdLst/>
            <a:ahLst/>
            <a:cxnLst/>
            <a:rect l="l" t="t" r="r" b="b"/>
            <a:pathLst>
              <a:path w="246091" h="246091" extrusionOk="0">
                <a:moveTo>
                  <a:pt x="0" y="0"/>
                </a:moveTo>
                <a:lnTo>
                  <a:pt x="246091" y="0"/>
                </a:lnTo>
                <a:lnTo>
                  <a:pt x="246091" y="246092"/>
                </a:lnTo>
                <a:lnTo>
                  <a:pt x="0" y="246092"/>
                </a:lnTo>
                <a:lnTo>
                  <a:pt x="0" y="0"/>
                </a:lnTo>
                <a:close/>
              </a:path>
            </a:pathLst>
          </a:custGeom>
          <a:blipFill rotWithShape="1">
            <a:blip r:embed="rId4">
              <a:alphaModFix/>
            </a:blip>
            <a:stretch>
              <a:fillRect/>
            </a:stretch>
          </a:blipFill>
          <a:ln>
            <a:noFill/>
          </a:ln>
        </p:spPr>
      </p:sp>
      <p:sp>
        <p:nvSpPr>
          <p:cNvPr id="237" name="Google Shape;237;g35ba6ddf0db_0_19"/>
          <p:cNvSpPr/>
          <p:nvPr/>
        </p:nvSpPr>
        <p:spPr>
          <a:xfrm>
            <a:off x="767952" y="5581599"/>
            <a:ext cx="246091" cy="246091"/>
          </a:xfrm>
          <a:custGeom>
            <a:avLst/>
            <a:gdLst/>
            <a:ahLst/>
            <a:cxnLst/>
            <a:rect l="l" t="t" r="r" b="b"/>
            <a:pathLst>
              <a:path w="246091" h="246091" extrusionOk="0">
                <a:moveTo>
                  <a:pt x="0" y="0"/>
                </a:moveTo>
                <a:lnTo>
                  <a:pt x="246091" y="0"/>
                </a:lnTo>
                <a:lnTo>
                  <a:pt x="246091" y="246091"/>
                </a:lnTo>
                <a:lnTo>
                  <a:pt x="0" y="246091"/>
                </a:lnTo>
                <a:lnTo>
                  <a:pt x="0" y="0"/>
                </a:lnTo>
                <a:close/>
              </a:path>
            </a:pathLst>
          </a:custGeom>
          <a:blipFill rotWithShape="1">
            <a:blip r:embed="rId4">
              <a:alphaModFix/>
            </a:blip>
            <a:stretch>
              <a:fillRect/>
            </a:stretch>
          </a:blipFill>
          <a:ln>
            <a:noFill/>
          </a:ln>
        </p:spPr>
      </p:sp>
      <p:sp>
        <p:nvSpPr>
          <p:cNvPr id="238" name="Google Shape;238;g35ba6ddf0db_0_19"/>
          <p:cNvSpPr/>
          <p:nvPr/>
        </p:nvSpPr>
        <p:spPr>
          <a:xfrm>
            <a:off x="16936448" y="8981649"/>
            <a:ext cx="896680" cy="980114"/>
          </a:xfrm>
          <a:custGeom>
            <a:avLst/>
            <a:gdLst/>
            <a:ahLst/>
            <a:cxnLst/>
            <a:rect l="l" t="t" r="r" b="b"/>
            <a:pathLst>
              <a:path w="896680" h="980114" extrusionOk="0">
                <a:moveTo>
                  <a:pt x="0" y="0"/>
                </a:moveTo>
                <a:lnTo>
                  <a:pt x="896680" y="0"/>
                </a:lnTo>
                <a:lnTo>
                  <a:pt x="896680" y="980114"/>
                </a:lnTo>
                <a:lnTo>
                  <a:pt x="0" y="980114"/>
                </a:lnTo>
                <a:lnTo>
                  <a:pt x="0" y="0"/>
                </a:lnTo>
                <a:close/>
              </a:path>
            </a:pathLst>
          </a:custGeom>
          <a:blipFill rotWithShape="1">
            <a:blip r:embed="rId5">
              <a:alphaModFix/>
            </a:blip>
            <a:stretch>
              <a:fillRect l="-36041" t="-30701" r="-42256" b="-32420"/>
            </a:stretch>
          </a:blipFill>
          <a:ln>
            <a:noFill/>
          </a:ln>
        </p:spPr>
      </p:sp>
      <p:sp>
        <p:nvSpPr>
          <p:cNvPr id="239" name="Google Shape;239;g35ba6ddf0db_0_19"/>
          <p:cNvSpPr txBox="1"/>
          <p:nvPr/>
        </p:nvSpPr>
        <p:spPr>
          <a:xfrm>
            <a:off x="1420612" y="380083"/>
            <a:ext cx="6290700" cy="1269300"/>
          </a:xfrm>
          <a:prstGeom prst="rect">
            <a:avLst/>
          </a:prstGeom>
          <a:noFill/>
          <a:ln>
            <a:noFill/>
          </a:ln>
        </p:spPr>
        <p:txBody>
          <a:bodyPr spcFirstLastPara="1" wrap="square" lIns="0" tIns="0" rIns="0" bIns="0" anchor="t" anchorCtr="0">
            <a:spAutoFit/>
          </a:bodyPr>
          <a:lstStyle/>
          <a:p>
            <a:pPr marL="0" marR="0" lvl="0" indent="0" algn="ctr" rtl="0">
              <a:lnSpc>
                <a:spcPct val="97000"/>
              </a:lnSpc>
              <a:spcBef>
                <a:spcPts val="0"/>
              </a:spcBef>
              <a:spcAft>
                <a:spcPts val="0"/>
              </a:spcAft>
              <a:buClr>
                <a:srgbClr val="000000"/>
              </a:buClr>
              <a:buSzPts val="8501"/>
              <a:buFont typeface="Arial"/>
              <a:buNone/>
            </a:pPr>
            <a:r>
              <a:rPr lang="en-US" sz="8501" b="1" i="0" u="none" strike="noStrike" cap="none" dirty="0">
                <a:solidFill>
                  <a:srgbClr val="54565B"/>
                </a:solidFill>
                <a:latin typeface="Avenir"/>
                <a:ea typeface="Avenir"/>
                <a:cs typeface="Avenir"/>
                <a:sym typeface="Avenir"/>
              </a:rPr>
              <a:t>Commercial</a:t>
            </a:r>
            <a:endParaRPr sz="1400" b="0" i="0" u="none" strike="noStrike" cap="none" dirty="0">
              <a:solidFill>
                <a:srgbClr val="000000"/>
              </a:solidFill>
              <a:latin typeface="Arial"/>
              <a:ea typeface="Arial"/>
              <a:cs typeface="Arial"/>
              <a:sym typeface="Arial"/>
            </a:endParaRPr>
          </a:p>
        </p:txBody>
      </p:sp>
      <p:sp>
        <p:nvSpPr>
          <p:cNvPr id="240" name="Google Shape;240;g35ba6ddf0db_0_19"/>
          <p:cNvSpPr txBox="1"/>
          <p:nvPr/>
        </p:nvSpPr>
        <p:spPr>
          <a:xfrm>
            <a:off x="1225177" y="1396526"/>
            <a:ext cx="6220200" cy="1161793"/>
          </a:xfrm>
          <a:prstGeom prst="rect">
            <a:avLst/>
          </a:prstGeom>
          <a:noFill/>
          <a:ln>
            <a:noFill/>
          </a:ln>
        </p:spPr>
        <p:txBody>
          <a:bodyPr spcFirstLastPara="1" wrap="square" lIns="0" tIns="0" rIns="0" bIns="0" anchor="t" anchorCtr="0">
            <a:spAutoFit/>
          </a:bodyPr>
          <a:lstStyle/>
          <a:p>
            <a:pPr marL="0" marR="0" lvl="0" indent="0" algn="ctr" rtl="0">
              <a:lnSpc>
                <a:spcPct val="97019"/>
              </a:lnSpc>
              <a:spcBef>
                <a:spcPts val="0"/>
              </a:spcBef>
              <a:spcAft>
                <a:spcPts val="0"/>
              </a:spcAft>
              <a:buClr>
                <a:srgbClr val="000000"/>
              </a:buClr>
              <a:buSzPts val="7783"/>
              <a:buFont typeface="Arial"/>
              <a:buNone/>
            </a:pPr>
            <a:r>
              <a:rPr lang="en-US" sz="7783" b="1" dirty="0">
                <a:solidFill>
                  <a:srgbClr val="F8BF00"/>
                </a:solidFill>
                <a:latin typeface="Avenir"/>
                <a:sym typeface="Avenir"/>
              </a:rPr>
              <a:t>Terms</a:t>
            </a:r>
            <a:endParaRPr sz="1400" b="0" i="0" u="none" strike="noStrike" cap="none" dirty="0">
              <a:solidFill>
                <a:srgbClr val="000000"/>
              </a:solidFill>
              <a:latin typeface="Arial"/>
              <a:ea typeface="Arial"/>
              <a:cs typeface="Arial"/>
              <a:sym typeface="Arial"/>
            </a:endParaRPr>
          </a:p>
        </p:txBody>
      </p:sp>
      <p:sp>
        <p:nvSpPr>
          <p:cNvPr id="241" name="Google Shape;241;g35ba6ddf0db_0_19"/>
          <p:cNvSpPr txBox="1"/>
          <p:nvPr/>
        </p:nvSpPr>
        <p:spPr>
          <a:xfrm>
            <a:off x="1248596" y="3167575"/>
            <a:ext cx="3456600" cy="147425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700"/>
              <a:buFont typeface="Arial"/>
              <a:buNone/>
            </a:pPr>
            <a:r>
              <a:rPr lang="en-US" sz="1700" b="1" i="0" u="none" strike="noStrike" cap="none" dirty="0">
                <a:solidFill>
                  <a:srgbClr val="000000"/>
                </a:solidFill>
                <a:latin typeface="Avenir"/>
                <a:ea typeface="Avenir"/>
                <a:cs typeface="Avenir"/>
                <a:sym typeface="Avenir"/>
              </a:rPr>
              <a:t>ON HOLD:</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200" b="0" i="0" u="none" strike="noStrike" cap="none" dirty="0">
                <a:solidFill>
                  <a:srgbClr val="000000"/>
                </a:solidFill>
                <a:latin typeface="Avenir"/>
                <a:ea typeface="Avenir"/>
                <a:cs typeface="Avenir"/>
                <a:sym typeface="Avenir"/>
              </a:rPr>
              <a:t>If the search enters an “On Hold” or “Standby” status—either through formal client communication or due to a lack of progress in the process (e.g., no new interviews or decisions regarding presented candidates) for a period exceeding 60 days—the cancellation clause will apply.</a:t>
            </a:r>
          </a:p>
        </p:txBody>
      </p:sp>
      <p:sp>
        <p:nvSpPr>
          <p:cNvPr id="242" name="Google Shape;242;g35ba6ddf0db_0_19"/>
          <p:cNvSpPr txBox="1"/>
          <p:nvPr/>
        </p:nvSpPr>
        <p:spPr>
          <a:xfrm>
            <a:off x="1248600" y="5514925"/>
            <a:ext cx="3666300" cy="3690241"/>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700"/>
              <a:buFont typeface="Arial"/>
              <a:buNone/>
            </a:pPr>
            <a:r>
              <a:rPr lang="en-US" sz="1700" b="1" i="0" u="none" strike="noStrike" cap="none" dirty="0">
                <a:solidFill>
                  <a:srgbClr val="000000"/>
                </a:solidFill>
                <a:latin typeface="Avenir"/>
                <a:ea typeface="Avenir"/>
                <a:cs typeface="Avenir"/>
                <a:sym typeface="Avenir"/>
              </a:rPr>
              <a:t>CANCELLATION:</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400"/>
              <a:buFont typeface="Arial"/>
              <a:buNone/>
            </a:pPr>
            <a:r>
              <a:rPr lang="en-US" sz="1200" b="0" i="0" u="none" strike="noStrike" cap="none" dirty="0">
                <a:solidFill>
                  <a:srgbClr val="000000"/>
                </a:solidFill>
                <a:latin typeface="Avenir"/>
                <a:ea typeface="Avenir"/>
                <a:cs typeface="Avenir"/>
                <a:sym typeface="Avenir"/>
              </a:rPr>
              <a:t>If the search is suspended or canceled for reasons not attributable to VON DER HEIDE, after candidate presentations have been made, there will be no penalties, provided the client has agreed to the 35% + 35% + 30% payment structure.</a:t>
            </a:r>
            <a:endParaRPr sz="1200" b="0" i="0" u="none" strike="noStrike" cap="none" dirty="0">
              <a:solidFill>
                <a:srgbClr val="000000"/>
              </a:solidFill>
              <a:latin typeface="Avenir"/>
              <a:ea typeface="Avenir"/>
              <a:cs typeface="Avenir"/>
              <a:sym typeface="Avenir"/>
            </a:endParaRPr>
          </a:p>
          <a:p>
            <a:pPr marL="0" marR="0" lvl="0" indent="0" algn="l" rtl="0">
              <a:lnSpc>
                <a:spcPct val="100000"/>
              </a:lnSpc>
              <a:spcBef>
                <a:spcPts val="0"/>
              </a:spcBef>
              <a:spcAft>
                <a:spcPts val="0"/>
              </a:spcAft>
              <a:buClr>
                <a:schemeClr val="dk1"/>
              </a:buClr>
              <a:buSzPts val="1400"/>
              <a:buFont typeface="Arial"/>
              <a:buNone/>
            </a:pPr>
            <a:r>
              <a:rPr lang="en-US" sz="1200" b="0" i="0" u="none" strike="noStrike" cap="none" dirty="0">
                <a:solidFill>
                  <a:srgbClr val="000000"/>
                </a:solidFill>
                <a:latin typeface="Avenir"/>
                <a:ea typeface="Avenir"/>
                <a:cs typeface="Avenir"/>
                <a:sym typeface="Avenir"/>
              </a:rPr>
              <a:t> </a:t>
            </a:r>
            <a:endParaRPr sz="1200" b="0" i="0" u="none" strike="noStrike" cap="none" dirty="0">
              <a:solidFill>
                <a:srgbClr val="000000"/>
              </a:solidFill>
              <a:latin typeface="Avenir"/>
              <a:ea typeface="Avenir"/>
              <a:cs typeface="Avenir"/>
              <a:sym typeface="Avenir"/>
            </a:endParaRPr>
          </a:p>
          <a:p>
            <a:pPr marL="0" marR="0" lvl="0" indent="0" algn="l" rtl="0">
              <a:lnSpc>
                <a:spcPct val="100000"/>
              </a:lnSpc>
              <a:spcBef>
                <a:spcPts val="0"/>
              </a:spcBef>
              <a:spcAft>
                <a:spcPts val="0"/>
              </a:spcAft>
              <a:buClr>
                <a:schemeClr val="dk1"/>
              </a:buClr>
              <a:buSzPts val="1400"/>
              <a:buFont typeface="Arial"/>
              <a:buNone/>
            </a:pPr>
            <a:r>
              <a:rPr lang="en-US" sz="1200" b="0" i="0" u="none" strike="noStrike" cap="none" dirty="0">
                <a:solidFill>
                  <a:srgbClr val="000000"/>
                </a:solidFill>
                <a:latin typeface="Avenir"/>
                <a:ea typeface="Avenir"/>
                <a:cs typeface="Avenir"/>
                <a:sym typeface="Avenir"/>
              </a:rPr>
              <a:t>If the client has opted for a different payment arrangement, they agree to pay VON DER HEIDE:35% of the total fee if cancellation occurs prior to candidate presentation, or70% of the total fee if cancellation is communicated after candidate presentation.</a:t>
            </a:r>
          </a:p>
          <a:p>
            <a:pPr marL="0" marR="0" lvl="0" indent="0" algn="l" rtl="0">
              <a:lnSpc>
                <a:spcPct val="100000"/>
              </a:lnSpc>
              <a:spcBef>
                <a:spcPts val="0"/>
              </a:spcBef>
              <a:spcAft>
                <a:spcPts val="0"/>
              </a:spcAft>
              <a:buClr>
                <a:schemeClr val="dk1"/>
              </a:buClr>
              <a:buSzPts val="1400"/>
              <a:buFont typeface="Arial"/>
              <a:buNone/>
            </a:pPr>
            <a:endParaRPr sz="1200" b="0" i="0" u="none" strike="noStrike" cap="none" dirty="0">
              <a:solidFill>
                <a:srgbClr val="000000"/>
              </a:solidFill>
              <a:latin typeface="Avenir"/>
              <a:ea typeface="Avenir"/>
              <a:cs typeface="Avenir"/>
              <a:sym typeface="Avenir"/>
            </a:endParaRPr>
          </a:p>
          <a:p>
            <a:pPr marL="0" marR="0" lvl="0" indent="0" algn="l" rtl="0">
              <a:lnSpc>
                <a:spcPct val="100000"/>
              </a:lnSpc>
              <a:spcBef>
                <a:spcPts val="0"/>
              </a:spcBef>
              <a:spcAft>
                <a:spcPts val="0"/>
              </a:spcAft>
              <a:buClr>
                <a:schemeClr val="dk1"/>
              </a:buClr>
              <a:buSzPts val="1400"/>
              <a:buFont typeface="Arial"/>
              <a:buNone/>
            </a:pPr>
            <a:r>
              <a:rPr lang="en-US" sz="1200" b="0" i="0" u="none" strike="noStrike" cap="none" dirty="0">
                <a:solidFill>
                  <a:srgbClr val="000000"/>
                </a:solidFill>
                <a:latin typeface="Avenir"/>
                <a:ea typeface="Avenir"/>
                <a:cs typeface="Avenir"/>
                <a:sym typeface="Avenir"/>
              </a:rPr>
              <a:t>All advance and progress payments will be considered compensation for services rendered up to that point and are non-refundable and non-transferable to other projects. Any invoices issued prior to the cancellation must be paid in full.</a:t>
            </a:r>
          </a:p>
          <a:p>
            <a:pPr marL="0" marR="0" lvl="0" indent="0" algn="l" rtl="0">
              <a:lnSpc>
                <a:spcPct val="100000"/>
              </a:lnSpc>
              <a:spcBef>
                <a:spcPts val="0"/>
              </a:spcBef>
              <a:spcAft>
                <a:spcPts val="0"/>
              </a:spcAft>
              <a:buClr>
                <a:schemeClr val="dk1"/>
              </a:buClr>
              <a:buSzPts val="1400"/>
              <a:buFont typeface="Arial"/>
              <a:buNone/>
            </a:pPr>
            <a:endParaRPr lang="en-US" sz="1200" dirty="0">
              <a:latin typeface="Avenir"/>
              <a:ea typeface="Avenir"/>
              <a:cs typeface="Avenir"/>
              <a:sym typeface="Avenir"/>
            </a:endParaRPr>
          </a:p>
        </p:txBody>
      </p:sp>
      <p:sp>
        <p:nvSpPr>
          <p:cNvPr id="243" name="Google Shape;243;g35ba6ddf0db_0_19"/>
          <p:cNvSpPr/>
          <p:nvPr/>
        </p:nvSpPr>
        <p:spPr>
          <a:xfrm>
            <a:off x="5339952" y="3234246"/>
            <a:ext cx="246091" cy="246091"/>
          </a:xfrm>
          <a:custGeom>
            <a:avLst/>
            <a:gdLst/>
            <a:ahLst/>
            <a:cxnLst/>
            <a:rect l="l" t="t" r="r" b="b"/>
            <a:pathLst>
              <a:path w="246091" h="246091" extrusionOk="0">
                <a:moveTo>
                  <a:pt x="0" y="0"/>
                </a:moveTo>
                <a:lnTo>
                  <a:pt x="246091" y="0"/>
                </a:lnTo>
                <a:lnTo>
                  <a:pt x="246091" y="246092"/>
                </a:lnTo>
                <a:lnTo>
                  <a:pt x="0" y="246092"/>
                </a:lnTo>
                <a:lnTo>
                  <a:pt x="0" y="0"/>
                </a:lnTo>
                <a:close/>
              </a:path>
            </a:pathLst>
          </a:custGeom>
          <a:blipFill rotWithShape="1">
            <a:blip r:embed="rId4">
              <a:alphaModFix/>
            </a:blip>
            <a:stretch>
              <a:fillRect/>
            </a:stretch>
          </a:blipFill>
          <a:ln>
            <a:noFill/>
          </a:ln>
        </p:spPr>
      </p:sp>
      <p:sp>
        <p:nvSpPr>
          <p:cNvPr id="244" name="Google Shape;244;g35ba6ddf0db_0_19"/>
          <p:cNvSpPr/>
          <p:nvPr/>
        </p:nvSpPr>
        <p:spPr>
          <a:xfrm>
            <a:off x="5339952" y="5034074"/>
            <a:ext cx="246091" cy="246091"/>
          </a:xfrm>
          <a:custGeom>
            <a:avLst/>
            <a:gdLst/>
            <a:ahLst/>
            <a:cxnLst/>
            <a:rect l="l" t="t" r="r" b="b"/>
            <a:pathLst>
              <a:path w="246091" h="246091" extrusionOk="0">
                <a:moveTo>
                  <a:pt x="0" y="0"/>
                </a:moveTo>
                <a:lnTo>
                  <a:pt x="246091" y="0"/>
                </a:lnTo>
                <a:lnTo>
                  <a:pt x="246091" y="246091"/>
                </a:lnTo>
                <a:lnTo>
                  <a:pt x="0" y="246091"/>
                </a:lnTo>
                <a:lnTo>
                  <a:pt x="0" y="0"/>
                </a:lnTo>
                <a:close/>
              </a:path>
            </a:pathLst>
          </a:custGeom>
          <a:blipFill rotWithShape="1">
            <a:blip r:embed="rId4">
              <a:alphaModFix/>
            </a:blip>
            <a:stretch>
              <a:fillRect/>
            </a:stretch>
          </a:blipFill>
          <a:ln>
            <a:noFill/>
          </a:ln>
        </p:spPr>
      </p:sp>
      <p:sp>
        <p:nvSpPr>
          <p:cNvPr id="245" name="Google Shape;245;g35ba6ddf0db_0_19"/>
          <p:cNvSpPr txBox="1"/>
          <p:nvPr/>
        </p:nvSpPr>
        <p:spPr>
          <a:xfrm>
            <a:off x="5820596" y="3167575"/>
            <a:ext cx="3456600" cy="128958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700"/>
              <a:buFont typeface="Arial"/>
              <a:buNone/>
            </a:pPr>
            <a:r>
              <a:rPr lang="en-US" sz="1700" b="1" i="0" u="none" strike="noStrike" cap="none" dirty="0">
                <a:solidFill>
                  <a:srgbClr val="000000"/>
                </a:solidFill>
                <a:latin typeface="Avenir"/>
                <a:ea typeface="Avenir"/>
                <a:cs typeface="Avenir"/>
                <a:sym typeface="Avenir"/>
              </a:rPr>
              <a:t>SECOND PLACEMENT:</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200" b="0" i="0" u="none" strike="noStrike" cap="none" dirty="0">
                <a:solidFill>
                  <a:srgbClr val="000000"/>
                </a:solidFill>
                <a:latin typeface="Avenir"/>
                <a:ea typeface="Avenir"/>
                <a:cs typeface="Avenir"/>
                <a:sym typeface="Avenir"/>
              </a:rPr>
              <a:t>A 70% fee will be invoiced for second or third hires resulting from the same recruitment process. If professionals are hired to fill positions different from the one originally requested, the guarantee will not apply.</a:t>
            </a:r>
          </a:p>
        </p:txBody>
      </p:sp>
      <p:sp>
        <p:nvSpPr>
          <p:cNvPr id="246" name="Google Shape;246;g35ba6ddf0db_0_19"/>
          <p:cNvSpPr txBox="1"/>
          <p:nvPr/>
        </p:nvSpPr>
        <p:spPr>
          <a:xfrm>
            <a:off x="5820600" y="4967400"/>
            <a:ext cx="3666300" cy="128958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700"/>
              <a:buFont typeface="Arial"/>
              <a:buNone/>
            </a:pPr>
            <a:r>
              <a:rPr lang="en-US" sz="1700" b="1" i="0" u="none" strike="noStrike" cap="none" dirty="0">
                <a:solidFill>
                  <a:srgbClr val="000000"/>
                </a:solidFill>
                <a:latin typeface="Avenir"/>
                <a:ea typeface="Avenir"/>
                <a:cs typeface="Avenir"/>
                <a:sym typeface="Avenir"/>
              </a:rPr>
              <a:t>EXCLUSIV</a:t>
            </a:r>
            <a:r>
              <a:rPr lang="en-US" sz="1700" b="1" dirty="0">
                <a:latin typeface="Avenir"/>
                <a:ea typeface="Avenir"/>
                <a:cs typeface="Avenir"/>
                <a:sym typeface="Avenir"/>
              </a:rPr>
              <a:t>E PARTNERSHIP</a:t>
            </a:r>
            <a:r>
              <a:rPr lang="en-US" sz="1700" b="1" i="0" u="none" strike="noStrike" cap="none" dirty="0">
                <a:solidFill>
                  <a:srgbClr val="000000"/>
                </a:solidFill>
                <a:latin typeface="Avenir"/>
                <a:ea typeface="Avenir"/>
                <a:cs typeface="Avenir"/>
                <a:sym typeface="Avenir"/>
              </a:rPr>
              <a:t>:</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400"/>
              <a:buFont typeface="Arial"/>
              <a:buNone/>
            </a:pPr>
            <a:r>
              <a:rPr lang="en-US" sz="1200" b="0" i="0" u="none" strike="noStrike" cap="none" dirty="0">
                <a:solidFill>
                  <a:srgbClr val="000000"/>
                </a:solidFill>
                <a:latin typeface="Avenir"/>
                <a:ea typeface="Avenir"/>
                <a:cs typeface="Avenir"/>
                <a:sym typeface="Avenir"/>
              </a:rPr>
              <a:t>Experience shows that simultaneous approaches to candidates can damage the company's image and hinder the recruitment process. For this reason, VON DER HEIDE only engages in searches where it is appointed as the exclusive consulting partner for each position to be filled.</a:t>
            </a:r>
          </a:p>
        </p:txBody>
      </p:sp>
      <p:sp>
        <p:nvSpPr>
          <p:cNvPr id="247" name="Google Shape;247;g35ba6ddf0db_0_19"/>
          <p:cNvSpPr/>
          <p:nvPr/>
        </p:nvSpPr>
        <p:spPr>
          <a:xfrm>
            <a:off x="5339952" y="6862874"/>
            <a:ext cx="246091" cy="246091"/>
          </a:xfrm>
          <a:custGeom>
            <a:avLst/>
            <a:gdLst/>
            <a:ahLst/>
            <a:cxnLst/>
            <a:rect l="l" t="t" r="r" b="b"/>
            <a:pathLst>
              <a:path w="246091" h="246091" extrusionOk="0">
                <a:moveTo>
                  <a:pt x="0" y="0"/>
                </a:moveTo>
                <a:lnTo>
                  <a:pt x="246091" y="0"/>
                </a:lnTo>
                <a:lnTo>
                  <a:pt x="246091" y="246091"/>
                </a:lnTo>
                <a:lnTo>
                  <a:pt x="0" y="246091"/>
                </a:lnTo>
                <a:lnTo>
                  <a:pt x="0" y="0"/>
                </a:lnTo>
                <a:close/>
              </a:path>
            </a:pathLst>
          </a:custGeom>
          <a:blipFill rotWithShape="1">
            <a:blip r:embed="rId4">
              <a:alphaModFix/>
            </a:blip>
            <a:stretch>
              <a:fillRect/>
            </a:stretch>
          </a:blipFill>
          <a:ln>
            <a:noFill/>
          </a:ln>
        </p:spPr>
      </p:sp>
      <p:sp>
        <p:nvSpPr>
          <p:cNvPr id="248" name="Google Shape;248;g35ba6ddf0db_0_19"/>
          <p:cNvSpPr txBox="1"/>
          <p:nvPr/>
        </p:nvSpPr>
        <p:spPr>
          <a:xfrm>
            <a:off x="5820600" y="6796200"/>
            <a:ext cx="3666300" cy="1104918"/>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700"/>
              <a:buFont typeface="Arial"/>
              <a:buNone/>
            </a:pPr>
            <a:r>
              <a:rPr lang="en-US" sz="1700" b="1" dirty="0">
                <a:latin typeface="Avenir"/>
                <a:ea typeface="Avenir"/>
                <a:cs typeface="Avenir"/>
                <a:sym typeface="Avenir"/>
              </a:rPr>
              <a:t>SERVICE PROPOSAL ACCEPTANCE</a:t>
            </a:r>
            <a:r>
              <a:rPr lang="en-US" sz="1700" b="1" i="0" u="none" strike="noStrike" cap="none" dirty="0">
                <a:solidFill>
                  <a:srgbClr val="000000"/>
                </a:solidFill>
                <a:latin typeface="Avenir"/>
                <a:ea typeface="Avenir"/>
                <a:cs typeface="Avenir"/>
                <a:sym typeface="Avenir"/>
              </a:rPr>
              <a:t>:</a:t>
            </a:r>
            <a:endParaRPr sz="1200" b="0" i="0" u="none" strike="noStrike" cap="none" dirty="0">
              <a:solidFill>
                <a:srgbClr val="000000"/>
              </a:solidFill>
              <a:latin typeface="Avenir"/>
              <a:ea typeface="Avenir"/>
              <a:cs typeface="Avenir"/>
              <a:sym typeface="Avenir"/>
            </a:endParaRPr>
          </a:p>
          <a:p>
            <a:pPr marL="0" marR="0" lvl="0" indent="0" algn="l" rtl="0">
              <a:lnSpc>
                <a:spcPct val="100000"/>
              </a:lnSpc>
              <a:spcBef>
                <a:spcPts val="0"/>
              </a:spcBef>
              <a:spcAft>
                <a:spcPts val="0"/>
              </a:spcAft>
              <a:buClr>
                <a:schemeClr val="dk1"/>
              </a:buClr>
              <a:buSzPts val="1400"/>
              <a:buFont typeface="Arial"/>
              <a:buNone/>
            </a:pPr>
            <a:r>
              <a:rPr lang="en-US" sz="1200" b="0" i="0" u="none" strike="noStrike" cap="none" dirty="0">
                <a:solidFill>
                  <a:srgbClr val="000000"/>
                </a:solidFill>
                <a:latin typeface="Avenir"/>
                <a:ea typeface="Avenir"/>
                <a:cs typeface="Avenir"/>
                <a:sym typeface="Avenir"/>
              </a:rPr>
              <a:t>The process will be considered formally initiated on the day the position briefing is conducted (Day 1). By moving forward with this briefing, the client implicitly accepts the proposal and all terms and conditions outlined herein.</a:t>
            </a:r>
          </a:p>
        </p:txBody>
      </p:sp>
      <p:sp>
        <p:nvSpPr>
          <p:cNvPr id="249" name="Google Shape;249;g35ba6ddf0db_0_19"/>
          <p:cNvSpPr/>
          <p:nvPr/>
        </p:nvSpPr>
        <p:spPr>
          <a:xfrm>
            <a:off x="5339952" y="8539274"/>
            <a:ext cx="246091" cy="246091"/>
          </a:xfrm>
          <a:custGeom>
            <a:avLst/>
            <a:gdLst/>
            <a:ahLst/>
            <a:cxnLst/>
            <a:rect l="l" t="t" r="r" b="b"/>
            <a:pathLst>
              <a:path w="246091" h="246091" extrusionOk="0">
                <a:moveTo>
                  <a:pt x="0" y="0"/>
                </a:moveTo>
                <a:lnTo>
                  <a:pt x="246091" y="0"/>
                </a:lnTo>
                <a:lnTo>
                  <a:pt x="246091" y="246091"/>
                </a:lnTo>
                <a:lnTo>
                  <a:pt x="0" y="246091"/>
                </a:lnTo>
                <a:lnTo>
                  <a:pt x="0" y="0"/>
                </a:lnTo>
                <a:close/>
              </a:path>
            </a:pathLst>
          </a:custGeom>
          <a:blipFill rotWithShape="1">
            <a:blip r:embed="rId4">
              <a:alphaModFix/>
            </a:blip>
            <a:stretch>
              <a:fillRect/>
            </a:stretch>
          </a:blipFill>
          <a:ln>
            <a:noFill/>
          </a:ln>
        </p:spPr>
      </p:sp>
      <p:sp>
        <p:nvSpPr>
          <p:cNvPr id="250" name="Google Shape;250;g35ba6ddf0db_0_19"/>
          <p:cNvSpPr txBox="1"/>
          <p:nvPr/>
        </p:nvSpPr>
        <p:spPr>
          <a:xfrm>
            <a:off x="5820600" y="8472600"/>
            <a:ext cx="3666300" cy="147425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700"/>
              <a:buFont typeface="Arial"/>
              <a:buNone/>
            </a:pPr>
            <a:r>
              <a:rPr lang="en-US" sz="1700" b="1" i="0" u="none" strike="noStrike" cap="none" dirty="0">
                <a:solidFill>
                  <a:srgbClr val="000000"/>
                </a:solidFill>
                <a:latin typeface="Avenir"/>
                <a:ea typeface="Avenir"/>
                <a:cs typeface="Avenir"/>
                <a:sym typeface="Avenir"/>
              </a:rPr>
              <a:t>REFERRALS:</a:t>
            </a:r>
            <a:endParaRPr sz="1200" b="0" i="0" u="none" strike="noStrike" cap="none" dirty="0">
              <a:solidFill>
                <a:srgbClr val="000000"/>
              </a:solidFill>
              <a:latin typeface="Avenir"/>
              <a:ea typeface="Avenir"/>
              <a:cs typeface="Avenir"/>
              <a:sym typeface="Avenir"/>
            </a:endParaRPr>
          </a:p>
          <a:p>
            <a:pPr marL="0" marR="0" lvl="0" indent="0" algn="l" rtl="0">
              <a:lnSpc>
                <a:spcPct val="100000"/>
              </a:lnSpc>
              <a:spcBef>
                <a:spcPts val="0"/>
              </a:spcBef>
              <a:spcAft>
                <a:spcPts val="0"/>
              </a:spcAft>
              <a:buClr>
                <a:schemeClr val="dk1"/>
              </a:buClr>
              <a:buSzPts val="1400"/>
              <a:buFont typeface="Arial"/>
              <a:buNone/>
            </a:pPr>
            <a:r>
              <a:rPr lang="en-US" sz="1200" b="0" i="0" u="none" strike="noStrike" cap="none" dirty="0">
                <a:solidFill>
                  <a:srgbClr val="000000"/>
                </a:solidFill>
                <a:latin typeface="Avenir"/>
                <a:ea typeface="Avenir"/>
                <a:cs typeface="Avenir"/>
                <a:sym typeface="Avenir"/>
              </a:rPr>
              <a:t>If the company introduces internal or external referrals, these candidates must be included as part of VON DER HEIDE’s recruitment process. If the position is ultimately filled by any of these referred candidates, a 15% discount will be applied to the total project fee, reflected in the final invoice upon closure of the process.</a:t>
            </a:r>
          </a:p>
        </p:txBody>
      </p:sp>
      <p:sp>
        <p:nvSpPr>
          <p:cNvPr id="251" name="Google Shape;251;g35ba6ddf0db_0_19"/>
          <p:cNvSpPr/>
          <p:nvPr/>
        </p:nvSpPr>
        <p:spPr>
          <a:xfrm>
            <a:off x="10609477" y="3234246"/>
            <a:ext cx="246091" cy="246091"/>
          </a:xfrm>
          <a:custGeom>
            <a:avLst/>
            <a:gdLst/>
            <a:ahLst/>
            <a:cxnLst/>
            <a:rect l="l" t="t" r="r" b="b"/>
            <a:pathLst>
              <a:path w="246091" h="246091" extrusionOk="0">
                <a:moveTo>
                  <a:pt x="0" y="0"/>
                </a:moveTo>
                <a:lnTo>
                  <a:pt x="246091" y="0"/>
                </a:lnTo>
                <a:lnTo>
                  <a:pt x="246091" y="246092"/>
                </a:lnTo>
                <a:lnTo>
                  <a:pt x="0" y="246092"/>
                </a:lnTo>
                <a:lnTo>
                  <a:pt x="0" y="0"/>
                </a:lnTo>
                <a:close/>
              </a:path>
            </a:pathLst>
          </a:custGeom>
          <a:blipFill rotWithShape="1">
            <a:blip r:embed="rId4">
              <a:alphaModFix/>
            </a:blip>
            <a:stretch>
              <a:fillRect/>
            </a:stretch>
          </a:blipFill>
          <a:ln>
            <a:noFill/>
          </a:ln>
        </p:spPr>
      </p:sp>
      <p:sp>
        <p:nvSpPr>
          <p:cNvPr id="252" name="Google Shape;252;g35ba6ddf0db_0_19"/>
          <p:cNvSpPr/>
          <p:nvPr/>
        </p:nvSpPr>
        <p:spPr>
          <a:xfrm>
            <a:off x="10609477" y="5034074"/>
            <a:ext cx="246091" cy="246091"/>
          </a:xfrm>
          <a:custGeom>
            <a:avLst/>
            <a:gdLst/>
            <a:ahLst/>
            <a:cxnLst/>
            <a:rect l="l" t="t" r="r" b="b"/>
            <a:pathLst>
              <a:path w="246091" h="246091" extrusionOk="0">
                <a:moveTo>
                  <a:pt x="0" y="0"/>
                </a:moveTo>
                <a:lnTo>
                  <a:pt x="246091" y="0"/>
                </a:lnTo>
                <a:lnTo>
                  <a:pt x="246091" y="246091"/>
                </a:lnTo>
                <a:lnTo>
                  <a:pt x="0" y="246091"/>
                </a:lnTo>
                <a:lnTo>
                  <a:pt x="0" y="0"/>
                </a:lnTo>
                <a:close/>
              </a:path>
            </a:pathLst>
          </a:custGeom>
          <a:blipFill rotWithShape="1">
            <a:blip r:embed="rId4">
              <a:alphaModFix/>
            </a:blip>
            <a:stretch>
              <a:fillRect/>
            </a:stretch>
          </a:blipFill>
          <a:ln>
            <a:noFill/>
          </a:ln>
        </p:spPr>
      </p:sp>
      <p:sp>
        <p:nvSpPr>
          <p:cNvPr id="253" name="Google Shape;253;g35ba6ddf0db_0_19"/>
          <p:cNvSpPr txBox="1"/>
          <p:nvPr/>
        </p:nvSpPr>
        <p:spPr>
          <a:xfrm>
            <a:off x="11002200" y="3167575"/>
            <a:ext cx="5219700" cy="128958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700"/>
              <a:buFont typeface="Arial"/>
              <a:buNone/>
            </a:pPr>
            <a:r>
              <a:rPr lang="en-US" sz="1700" b="1" dirty="0">
                <a:latin typeface="Avenir"/>
                <a:ea typeface="Avenir"/>
                <a:cs typeface="Avenir"/>
                <a:sym typeface="Avenir"/>
              </a:rPr>
              <a:t>CLIENT COMMITMENT</a:t>
            </a:r>
            <a:r>
              <a:rPr lang="en-US" sz="1700" b="1" i="0" u="none" strike="noStrike" cap="none" dirty="0">
                <a:solidFill>
                  <a:srgbClr val="000000"/>
                </a:solidFill>
                <a:latin typeface="Avenir"/>
                <a:ea typeface="Avenir"/>
                <a:cs typeface="Avenir"/>
                <a:sym typeface="Avenir"/>
              </a:rPr>
              <a:t>:</a:t>
            </a:r>
            <a:endParaRPr sz="1200" b="0" i="0" u="none" strike="noStrike" cap="none" dirty="0">
              <a:solidFill>
                <a:srgbClr val="000000"/>
              </a:solidFill>
              <a:latin typeface="Avenir"/>
              <a:ea typeface="Avenir"/>
              <a:cs typeface="Avenir"/>
              <a:sym typeface="Avenir"/>
            </a:endParaRPr>
          </a:p>
          <a:p>
            <a:pPr marL="0" marR="0" lvl="0" indent="0" algn="just" rtl="0">
              <a:lnSpc>
                <a:spcPct val="100000"/>
              </a:lnSpc>
              <a:spcBef>
                <a:spcPts val="0"/>
              </a:spcBef>
              <a:spcAft>
                <a:spcPts val="0"/>
              </a:spcAft>
              <a:buClr>
                <a:schemeClr val="dk1"/>
              </a:buClr>
              <a:buSzPts val="1400"/>
              <a:buFont typeface="Arial"/>
              <a:buNone/>
            </a:pPr>
            <a:r>
              <a:rPr lang="en-US" sz="1200" b="0" i="0" u="none" strike="noStrike" cap="none" dirty="0">
                <a:solidFill>
                  <a:srgbClr val="000000"/>
                </a:solidFill>
                <a:latin typeface="Avenir"/>
                <a:ea typeface="Avenir"/>
                <a:cs typeface="Avenir"/>
                <a:sym typeface="Avenir"/>
              </a:rPr>
              <a:t>The client agrees to: Provide the basic information to be shared with candidates. Remain agile and flexible throughout follow-up and adjustment needs. Conduct interviews with presented candidates. Provide feedback within two business days of each interview. Maintain full confidentiality regarding the identity of the professionals involved</a:t>
            </a:r>
          </a:p>
        </p:txBody>
      </p:sp>
      <p:sp>
        <p:nvSpPr>
          <p:cNvPr id="254" name="Google Shape;254;g35ba6ddf0db_0_19"/>
          <p:cNvSpPr txBox="1"/>
          <p:nvPr/>
        </p:nvSpPr>
        <p:spPr>
          <a:xfrm>
            <a:off x="11002200" y="4967400"/>
            <a:ext cx="5219700" cy="2212913"/>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700"/>
              <a:buFont typeface="Arial"/>
              <a:buNone/>
            </a:pPr>
            <a:r>
              <a:rPr lang="en-US" sz="1700" b="1" i="0" u="none" strike="noStrike" cap="none" dirty="0">
                <a:solidFill>
                  <a:srgbClr val="000000"/>
                </a:solidFill>
                <a:latin typeface="Avenir"/>
                <a:ea typeface="Avenir"/>
                <a:cs typeface="Avenir"/>
                <a:sym typeface="Avenir"/>
              </a:rPr>
              <a:t>OFF LIMITS:</a:t>
            </a:r>
            <a:endParaRPr sz="1200" b="0" i="0" u="none" strike="noStrike" cap="none" dirty="0">
              <a:solidFill>
                <a:srgbClr val="000000"/>
              </a:solidFill>
              <a:latin typeface="Avenir"/>
              <a:ea typeface="Avenir"/>
              <a:cs typeface="Avenir"/>
              <a:sym typeface="Avenir"/>
            </a:endParaRPr>
          </a:p>
          <a:p>
            <a:pPr marL="0" marR="0" lvl="0" indent="0" algn="l" rtl="0">
              <a:lnSpc>
                <a:spcPct val="100000"/>
              </a:lnSpc>
              <a:spcBef>
                <a:spcPts val="0"/>
              </a:spcBef>
              <a:spcAft>
                <a:spcPts val="0"/>
              </a:spcAft>
              <a:buClr>
                <a:schemeClr val="dk1"/>
              </a:buClr>
              <a:buSzPts val="1400"/>
              <a:buFont typeface="Arial"/>
              <a:buNone/>
            </a:pPr>
            <a:r>
              <a:rPr lang="en-US" sz="1200" b="0" i="0" u="none" strike="noStrike" cap="none" dirty="0">
                <a:solidFill>
                  <a:srgbClr val="000000"/>
                </a:solidFill>
                <a:latin typeface="Avenir"/>
                <a:ea typeface="Avenir"/>
                <a:cs typeface="Avenir"/>
                <a:sym typeface="Avenir"/>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9"/>
                  </a:ext>
                </a:extLst>
              </a:rPr>
              <a:t>VON DER HEIDE commits not to proactively approach employees of its active clients within the same country and functional area. The off-limits condition expires six months after the last completed project, in the absence of commercial activity. Candidates placed by VON DER HEIDE will not be considered for other Talent Acquisition processes for a period of two years from their start date with the client.</a:t>
            </a:r>
          </a:p>
          <a:p>
            <a:pPr marL="0" marR="0" lvl="0" indent="0" algn="l" rtl="0">
              <a:lnSpc>
                <a:spcPct val="100000"/>
              </a:lnSpc>
              <a:spcBef>
                <a:spcPts val="0"/>
              </a:spcBef>
              <a:spcAft>
                <a:spcPts val="0"/>
              </a:spcAft>
              <a:buClr>
                <a:schemeClr val="dk1"/>
              </a:buClr>
              <a:buSzPts val="1400"/>
              <a:buFont typeface="Arial"/>
              <a:buNone/>
            </a:pPr>
            <a:endParaRPr lang="en-US" sz="1200" b="0" i="0" u="none" strike="noStrike" cap="none" dirty="0">
              <a:solidFill>
                <a:srgbClr val="000000"/>
              </a:solidFill>
              <a:latin typeface="Avenir"/>
              <a:ea typeface="Avenir"/>
              <a:cs typeface="Avenir"/>
              <a:sym typeface="Avenir"/>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9"/>
                </a:ext>
              </a:extLst>
            </a:endParaRPr>
          </a:p>
          <a:p>
            <a:pPr marL="0" marR="0" lvl="0" indent="0" algn="l" rtl="0">
              <a:lnSpc>
                <a:spcPct val="100000"/>
              </a:lnSpc>
              <a:spcBef>
                <a:spcPts val="0"/>
              </a:spcBef>
              <a:spcAft>
                <a:spcPts val="0"/>
              </a:spcAft>
              <a:buClr>
                <a:schemeClr val="dk1"/>
              </a:buClr>
              <a:buSzPts val="1400"/>
              <a:buFont typeface="Arial"/>
              <a:buNone/>
            </a:pPr>
            <a:r>
              <a:rPr lang="en-US" sz="1200" b="0" i="0" u="none" strike="noStrike" cap="none" dirty="0">
                <a:solidFill>
                  <a:srgbClr val="000000"/>
                </a:solidFill>
                <a:latin typeface="Avenir"/>
                <a:ea typeface="Avenir"/>
                <a:cs typeface="Avenir"/>
                <a:sym typeface="Avenir"/>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9"/>
                  </a:ext>
                </a:extLst>
              </a:rPr>
              <a:t>If employees of a client apply through public job postings or reach out through other means, VON DER HEIDE reserves the right to assess whether or not to include them in other Talent Acquisition processes.</a:t>
            </a:r>
          </a:p>
          <a:p>
            <a:pPr marL="0" marR="0" lvl="0" indent="0" algn="l" rtl="0">
              <a:lnSpc>
                <a:spcPct val="100000"/>
              </a:lnSpc>
              <a:spcBef>
                <a:spcPts val="0"/>
              </a:spcBef>
              <a:spcAft>
                <a:spcPts val="0"/>
              </a:spcAft>
              <a:buClr>
                <a:schemeClr val="dk1"/>
              </a:buClr>
              <a:buSzPts val="1400"/>
              <a:buFont typeface="Arial"/>
              <a:buNone/>
            </a:pPr>
            <a:r>
              <a:rPr lang="en-US" sz="1200" b="0" i="0" u="none" strike="noStrike" cap="none" dirty="0">
                <a:solidFill>
                  <a:srgbClr val="000000"/>
                </a:solidFill>
                <a:latin typeface="Avenir"/>
                <a:ea typeface="Avenir"/>
                <a:cs typeface="Avenir"/>
                <a:sym typeface="Avenir"/>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9"/>
                  </a:ext>
                </a:extLst>
              </a:rPr>
              <a:t>.</a:t>
            </a:r>
            <a:endParaRPr sz="1200" b="0" i="0" u="none" strike="noStrike" cap="none" dirty="0">
              <a:solidFill>
                <a:srgbClr val="000000"/>
              </a:solidFill>
              <a:latin typeface="Avenir"/>
              <a:ea typeface="Avenir"/>
              <a:cs typeface="Avenir"/>
              <a:sym typeface="Avenir"/>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0"/>
                </a:ext>
              </a:extLst>
            </a:endParaRPr>
          </a:p>
        </p:txBody>
      </p:sp>
      <p:sp>
        <p:nvSpPr>
          <p:cNvPr id="255" name="Google Shape;255;g35ba6ddf0db_0_19"/>
          <p:cNvSpPr/>
          <p:nvPr/>
        </p:nvSpPr>
        <p:spPr>
          <a:xfrm>
            <a:off x="10609477" y="8054849"/>
            <a:ext cx="246091" cy="246091"/>
          </a:xfrm>
          <a:custGeom>
            <a:avLst/>
            <a:gdLst/>
            <a:ahLst/>
            <a:cxnLst/>
            <a:rect l="l" t="t" r="r" b="b"/>
            <a:pathLst>
              <a:path w="246091" h="246091" extrusionOk="0">
                <a:moveTo>
                  <a:pt x="0" y="0"/>
                </a:moveTo>
                <a:lnTo>
                  <a:pt x="246091" y="0"/>
                </a:lnTo>
                <a:lnTo>
                  <a:pt x="246091" y="246091"/>
                </a:lnTo>
                <a:lnTo>
                  <a:pt x="0" y="246091"/>
                </a:lnTo>
                <a:lnTo>
                  <a:pt x="0" y="0"/>
                </a:lnTo>
                <a:close/>
              </a:path>
            </a:pathLst>
          </a:custGeom>
          <a:blipFill rotWithShape="1">
            <a:blip r:embed="rId4">
              <a:alphaModFix/>
            </a:blip>
            <a:stretch>
              <a:fillRect/>
            </a:stretch>
          </a:blipFill>
          <a:ln>
            <a:noFill/>
          </a:ln>
        </p:spPr>
      </p:sp>
      <p:sp>
        <p:nvSpPr>
          <p:cNvPr id="256" name="Google Shape;256;g35ba6ddf0db_0_19"/>
          <p:cNvSpPr txBox="1"/>
          <p:nvPr/>
        </p:nvSpPr>
        <p:spPr>
          <a:xfrm>
            <a:off x="11002200" y="7988175"/>
            <a:ext cx="5219700" cy="551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700"/>
              <a:buFont typeface="Arial"/>
              <a:buNone/>
            </a:pPr>
            <a:r>
              <a:rPr lang="en-US" sz="1700" b="1" i="0" u="none" strike="noStrike" cap="none" dirty="0">
                <a:solidFill>
                  <a:srgbClr val="000000"/>
                </a:solidFill>
                <a:latin typeface="Avenir"/>
                <a:ea typeface="Avenir"/>
                <a:cs typeface="Avenir"/>
                <a:sym typeface="Avenir"/>
              </a:rPr>
              <a:t>VALIDITY:</a:t>
            </a:r>
            <a:endParaRPr sz="1200" b="0" i="0" u="none" strike="noStrike" cap="none" dirty="0">
              <a:solidFill>
                <a:srgbClr val="000000"/>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400"/>
              <a:buFont typeface="Arial"/>
              <a:buNone/>
            </a:pPr>
            <a:r>
              <a:rPr lang="en-US" sz="1200" dirty="0">
                <a:latin typeface="Avenir"/>
                <a:ea typeface="Avenir"/>
                <a:cs typeface="Avenir"/>
                <a:sym typeface="Avenir"/>
              </a:rPr>
              <a:t>This proposal is valid for 30 days.</a:t>
            </a:r>
            <a:r>
              <a:rPr lang="en-US" sz="1200" b="0" i="0" u="none" strike="noStrike" cap="none" dirty="0">
                <a:solidFill>
                  <a:srgbClr val="000000"/>
                </a:solidFill>
                <a:latin typeface="Avenir"/>
                <a:ea typeface="Avenir"/>
                <a:cs typeface="Avenir"/>
                <a:sym typeface="Avenir"/>
              </a:rPr>
              <a:t> </a:t>
            </a:r>
            <a:endParaRPr sz="1200" b="0" i="0" u="none" strike="noStrike" cap="none" dirty="0">
              <a:solidFill>
                <a:srgbClr val="000000"/>
              </a:solidFill>
              <a:latin typeface="Avenir"/>
              <a:ea typeface="Avenir"/>
              <a:cs typeface="Avenir"/>
              <a:sym typeface="Avenir"/>
            </a:endParaRPr>
          </a:p>
        </p:txBody>
      </p:sp>
      <p:sp>
        <p:nvSpPr>
          <p:cNvPr id="257" name="Google Shape;257;g35ba6ddf0db_0_19"/>
          <p:cNvSpPr/>
          <p:nvPr/>
        </p:nvSpPr>
        <p:spPr>
          <a:xfrm>
            <a:off x="10609477" y="9179199"/>
            <a:ext cx="246091" cy="246091"/>
          </a:xfrm>
          <a:custGeom>
            <a:avLst/>
            <a:gdLst/>
            <a:ahLst/>
            <a:cxnLst/>
            <a:rect l="l" t="t" r="r" b="b"/>
            <a:pathLst>
              <a:path w="246091" h="246091" extrusionOk="0">
                <a:moveTo>
                  <a:pt x="0" y="0"/>
                </a:moveTo>
                <a:lnTo>
                  <a:pt x="246091" y="0"/>
                </a:lnTo>
                <a:lnTo>
                  <a:pt x="246091" y="246091"/>
                </a:lnTo>
                <a:lnTo>
                  <a:pt x="0" y="246091"/>
                </a:lnTo>
                <a:lnTo>
                  <a:pt x="0" y="0"/>
                </a:lnTo>
                <a:close/>
              </a:path>
            </a:pathLst>
          </a:custGeom>
          <a:blipFill rotWithShape="1">
            <a:blip r:embed="rId4">
              <a:alphaModFix/>
            </a:blip>
            <a:stretch>
              <a:fillRect/>
            </a:stretch>
          </a:blipFill>
          <a:ln>
            <a:noFill/>
          </a:ln>
        </p:spPr>
      </p:sp>
      <p:sp>
        <p:nvSpPr>
          <p:cNvPr id="258" name="Google Shape;258;g35ba6ddf0db_0_19"/>
          <p:cNvSpPr txBox="1"/>
          <p:nvPr/>
        </p:nvSpPr>
        <p:spPr>
          <a:xfrm>
            <a:off x="11025640" y="9129749"/>
            <a:ext cx="5587200" cy="71096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700"/>
              <a:buFont typeface="Arial"/>
              <a:buNone/>
            </a:pPr>
            <a:r>
              <a:rPr lang="en-US" sz="1700" b="1" i="0" u="none" strike="noStrike" cap="none" dirty="0">
                <a:solidFill>
                  <a:srgbClr val="000000"/>
                </a:solidFill>
                <a:latin typeface="Avenir"/>
                <a:ea typeface="Avenir"/>
                <a:cs typeface="Avenir"/>
                <a:sym typeface="Avenir"/>
              </a:rPr>
              <a:t>PAYMENT TERMS:</a:t>
            </a:r>
            <a:endParaRPr sz="1400" b="0" i="0" u="none" strike="noStrike" cap="none" dirty="0">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600"/>
              <a:buFont typeface="Arial"/>
              <a:buNone/>
            </a:pPr>
            <a:r>
              <a:rPr lang="en-US" sz="1600" b="0" i="0" u="none" strike="noStrike" cap="none" dirty="0">
                <a:solidFill>
                  <a:srgbClr val="000000"/>
                </a:solidFill>
                <a:latin typeface="Avenir"/>
                <a:ea typeface="Avenir"/>
                <a:cs typeface="Avenir"/>
                <a:sym typeface="Avenir"/>
              </a:rPr>
              <a:t>30 days from invoice date. </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10"/>
        <p:cNvGrpSpPr/>
        <p:nvPr/>
      </p:nvGrpSpPr>
      <p:grpSpPr>
        <a:xfrm>
          <a:off x="0" y="0"/>
          <a:ext cx="0" cy="0"/>
          <a:chOff x="0" y="0"/>
          <a:chExt cx="0" cy="0"/>
        </a:xfrm>
      </p:grpSpPr>
      <p:sp>
        <p:nvSpPr>
          <p:cNvPr id="211" name="Google Shape;211;g35fb9f226c3_0_0"/>
          <p:cNvSpPr txBox="1"/>
          <p:nvPr/>
        </p:nvSpPr>
        <p:spPr>
          <a:xfrm>
            <a:off x="1295773" y="4133450"/>
            <a:ext cx="9116100" cy="1772793"/>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28006"/>
              </a:lnSpc>
              <a:spcBef>
                <a:spcPts val="0"/>
              </a:spcBef>
              <a:spcAft>
                <a:spcPts val="0"/>
              </a:spcAft>
              <a:buClr>
                <a:srgbClr val="000000"/>
              </a:buClr>
              <a:buSzPts val="5306"/>
              <a:buFont typeface="Arial"/>
              <a:buNone/>
              <a:tabLst/>
              <a:defRPr/>
            </a:pPr>
            <a:r>
              <a:rPr kumimoji="0" lang="en-US" sz="9000" b="1" i="0" u="none" strike="noStrike" kern="0" cap="none" spc="0" normalizeH="0" baseline="0" noProof="0" dirty="0">
                <a:ln>
                  <a:noFill/>
                </a:ln>
                <a:solidFill>
                  <a:srgbClr val="F8BF00"/>
                </a:solidFill>
                <a:effectLst/>
                <a:uLnTx/>
                <a:uFillTx/>
                <a:latin typeface="Garamond"/>
                <a:ea typeface="Garamond"/>
                <a:cs typeface="Garamond"/>
                <a:sym typeface="Garamond"/>
              </a:rPr>
              <a:t>Portfolio</a:t>
            </a:r>
            <a:endParaRPr kumimoji="0" sz="9000" b="0" i="0" u="none" strike="noStrike" kern="0" cap="none" spc="0" normalizeH="0" baseline="0" noProof="0" dirty="0">
              <a:ln>
                <a:noFill/>
              </a:ln>
              <a:solidFill>
                <a:srgbClr val="000000"/>
              </a:solidFill>
              <a:effectLst/>
              <a:uLnTx/>
              <a:uFillTx/>
              <a:latin typeface="Garamond"/>
              <a:ea typeface="Garamond"/>
              <a:cs typeface="Garamond"/>
              <a:sym typeface="Garamond"/>
            </a:endParaRPr>
          </a:p>
        </p:txBody>
      </p:sp>
      <p:sp>
        <p:nvSpPr>
          <p:cNvPr id="212" name="Google Shape;212;g35fb9f226c3_0_0"/>
          <p:cNvSpPr txBox="1"/>
          <p:nvPr/>
        </p:nvSpPr>
        <p:spPr>
          <a:xfrm>
            <a:off x="1258624" y="3152125"/>
            <a:ext cx="6609619" cy="1723549"/>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39991"/>
              </a:lnSpc>
              <a:spcBef>
                <a:spcPts val="0"/>
              </a:spcBef>
              <a:spcAft>
                <a:spcPts val="0"/>
              </a:spcAft>
              <a:buClr>
                <a:srgbClr val="000000"/>
              </a:buClr>
              <a:buSzPts val="7064"/>
              <a:buFont typeface="Arial"/>
              <a:buNone/>
              <a:tabLst/>
              <a:defRPr/>
            </a:pPr>
            <a:r>
              <a:rPr kumimoji="0" lang="en-US" sz="8000" b="1" i="0" u="none" strike="noStrike" kern="0" cap="none" spc="0" normalizeH="0" baseline="0" noProof="0" dirty="0">
                <a:ln>
                  <a:noFill/>
                </a:ln>
                <a:solidFill>
                  <a:srgbClr val="FFFFFF"/>
                </a:solidFill>
                <a:effectLst/>
                <a:uLnTx/>
                <a:uFillTx/>
                <a:latin typeface="Garamond"/>
                <a:ea typeface="Arial"/>
                <a:cs typeface="Arial"/>
                <a:sym typeface="Garamond"/>
              </a:rPr>
              <a:t>Our Solution</a:t>
            </a:r>
            <a:endParaRPr kumimoji="0" sz="80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213" name="Google Shape;213;g35fb9f226c3_0_0"/>
          <p:cNvSpPr txBox="1"/>
          <p:nvPr/>
        </p:nvSpPr>
        <p:spPr>
          <a:xfrm>
            <a:off x="1310100" y="5398735"/>
            <a:ext cx="5207400" cy="861774"/>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7064"/>
              <a:buFont typeface="Arial"/>
              <a:buNone/>
              <a:tabLst/>
              <a:defRPr/>
            </a:pPr>
            <a:r>
              <a:rPr kumimoji="0" lang="en-US" sz="2800" b="0" i="0" u="none" strike="noStrike" kern="0" cap="none" spc="0" normalizeH="0" baseline="0" noProof="0" dirty="0">
                <a:ln>
                  <a:noFill/>
                </a:ln>
                <a:solidFill>
                  <a:srgbClr val="FFFFFF"/>
                </a:solidFill>
                <a:effectLst/>
                <a:uLnTx/>
                <a:uFillTx/>
                <a:latin typeface="Garamond"/>
                <a:ea typeface="Garamond"/>
                <a:cs typeface="Garamond"/>
                <a:sym typeface="Garamond"/>
              </a:rPr>
              <a:t>Explore our solutions to hire and empower your talent.</a:t>
            </a:r>
            <a:endParaRPr kumimoji="0" sz="2800" b="0" i="0" u="none" strike="noStrike" kern="0" cap="none" spc="0" normalizeH="0" baseline="0" noProof="0" dirty="0">
              <a:ln>
                <a:noFill/>
              </a:ln>
              <a:solidFill>
                <a:srgbClr val="FFFFFF"/>
              </a:solidFill>
              <a:effectLst/>
              <a:uLnTx/>
              <a:uFillTx/>
              <a:latin typeface="Garamond"/>
              <a:ea typeface="Garamond"/>
              <a:cs typeface="Garamond"/>
              <a:sym typeface="Garamond"/>
            </a:endParaRPr>
          </a:p>
        </p:txBody>
      </p:sp>
      <p:sp>
        <p:nvSpPr>
          <p:cNvPr id="214" name="Google Shape;214;g35fb9f226c3_0_0"/>
          <p:cNvSpPr txBox="1"/>
          <p:nvPr/>
        </p:nvSpPr>
        <p:spPr>
          <a:xfrm>
            <a:off x="10411882" y="1946525"/>
            <a:ext cx="3842700" cy="554100"/>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28006"/>
              </a:lnSpc>
              <a:spcBef>
                <a:spcPts val="0"/>
              </a:spcBef>
              <a:spcAft>
                <a:spcPts val="0"/>
              </a:spcAft>
              <a:buClr>
                <a:srgbClr val="000000"/>
              </a:buClr>
              <a:buSzPts val="5306"/>
              <a:buFont typeface="Arial"/>
              <a:buNone/>
              <a:tabLst/>
              <a:defRPr/>
            </a:pPr>
            <a:r>
              <a:rPr kumimoji="0" lang="en-US" sz="3600" b="1" i="0" u="none" strike="noStrike" kern="0" cap="none" spc="0" normalizeH="0" baseline="0" noProof="0">
                <a:ln>
                  <a:noFill/>
                </a:ln>
                <a:solidFill>
                  <a:srgbClr val="FFFFFF"/>
                </a:solidFill>
                <a:effectLst/>
                <a:uLnTx/>
                <a:uFillTx/>
                <a:latin typeface="Garamond"/>
                <a:ea typeface="Garamond"/>
                <a:cs typeface="Garamond"/>
                <a:sym typeface="Garamond"/>
              </a:rPr>
              <a:t>Executive Search </a:t>
            </a:r>
            <a:endParaRPr kumimoji="0" sz="3600" b="0" i="0" u="none" strike="noStrike" kern="0" cap="none" spc="0" normalizeH="0" baseline="0" noProof="0">
              <a:ln>
                <a:noFill/>
              </a:ln>
              <a:solidFill>
                <a:srgbClr val="FFFFFF"/>
              </a:solidFill>
              <a:effectLst/>
              <a:uLnTx/>
              <a:uFillTx/>
              <a:latin typeface="Arial"/>
              <a:cs typeface="Arial"/>
              <a:sym typeface="Arial"/>
            </a:endParaRPr>
          </a:p>
        </p:txBody>
      </p:sp>
      <p:sp>
        <p:nvSpPr>
          <p:cNvPr id="215" name="Google Shape;215;g35fb9f226c3_0_0"/>
          <p:cNvSpPr txBox="1"/>
          <p:nvPr/>
        </p:nvSpPr>
        <p:spPr>
          <a:xfrm>
            <a:off x="10411882" y="6046025"/>
            <a:ext cx="3842700" cy="554100"/>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28006"/>
              </a:lnSpc>
              <a:spcBef>
                <a:spcPts val="0"/>
              </a:spcBef>
              <a:spcAft>
                <a:spcPts val="0"/>
              </a:spcAft>
              <a:buClr>
                <a:srgbClr val="000000"/>
              </a:buClr>
              <a:buSzPts val="5306"/>
              <a:buFont typeface="Arial"/>
              <a:buNone/>
              <a:tabLst/>
              <a:defRPr/>
            </a:pPr>
            <a:r>
              <a:rPr kumimoji="0" lang="en-US" sz="3600" b="1" i="0" u="none" strike="noStrike" kern="0" cap="none" spc="0" normalizeH="0" baseline="0" noProof="0">
                <a:ln>
                  <a:noFill/>
                </a:ln>
                <a:solidFill>
                  <a:srgbClr val="FFFFFF"/>
                </a:solidFill>
                <a:effectLst/>
                <a:uLnTx/>
                <a:uFillTx/>
                <a:latin typeface="Garamond"/>
                <a:ea typeface="Garamond"/>
                <a:cs typeface="Garamond"/>
                <a:sym typeface="Garamond"/>
              </a:rPr>
              <a:t>Selfplacement</a:t>
            </a:r>
            <a:endParaRPr kumimoji="0" sz="3600" b="0" i="0" u="none" strike="noStrike" kern="0" cap="none" spc="0" normalizeH="0" baseline="0" noProof="0">
              <a:ln>
                <a:noFill/>
              </a:ln>
              <a:solidFill>
                <a:srgbClr val="FFFFFF"/>
              </a:solidFill>
              <a:effectLst/>
              <a:uLnTx/>
              <a:uFillTx/>
              <a:latin typeface="Arial"/>
              <a:cs typeface="Arial"/>
              <a:sym typeface="Arial"/>
            </a:endParaRPr>
          </a:p>
        </p:txBody>
      </p:sp>
      <p:cxnSp>
        <p:nvCxnSpPr>
          <p:cNvPr id="216" name="Google Shape;216;g35fb9f226c3_0_0"/>
          <p:cNvCxnSpPr/>
          <p:nvPr/>
        </p:nvCxnSpPr>
        <p:spPr>
          <a:xfrm>
            <a:off x="10411875" y="2824650"/>
            <a:ext cx="4466700" cy="0"/>
          </a:xfrm>
          <a:prstGeom prst="straightConnector1">
            <a:avLst/>
          </a:prstGeom>
          <a:noFill/>
          <a:ln w="9525" cap="flat" cmpd="sng">
            <a:solidFill>
              <a:schemeClr val="lt1"/>
            </a:solidFill>
            <a:prstDash val="solid"/>
            <a:round/>
            <a:headEnd type="none" w="med" len="med"/>
            <a:tailEnd type="none" w="med" len="med"/>
          </a:ln>
        </p:spPr>
      </p:cxnSp>
      <p:sp>
        <p:nvSpPr>
          <p:cNvPr id="217" name="Google Shape;217;g35fb9f226c3_0_0"/>
          <p:cNvSpPr txBox="1"/>
          <p:nvPr/>
        </p:nvSpPr>
        <p:spPr>
          <a:xfrm>
            <a:off x="10419757" y="3033625"/>
            <a:ext cx="3842700" cy="554100"/>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28006"/>
              </a:lnSpc>
              <a:spcBef>
                <a:spcPts val="0"/>
              </a:spcBef>
              <a:spcAft>
                <a:spcPts val="0"/>
              </a:spcAft>
              <a:buClr>
                <a:srgbClr val="000000"/>
              </a:buClr>
              <a:buSzPts val="5306"/>
              <a:buFont typeface="Arial"/>
              <a:buNone/>
              <a:tabLst/>
              <a:defRPr/>
            </a:pPr>
            <a:r>
              <a:rPr kumimoji="0" lang="en-US" sz="3600" b="1" i="0" u="none" strike="noStrike" kern="0" cap="none" spc="0" normalizeH="0" baseline="0" noProof="0">
                <a:ln>
                  <a:noFill/>
                </a:ln>
                <a:solidFill>
                  <a:srgbClr val="FFFFFF"/>
                </a:solidFill>
                <a:effectLst/>
                <a:uLnTx/>
                <a:uFillTx/>
                <a:latin typeface="Garamond"/>
                <a:ea typeface="Garamond"/>
                <a:cs typeface="Garamond"/>
                <a:sym typeface="Garamond"/>
              </a:rPr>
              <a:t>Assessment </a:t>
            </a:r>
            <a:endParaRPr kumimoji="0" sz="3600" b="0" i="0" u="none" strike="noStrike" kern="0" cap="none" spc="0" normalizeH="0" baseline="0" noProof="0">
              <a:ln>
                <a:noFill/>
              </a:ln>
              <a:solidFill>
                <a:srgbClr val="FFFFFF"/>
              </a:solidFill>
              <a:effectLst/>
              <a:uLnTx/>
              <a:uFillTx/>
              <a:latin typeface="Arial"/>
              <a:cs typeface="Arial"/>
              <a:sym typeface="Arial"/>
            </a:endParaRPr>
          </a:p>
        </p:txBody>
      </p:sp>
      <p:cxnSp>
        <p:nvCxnSpPr>
          <p:cNvPr id="218" name="Google Shape;218;g35fb9f226c3_0_0"/>
          <p:cNvCxnSpPr/>
          <p:nvPr/>
        </p:nvCxnSpPr>
        <p:spPr>
          <a:xfrm>
            <a:off x="10411875" y="3767875"/>
            <a:ext cx="4466700" cy="0"/>
          </a:xfrm>
          <a:prstGeom prst="straightConnector1">
            <a:avLst/>
          </a:prstGeom>
          <a:noFill/>
          <a:ln w="9525" cap="flat" cmpd="sng">
            <a:solidFill>
              <a:schemeClr val="lt1"/>
            </a:solidFill>
            <a:prstDash val="solid"/>
            <a:round/>
            <a:headEnd type="none" w="med" len="med"/>
            <a:tailEnd type="none" w="med" len="med"/>
          </a:ln>
        </p:spPr>
      </p:cxnSp>
      <p:sp>
        <p:nvSpPr>
          <p:cNvPr id="219" name="Google Shape;219;g35fb9f226c3_0_0"/>
          <p:cNvSpPr txBox="1"/>
          <p:nvPr/>
        </p:nvSpPr>
        <p:spPr>
          <a:xfrm>
            <a:off x="10419757" y="4024225"/>
            <a:ext cx="3842700" cy="554100"/>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28006"/>
              </a:lnSpc>
              <a:spcBef>
                <a:spcPts val="0"/>
              </a:spcBef>
              <a:spcAft>
                <a:spcPts val="0"/>
              </a:spcAft>
              <a:buClr>
                <a:srgbClr val="000000"/>
              </a:buClr>
              <a:buSzPts val="5306"/>
              <a:buFont typeface="Arial"/>
              <a:buNone/>
              <a:tabLst/>
              <a:defRPr/>
            </a:pPr>
            <a:r>
              <a:rPr kumimoji="0" lang="en-US" sz="3600" b="1" i="0" u="none" strike="noStrike" kern="0" cap="none" spc="0" normalizeH="0" baseline="0" noProof="0">
                <a:ln>
                  <a:noFill/>
                </a:ln>
                <a:solidFill>
                  <a:srgbClr val="FFFFFF"/>
                </a:solidFill>
                <a:effectLst/>
                <a:uLnTx/>
                <a:uFillTx/>
                <a:latin typeface="Garamond"/>
                <a:ea typeface="Garamond"/>
                <a:cs typeface="Garamond"/>
                <a:sym typeface="Garamond"/>
              </a:rPr>
              <a:t>Market Insights </a:t>
            </a:r>
            <a:endParaRPr kumimoji="0" sz="3600" b="0" i="0" u="none" strike="noStrike" kern="0" cap="none" spc="0" normalizeH="0" baseline="0" noProof="0">
              <a:ln>
                <a:noFill/>
              </a:ln>
              <a:solidFill>
                <a:srgbClr val="FFFFFF"/>
              </a:solidFill>
              <a:effectLst/>
              <a:uLnTx/>
              <a:uFillTx/>
              <a:latin typeface="Arial"/>
              <a:cs typeface="Arial"/>
              <a:sym typeface="Arial"/>
            </a:endParaRPr>
          </a:p>
        </p:txBody>
      </p:sp>
      <p:cxnSp>
        <p:nvCxnSpPr>
          <p:cNvPr id="220" name="Google Shape;220;g35fb9f226c3_0_0"/>
          <p:cNvCxnSpPr/>
          <p:nvPr/>
        </p:nvCxnSpPr>
        <p:spPr>
          <a:xfrm>
            <a:off x="10411875" y="4758475"/>
            <a:ext cx="4466700" cy="0"/>
          </a:xfrm>
          <a:prstGeom prst="straightConnector1">
            <a:avLst/>
          </a:prstGeom>
          <a:noFill/>
          <a:ln w="9525" cap="flat" cmpd="sng">
            <a:solidFill>
              <a:schemeClr val="lt1"/>
            </a:solidFill>
            <a:prstDash val="solid"/>
            <a:round/>
            <a:headEnd type="none" w="med" len="med"/>
            <a:tailEnd type="none" w="med" len="med"/>
          </a:ln>
        </p:spPr>
      </p:cxnSp>
      <p:sp>
        <p:nvSpPr>
          <p:cNvPr id="221" name="Google Shape;221;g35fb9f226c3_0_0"/>
          <p:cNvSpPr txBox="1"/>
          <p:nvPr/>
        </p:nvSpPr>
        <p:spPr>
          <a:xfrm>
            <a:off x="10419757" y="5035125"/>
            <a:ext cx="3842700" cy="554100"/>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28006"/>
              </a:lnSpc>
              <a:spcBef>
                <a:spcPts val="0"/>
              </a:spcBef>
              <a:spcAft>
                <a:spcPts val="0"/>
              </a:spcAft>
              <a:buClr>
                <a:srgbClr val="000000"/>
              </a:buClr>
              <a:buSzPts val="5306"/>
              <a:buFont typeface="Arial"/>
              <a:buNone/>
              <a:tabLst/>
              <a:defRPr/>
            </a:pPr>
            <a:r>
              <a:rPr kumimoji="0" lang="en-US" sz="3600" b="1" i="0" u="none" strike="noStrike" kern="0" cap="none" spc="0" normalizeH="0" baseline="0" noProof="0">
                <a:ln>
                  <a:noFill/>
                </a:ln>
                <a:solidFill>
                  <a:srgbClr val="FFFFFF"/>
                </a:solidFill>
                <a:effectLst/>
                <a:uLnTx/>
                <a:uFillTx/>
                <a:latin typeface="Garamond"/>
                <a:ea typeface="Garamond"/>
                <a:cs typeface="Garamond"/>
                <a:sym typeface="Garamond"/>
              </a:rPr>
              <a:t>Coaching</a:t>
            </a:r>
            <a:endParaRPr kumimoji="0" sz="3600" b="0" i="0" u="none" strike="noStrike" kern="0" cap="none" spc="0" normalizeH="0" baseline="0" noProof="0">
              <a:ln>
                <a:noFill/>
              </a:ln>
              <a:solidFill>
                <a:srgbClr val="FFFFFF"/>
              </a:solidFill>
              <a:effectLst/>
              <a:uLnTx/>
              <a:uFillTx/>
              <a:latin typeface="Arial"/>
              <a:cs typeface="Arial"/>
              <a:sym typeface="Arial"/>
            </a:endParaRPr>
          </a:p>
        </p:txBody>
      </p:sp>
      <p:cxnSp>
        <p:nvCxnSpPr>
          <p:cNvPr id="222" name="Google Shape;222;g35fb9f226c3_0_0"/>
          <p:cNvCxnSpPr/>
          <p:nvPr/>
        </p:nvCxnSpPr>
        <p:spPr>
          <a:xfrm>
            <a:off x="10411875" y="5769375"/>
            <a:ext cx="4466700" cy="0"/>
          </a:xfrm>
          <a:prstGeom prst="straightConnector1">
            <a:avLst/>
          </a:prstGeom>
          <a:noFill/>
          <a:ln w="9525" cap="flat" cmpd="sng">
            <a:solidFill>
              <a:schemeClr val="lt1"/>
            </a:solidFill>
            <a:prstDash val="solid"/>
            <a:round/>
            <a:headEnd type="none" w="med" len="med"/>
            <a:tailEnd type="none" w="med" len="med"/>
          </a:ln>
        </p:spPr>
      </p:cxnSp>
      <p:pic>
        <p:nvPicPr>
          <p:cNvPr id="223" name="Google Shape;223;g35fb9f226c3_0_0" title="VDH Logo_2025-02.png"/>
          <p:cNvPicPr preferRelativeResize="0"/>
          <p:nvPr/>
        </p:nvPicPr>
        <p:blipFill>
          <a:blip r:embed="rId4">
            <a:alphaModFix/>
          </a:blip>
          <a:stretch>
            <a:fillRect/>
          </a:stretch>
        </p:blipFill>
        <p:spPr>
          <a:xfrm>
            <a:off x="14012925" y="9058425"/>
            <a:ext cx="3559228" cy="5541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54565B"/>
        </a:solidFill>
        <a:effectLst/>
      </p:bgPr>
    </p:bg>
    <p:spTree>
      <p:nvGrpSpPr>
        <p:cNvPr id="1" name="Shape 279"/>
        <p:cNvGrpSpPr/>
        <p:nvPr/>
      </p:nvGrpSpPr>
      <p:grpSpPr>
        <a:xfrm>
          <a:off x="0" y="0"/>
          <a:ext cx="0" cy="0"/>
          <a:chOff x="0" y="0"/>
          <a:chExt cx="0" cy="0"/>
        </a:xfrm>
      </p:grpSpPr>
      <p:sp>
        <p:nvSpPr>
          <p:cNvPr id="280" name="Google Shape;280;g35e6a1417f8_0_16"/>
          <p:cNvSpPr/>
          <p:nvPr/>
        </p:nvSpPr>
        <p:spPr>
          <a:xfrm>
            <a:off x="0" y="5660700"/>
            <a:ext cx="18320353" cy="4592300"/>
          </a:xfrm>
          <a:custGeom>
            <a:avLst/>
            <a:gdLst/>
            <a:ahLst/>
            <a:cxnLst/>
            <a:rect l="l" t="t" r="r" b="b"/>
            <a:pathLst>
              <a:path w="6428194" h="1554078" extrusionOk="0">
                <a:moveTo>
                  <a:pt x="0" y="0"/>
                </a:moveTo>
                <a:lnTo>
                  <a:pt x="6428194" y="0"/>
                </a:lnTo>
                <a:lnTo>
                  <a:pt x="6428194" y="1554078"/>
                </a:lnTo>
                <a:lnTo>
                  <a:pt x="0" y="1554078"/>
                </a:lnTo>
                <a:close/>
              </a:path>
            </a:pathLst>
          </a:custGeom>
          <a:solidFill>
            <a:srgbClr val="FFFFFF"/>
          </a:solidFill>
          <a:ln>
            <a:noFill/>
          </a:ln>
        </p:spPr>
      </p:sp>
      <p:sp>
        <p:nvSpPr>
          <p:cNvPr id="281" name="Google Shape;281;g35e6a1417f8_0_16"/>
          <p:cNvSpPr txBox="1"/>
          <p:nvPr/>
        </p:nvSpPr>
        <p:spPr>
          <a:xfrm>
            <a:off x="7469472" y="6178207"/>
            <a:ext cx="5188800" cy="2412199"/>
          </a:xfrm>
          <a:prstGeom prst="rect">
            <a:avLst/>
          </a:prstGeom>
          <a:noFill/>
          <a:ln>
            <a:noFill/>
          </a:ln>
        </p:spPr>
        <p:txBody>
          <a:bodyPr spcFirstLastPara="1" wrap="square" lIns="0" tIns="0" rIns="0" bIns="0" anchor="t" anchorCtr="0">
            <a:spAutoFit/>
          </a:bodyPr>
          <a:lstStyle/>
          <a:p>
            <a:pPr marL="0" marR="0" lvl="0" indent="0" algn="r" rtl="0">
              <a:lnSpc>
                <a:spcPct val="140014"/>
              </a:lnSpc>
              <a:spcBef>
                <a:spcPts val="0"/>
              </a:spcBef>
              <a:spcAft>
                <a:spcPts val="0"/>
              </a:spcAft>
              <a:buClr>
                <a:srgbClr val="000000"/>
              </a:buClr>
              <a:buSzPts val="2799"/>
              <a:buFont typeface="Arial"/>
              <a:buNone/>
            </a:pPr>
            <a:r>
              <a:rPr lang="en-US" sz="2799" b="0" i="0" u="none" strike="noStrike" cap="none" dirty="0">
                <a:solidFill>
                  <a:srgbClr val="54565B"/>
                </a:solidFill>
                <a:latin typeface="Avenir"/>
                <a:ea typeface="Avenir"/>
                <a:cs typeface="Avenir"/>
                <a:sym typeface="Avenir"/>
              </a:rPr>
              <a:t>Website:</a:t>
            </a:r>
            <a:endParaRPr sz="1400" b="0" i="0" u="none" strike="noStrike" cap="none" dirty="0">
              <a:solidFill>
                <a:srgbClr val="000000"/>
              </a:solidFill>
              <a:latin typeface="Arial"/>
              <a:ea typeface="Arial"/>
              <a:cs typeface="Arial"/>
              <a:sym typeface="Arial"/>
            </a:endParaRPr>
          </a:p>
          <a:p>
            <a:pPr marL="0" marR="0" lvl="0" indent="0" algn="r" rtl="0">
              <a:lnSpc>
                <a:spcPct val="140014"/>
              </a:lnSpc>
              <a:spcBef>
                <a:spcPts val="0"/>
              </a:spcBef>
              <a:spcAft>
                <a:spcPts val="0"/>
              </a:spcAft>
              <a:buClr>
                <a:srgbClr val="000000"/>
              </a:buClr>
              <a:buSzPts val="2799"/>
              <a:buFont typeface="Arial"/>
              <a:buNone/>
            </a:pPr>
            <a:r>
              <a:rPr lang="en-US" sz="2799" b="0" i="0" u="none" strike="noStrike" cap="none" dirty="0">
                <a:solidFill>
                  <a:srgbClr val="54565B"/>
                </a:solidFill>
                <a:latin typeface="Avenir"/>
                <a:ea typeface="Avenir"/>
                <a:cs typeface="Avenir"/>
                <a:sym typeface="Avenir"/>
              </a:rPr>
              <a:t>LinkedIn:</a:t>
            </a:r>
            <a:endParaRPr sz="1400" b="0" i="0" u="none" strike="noStrike" cap="none" dirty="0">
              <a:solidFill>
                <a:srgbClr val="000000"/>
              </a:solidFill>
              <a:latin typeface="Arial"/>
              <a:ea typeface="Arial"/>
              <a:cs typeface="Arial"/>
              <a:sym typeface="Arial"/>
            </a:endParaRPr>
          </a:p>
          <a:p>
            <a:pPr marL="0" marR="0" lvl="0" indent="0" algn="r" rtl="0">
              <a:lnSpc>
                <a:spcPct val="140014"/>
              </a:lnSpc>
              <a:spcBef>
                <a:spcPts val="0"/>
              </a:spcBef>
              <a:spcAft>
                <a:spcPts val="0"/>
              </a:spcAft>
              <a:buClr>
                <a:srgbClr val="000000"/>
              </a:buClr>
              <a:buSzPts val="2799"/>
              <a:buFont typeface="Arial"/>
              <a:buNone/>
            </a:pPr>
            <a:r>
              <a:rPr lang="en-US" sz="2799" dirty="0">
                <a:solidFill>
                  <a:srgbClr val="54565B"/>
                </a:solidFill>
                <a:latin typeface="Avenir"/>
                <a:ea typeface="Avenir"/>
                <a:cs typeface="Avenir"/>
                <a:sym typeface="Avenir"/>
              </a:rPr>
              <a:t>Email</a:t>
            </a:r>
            <a:r>
              <a:rPr lang="en-US" sz="2799" b="0" i="0" u="none" strike="noStrike" cap="none" dirty="0">
                <a:solidFill>
                  <a:srgbClr val="54565B"/>
                </a:solidFill>
                <a:latin typeface="Avenir"/>
                <a:ea typeface="Avenir"/>
                <a:cs typeface="Avenir"/>
                <a:sym typeface="Avenir"/>
              </a:rPr>
              <a:t>:</a:t>
            </a:r>
            <a:endParaRPr sz="1400" b="0" i="0" u="none" strike="noStrike" cap="none" dirty="0">
              <a:solidFill>
                <a:srgbClr val="000000"/>
              </a:solidFill>
              <a:latin typeface="Arial"/>
              <a:ea typeface="Arial"/>
              <a:cs typeface="Arial"/>
              <a:sym typeface="Arial"/>
            </a:endParaRPr>
          </a:p>
          <a:p>
            <a:pPr marL="0" marR="0" lvl="0" indent="0" algn="r" rtl="0">
              <a:lnSpc>
                <a:spcPct val="140014"/>
              </a:lnSpc>
              <a:spcBef>
                <a:spcPts val="0"/>
              </a:spcBef>
              <a:spcAft>
                <a:spcPts val="0"/>
              </a:spcAft>
              <a:buClr>
                <a:srgbClr val="000000"/>
              </a:buClr>
              <a:buSzPts val="2799"/>
              <a:buFont typeface="Arial"/>
              <a:buNone/>
            </a:pPr>
            <a:endParaRPr sz="2799" b="0" i="0" u="none" strike="noStrike" cap="none" dirty="0">
              <a:solidFill>
                <a:srgbClr val="54565B"/>
              </a:solidFill>
              <a:latin typeface="Avenir"/>
              <a:ea typeface="Avenir"/>
              <a:cs typeface="Avenir"/>
              <a:sym typeface="Avenir"/>
            </a:endParaRPr>
          </a:p>
        </p:txBody>
      </p:sp>
      <p:sp>
        <p:nvSpPr>
          <p:cNvPr id="282" name="Google Shape;282;g35e6a1417f8_0_16"/>
          <p:cNvSpPr txBox="1"/>
          <p:nvPr/>
        </p:nvSpPr>
        <p:spPr>
          <a:xfrm>
            <a:off x="12951650" y="6283097"/>
            <a:ext cx="4631700" cy="3078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2000"/>
              <a:buFont typeface="Arial"/>
              <a:buNone/>
            </a:pPr>
            <a:r>
              <a:rPr lang="en-US" sz="2000" b="0" i="0" u="none" strike="noStrike" cap="none">
                <a:solidFill>
                  <a:srgbClr val="54565B"/>
                </a:solidFill>
                <a:latin typeface="Avenir"/>
                <a:ea typeface="Avenir"/>
                <a:cs typeface="Avenir"/>
                <a:sym typeface="Avenir"/>
              </a:rPr>
              <a:t>WWW.VONDERHEIDE.COM</a:t>
            </a:r>
            <a:endParaRPr sz="1400" b="0" i="0" u="none" strike="noStrike" cap="none">
              <a:solidFill>
                <a:srgbClr val="000000"/>
              </a:solidFill>
              <a:latin typeface="Arial"/>
              <a:ea typeface="Arial"/>
              <a:cs typeface="Arial"/>
              <a:sym typeface="Arial"/>
            </a:endParaRPr>
          </a:p>
        </p:txBody>
      </p:sp>
      <p:sp>
        <p:nvSpPr>
          <p:cNvPr id="283" name="Google Shape;283;g35e6a1417f8_0_16"/>
          <p:cNvSpPr txBox="1"/>
          <p:nvPr/>
        </p:nvSpPr>
        <p:spPr>
          <a:xfrm>
            <a:off x="12951650" y="6848913"/>
            <a:ext cx="4631700" cy="3078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2000"/>
              <a:buFont typeface="Arial"/>
              <a:buNone/>
            </a:pPr>
            <a:r>
              <a:rPr lang="en-US" sz="2000" b="0" i="0" u="none" strike="noStrike" cap="none">
                <a:solidFill>
                  <a:srgbClr val="54565B"/>
                </a:solidFill>
                <a:latin typeface="Avenir"/>
                <a:ea typeface="Avenir"/>
                <a:cs typeface="Avenir"/>
                <a:sym typeface="Avenir"/>
              </a:rPr>
              <a:t>VON DER HEIDE</a:t>
            </a:r>
            <a:endParaRPr sz="1400" b="0" i="0" u="none" strike="noStrike" cap="none">
              <a:solidFill>
                <a:srgbClr val="000000"/>
              </a:solidFill>
              <a:latin typeface="Arial"/>
              <a:ea typeface="Arial"/>
              <a:cs typeface="Arial"/>
              <a:sym typeface="Arial"/>
            </a:endParaRPr>
          </a:p>
        </p:txBody>
      </p:sp>
      <p:sp>
        <p:nvSpPr>
          <p:cNvPr id="284" name="Google Shape;284;g35e6a1417f8_0_16"/>
          <p:cNvSpPr txBox="1"/>
          <p:nvPr/>
        </p:nvSpPr>
        <p:spPr>
          <a:xfrm>
            <a:off x="12951650" y="7414738"/>
            <a:ext cx="4631700" cy="3078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2000"/>
              <a:buFont typeface="Arial"/>
              <a:buNone/>
            </a:pPr>
            <a:r>
              <a:rPr lang="en-US" sz="2000" b="0" i="0" u="none" strike="noStrike" cap="none">
                <a:solidFill>
                  <a:srgbClr val="54565B"/>
                </a:solidFill>
                <a:latin typeface="Avenir"/>
                <a:ea typeface="Avenir"/>
                <a:cs typeface="Avenir"/>
                <a:sym typeface="Avenir"/>
              </a:rPr>
              <a:t>CONTACTO@VDH.JOBS</a:t>
            </a:r>
            <a:endParaRPr sz="1400" b="0" i="0" u="none" strike="noStrike" cap="none">
              <a:solidFill>
                <a:srgbClr val="000000"/>
              </a:solidFill>
              <a:latin typeface="Arial"/>
              <a:ea typeface="Arial"/>
              <a:cs typeface="Arial"/>
              <a:sym typeface="Arial"/>
            </a:endParaRPr>
          </a:p>
        </p:txBody>
      </p:sp>
      <p:grpSp>
        <p:nvGrpSpPr>
          <p:cNvPr id="285" name="Google Shape;285;g35e6a1417f8_0_16"/>
          <p:cNvGrpSpPr/>
          <p:nvPr/>
        </p:nvGrpSpPr>
        <p:grpSpPr>
          <a:xfrm>
            <a:off x="-523800" y="2286026"/>
            <a:ext cx="8703799" cy="2272849"/>
            <a:chOff x="-523800" y="2286026"/>
            <a:chExt cx="8703799" cy="2272849"/>
          </a:xfrm>
        </p:grpSpPr>
        <p:pic>
          <p:nvPicPr>
            <p:cNvPr id="286" name="Google Shape;286;g35e6a1417f8_0_16" title="people to business.png"/>
            <p:cNvPicPr preferRelativeResize="0"/>
            <p:nvPr/>
          </p:nvPicPr>
          <p:blipFill rotWithShape="1">
            <a:blip r:embed="rId3">
              <a:alphaModFix/>
            </a:blip>
            <a:srcRect l="35239" t="51645" r="35608" b="33238"/>
            <a:stretch/>
          </p:blipFill>
          <p:spPr>
            <a:xfrm>
              <a:off x="1303875" y="3119500"/>
              <a:ext cx="4935000" cy="1439375"/>
            </a:xfrm>
            <a:prstGeom prst="rect">
              <a:avLst/>
            </a:prstGeom>
            <a:noFill/>
            <a:ln>
              <a:noFill/>
            </a:ln>
          </p:spPr>
        </p:pic>
        <p:sp>
          <p:nvSpPr>
            <p:cNvPr id="287" name="Google Shape;287;g35e6a1417f8_0_16"/>
            <p:cNvSpPr/>
            <p:nvPr/>
          </p:nvSpPr>
          <p:spPr>
            <a:xfrm>
              <a:off x="-523800" y="2286026"/>
              <a:ext cx="8703799" cy="1336045"/>
            </a:xfrm>
            <a:custGeom>
              <a:avLst/>
              <a:gdLst/>
              <a:ahLst/>
              <a:cxnLst/>
              <a:rect l="l" t="t" r="r" b="b"/>
              <a:pathLst>
                <a:path w="10812173" h="1659683" extrusionOk="0">
                  <a:moveTo>
                    <a:pt x="0" y="0"/>
                  </a:moveTo>
                  <a:lnTo>
                    <a:pt x="10812174" y="0"/>
                  </a:lnTo>
                  <a:lnTo>
                    <a:pt x="10812174" y="1659683"/>
                  </a:lnTo>
                  <a:lnTo>
                    <a:pt x="0" y="1659683"/>
                  </a:lnTo>
                  <a:lnTo>
                    <a:pt x="0" y="0"/>
                  </a:lnTo>
                  <a:close/>
                </a:path>
              </a:pathLst>
            </a:custGeom>
            <a:blipFill rotWithShape="1">
              <a:blip r:embed="rId4">
                <a:alphaModFix/>
              </a:blip>
              <a:stretch>
                <a:fillRect t="-365961" b="-376782"/>
              </a:stretch>
            </a:blipFill>
            <a:ln>
              <a:noFill/>
            </a:ln>
          </p:spPr>
        </p:sp>
      </p:gr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374</TotalTime>
  <Words>1658</Words>
  <Application>Microsoft Office PowerPoint</Application>
  <PresentationFormat>Personalizado</PresentationFormat>
  <Paragraphs>205</Paragraphs>
  <Slides>12</Slides>
  <Notes>12</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12</vt:i4>
      </vt:variant>
    </vt:vector>
  </HeadingPairs>
  <TitlesOfParts>
    <vt:vector size="18" baseType="lpstr">
      <vt:lpstr>Arial</vt:lpstr>
      <vt:lpstr>Calibri</vt:lpstr>
      <vt:lpstr>Garamond</vt:lpstr>
      <vt:lpstr>Avenir</vt:lpstr>
      <vt:lpstr>Nothing You Could Do</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DELL-HYNDVP2</dc:creator>
  <cp:lastModifiedBy>Cynthia Corral  Garrido</cp:lastModifiedBy>
  <cp:revision>14</cp:revision>
  <dcterms:created xsi:type="dcterms:W3CDTF">2006-08-16T00:00:00Z</dcterms:created>
  <dcterms:modified xsi:type="dcterms:W3CDTF">2025-10-09T17:05:13Z</dcterms:modified>
</cp:coreProperties>
</file>