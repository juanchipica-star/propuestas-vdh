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venir" panose="02000503020000020003" pitchFamily="2" charset="0"/>
      <p:regular r:id="rId13"/>
      <p:italic r:id="rId14"/>
    </p:embeddedFont>
    <p:embeddedFont>
      <p:font typeface="Garamond" panose="02020404030301010803" pitchFamily="18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g3JmHUa6vU4AkXbc+kio/si608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F0B5D49-DCE6-4383-88E6-9B25CE2EF017}">
  <a:tblStyle styleId="{7F0B5D49-DCE6-4383-88E6-9B25CE2EF01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693"/>
  </p:normalViewPr>
  <p:slideViewPr>
    <p:cSldViewPr snapToGrid="0">
      <p:cViewPr varScale="1">
        <p:scale>
          <a:sx n="98" d="100"/>
          <a:sy n="98" d="100"/>
        </p:scale>
        <p:origin x="224" y="2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bee6ba2b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g35bee6ba2b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bee6ba2b2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4" name="Google Shape;114;g35bee6ba2b2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bee6ba2b2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9" name="Google Shape;139;g35bee6ba2b2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bee6ba2b2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35bee6ba2b2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https://docs.google.com/spreadsheets/d/1Q_tRxSn9pGYoKdV4sEGR_RQOVtvJrYN6/edit?gid=1151441481#gid=1151441481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bee6ba2b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5bee6ba2b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bee6ba2b2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" name="Google Shape;183;g35bee6ba2b2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fb99d6d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35fb99d6d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fb99d6db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5fb99d6db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5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5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65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3737913" y="3956892"/>
            <a:ext cx="10812173" cy="1659683"/>
          </a:xfrm>
          <a:custGeom>
            <a:avLst/>
            <a:gdLst/>
            <a:ahLst/>
            <a:cxnLst/>
            <a:rect l="l" t="t" r="r" b="b"/>
            <a:pathLst>
              <a:path w="10812173" h="1659683" extrusionOk="0">
                <a:moveTo>
                  <a:pt x="0" y="0"/>
                </a:moveTo>
                <a:lnTo>
                  <a:pt x="10812174" y="0"/>
                </a:lnTo>
                <a:lnTo>
                  <a:pt x="10812174" y="1659683"/>
                </a:lnTo>
                <a:lnTo>
                  <a:pt x="0" y="16596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65619" b="-3764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2" title="Presentacion Comercial Soluciones VON DER HEIDE.png"/>
          <p:cNvPicPr preferRelativeResize="0"/>
          <p:nvPr/>
        </p:nvPicPr>
        <p:blipFill rotWithShape="1">
          <a:blip r:embed="rId4">
            <a:alphaModFix/>
          </a:blip>
          <a:srcRect l="36694" t="56581" r="36611" b="31963"/>
          <a:stretch/>
        </p:blipFill>
        <p:spPr>
          <a:xfrm>
            <a:off x="6441276" y="5719901"/>
            <a:ext cx="5405448" cy="130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59877" r="-3489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0" y="5143500"/>
            <a:ext cx="18288000" cy="5143500"/>
          </a:xfrm>
          <a:custGeom>
            <a:avLst/>
            <a:gdLst/>
            <a:ahLst/>
            <a:cxnLst/>
            <a:rect l="l" t="t" r="r" b="b"/>
            <a:pathLst>
              <a:path w="6186311" h="1739900" extrusionOk="0">
                <a:moveTo>
                  <a:pt x="0" y="0"/>
                </a:moveTo>
                <a:lnTo>
                  <a:pt x="6186311" y="0"/>
                </a:lnTo>
                <a:lnTo>
                  <a:pt x="6186311" y="1739900"/>
                </a:lnTo>
                <a:lnTo>
                  <a:pt x="0" y="1739900"/>
                </a:lnTo>
                <a:close/>
              </a:path>
            </a:pathLst>
          </a:custGeom>
          <a:solidFill>
            <a:srgbClr val="54565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0"/>
          <p:cNvSpPr/>
          <p:nvPr/>
        </p:nvSpPr>
        <p:spPr>
          <a:xfrm rot="10800000">
            <a:off x="487973" y="5143500"/>
            <a:ext cx="17800027" cy="2873913"/>
          </a:xfrm>
          <a:custGeom>
            <a:avLst/>
            <a:gdLst/>
            <a:ahLst/>
            <a:cxnLst/>
            <a:rect l="l" t="t" r="r" b="b"/>
            <a:pathLst>
              <a:path w="17800027" h="2873913" extrusionOk="0">
                <a:moveTo>
                  <a:pt x="0" y="0"/>
                </a:moveTo>
                <a:lnTo>
                  <a:pt x="17800027" y="0"/>
                </a:lnTo>
                <a:lnTo>
                  <a:pt x="17800027" y="2873913"/>
                </a:lnTo>
                <a:lnTo>
                  <a:pt x="0" y="2873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4000"/>
            </a:blip>
            <a:stretch>
              <a:fillRect t="-41976" b="-4196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7821179" y="9258300"/>
            <a:ext cx="3133615" cy="822737"/>
          </a:xfrm>
          <a:custGeom>
            <a:avLst/>
            <a:gdLst/>
            <a:ahLst/>
            <a:cxnLst/>
            <a:rect l="l" t="t" r="r" b="b"/>
            <a:pathLst>
              <a:path w="3133615" h="822737" extrusionOk="0">
                <a:moveTo>
                  <a:pt x="0" y="0"/>
                </a:moveTo>
                <a:lnTo>
                  <a:pt x="3133615" y="0"/>
                </a:lnTo>
                <a:lnTo>
                  <a:pt x="3133615" y="822737"/>
                </a:lnTo>
                <a:lnTo>
                  <a:pt x="0" y="8227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7403" t="-276274" r="-16821" b="-2851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0"/>
          <p:cNvSpPr txBox="1"/>
          <p:nvPr/>
        </p:nvSpPr>
        <p:spPr>
          <a:xfrm>
            <a:off x="114603" y="7443105"/>
            <a:ext cx="15723437" cy="1815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3"/>
              <a:buFont typeface="Arial"/>
              <a:buNone/>
            </a:pPr>
            <a:r>
              <a:rPr lang="en-US" sz="11903" b="1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EXECUTIVE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0"/>
          <p:cNvGrpSpPr/>
          <p:nvPr/>
        </p:nvGrpSpPr>
        <p:grpSpPr>
          <a:xfrm>
            <a:off x="16079532" y="8005855"/>
            <a:ext cx="1342975" cy="671488"/>
            <a:chOff x="0" y="0"/>
            <a:chExt cx="1790634" cy="895317"/>
          </a:xfrm>
        </p:grpSpPr>
        <p:sp>
          <p:nvSpPr>
            <p:cNvPr id="96" name="Google Shape;96;p10"/>
            <p:cNvSpPr/>
            <p:nvPr/>
          </p:nvSpPr>
          <p:spPr>
            <a:xfrm>
              <a:off x="0" y="0"/>
              <a:ext cx="1790634" cy="895317"/>
            </a:xfrm>
            <a:custGeom>
              <a:avLst/>
              <a:gdLst/>
              <a:ahLst/>
              <a:cxnLst/>
              <a:rect l="l" t="t" r="r" b="b"/>
              <a:pathLst>
                <a:path w="1790634" h="895317" extrusionOk="0">
                  <a:moveTo>
                    <a:pt x="0" y="0"/>
                  </a:moveTo>
                  <a:lnTo>
                    <a:pt x="1790634" y="0"/>
                  </a:lnTo>
                  <a:lnTo>
                    <a:pt x="1790634" y="895317"/>
                  </a:lnTo>
                  <a:lnTo>
                    <a:pt x="0" y="8953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0"/>
            <p:cNvSpPr/>
            <p:nvPr/>
          </p:nvSpPr>
          <p:spPr>
            <a:xfrm>
              <a:off x="210868" y="232737"/>
              <a:ext cx="566515" cy="429843"/>
            </a:xfrm>
            <a:custGeom>
              <a:avLst/>
              <a:gdLst/>
              <a:ahLst/>
              <a:cxnLst/>
              <a:rect l="l" t="t" r="r" b="b"/>
              <a:pathLst>
                <a:path w="566515" h="429843" extrusionOk="0">
                  <a:moveTo>
                    <a:pt x="0" y="0"/>
                  </a:moveTo>
                  <a:lnTo>
                    <a:pt x="566515" y="0"/>
                  </a:lnTo>
                  <a:lnTo>
                    <a:pt x="566515" y="429843"/>
                  </a:lnTo>
                  <a:lnTo>
                    <a:pt x="0" y="4298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bee6ba2b2_0_11"/>
          <p:cNvSpPr/>
          <p:nvPr/>
        </p:nvSpPr>
        <p:spPr>
          <a:xfrm>
            <a:off x="485525" y="3874327"/>
            <a:ext cx="17309894" cy="5199943"/>
          </a:xfrm>
          <a:custGeom>
            <a:avLst/>
            <a:gdLst/>
            <a:ahLst/>
            <a:cxnLst/>
            <a:rect l="l" t="t" r="r" b="b"/>
            <a:pathLst>
              <a:path w="5857832" h="1759710" extrusionOk="0">
                <a:moveTo>
                  <a:pt x="0" y="0"/>
                </a:moveTo>
                <a:lnTo>
                  <a:pt x="5857832" y="0"/>
                </a:lnTo>
                <a:lnTo>
                  <a:pt x="5857832" y="1759710"/>
                </a:lnTo>
                <a:lnTo>
                  <a:pt x="0" y="1759710"/>
                </a:lnTo>
                <a:close/>
              </a:path>
            </a:pathLst>
          </a:custGeom>
          <a:solidFill>
            <a:srgbClr val="54565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5bee6ba2b2_0_11"/>
          <p:cNvSpPr txBox="1"/>
          <p:nvPr/>
        </p:nvSpPr>
        <p:spPr>
          <a:xfrm>
            <a:off x="2390792" y="2233026"/>
            <a:ext cx="12438300" cy="9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9"/>
              <a:buFont typeface="Arial"/>
              <a:buNone/>
            </a:pPr>
            <a:r>
              <a:rPr lang="en-US" sz="6329" b="1" i="0" u="none" strike="noStrike" cap="non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  oportunidades se encuentren.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5bee6ba2b2_0_11"/>
          <p:cNvSpPr txBox="1"/>
          <p:nvPr/>
        </p:nvSpPr>
        <p:spPr>
          <a:xfrm>
            <a:off x="8698197" y="4119809"/>
            <a:ext cx="8949600" cy="34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3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9"/>
              <a:buFont typeface="Arial"/>
              <a:buNone/>
            </a:pPr>
            <a:r>
              <a:rPr lang="en-US" sz="3109" b="0" i="0" u="none" strike="noStrike" cap="non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Con nuestro framework renovado, alineamos las capacidades del talento con los </a:t>
            </a:r>
            <a:r>
              <a:rPr lang="en-US" sz="3109" b="0" i="0" u="none" strike="noStrike" cap="non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objetivos</a:t>
            </a:r>
            <a:r>
              <a:rPr lang="en-US" sz="3109" b="0" i="0" u="none" strike="noStrike" cap="non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 empresariales, facilitando encuentros donde los profesionales eligen su futuro. </a:t>
            </a:r>
            <a:r>
              <a:rPr lang="en-US" sz="3109" b="1" i="0" u="none" strike="noStrike" cap="non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Somos el socio para enfrentar desafíos en un contexto cambiante</a:t>
            </a:r>
            <a:r>
              <a:rPr lang="en-US" sz="3109" b="0" i="0" u="none" strike="noStrike" cap="non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5bee6ba2b2_0_11"/>
          <p:cNvSpPr/>
          <p:nvPr/>
        </p:nvSpPr>
        <p:spPr>
          <a:xfrm>
            <a:off x="7620587" y="9258300"/>
            <a:ext cx="3046827" cy="747466"/>
          </a:xfrm>
          <a:custGeom>
            <a:avLst/>
            <a:gdLst/>
            <a:ahLst/>
            <a:cxnLst/>
            <a:rect l="l" t="t" r="r" b="b"/>
            <a:pathLst>
              <a:path w="3046827" h="747466" extrusionOk="0">
                <a:moveTo>
                  <a:pt x="0" y="0"/>
                </a:moveTo>
                <a:lnTo>
                  <a:pt x="3046826" y="0"/>
                </a:lnTo>
                <a:lnTo>
                  <a:pt x="3046826" y="747466"/>
                </a:lnTo>
                <a:lnTo>
                  <a:pt x="0" y="747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7755" t="-308940" r="-15533" b="-2938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5bee6ba2b2_0_11"/>
          <p:cNvSpPr txBox="1"/>
          <p:nvPr/>
        </p:nvSpPr>
        <p:spPr>
          <a:xfrm>
            <a:off x="2679228" y="1174078"/>
            <a:ext cx="11891700" cy="12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6"/>
              <a:buFont typeface="Arial"/>
              <a:buNone/>
            </a:pPr>
            <a:r>
              <a:rPr lang="en-US" sz="8006" b="1" i="0" u="none" strike="noStrike" cap="non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 Para que el talento y las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g35bee6ba2b2_0_11"/>
          <p:cNvGrpSpPr/>
          <p:nvPr/>
        </p:nvGrpSpPr>
        <p:grpSpPr>
          <a:xfrm rot="5400000">
            <a:off x="636330" y="3636704"/>
            <a:ext cx="1533728" cy="766864"/>
            <a:chOff x="0" y="0"/>
            <a:chExt cx="2044970" cy="1022485"/>
          </a:xfrm>
        </p:grpSpPr>
        <p:sp>
          <p:nvSpPr>
            <p:cNvPr id="108" name="Google Shape;108;g35bee6ba2b2_0_11"/>
            <p:cNvSpPr/>
            <p:nvPr/>
          </p:nvSpPr>
          <p:spPr>
            <a:xfrm>
              <a:off x="0" y="0"/>
              <a:ext cx="2044970" cy="1022485"/>
            </a:xfrm>
            <a:custGeom>
              <a:avLst/>
              <a:gdLst/>
              <a:ahLst/>
              <a:cxnLst/>
              <a:rect l="l" t="t" r="r" b="b"/>
              <a:pathLst>
                <a:path w="2044970" h="1022485" extrusionOk="0">
                  <a:moveTo>
                    <a:pt x="0" y="0"/>
                  </a:moveTo>
                  <a:lnTo>
                    <a:pt x="2044970" y="0"/>
                  </a:lnTo>
                  <a:lnTo>
                    <a:pt x="2044970" y="1022485"/>
                  </a:lnTo>
                  <a:lnTo>
                    <a:pt x="0" y="10224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5bee6ba2b2_0_11"/>
            <p:cNvSpPr/>
            <p:nvPr/>
          </p:nvSpPr>
          <p:spPr>
            <a:xfrm>
              <a:off x="240819" y="265794"/>
              <a:ext cx="646981" cy="490897"/>
            </a:xfrm>
            <a:custGeom>
              <a:avLst/>
              <a:gdLst/>
              <a:ahLst/>
              <a:cxnLst/>
              <a:rect l="l" t="t" r="r" b="b"/>
              <a:pathLst>
                <a:path w="646981" h="490897" extrusionOk="0">
                  <a:moveTo>
                    <a:pt x="0" y="0"/>
                  </a:moveTo>
                  <a:lnTo>
                    <a:pt x="646981" y="0"/>
                  </a:lnTo>
                  <a:lnTo>
                    <a:pt x="646981" y="490897"/>
                  </a:lnTo>
                  <a:lnTo>
                    <a:pt x="0" y="4908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g35bee6ba2b2_0_11"/>
          <p:cNvSpPr/>
          <p:nvPr/>
        </p:nvSpPr>
        <p:spPr>
          <a:xfrm>
            <a:off x="8011511" y="4281734"/>
            <a:ext cx="26700" cy="4307100"/>
          </a:xfrm>
          <a:prstGeom prst="rect">
            <a:avLst/>
          </a:prstGeom>
          <a:solidFill>
            <a:srgbClr val="FFFFFF">
              <a:alpha val="431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g35bee6ba2b2_0_11" title="Elección Mutua.png"/>
          <p:cNvPicPr preferRelativeResize="0"/>
          <p:nvPr/>
        </p:nvPicPr>
        <p:blipFill rotWithShape="1">
          <a:blip r:embed="rId7">
            <a:alphaModFix/>
          </a:blip>
          <a:srcRect l="8724" t="46534" r="60675" b="25926"/>
          <a:stretch/>
        </p:blipFill>
        <p:spPr>
          <a:xfrm>
            <a:off x="1595450" y="4787000"/>
            <a:ext cx="5595926" cy="283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bee6ba2b2_0_24"/>
          <p:cNvSpPr txBox="1"/>
          <p:nvPr/>
        </p:nvSpPr>
        <p:spPr>
          <a:xfrm>
            <a:off x="1420612" y="380083"/>
            <a:ext cx="4347600" cy="12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1"/>
              <a:buFont typeface="Arial"/>
              <a:buNone/>
            </a:pPr>
            <a:r>
              <a:rPr lang="en-US" sz="8501" b="1" i="0" u="none" strike="noStrike" cap="non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Nuestra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5bee6ba2b2_0_24"/>
          <p:cNvSpPr txBox="1"/>
          <p:nvPr/>
        </p:nvSpPr>
        <p:spPr>
          <a:xfrm>
            <a:off x="1490953" y="1366995"/>
            <a:ext cx="62202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7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3"/>
              <a:buFont typeface="Arial"/>
              <a:buNone/>
            </a:pPr>
            <a:r>
              <a:rPr lang="en-US" sz="7783" b="1" i="0" u="none" strike="noStrike" cap="non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Metodología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5bee6ba2b2_0_24"/>
          <p:cNvSpPr txBox="1"/>
          <p:nvPr/>
        </p:nvSpPr>
        <p:spPr>
          <a:xfrm>
            <a:off x="1188781" y="5505530"/>
            <a:ext cx="24606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Espacio de franca Co-construcción con cliente  para definir: los desafíos actuales y futuros en función del contexto de negocio del “Rol” a través del </a:t>
            </a:r>
            <a:r>
              <a:rPr lang="en-US" sz="2000" b="0" i="0" u="none" strike="noStrike" cap="non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Job &amp; Profile Design.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5bee6ba2b2_0_24"/>
          <p:cNvSpPr txBox="1"/>
          <p:nvPr/>
        </p:nvSpPr>
        <p:spPr>
          <a:xfrm>
            <a:off x="7137375" y="5505525"/>
            <a:ext cx="3235200" cy="3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Instancia de </a:t>
            </a:r>
            <a:r>
              <a:rPr lang="en-US" sz="2000" b="0" i="0" u="none" strike="noStrike" cap="non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Encuentros Dialógicos</a:t>
            </a:r>
            <a:r>
              <a:rPr lang="en-US" sz="2000" b="0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usando</a:t>
            </a:r>
            <a:r>
              <a:rPr lang="en-US" sz="2000" b="0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 </a:t>
            </a:r>
            <a:r>
              <a:rPr lang="en-US" sz="2000" b="0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el framework de </a:t>
            </a:r>
            <a:r>
              <a:rPr lang="en-US" sz="2000" b="1" i="0" u="none" strike="noStrike" cap="non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Job Crafting,</a:t>
            </a:r>
            <a:r>
              <a:rPr lang="en-US" sz="2000" b="0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nuestra herramienta disruptiva para mapear habilidades,motivaciones,  experiencias y valores.</a:t>
            </a:r>
            <a:endParaRPr sz="2000" b="0" i="0" u="none" strike="noStrike" cap="non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0" name="Google Shape;120;g35bee6ba2b2_0_24"/>
          <p:cNvSpPr txBox="1"/>
          <p:nvPr/>
        </p:nvSpPr>
        <p:spPr>
          <a:xfrm>
            <a:off x="10899275" y="5505525"/>
            <a:ext cx="32352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Etapa de </a:t>
            </a:r>
            <a:r>
              <a:rPr lang="en-US" sz="2000" b="0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entrevistas</a:t>
            </a:r>
            <a:r>
              <a:rPr lang="en-US" sz="2000" b="0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con Cliente e implementación de </a:t>
            </a:r>
            <a:r>
              <a:rPr lang="en-US" sz="2000" b="0" i="0" u="none" strike="noStrike" cap="non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Assessment*  a los 2 candidatos finalistas </a:t>
            </a:r>
            <a:r>
              <a:rPr lang="en-US" sz="2000" b="0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 sz="2000" b="0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"/>
                  </a:ext>
                </a:extLst>
              </a:rPr>
              <a:t>como</a:t>
            </a:r>
            <a:r>
              <a:rPr lang="en-US" sz="2000" b="0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proceso de evaluación de fortalezas, debilidades, habilidades, competencias y  potencial.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1" name="Google Shape;121;g35bee6ba2b2_0_24"/>
          <p:cNvSpPr txBox="1"/>
          <p:nvPr/>
        </p:nvSpPr>
        <p:spPr>
          <a:xfrm>
            <a:off x="14881480" y="5505530"/>
            <a:ext cx="25755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Acompañamiento en instancia de negociación.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Seguimiento post ingreso al candidato.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5bee6ba2b2_0_24"/>
          <p:cNvSpPr txBox="1"/>
          <p:nvPr/>
        </p:nvSpPr>
        <p:spPr>
          <a:xfrm>
            <a:off x="1188781" y="4484324"/>
            <a:ext cx="1968900" cy="7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KICK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OFF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5bee6ba2b2_0_24"/>
          <p:cNvSpPr txBox="1"/>
          <p:nvPr/>
        </p:nvSpPr>
        <p:spPr>
          <a:xfrm>
            <a:off x="4033456" y="4484324"/>
            <a:ext cx="1859400" cy="8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MARKET OVERVIEW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5bee6ba2b2_0_24"/>
          <p:cNvSpPr txBox="1"/>
          <p:nvPr/>
        </p:nvSpPr>
        <p:spPr>
          <a:xfrm>
            <a:off x="7145949" y="4484325"/>
            <a:ext cx="2292000" cy="7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JOB </a:t>
            </a:r>
            <a:endParaRPr sz="2400" b="1" i="0" u="none" strike="noStrike" cap="none">
              <a:solidFill>
                <a:srgbClr val="E5E5E4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just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CRAFTING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5bee6ba2b2_0_24"/>
          <p:cNvSpPr txBox="1"/>
          <p:nvPr/>
        </p:nvSpPr>
        <p:spPr>
          <a:xfrm>
            <a:off x="10899279" y="4484324"/>
            <a:ext cx="2137800" cy="7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TALENT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DISCOVERY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5bee6ba2b2_0_24"/>
          <p:cNvSpPr txBox="1"/>
          <p:nvPr/>
        </p:nvSpPr>
        <p:spPr>
          <a:xfrm>
            <a:off x="14991721" y="4484324"/>
            <a:ext cx="2178000" cy="7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TRANSITION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OFFER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5bee6ba2b2_0_24"/>
          <p:cNvSpPr/>
          <p:nvPr/>
        </p:nvSpPr>
        <p:spPr>
          <a:xfrm>
            <a:off x="14515475" y="4283325"/>
            <a:ext cx="61200" cy="49749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5bee6ba2b2_0_24"/>
          <p:cNvSpPr/>
          <p:nvPr/>
        </p:nvSpPr>
        <p:spPr>
          <a:xfrm>
            <a:off x="10505651" y="3825001"/>
            <a:ext cx="61200" cy="54333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5bee6ba2b2_0_24"/>
          <p:cNvSpPr/>
          <p:nvPr/>
        </p:nvSpPr>
        <p:spPr>
          <a:xfrm>
            <a:off x="6644415" y="3825001"/>
            <a:ext cx="61200" cy="54333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5bee6ba2b2_0_24"/>
          <p:cNvSpPr/>
          <p:nvPr/>
        </p:nvSpPr>
        <p:spPr>
          <a:xfrm>
            <a:off x="3716028" y="3825001"/>
            <a:ext cx="61200" cy="54333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5bee6ba2b2_0_24"/>
          <p:cNvSpPr txBox="1"/>
          <p:nvPr/>
        </p:nvSpPr>
        <p:spPr>
          <a:xfrm>
            <a:off x="1188781" y="3720226"/>
            <a:ext cx="215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8CA8BA"/>
                </a:solidFill>
                <a:latin typeface="Garamond"/>
                <a:ea typeface="Garamond"/>
                <a:cs typeface="Garamond"/>
                <a:sym typeface="Garamond"/>
              </a:rPr>
              <a:t>DÍA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5bee6ba2b2_0_24"/>
          <p:cNvSpPr txBox="1"/>
          <p:nvPr/>
        </p:nvSpPr>
        <p:spPr>
          <a:xfrm>
            <a:off x="7114242" y="3720226"/>
            <a:ext cx="21558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8CA8BA"/>
                </a:solidFill>
                <a:latin typeface="Garamond"/>
                <a:ea typeface="Garamond"/>
                <a:cs typeface="Garamond"/>
                <a:sym typeface="Garamond"/>
              </a:rPr>
              <a:t>DÍA 11 - 20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5bee6ba2b2_0_24"/>
          <p:cNvSpPr txBox="1"/>
          <p:nvPr/>
        </p:nvSpPr>
        <p:spPr>
          <a:xfrm>
            <a:off x="4033456" y="3720226"/>
            <a:ext cx="215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8CA8BA"/>
                </a:solidFill>
                <a:latin typeface="Garamond"/>
                <a:ea typeface="Garamond"/>
                <a:cs typeface="Garamond"/>
                <a:sym typeface="Garamond"/>
              </a:rPr>
              <a:t>DÍA 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5bee6ba2b2_0_24"/>
          <p:cNvSpPr txBox="1"/>
          <p:nvPr/>
        </p:nvSpPr>
        <p:spPr>
          <a:xfrm>
            <a:off x="10892956" y="3720225"/>
            <a:ext cx="3296400" cy="5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9"/>
              <a:buFont typeface="Arial"/>
              <a:buNone/>
            </a:pPr>
            <a:r>
              <a:rPr lang="en-US" sz="1929" b="1" i="0" u="none" strike="noStrike" cap="none">
                <a:solidFill>
                  <a:srgbClr val="8CA8BA"/>
                </a:solidFill>
                <a:latin typeface="Garamond"/>
                <a:ea typeface="Garamond"/>
                <a:cs typeface="Garamond"/>
                <a:sym typeface="Garamond"/>
              </a:rPr>
              <a:t>TIEMPOS VARIABLES</a:t>
            </a:r>
            <a:endParaRPr sz="1929" b="1" i="0" u="none" strike="noStrike" cap="none">
              <a:solidFill>
                <a:srgbClr val="8CA8BA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9"/>
              <a:buFont typeface="Arial"/>
              <a:buNone/>
            </a:pPr>
            <a:r>
              <a:rPr lang="en-US" sz="1729" b="1" i="0" u="none" strike="noStrike" cap="none">
                <a:solidFill>
                  <a:srgbClr val="8CA8BA"/>
                </a:solidFill>
                <a:latin typeface="Avenir"/>
                <a:ea typeface="Avenir"/>
                <a:cs typeface="Avenir"/>
                <a:sym typeface="Avenir"/>
              </a:rPr>
              <a:t>Condicionados a agenda cliente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5bee6ba2b2_0_24"/>
          <p:cNvSpPr txBox="1"/>
          <p:nvPr/>
        </p:nvSpPr>
        <p:spPr>
          <a:xfrm>
            <a:off x="3866425" y="9503025"/>
            <a:ext cx="1305000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1" u="none" strike="noStrike" cap="none" dirty="0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*</a:t>
            </a:r>
            <a:r>
              <a:rPr lang="en-US" sz="1900" b="0" i="1" u="none" strike="noStrike" cap="none" dirty="0" err="1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Incluye</a:t>
            </a:r>
            <a:r>
              <a:rPr lang="en-US" sz="1900" b="0" i="1" u="none" strike="noStrike" cap="none" dirty="0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 un </a:t>
            </a:r>
            <a:r>
              <a:rPr lang="en-US" sz="1900" b="0" i="1" u="none" strike="noStrike" cap="none" dirty="0" err="1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Simulador</a:t>
            </a:r>
            <a:r>
              <a:rPr lang="en-US" sz="1900" b="0" i="1" u="none" strike="noStrike" cap="none" dirty="0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 y un Test  </a:t>
            </a:r>
            <a:r>
              <a:rPr lang="en-US" sz="1900" b="0" i="1" u="none" strike="noStrike" cap="none" dirty="0" err="1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Conductual</a:t>
            </a:r>
            <a:r>
              <a:rPr lang="en-US" sz="1900" b="0" i="1" u="none" strike="noStrike" cap="none" dirty="0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 ( PDA, Hogan )</a:t>
            </a:r>
            <a:endParaRPr sz="13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5bee6ba2b2_0_24"/>
          <p:cNvSpPr txBox="1"/>
          <p:nvPr/>
        </p:nvSpPr>
        <p:spPr>
          <a:xfrm>
            <a:off x="3996312" y="5505530"/>
            <a:ext cx="2575500" cy="24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Presentación de los avances de la Identificación de profesionales junto con los insights de Mercado.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65B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bee6ba2b2_0_48"/>
          <p:cNvSpPr/>
          <p:nvPr/>
        </p:nvSpPr>
        <p:spPr>
          <a:xfrm>
            <a:off x="2" y="10600"/>
            <a:ext cx="6115822" cy="10282809"/>
          </a:xfrm>
          <a:custGeom>
            <a:avLst/>
            <a:gdLst/>
            <a:ahLst/>
            <a:cxnLst/>
            <a:rect l="l" t="t" r="r" b="b"/>
            <a:pathLst>
              <a:path w="4132312" h="3479800" extrusionOk="0">
                <a:moveTo>
                  <a:pt x="0" y="0"/>
                </a:moveTo>
                <a:lnTo>
                  <a:pt x="4132312" y="0"/>
                </a:lnTo>
                <a:lnTo>
                  <a:pt x="4132312" y="3479800"/>
                </a:lnTo>
                <a:lnTo>
                  <a:pt x="0" y="34798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5bee6ba2b2_0_48"/>
          <p:cNvSpPr/>
          <p:nvPr/>
        </p:nvSpPr>
        <p:spPr>
          <a:xfrm rot="5400000">
            <a:off x="-2078178" y="2095148"/>
            <a:ext cx="10270030" cy="6113674"/>
          </a:xfrm>
          <a:custGeom>
            <a:avLst/>
            <a:gdLst/>
            <a:ahLst/>
            <a:cxnLst/>
            <a:rect l="l" t="t" r="r" b="b"/>
            <a:pathLst>
              <a:path w="10270030" h="6113674" extrusionOk="0">
                <a:moveTo>
                  <a:pt x="0" y="0"/>
                </a:moveTo>
                <a:lnTo>
                  <a:pt x="10270030" y="0"/>
                </a:lnTo>
                <a:lnTo>
                  <a:pt x="10270030" y="6113674"/>
                </a:lnTo>
                <a:lnTo>
                  <a:pt x="0" y="6113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000"/>
            </a:blip>
            <a:stretch>
              <a:fillRect l="-89202" r="-40423" b="-1463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5bee6ba2b2_0_48"/>
          <p:cNvSpPr txBox="1"/>
          <p:nvPr/>
        </p:nvSpPr>
        <p:spPr>
          <a:xfrm>
            <a:off x="7013351" y="5745289"/>
            <a:ext cx="4414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BASE </a:t>
            </a:r>
            <a:r>
              <a:rPr lang="en-US" sz="2000" b="1" i="0" u="none" strike="noStrike" cap="non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PARA EL CÁLCULO: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5bee6ba2b2_0_48"/>
          <p:cNvSpPr txBox="1"/>
          <p:nvPr/>
        </p:nvSpPr>
        <p:spPr>
          <a:xfrm>
            <a:off x="7013351" y="6170411"/>
            <a:ext cx="10898400" cy="1854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8CA8BA"/>
                </a:solidFill>
                <a:latin typeface="Avenir"/>
                <a:ea typeface="Avenir"/>
                <a:cs typeface="Avenir"/>
                <a:sym typeface="Avenir"/>
              </a:rPr>
              <a:t>FEE x REMUNERACIÓN BRUTA ANUAL*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*La compensación bruta anual resulta de computer el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SALARIO BRUTO MENSUAL x CANTIDAD SALARIOS </a:t>
            </a:r>
            <a:r>
              <a:rPr lang="en-US" sz="1600" b="0" i="0" u="none" strike="noStrike" cap="non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PAGADO</a:t>
            </a:r>
            <a:r>
              <a:rPr lang="en-US" sz="1600" b="0" i="0" u="none" strike="noStrike" cap="non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S POR AÑO + COMPENSACIÓN VARIABLE TARGET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(en concepto de bono u otros beneficios)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5" name="Google Shape;145;g35bee6ba2b2_0_48"/>
          <p:cNvSpPr/>
          <p:nvPr/>
        </p:nvSpPr>
        <p:spPr>
          <a:xfrm>
            <a:off x="5611880" y="5735764"/>
            <a:ext cx="920318" cy="374548"/>
          </a:xfrm>
          <a:custGeom>
            <a:avLst/>
            <a:gdLst/>
            <a:ahLst/>
            <a:cxnLst/>
            <a:rect l="l" t="t" r="r" b="b"/>
            <a:pathLst>
              <a:path w="920318" h="374548" extrusionOk="0">
                <a:moveTo>
                  <a:pt x="0" y="0"/>
                </a:moveTo>
                <a:lnTo>
                  <a:pt x="920319" y="0"/>
                </a:lnTo>
                <a:lnTo>
                  <a:pt x="920319" y="374548"/>
                </a:lnTo>
                <a:lnTo>
                  <a:pt x="0" y="374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5bee6ba2b2_0_48"/>
          <p:cNvSpPr/>
          <p:nvPr/>
        </p:nvSpPr>
        <p:spPr>
          <a:xfrm>
            <a:off x="1586511" y="8884567"/>
            <a:ext cx="3046827" cy="747466"/>
          </a:xfrm>
          <a:custGeom>
            <a:avLst/>
            <a:gdLst/>
            <a:ahLst/>
            <a:cxnLst/>
            <a:rect l="l" t="t" r="r" b="b"/>
            <a:pathLst>
              <a:path w="3046827" h="747466" extrusionOk="0">
                <a:moveTo>
                  <a:pt x="0" y="0"/>
                </a:moveTo>
                <a:lnTo>
                  <a:pt x="3046827" y="0"/>
                </a:lnTo>
                <a:lnTo>
                  <a:pt x="3046827" y="747466"/>
                </a:lnTo>
                <a:lnTo>
                  <a:pt x="0" y="747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7755" t="-308896" r="-15524" b="-2938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5bee6ba2b2_0_48"/>
          <p:cNvSpPr txBox="1"/>
          <p:nvPr/>
        </p:nvSpPr>
        <p:spPr>
          <a:xfrm>
            <a:off x="7013351" y="8558011"/>
            <a:ext cx="104913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Cláusulas extraordinarias como Hiring Bonus, Golden Parachute u otros beneficios poco comunes y de aplicación por única vez, NO serán considerados en la remuneración bruta anual para el cálculo de honorarios.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8" name="Google Shape;148;g35bee6ba2b2_0_48"/>
          <p:cNvSpPr txBox="1"/>
          <p:nvPr/>
        </p:nvSpPr>
        <p:spPr>
          <a:xfrm>
            <a:off x="7061201" y="8148436"/>
            <a:ext cx="8693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BENEFICIOS</a:t>
            </a:r>
            <a:r>
              <a:rPr lang="en-US" sz="2000" b="1" i="0" u="none" strike="noStrike" cap="non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 NO CONSIDERADOS </a:t>
            </a:r>
            <a:r>
              <a:rPr lang="en-US" sz="2000" b="1" i="0" u="none" strike="noStrike" cap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PARA EL CÁLCULO</a:t>
            </a:r>
            <a:r>
              <a:rPr lang="en-US" sz="2000" b="1" i="0" u="none" strike="noStrike" cap="non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" name="Google Shape;149;g35bee6ba2b2_0_48"/>
          <p:cNvGrpSpPr/>
          <p:nvPr/>
        </p:nvGrpSpPr>
        <p:grpSpPr>
          <a:xfrm>
            <a:off x="6598146" y="310424"/>
            <a:ext cx="1064312" cy="1028499"/>
            <a:chOff x="19045" y="19050"/>
            <a:chExt cx="1419082" cy="1371332"/>
          </a:xfrm>
        </p:grpSpPr>
        <p:cxnSp>
          <p:nvCxnSpPr>
            <p:cNvPr id="150" name="Google Shape;150;g35bee6ba2b2_0_48"/>
            <p:cNvCxnSpPr/>
            <p:nvPr/>
          </p:nvCxnSpPr>
          <p:spPr>
            <a:xfrm rot="10800000">
              <a:off x="66827" y="19050"/>
              <a:ext cx="1371300" cy="0"/>
            </a:xfrm>
            <a:prstGeom prst="straightConnector1">
              <a:avLst/>
            </a:prstGeom>
            <a:noFill/>
            <a:ln w="38100" cap="flat" cmpd="sng">
              <a:solidFill>
                <a:srgbClr val="F8BF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1" name="Google Shape;151;g35bee6ba2b2_0_48"/>
            <p:cNvCxnSpPr/>
            <p:nvPr/>
          </p:nvCxnSpPr>
          <p:spPr>
            <a:xfrm rot="10800000" flipH="1">
              <a:off x="19045" y="19382"/>
              <a:ext cx="30900" cy="1371000"/>
            </a:xfrm>
            <a:prstGeom prst="straightConnector1">
              <a:avLst/>
            </a:prstGeom>
            <a:noFill/>
            <a:ln w="38100" cap="flat" cmpd="sng">
              <a:solidFill>
                <a:srgbClr val="F8BF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2" name="Google Shape;152;g35bee6ba2b2_0_48"/>
          <p:cNvGrpSpPr/>
          <p:nvPr/>
        </p:nvGrpSpPr>
        <p:grpSpPr>
          <a:xfrm>
            <a:off x="15867596" y="4475750"/>
            <a:ext cx="1064311" cy="1028499"/>
            <a:chOff x="0" y="431"/>
            <a:chExt cx="1419082" cy="1371332"/>
          </a:xfrm>
        </p:grpSpPr>
        <p:cxnSp>
          <p:nvCxnSpPr>
            <p:cNvPr id="153" name="Google Shape;153;g35bee6ba2b2_0_48"/>
            <p:cNvCxnSpPr/>
            <p:nvPr/>
          </p:nvCxnSpPr>
          <p:spPr>
            <a:xfrm>
              <a:off x="0" y="1371763"/>
              <a:ext cx="1371300" cy="0"/>
            </a:xfrm>
            <a:prstGeom prst="straightConnector1">
              <a:avLst/>
            </a:prstGeom>
            <a:noFill/>
            <a:ln w="38100" cap="flat" cmpd="sng">
              <a:solidFill>
                <a:srgbClr val="F8BF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4" name="Google Shape;154;g35bee6ba2b2_0_48"/>
            <p:cNvCxnSpPr/>
            <p:nvPr/>
          </p:nvCxnSpPr>
          <p:spPr>
            <a:xfrm flipH="1">
              <a:off x="1388182" y="431"/>
              <a:ext cx="30900" cy="1371000"/>
            </a:xfrm>
            <a:prstGeom prst="straightConnector1">
              <a:avLst/>
            </a:prstGeom>
            <a:noFill/>
            <a:ln w="38100" cap="flat" cmpd="sng">
              <a:solidFill>
                <a:srgbClr val="F8BF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55" name="Google Shape;155;g35bee6ba2b2_0_48"/>
          <p:cNvSpPr txBox="1"/>
          <p:nvPr/>
        </p:nvSpPr>
        <p:spPr>
          <a:xfrm>
            <a:off x="982326" y="4581700"/>
            <a:ext cx="4135800" cy="8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lang="en-US" sz="5306" b="1" i="0" u="none" strike="noStrike" cap="non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SOLUCIÓN: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5bee6ba2b2_0_48"/>
          <p:cNvSpPr txBox="1"/>
          <p:nvPr/>
        </p:nvSpPr>
        <p:spPr>
          <a:xfrm>
            <a:off x="945197" y="3600375"/>
            <a:ext cx="4135800" cy="10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lang="en-US" sz="7064" b="1" i="0" u="none" strike="noStrike" cap="non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Valor de la</a:t>
            </a:r>
            <a:endParaRPr sz="1400" b="0" i="0" u="none" strike="noStrike" cap="none">
              <a:solidFill>
                <a:srgbClr val="5456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5bee6ba2b2_0_48"/>
          <p:cNvSpPr txBox="1"/>
          <p:nvPr/>
        </p:nvSpPr>
        <p:spPr>
          <a:xfrm>
            <a:off x="10163052" y="2675163"/>
            <a:ext cx="6236700" cy="23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lang="en-US" sz="2171" b="0" i="0" u="none" strike="noStrike" cap="none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Argentina		</a:t>
            </a:r>
            <a:r>
              <a:rPr lang="en-US" sz="2171" b="0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AR$ 6.000.000</a:t>
            </a:r>
            <a:endParaRPr sz="2171" b="0" i="0" u="none" strike="noStrike" cap="none" dirty="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lang="en-US" sz="2171" b="0" i="0" u="none" strike="noStrike" cap="none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Chile			</a:t>
            </a:r>
            <a:r>
              <a:rPr lang="en-US" sz="2171" b="0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CLP$ 5.000.00</a:t>
            </a:r>
            <a:endParaRPr sz="2171" b="0" i="0" u="none" strike="noStrike" cap="none" dirty="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71"/>
              <a:buFont typeface="Arial"/>
              <a:buNone/>
            </a:pPr>
            <a:r>
              <a:rPr lang="en-US" sz="2171" b="0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México			MXN$ 100.000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71"/>
              <a:buFont typeface="Arial"/>
              <a:buNone/>
            </a:pPr>
            <a:r>
              <a:rPr lang="en-US" sz="2171" b="0" i="0" u="none" strike="noStrike" cap="none" dirty="0" err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Otros</a:t>
            </a:r>
            <a:r>
              <a:rPr lang="en-US" sz="2171" b="0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 sz="2171" b="0" i="0" u="none" strike="noStrike" cap="none" dirty="0" err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países</a:t>
            </a:r>
            <a:r>
              <a:rPr lang="en-US" sz="2171" b="0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	Se </a:t>
            </a:r>
            <a:r>
              <a:rPr lang="en-US" sz="2171" b="0" i="0" u="none" strike="noStrike" cap="none" dirty="0" err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calculará</a:t>
            </a:r>
            <a:r>
              <a:rPr lang="en-US" sz="2171" b="0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 sz="2171" b="0" i="0" u="none" strike="noStrike" cap="none" dirty="0" err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según</a:t>
            </a:r>
            <a:r>
              <a:rPr lang="en-US" sz="2171" b="0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 sz="2171" b="0" i="0" u="none" strike="noStrike" cap="none" dirty="0" err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el</a:t>
            </a:r>
            <a:r>
              <a:rPr lang="en-US" sz="2171" b="0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 sz="2171" b="0" i="0" u="none" strike="noStrike" cap="none" dirty="0" err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país</a:t>
            </a:r>
            <a:r>
              <a:rPr lang="en-US" sz="2171" b="0" i="0" u="none" strike="noStrike" cap="none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5bee6ba2b2_0_48"/>
          <p:cNvSpPr txBox="1"/>
          <p:nvPr/>
        </p:nvSpPr>
        <p:spPr>
          <a:xfrm>
            <a:off x="7417562" y="1887952"/>
            <a:ext cx="4130971" cy="683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Fee </a:t>
            </a:r>
            <a:r>
              <a:rPr lang="en-US" sz="2000" b="0" i="0" u="none" strike="noStrike" cap="none" dirty="0" err="1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aplicable</a:t>
            </a:r>
            <a:r>
              <a:rPr lang="en-US" sz="2000" b="0" i="0" u="none" strike="noStrike" cap="none" dirty="0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para </a:t>
            </a:r>
            <a:r>
              <a:rPr lang="en-US" sz="2000" b="0" i="0" u="none" strike="noStrike" cap="none" dirty="0" err="1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posiciones</a:t>
            </a:r>
            <a:r>
              <a:rPr lang="en-US" sz="2000" b="0" i="0" u="none" strike="noStrike" cap="none" dirty="0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a </a:t>
            </a:r>
            <a:r>
              <a:rPr lang="en-US" sz="2000" b="0" i="0" u="none" strike="noStrike" cap="none" dirty="0" err="1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partir</a:t>
            </a:r>
            <a:r>
              <a:rPr lang="en-US" sz="2000" b="0" i="0" u="none" strike="noStrike" cap="none" dirty="0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de un </a:t>
            </a:r>
            <a:r>
              <a:rPr lang="en-US" sz="2000" b="0" i="0" u="none" strike="noStrike" cap="none" dirty="0" err="1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salario</a:t>
            </a:r>
            <a:r>
              <a:rPr lang="en-US" sz="2000" b="0" i="0" u="none" strike="noStrike" cap="none" dirty="0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 sz="2000" b="0" i="0" u="none" strike="noStrike" cap="none" dirty="0" err="1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mensual</a:t>
            </a:r>
            <a:r>
              <a:rPr lang="en-US" sz="2000" b="0" i="0" u="none" strike="noStrike" cap="none" dirty="0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de : </a:t>
            </a:r>
            <a:endParaRPr sz="1200" b="0" i="0" u="none" strike="noStrike" cap="none" dirty="0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9" name="Google Shape;159;g35bee6ba2b2_0_48"/>
          <p:cNvSpPr txBox="1"/>
          <p:nvPr/>
        </p:nvSpPr>
        <p:spPr>
          <a:xfrm>
            <a:off x="7228626" y="706766"/>
            <a:ext cx="8358600" cy="92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10994"/>
              </a:lnSpc>
              <a:buSzPts val="3511"/>
            </a:pPr>
            <a:r>
              <a:rPr lang="en-US" sz="5400" b="1" i="0" u="none" strike="noStrike" cap="none" dirty="0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FEE: 19% </a:t>
            </a:r>
            <a:r>
              <a:rPr lang="en-US" sz="2800" b="1" dirty="0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de la </a:t>
            </a:r>
            <a:r>
              <a:rPr lang="en-US" sz="2800" b="1" dirty="0" err="1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Compensación</a:t>
            </a:r>
            <a:r>
              <a:rPr lang="en-US" sz="2800" b="1" dirty="0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2800" b="1" dirty="0" err="1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bruta</a:t>
            </a:r>
            <a:r>
              <a:rPr lang="en-US" sz="2800" b="1" dirty="0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2800" b="1" dirty="0" err="1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anual</a:t>
            </a:r>
            <a:r>
              <a:rPr lang="en-US" sz="2800" b="1" dirty="0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endParaRPr sz="2800" b="0" i="0" u="none" strike="noStrike" cap="none" dirty="0">
              <a:solidFill>
                <a:srgbClr val="F8B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bee6ba2b2_0_70"/>
          <p:cNvSpPr txBox="1"/>
          <p:nvPr/>
        </p:nvSpPr>
        <p:spPr>
          <a:xfrm>
            <a:off x="1420612" y="380083"/>
            <a:ext cx="4347600" cy="12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1"/>
              <a:buFont typeface="Arial"/>
              <a:buNone/>
            </a:pPr>
            <a:r>
              <a:rPr lang="en-US" sz="8501" b="1" i="0" u="none" strike="noStrike" cap="non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Cálculo</a:t>
            </a:r>
            <a:endParaRPr sz="1400" b="1" i="0" u="none" strike="noStrike" cap="none">
              <a:solidFill>
                <a:srgbClr val="5456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5bee6ba2b2_0_70"/>
          <p:cNvSpPr txBox="1"/>
          <p:nvPr/>
        </p:nvSpPr>
        <p:spPr>
          <a:xfrm>
            <a:off x="1860975" y="1367000"/>
            <a:ext cx="17034600" cy="10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3"/>
              <a:buFont typeface="Arial"/>
              <a:buNone/>
            </a:pPr>
            <a:r>
              <a:rPr lang="en-US" sz="7183" b="1" i="0" u="none" strike="noStrike" cap="non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del valor de la Solución (aproximado)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6" name="Google Shape;166;g35bee6ba2b2_0_70"/>
          <p:cNvGraphicFramePr/>
          <p:nvPr/>
        </p:nvGraphicFramePr>
        <p:xfrm>
          <a:off x="4081550" y="351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{7F0B5D49-DCE6-4383-88E6-9B25CE2EF017}</a:tableStyleId>
              </a:tblPr>
              <a:tblGrid>
                <a:gridCol w="353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Detalle</a:t>
                      </a:r>
                      <a:endParaRPr sz="23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0" marR="0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56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Cantidad</a:t>
                      </a:r>
                      <a:endParaRPr sz="23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56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Monto</a:t>
                      </a:r>
                      <a:endParaRPr sz="23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56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Subtotal</a:t>
                      </a:r>
                      <a:endParaRPr sz="23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56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1" i="0" u="none" strike="noStrike" cap="none">
                          <a:solidFill>
                            <a:srgbClr val="5456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Salario</a:t>
                      </a:r>
                      <a:endParaRPr sz="2300" b="1" u="none" strike="noStrike" cap="none">
                        <a:solidFill>
                          <a:srgbClr val="54565B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60,000 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   780,000 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1" i="0" u="none" strike="noStrike" cap="none">
                          <a:solidFill>
                            <a:srgbClr val="5456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Bono Porcentaje</a:t>
                      </a:r>
                      <a:endParaRPr sz="2300" b="1" u="none" strike="noStrike" cap="none">
                        <a:solidFill>
                          <a:srgbClr val="54565B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   78,000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1" i="0" u="none" strike="noStrike" cap="none">
                          <a:solidFill>
                            <a:srgbClr val="5456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Compensación anual</a:t>
                      </a:r>
                      <a:endParaRPr sz="2300" b="1" u="none" strike="noStrike" cap="none">
                        <a:solidFill>
                          <a:srgbClr val="54565B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   858,000 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1" i="0" u="none" strike="noStrike" cap="none">
                        <a:solidFill>
                          <a:srgbClr val="54565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1" i="0" u="none" strike="noStrike" cap="none">
                          <a:solidFill>
                            <a:srgbClr val="5456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Fee</a:t>
                      </a:r>
                      <a:endParaRPr sz="2300" b="1" u="none" strike="noStrike" cap="none">
                        <a:solidFill>
                          <a:srgbClr val="54565B"/>
                        </a:solidFill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19%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   128,700 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1" i="0" u="none" strike="noStrike" cap="none">
                        <a:solidFill>
                          <a:srgbClr val="54565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3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1" i="0" u="none" strike="noStrike" cap="none">
                          <a:solidFill>
                            <a:srgbClr val="5456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 de pago</a:t>
                      </a:r>
                      <a:endParaRPr sz="2300" b="1" u="none" strike="noStrike" cap="none">
                        <a:solidFill>
                          <a:srgbClr val="54565B"/>
                        </a:solidFill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Cuota 1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35%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     45,045 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3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Cuota 2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35%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     45,045 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3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endParaRPr sz="2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Cuota 3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     38,610 </a:t>
                      </a:r>
                      <a:endParaRPr sz="23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</a:t>
                      </a:r>
                      <a:r>
                        <a:rPr lang="en-US" sz="230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AJUSTE</a:t>
                      </a:r>
                      <a:endParaRPr sz="23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0" marR="0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B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bee6ba2b2_0_76"/>
          <p:cNvSpPr/>
          <p:nvPr/>
        </p:nvSpPr>
        <p:spPr>
          <a:xfrm>
            <a:off x="1225177" y="2794296"/>
            <a:ext cx="246091" cy="246091"/>
          </a:xfrm>
          <a:custGeom>
            <a:avLst/>
            <a:gdLst/>
            <a:ahLst/>
            <a:cxnLst/>
            <a:rect l="l" t="t" r="r" b="b"/>
            <a:pathLst>
              <a:path w="246091" h="246091" extrusionOk="0">
                <a:moveTo>
                  <a:pt x="0" y="0"/>
                </a:moveTo>
                <a:lnTo>
                  <a:pt x="246091" y="0"/>
                </a:lnTo>
                <a:lnTo>
                  <a:pt x="246091" y="246092"/>
                </a:lnTo>
                <a:lnTo>
                  <a:pt x="0" y="24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5bee6ba2b2_0_76"/>
          <p:cNvSpPr/>
          <p:nvPr/>
        </p:nvSpPr>
        <p:spPr>
          <a:xfrm>
            <a:off x="1256550" y="7169071"/>
            <a:ext cx="246091" cy="246091"/>
          </a:xfrm>
          <a:custGeom>
            <a:avLst/>
            <a:gdLst/>
            <a:ahLst/>
            <a:cxnLst/>
            <a:rect l="l" t="t" r="r" b="b"/>
            <a:pathLst>
              <a:path w="246091" h="246091" extrusionOk="0">
                <a:moveTo>
                  <a:pt x="0" y="0"/>
                </a:moveTo>
                <a:lnTo>
                  <a:pt x="246091" y="0"/>
                </a:lnTo>
                <a:lnTo>
                  <a:pt x="246091" y="246092"/>
                </a:lnTo>
                <a:lnTo>
                  <a:pt x="0" y="24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5bee6ba2b2_0_76"/>
          <p:cNvSpPr/>
          <p:nvPr/>
        </p:nvSpPr>
        <p:spPr>
          <a:xfrm>
            <a:off x="9116000" y="2860974"/>
            <a:ext cx="246091" cy="246091"/>
          </a:xfrm>
          <a:custGeom>
            <a:avLst/>
            <a:gdLst/>
            <a:ahLst/>
            <a:cxnLst/>
            <a:rect l="l" t="t" r="r" b="b"/>
            <a:pathLst>
              <a:path w="246091" h="246091" extrusionOk="0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5bee6ba2b2_0_76"/>
          <p:cNvSpPr/>
          <p:nvPr/>
        </p:nvSpPr>
        <p:spPr>
          <a:xfrm>
            <a:off x="16936448" y="8981649"/>
            <a:ext cx="896680" cy="980114"/>
          </a:xfrm>
          <a:custGeom>
            <a:avLst/>
            <a:gdLst/>
            <a:ahLst/>
            <a:cxnLst/>
            <a:rect l="l" t="t" r="r" b="b"/>
            <a:pathLst>
              <a:path w="896680" h="980114" extrusionOk="0">
                <a:moveTo>
                  <a:pt x="0" y="0"/>
                </a:moveTo>
                <a:lnTo>
                  <a:pt x="896680" y="0"/>
                </a:lnTo>
                <a:lnTo>
                  <a:pt x="896680" y="980114"/>
                </a:lnTo>
                <a:lnTo>
                  <a:pt x="0" y="980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36041" t="-30701" r="-42256" b="-324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5bee6ba2b2_0_76"/>
          <p:cNvSpPr txBox="1"/>
          <p:nvPr/>
        </p:nvSpPr>
        <p:spPr>
          <a:xfrm>
            <a:off x="1420612" y="380083"/>
            <a:ext cx="6290700" cy="12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1"/>
              <a:buFont typeface="Arial"/>
              <a:buNone/>
            </a:pPr>
            <a:r>
              <a:rPr lang="en-US" sz="8501" b="1" i="0" u="none" strike="noStrike" cap="non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Condiciones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5bee6ba2b2_0_76"/>
          <p:cNvSpPr txBox="1"/>
          <p:nvPr/>
        </p:nvSpPr>
        <p:spPr>
          <a:xfrm>
            <a:off x="1225177" y="1396526"/>
            <a:ext cx="62202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7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3"/>
              <a:buFont typeface="Arial"/>
              <a:buNone/>
            </a:pPr>
            <a:r>
              <a:rPr lang="en-US" sz="7783" b="1" i="0" u="none" strike="noStrike" cap="non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Comerciales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5bee6ba2b2_0_76"/>
          <p:cNvSpPr txBox="1"/>
          <p:nvPr/>
        </p:nvSpPr>
        <p:spPr>
          <a:xfrm>
            <a:off x="1705815" y="2727621"/>
            <a:ext cx="6005400" cy="43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FACTURACIÓN: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35% de anticipo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35% con la 1era entrevista de candidatos con el cliente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30% cuando el candidato firma la oferta (el monto se ajusta con el salario real de ingreso)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1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NO APLICAN PENALIDADES POR CANCELACIÓN</a:t>
            </a:r>
            <a:endParaRPr sz="1600" b="0" i="1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5442" marR="0" lvl="1" indent="-172719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Servicios brindados en Argentina, Chile y México serán facturados en moneda local.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5442" marR="0" lvl="1" indent="-172719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Servicios brindados en el resto del mundo serán facturados en dólares americanos, con facturas de exportación emitidas desde las razones sociales de VDH en Chile o México.</a:t>
            </a:r>
            <a:endParaRPr sz="1600" b="0" i="1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1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8" name="Google Shape;178;g35bee6ba2b2_0_76"/>
          <p:cNvSpPr txBox="1"/>
          <p:nvPr/>
        </p:nvSpPr>
        <p:spPr>
          <a:xfrm>
            <a:off x="1737188" y="7102396"/>
            <a:ext cx="6423300" cy="19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IMPUESTOS: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5442" marR="0" lvl="1" indent="-172719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En Argentina, Chile y México se agregará el IVA correspondiente a cada país.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5442" marR="0" lvl="1" indent="-172719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Los servicios facturados a otros países NO tendrán recargo de IVA. Si surge algún impuesto adicional por acuerdos tributarios entre países, este será a cargo del cliente.</a:t>
            </a: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9" name="Google Shape;179;g35bee6ba2b2_0_76"/>
          <p:cNvSpPr txBox="1"/>
          <p:nvPr/>
        </p:nvSpPr>
        <p:spPr>
          <a:xfrm>
            <a:off x="9596650" y="2794300"/>
            <a:ext cx="7663800" cy="50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GARANTÍA: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APLICA, cuando: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profesional contratado se encuentre completamente desvinculado o haya renunciado a la compañía dentro de los siguientes plazos y posiciones.</a:t>
            </a: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La garantía de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12 meses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aplica para posiciones con salario mensual a partir de:</a:t>
            </a: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Argentina		AR$ 6.000.000 ó más</a:t>
            </a: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Chile		CLP$ 5.000.00 </a:t>
            </a:r>
            <a:r>
              <a:rPr lang="en-US" sz="16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ó más</a:t>
            </a: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México		MXN$ 100.000 </a:t>
            </a:r>
            <a:r>
              <a:rPr lang="en-US" sz="16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ó más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NO APLICA, cuando: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5442" marR="0" lvl="1" indent="-172719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perfil de reemplazo fuera modificado parcial o totalmente.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5442" marR="0" lvl="1" indent="-172719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profesional renuncia por incumplimiento de promesa o acuerdo.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5442" marR="0" lvl="1" indent="-172719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profesional renuncia por haber sido asignado a un rol diferente.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5442" marR="0" lvl="1" indent="-172719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profesional renuncia por un cambio del liderazgo organizacional.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0" name="Google Shape;180;g35bee6ba2b2_0_76"/>
          <p:cNvSpPr txBox="1"/>
          <p:nvPr/>
        </p:nvSpPr>
        <p:spPr>
          <a:xfrm>
            <a:off x="1028700" y="9395506"/>
            <a:ext cx="157086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*Si la vacante es cubierta por un referido interno o externo, aplicaremos un descuento del 15% </a:t>
            </a:r>
            <a:endParaRPr sz="1800" b="1" i="1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sobre el monto total del proyecto en la última factura.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bee6ba2b2_0_89"/>
          <p:cNvSpPr/>
          <p:nvPr/>
        </p:nvSpPr>
        <p:spPr>
          <a:xfrm>
            <a:off x="767952" y="3234246"/>
            <a:ext cx="246091" cy="246091"/>
          </a:xfrm>
          <a:custGeom>
            <a:avLst/>
            <a:gdLst/>
            <a:ahLst/>
            <a:cxnLst/>
            <a:rect l="l" t="t" r="r" b="b"/>
            <a:pathLst>
              <a:path w="246091" h="246091" extrusionOk="0">
                <a:moveTo>
                  <a:pt x="0" y="0"/>
                </a:moveTo>
                <a:lnTo>
                  <a:pt x="246091" y="0"/>
                </a:lnTo>
                <a:lnTo>
                  <a:pt x="246091" y="246092"/>
                </a:lnTo>
                <a:lnTo>
                  <a:pt x="0" y="24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5bee6ba2b2_0_89"/>
          <p:cNvSpPr/>
          <p:nvPr/>
        </p:nvSpPr>
        <p:spPr>
          <a:xfrm>
            <a:off x="767952" y="5581599"/>
            <a:ext cx="246091" cy="246091"/>
          </a:xfrm>
          <a:custGeom>
            <a:avLst/>
            <a:gdLst/>
            <a:ahLst/>
            <a:cxnLst/>
            <a:rect l="l" t="t" r="r" b="b"/>
            <a:pathLst>
              <a:path w="246091" h="246091" extrusionOk="0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5bee6ba2b2_0_89"/>
          <p:cNvSpPr/>
          <p:nvPr/>
        </p:nvSpPr>
        <p:spPr>
          <a:xfrm>
            <a:off x="16936448" y="8981649"/>
            <a:ext cx="896680" cy="980114"/>
          </a:xfrm>
          <a:custGeom>
            <a:avLst/>
            <a:gdLst/>
            <a:ahLst/>
            <a:cxnLst/>
            <a:rect l="l" t="t" r="r" b="b"/>
            <a:pathLst>
              <a:path w="896680" h="980114" extrusionOk="0">
                <a:moveTo>
                  <a:pt x="0" y="0"/>
                </a:moveTo>
                <a:lnTo>
                  <a:pt x="896680" y="0"/>
                </a:lnTo>
                <a:lnTo>
                  <a:pt x="896680" y="980114"/>
                </a:lnTo>
                <a:lnTo>
                  <a:pt x="0" y="980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36041" t="-30701" r="-42256" b="-324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5bee6ba2b2_0_89"/>
          <p:cNvSpPr txBox="1"/>
          <p:nvPr/>
        </p:nvSpPr>
        <p:spPr>
          <a:xfrm>
            <a:off x="1420612" y="380083"/>
            <a:ext cx="6290700" cy="12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1"/>
              <a:buFont typeface="Arial"/>
              <a:buNone/>
            </a:pPr>
            <a:r>
              <a:rPr lang="en-US" sz="8501" b="1" i="0" u="none" strike="noStrike" cap="non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Condiciones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5bee6ba2b2_0_89"/>
          <p:cNvSpPr txBox="1"/>
          <p:nvPr/>
        </p:nvSpPr>
        <p:spPr>
          <a:xfrm>
            <a:off x="1225177" y="1396526"/>
            <a:ext cx="62202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7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3"/>
              <a:buFont typeface="Arial"/>
              <a:buNone/>
            </a:pPr>
            <a:r>
              <a:rPr lang="en-US" sz="7783" b="1" i="0" u="none" strike="noStrike" cap="non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Comerciales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5bee6ba2b2_0_89"/>
          <p:cNvSpPr txBox="1"/>
          <p:nvPr/>
        </p:nvSpPr>
        <p:spPr>
          <a:xfrm>
            <a:off x="1248596" y="3167575"/>
            <a:ext cx="3456600" cy="16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ON HOLD: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Si la búsqueda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</a:ext>
                </a:extLst>
              </a:rPr>
              <a:t>entrar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a en periodo de “Stand By” por comunicación formal del cliente o porque no haya ocurrido  avance relacionado con el proceso, -nuevas entrevistas o toma de decisión con respecto a los candidatos presentados- después un plazo de 60 días, se aplicará la cláusula de cancelación.</a:t>
            </a:r>
            <a:endParaRPr sz="1200" b="0" i="1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1" name="Google Shape;191;g35bee6ba2b2_0_89"/>
          <p:cNvSpPr txBox="1"/>
          <p:nvPr/>
        </p:nvSpPr>
        <p:spPr>
          <a:xfrm>
            <a:off x="1248600" y="5110975"/>
            <a:ext cx="3666300" cy="38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CANCELACIÓN: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Si la búsqueda fuera suspendida o cancelada por razones ajenas a VON DER HEIDE, después de haber presentado candidatos, NO HABRÁ PENALIDADES asociadas siempre que el cliente haya aceptado operar bajo la forma de pago 35%+35%+30%.</a:t>
            </a:r>
            <a:endParaRPr sz="12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En caso que el cliente hubiera optado por una forma de pago diferente a la mencionada, se compromete en abonar a VON DER HEIDE la suma del 35% del honorario si la cancelación se comunica antes de la presentación de candidatos o un 70% en caso que se comunique con posterioridad.</a:t>
            </a:r>
            <a:endParaRPr sz="12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Los anticipos y avances pagados serán considerados compensación por los trabajos realizados hasta el momento y no podrán ser reembolsados o convertidos en créditos para otros procesos. Todas las facturas emitidas con anterioridad a la cancelación deberán ser abonadas en su totalidad.</a:t>
            </a:r>
            <a:endParaRPr sz="12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2" name="Google Shape;192;g35bee6ba2b2_0_89"/>
          <p:cNvSpPr/>
          <p:nvPr/>
        </p:nvSpPr>
        <p:spPr>
          <a:xfrm>
            <a:off x="5339952" y="3234246"/>
            <a:ext cx="246091" cy="246091"/>
          </a:xfrm>
          <a:custGeom>
            <a:avLst/>
            <a:gdLst/>
            <a:ahLst/>
            <a:cxnLst/>
            <a:rect l="l" t="t" r="r" b="b"/>
            <a:pathLst>
              <a:path w="246091" h="246091" extrusionOk="0">
                <a:moveTo>
                  <a:pt x="0" y="0"/>
                </a:moveTo>
                <a:lnTo>
                  <a:pt x="246091" y="0"/>
                </a:lnTo>
                <a:lnTo>
                  <a:pt x="246091" y="246092"/>
                </a:lnTo>
                <a:lnTo>
                  <a:pt x="0" y="24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5bee6ba2b2_0_89"/>
          <p:cNvSpPr/>
          <p:nvPr/>
        </p:nvSpPr>
        <p:spPr>
          <a:xfrm>
            <a:off x="5339952" y="5034074"/>
            <a:ext cx="246091" cy="246091"/>
          </a:xfrm>
          <a:custGeom>
            <a:avLst/>
            <a:gdLst/>
            <a:ahLst/>
            <a:cxnLst/>
            <a:rect l="l" t="t" r="r" b="b"/>
            <a:pathLst>
              <a:path w="246091" h="246091" extrusionOk="0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5bee6ba2b2_0_89"/>
          <p:cNvSpPr txBox="1"/>
          <p:nvPr/>
        </p:nvSpPr>
        <p:spPr>
          <a:xfrm>
            <a:off x="5820596" y="3167575"/>
            <a:ext cx="3456600" cy="1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SECOND PLACEMENT: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Se facturará un 70% para segundas o terceras contrataciones que se deriven del mismo proceso solicitado.  En caso de incorporar a los profesionales para cubrir posiciones distintas a la solicitada originalmente, no aplicará la garantía</a:t>
            </a:r>
            <a:r>
              <a:rPr lang="en-US" sz="1400" b="0" i="0" u="none" strike="noStrike" cap="none">
                <a:solidFill>
                  <a:srgbClr val="5C609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 b="0" i="1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5" name="Google Shape;195;g35bee6ba2b2_0_89"/>
          <p:cNvSpPr txBox="1"/>
          <p:nvPr/>
        </p:nvSpPr>
        <p:spPr>
          <a:xfrm>
            <a:off x="5820600" y="4967400"/>
            <a:ext cx="3666300" cy="12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EXCLUSIVIDAD: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La experiencia indica que los contactos simultáneos a un candidato dañan la imagen de la empresa y obstaculizan los procesos. Por ello VON DER HEIDE sólo elige iniciar procesos en los cuales se la designa como consultora exclusiva de cada posición a cubrir.</a:t>
            </a:r>
            <a:endParaRPr sz="12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6" name="Google Shape;196;g35bee6ba2b2_0_89"/>
          <p:cNvSpPr/>
          <p:nvPr/>
        </p:nvSpPr>
        <p:spPr>
          <a:xfrm>
            <a:off x="5339952" y="6862874"/>
            <a:ext cx="246091" cy="246091"/>
          </a:xfrm>
          <a:custGeom>
            <a:avLst/>
            <a:gdLst/>
            <a:ahLst/>
            <a:cxnLst/>
            <a:rect l="l" t="t" r="r" b="b"/>
            <a:pathLst>
              <a:path w="246091" h="246091" extrusionOk="0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5bee6ba2b2_0_89"/>
          <p:cNvSpPr txBox="1"/>
          <p:nvPr/>
        </p:nvSpPr>
        <p:spPr>
          <a:xfrm>
            <a:off x="5820600" y="6796200"/>
            <a:ext cx="3666300" cy="12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ACEPTACIÓN DE PROPUESTAS:</a:t>
            </a:r>
            <a:endParaRPr sz="12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La realización del relevamiento de la necesidad será considerado como el día 1 del inicio del proceso. En consecuencia, el cliente acepta que una vez realizado dicho relevamiento esta propuesta será considerada aceptada en todos sus términos y condiciones.</a:t>
            </a:r>
            <a:endParaRPr sz="12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8" name="Google Shape;198;g35bee6ba2b2_0_89"/>
          <p:cNvSpPr/>
          <p:nvPr/>
        </p:nvSpPr>
        <p:spPr>
          <a:xfrm>
            <a:off x="5339952" y="8539274"/>
            <a:ext cx="246091" cy="246091"/>
          </a:xfrm>
          <a:custGeom>
            <a:avLst/>
            <a:gdLst/>
            <a:ahLst/>
            <a:cxnLst/>
            <a:rect l="l" t="t" r="r" b="b"/>
            <a:pathLst>
              <a:path w="246091" h="246091" extrusionOk="0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5bee6ba2b2_0_89"/>
          <p:cNvSpPr txBox="1"/>
          <p:nvPr/>
        </p:nvSpPr>
        <p:spPr>
          <a:xfrm>
            <a:off x="5820600" y="8472600"/>
            <a:ext cx="3666300" cy="16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REFERIDOS:</a:t>
            </a:r>
            <a:endParaRPr sz="12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En caso de que la compañía proponga referidos externos o internos, dichos candidatos deberán ser considerados dentro del proceso de VON DER HEIDE. En caso que la búsqueda sea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</a:ext>
                </a:extLst>
              </a:rPr>
              <a:t>cerrad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a con alguno de ellos, se realizará un descuento del 15% sobre el monto total del proyecto que será aplicable en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"/>
                  </a:ext>
                </a:extLst>
              </a:rPr>
              <a:t>la última factura de cierre del proceso.</a:t>
            </a:r>
            <a:endParaRPr sz="12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0" name="Google Shape;200;g35bee6ba2b2_0_89"/>
          <p:cNvSpPr/>
          <p:nvPr/>
        </p:nvSpPr>
        <p:spPr>
          <a:xfrm>
            <a:off x="10521552" y="3234246"/>
            <a:ext cx="246091" cy="246091"/>
          </a:xfrm>
          <a:custGeom>
            <a:avLst/>
            <a:gdLst/>
            <a:ahLst/>
            <a:cxnLst/>
            <a:rect l="l" t="t" r="r" b="b"/>
            <a:pathLst>
              <a:path w="246091" h="246091" extrusionOk="0">
                <a:moveTo>
                  <a:pt x="0" y="0"/>
                </a:moveTo>
                <a:lnTo>
                  <a:pt x="246091" y="0"/>
                </a:lnTo>
                <a:lnTo>
                  <a:pt x="246091" y="246092"/>
                </a:lnTo>
                <a:lnTo>
                  <a:pt x="0" y="24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5bee6ba2b2_0_89"/>
          <p:cNvSpPr/>
          <p:nvPr/>
        </p:nvSpPr>
        <p:spPr>
          <a:xfrm>
            <a:off x="10521552" y="5034074"/>
            <a:ext cx="246091" cy="246091"/>
          </a:xfrm>
          <a:custGeom>
            <a:avLst/>
            <a:gdLst/>
            <a:ahLst/>
            <a:cxnLst/>
            <a:rect l="l" t="t" r="r" b="b"/>
            <a:pathLst>
              <a:path w="246091" h="246091" extrusionOk="0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5bee6ba2b2_0_89"/>
          <p:cNvSpPr txBox="1"/>
          <p:nvPr/>
        </p:nvSpPr>
        <p:spPr>
          <a:xfrm>
            <a:off x="11002200" y="3167575"/>
            <a:ext cx="5219700" cy="14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COMPROMISO DEL CLIENTE:</a:t>
            </a:r>
            <a:endParaRPr sz="12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cliente se compromete a proveer la información básica a compartir con los candidatos, ser ágiles y flexibles para atender las necesidades de seguimiento y los ajustes del proceso. También, para entrevistar a los candidatos presentados, dar devolución sobre dichos candidatos dentro de los dos días de la entrevista y mantener en reserva la identidad de los profesionales.</a:t>
            </a:r>
            <a:endParaRPr sz="12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3" name="Google Shape;203;g35bee6ba2b2_0_89"/>
          <p:cNvSpPr txBox="1"/>
          <p:nvPr/>
        </p:nvSpPr>
        <p:spPr>
          <a:xfrm>
            <a:off x="11002200" y="4967400"/>
            <a:ext cx="5219700" cy="25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OFF LIMITS:</a:t>
            </a:r>
            <a:endParaRPr sz="12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8"/>
                  </a:ext>
                </a:extLst>
              </a:rPr>
              <a:t>VON DER HEIDE se compromete a no abordar proactivamente a los colaboradores de sus clientes activos en un mismo país y departamento. La condición de off-limit se pierde después de 6 meses de inactividad comercial, a partir del último proyecto finalizado. Los candidatos incorporados al cliente a través de VON DER HEIDE no serán tenidos en cuenta para otros procesos de Talent Acquisition  durante dos años a partir de su incorporación.</a:t>
            </a:r>
            <a:endParaRPr sz="12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9"/>
                </a:ext>
              </a:extLs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0"/>
                  </a:ext>
                </a:extLst>
              </a:rPr>
              <a:t> </a:t>
            </a:r>
            <a:endParaRPr sz="12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1"/>
                </a:ext>
              </a:extLs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2"/>
                  </a:ext>
                </a:extLst>
              </a:rPr>
              <a:t>En caso que colaboradores de los clientes apliquen a posiciones publicadas en los portales de internet o se comuniquen por otros medios, VON DER HEIDE se reserva el derecho de considerarlos o no para otros procesos de </a:t>
            </a:r>
            <a:r>
              <a:rPr lang="en-US" sz="12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"/>
                  </a:ext>
                </a:extLst>
              </a:rPr>
              <a:t>Talent Acquisition</a:t>
            </a:r>
            <a:r>
              <a:rPr lang="en-US" sz="12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 sz="12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4" name="Google Shape;204;g35bee6ba2b2_0_89"/>
          <p:cNvSpPr/>
          <p:nvPr/>
        </p:nvSpPr>
        <p:spPr>
          <a:xfrm>
            <a:off x="10521552" y="8054849"/>
            <a:ext cx="246091" cy="246091"/>
          </a:xfrm>
          <a:custGeom>
            <a:avLst/>
            <a:gdLst/>
            <a:ahLst/>
            <a:cxnLst/>
            <a:rect l="l" t="t" r="r" b="b"/>
            <a:pathLst>
              <a:path w="246091" h="246091" extrusionOk="0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5bee6ba2b2_0_89"/>
          <p:cNvSpPr txBox="1"/>
          <p:nvPr/>
        </p:nvSpPr>
        <p:spPr>
          <a:xfrm>
            <a:off x="11002200" y="7988175"/>
            <a:ext cx="5219700" cy="5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VIGENCIA:</a:t>
            </a:r>
            <a:endParaRPr sz="12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30 días desde la fecha de envío. </a:t>
            </a:r>
            <a:endParaRPr sz="12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6" name="Google Shape;206;g35bee6ba2b2_0_89"/>
          <p:cNvSpPr/>
          <p:nvPr/>
        </p:nvSpPr>
        <p:spPr>
          <a:xfrm>
            <a:off x="10609477" y="9179199"/>
            <a:ext cx="246091" cy="246091"/>
          </a:xfrm>
          <a:custGeom>
            <a:avLst/>
            <a:gdLst/>
            <a:ahLst/>
            <a:cxnLst/>
            <a:rect l="l" t="t" r="r" b="b"/>
            <a:pathLst>
              <a:path w="246091" h="246091" extrusionOk="0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5bee6ba2b2_0_89"/>
          <p:cNvSpPr txBox="1"/>
          <p:nvPr/>
        </p:nvSpPr>
        <p:spPr>
          <a:xfrm>
            <a:off x="11025640" y="9129749"/>
            <a:ext cx="55872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PLAZO DE PAGO: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30 días de fecha de factura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fb99d6dbc_0_0"/>
          <p:cNvSpPr txBox="1"/>
          <p:nvPr/>
        </p:nvSpPr>
        <p:spPr>
          <a:xfrm>
            <a:off x="1295773" y="4133450"/>
            <a:ext cx="9116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lang="en-US" sz="9000" b="1" i="0" u="none" strike="noStrike" cap="non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Soluciones</a:t>
            </a:r>
            <a:endParaRPr sz="9000" b="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3" name="Google Shape;213;g35fb99d6dbc_0_0"/>
          <p:cNvSpPr txBox="1"/>
          <p:nvPr/>
        </p:nvSpPr>
        <p:spPr>
          <a:xfrm>
            <a:off x="1258625" y="3152125"/>
            <a:ext cx="43563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Nuestras</a:t>
            </a:r>
            <a:endParaRPr sz="8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5fb99d6dbc_0_0"/>
          <p:cNvSpPr txBox="1"/>
          <p:nvPr/>
        </p:nvSpPr>
        <p:spPr>
          <a:xfrm>
            <a:off x="1310100" y="5381150"/>
            <a:ext cx="52074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Conoce nuestras soluciones para incorporar y potenciar tu talento.</a:t>
            </a:r>
            <a:endParaRPr sz="2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5" name="Google Shape;215;g35fb99d6dbc_0_0"/>
          <p:cNvSpPr txBox="1"/>
          <p:nvPr/>
        </p:nvSpPr>
        <p:spPr>
          <a:xfrm>
            <a:off x="10411882" y="19465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Executive Search </a:t>
            </a: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5fb99d6dbc_0_0"/>
          <p:cNvSpPr txBox="1"/>
          <p:nvPr/>
        </p:nvSpPr>
        <p:spPr>
          <a:xfrm>
            <a:off x="10411882" y="60460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Selfplacement</a:t>
            </a: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g35fb99d6dbc_0_0"/>
          <p:cNvCxnSpPr/>
          <p:nvPr/>
        </p:nvCxnSpPr>
        <p:spPr>
          <a:xfrm>
            <a:off x="10411875" y="2824650"/>
            <a:ext cx="4466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8" name="Google Shape;218;g35fb99d6dbc_0_0"/>
          <p:cNvSpPr txBox="1"/>
          <p:nvPr/>
        </p:nvSpPr>
        <p:spPr>
          <a:xfrm>
            <a:off x="10419757" y="30336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Assessment </a:t>
            </a: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g35fb99d6dbc_0_0"/>
          <p:cNvCxnSpPr/>
          <p:nvPr/>
        </p:nvCxnSpPr>
        <p:spPr>
          <a:xfrm>
            <a:off x="10411875" y="3767875"/>
            <a:ext cx="4466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0" name="Google Shape;220;g35fb99d6dbc_0_0"/>
          <p:cNvSpPr txBox="1"/>
          <p:nvPr/>
        </p:nvSpPr>
        <p:spPr>
          <a:xfrm>
            <a:off x="10419757" y="40242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Market Insights </a:t>
            </a: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g35fb99d6dbc_0_0"/>
          <p:cNvCxnSpPr/>
          <p:nvPr/>
        </p:nvCxnSpPr>
        <p:spPr>
          <a:xfrm>
            <a:off x="10411875" y="4758475"/>
            <a:ext cx="4466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g35fb99d6dbc_0_0"/>
          <p:cNvSpPr txBox="1"/>
          <p:nvPr/>
        </p:nvSpPr>
        <p:spPr>
          <a:xfrm>
            <a:off x="10419757" y="50351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Coaching</a:t>
            </a: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g35fb99d6dbc_0_0"/>
          <p:cNvCxnSpPr/>
          <p:nvPr/>
        </p:nvCxnSpPr>
        <p:spPr>
          <a:xfrm>
            <a:off x="10411875" y="5769375"/>
            <a:ext cx="4466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24" name="Google Shape;224;g35fb99d6dbc_0_0" title="VDH Logo_2025-0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12925" y="9058425"/>
            <a:ext cx="3559228" cy="5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65B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fb99d6dbc_0_16"/>
          <p:cNvSpPr/>
          <p:nvPr/>
        </p:nvSpPr>
        <p:spPr>
          <a:xfrm>
            <a:off x="0" y="5660700"/>
            <a:ext cx="18320353" cy="4592300"/>
          </a:xfrm>
          <a:custGeom>
            <a:avLst/>
            <a:gdLst/>
            <a:ahLst/>
            <a:cxnLst/>
            <a:rect l="l" t="t" r="r" b="b"/>
            <a:pathLst>
              <a:path w="6428194" h="1554078" extrusionOk="0">
                <a:moveTo>
                  <a:pt x="0" y="0"/>
                </a:moveTo>
                <a:lnTo>
                  <a:pt x="6428194" y="0"/>
                </a:lnTo>
                <a:lnTo>
                  <a:pt x="6428194" y="1554078"/>
                </a:lnTo>
                <a:lnTo>
                  <a:pt x="0" y="15540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5fb99d6dbc_0_16"/>
          <p:cNvSpPr txBox="1"/>
          <p:nvPr/>
        </p:nvSpPr>
        <p:spPr>
          <a:xfrm>
            <a:off x="7469472" y="6178207"/>
            <a:ext cx="5188800" cy="22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 b="0" i="0" u="none" strike="noStrike" cap="non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Website: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 b="0" i="0" u="none" strike="noStrike" cap="non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LinkedIn: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 b="0" i="0" u="none" strike="noStrike" cap="non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Correo: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endParaRPr sz="2799" b="0" i="0" u="none" strike="noStrike" cap="none">
              <a:solidFill>
                <a:srgbClr val="54565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1" name="Google Shape;231;g35fb99d6dbc_0_16"/>
          <p:cNvSpPr txBox="1"/>
          <p:nvPr/>
        </p:nvSpPr>
        <p:spPr>
          <a:xfrm>
            <a:off x="12951650" y="6283097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WWW.VONDERHEIDE.COM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5fb99d6dbc_0_16"/>
          <p:cNvSpPr txBox="1"/>
          <p:nvPr/>
        </p:nvSpPr>
        <p:spPr>
          <a:xfrm>
            <a:off x="12951650" y="6848913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VON DER HEIDE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5fb99d6dbc_0_16"/>
          <p:cNvSpPr txBox="1"/>
          <p:nvPr/>
        </p:nvSpPr>
        <p:spPr>
          <a:xfrm>
            <a:off x="12951650" y="7414738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CONTACTO@VDH.JOBS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g35fb99d6dbc_0_16"/>
          <p:cNvGrpSpPr/>
          <p:nvPr/>
        </p:nvGrpSpPr>
        <p:grpSpPr>
          <a:xfrm>
            <a:off x="-523800" y="2286026"/>
            <a:ext cx="8703799" cy="2272849"/>
            <a:chOff x="-523800" y="2286026"/>
            <a:chExt cx="8703799" cy="2272849"/>
          </a:xfrm>
        </p:grpSpPr>
        <p:pic>
          <p:nvPicPr>
            <p:cNvPr id="235" name="Google Shape;235;g35fb99d6dbc_0_16" title="people to business.png"/>
            <p:cNvPicPr preferRelativeResize="0"/>
            <p:nvPr/>
          </p:nvPicPr>
          <p:blipFill rotWithShape="1">
            <a:blip r:embed="rId3">
              <a:alphaModFix/>
            </a:blip>
            <a:srcRect l="35239" t="51645" r="35608" b="33238"/>
            <a:stretch/>
          </p:blipFill>
          <p:spPr>
            <a:xfrm>
              <a:off x="1303875" y="3119500"/>
              <a:ext cx="4935000" cy="1439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g35fb99d6dbc_0_16"/>
            <p:cNvSpPr/>
            <p:nvPr/>
          </p:nvSpPr>
          <p:spPr>
            <a:xfrm>
              <a:off x="-523800" y="2286026"/>
              <a:ext cx="8703799" cy="1336045"/>
            </a:xfrm>
            <a:custGeom>
              <a:avLst/>
              <a:gdLst/>
              <a:ahLst/>
              <a:cxnLst/>
              <a:rect l="l" t="t" r="r" b="b"/>
              <a:pathLst>
                <a:path w="10812173" h="1659683" extrusionOk="0">
                  <a:moveTo>
                    <a:pt x="0" y="0"/>
                  </a:moveTo>
                  <a:lnTo>
                    <a:pt x="10812174" y="0"/>
                  </a:lnTo>
                  <a:lnTo>
                    <a:pt x="10812174" y="1659683"/>
                  </a:lnTo>
                  <a:lnTo>
                    <a:pt x="0" y="16596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t="-365891" b="-37671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1361</Words>
  <Application>Microsoft Macintosh PowerPoint</Application>
  <PresentationFormat>Personalizado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Avenir</vt:lpstr>
      <vt:lpstr>Garamond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Gabriela Campodonico</cp:lastModifiedBy>
  <cp:revision>2</cp:revision>
  <dcterms:created xsi:type="dcterms:W3CDTF">2006-08-16T00:00:00Z</dcterms:created>
  <dcterms:modified xsi:type="dcterms:W3CDTF">2026-03-17T20:11:45Z</dcterms:modified>
</cp:coreProperties>
</file>